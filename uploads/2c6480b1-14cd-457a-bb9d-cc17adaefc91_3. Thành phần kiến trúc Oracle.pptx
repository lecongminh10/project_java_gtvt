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2"/>
  </p:sldMasterIdLst>
  <p:notesMasterIdLst>
    <p:notesMasterId r:id="rId40"/>
  </p:notesMasterIdLst>
  <p:sldIdLst>
    <p:sldId id="256" r:id="rId3"/>
    <p:sldId id="257" r:id="rId4"/>
    <p:sldId id="288" r:id="rId5"/>
    <p:sldId id="258" r:id="rId6"/>
    <p:sldId id="259" r:id="rId7"/>
    <p:sldId id="260" r:id="rId8"/>
    <p:sldId id="266" r:id="rId9"/>
    <p:sldId id="268" r:id="rId10"/>
    <p:sldId id="294" r:id="rId11"/>
    <p:sldId id="295" r:id="rId12"/>
    <p:sldId id="296" r:id="rId13"/>
    <p:sldId id="289" r:id="rId14"/>
    <p:sldId id="270" r:id="rId15"/>
    <p:sldId id="277" r:id="rId16"/>
    <p:sldId id="271" r:id="rId17"/>
    <p:sldId id="272" r:id="rId18"/>
    <p:sldId id="273" r:id="rId19"/>
    <p:sldId id="276" r:id="rId20"/>
    <p:sldId id="278" r:id="rId21"/>
    <p:sldId id="279" r:id="rId22"/>
    <p:sldId id="280" r:id="rId23"/>
    <p:sldId id="281" r:id="rId24"/>
    <p:sldId id="282" r:id="rId25"/>
    <p:sldId id="283" r:id="rId26"/>
    <p:sldId id="284" r:id="rId27"/>
    <p:sldId id="285" r:id="rId28"/>
    <p:sldId id="286" r:id="rId29"/>
    <p:sldId id="287" r:id="rId30"/>
    <p:sldId id="261" r:id="rId31"/>
    <p:sldId id="290" r:id="rId32"/>
    <p:sldId id="263" r:id="rId33"/>
    <p:sldId id="264" r:id="rId34"/>
    <p:sldId id="265" r:id="rId35"/>
    <p:sldId id="291" r:id="rId36"/>
    <p:sldId id="292" r:id="rId37"/>
    <p:sldId id="293" r:id="rId38"/>
    <p:sldId id="297"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 id="{E75E278A-FF0E-49A4-B170-79828D63BBAD}">
          <p14:sldIdLst>
            <p14:sldId id="256"/>
            <p14:sldId id="257"/>
            <p14:sldId id="288"/>
            <p14:sldId id="258"/>
          </p14:sldIdLst>
        </p14:section>
        <p14:section name="II" id="{6693569C-99F4-4C8C-A21B-9DAE951B41EC}">
          <p14:sldIdLst>
            <p14:sldId id="259"/>
            <p14:sldId id="260"/>
            <p14:sldId id="266"/>
            <p14:sldId id="268"/>
            <p14:sldId id="294"/>
            <p14:sldId id="295"/>
            <p14:sldId id="296"/>
            <p14:sldId id="289"/>
          </p14:sldIdLst>
        </p14:section>
        <p14:section name="III" id="{A4E4F716-8777-4E03-AE5D-C4327B094088}">
          <p14:sldIdLst>
            <p14:sldId id="270"/>
            <p14:sldId id="277"/>
            <p14:sldId id="271"/>
            <p14:sldId id="272"/>
            <p14:sldId id="273"/>
            <p14:sldId id="276"/>
          </p14:sldIdLst>
        </p14:section>
        <p14:section name="IV" id="{A4B27A3D-8AA5-4062-9903-1EC0933C76CB}">
          <p14:sldIdLst>
            <p14:sldId id="278"/>
            <p14:sldId id="279"/>
            <p14:sldId id="280"/>
            <p14:sldId id="281"/>
            <p14:sldId id="282"/>
            <p14:sldId id="283"/>
            <p14:sldId id="284"/>
            <p14:sldId id="285"/>
            <p14:sldId id="286"/>
            <p14:sldId id="287"/>
          </p14:sldIdLst>
        </p14:section>
        <p14:section name="V." id="{7E27612B-A752-46E3-B68F-65C726D406A1}">
          <p14:sldIdLst>
            <p14:sldId id="261"/>
            <p14:sldId id="290"/>
            <p14:sldId id="263"/>
            <p14:sldId id="264"/>
            <p14:sldId id="265"/>
          </p14:sldIdLst>
        </p14:section>
        <p14:section name="Bai tap" id="{81969ED2-587C-4BEE-BB0D-30D400AC25C2}">
          <p14:sldIdLst>
            <p14:sldId id="291"/>
            <p14:sldId id="292"/>
            <p14:sldId id="293"/>
            <p14:sldId id="29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0" clrIdx="1"/>
  <p:cmAuthor id="2" name="A" initials="A" lastIdx="2" clrIdx="2">
    <p:extLst>
      <p:ext uri="{19B8F6BF-5375-455C-9EA6-DF929625EA0E}">
        <p15:presenceInfo xmlns:p15="http://schemas.microsoft.com/office/powerpoint/2012/main" userId="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B4A6"/>
    <a:srgbClr val="734F29"/>
    <a:srgbClr val="D24726"/>
    <a:srgbClr val="DD462F"/>
    <a:srgbClr val="AEB785"/>
    <a:srgbClr val="EFD5A2"/>
    <a:srgbClr val="3B3026"/>
    <a:srgbClr val="ECE1CA"/>
    <a:srgbClr val="79553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2505" autoAdjust="0"/>
  </p:normalViewPr>
  <p:slideViewPr>
    <p:cSldViewPr snapToGrid="0">
      <p:cViewPr varScale="1">
        <p:scale>
          <a:sx n="68" d="100"/>
          <a:sy n="68" d="100"/>
        </p:scale>
        <p:origin x="616" y="64"/>
      </p:cViewPr>
      <p:guideLst>
        <p:guide orient="horz" pos="2160"/>
        <p:guide pos="3840"/>
      </p:guideLst>
    </p:cSldViewPr>
  </p:slideViewPr>
  <p:notesTextViewPr>
    <p:cViewPr>
      <p:scale>
        <a:sx n="1" d="1"/>
        <a:sy n="1" d="1"/>
      </p:scale>
      <p:origin x="0" y="0"/>
    </p:cViewPr>
  </p:notesTextViewPr>
  <p:sorterViewPr>
    <p:cViewPr>
      <p:scale>
        <a:sx n="100" d="100"/>
        <a:sy n="100" d="100"/>
      </p:scale>
      <p:origin x="0" y="-106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2024-04-26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a:t>Server Process</a:t>
            </a:r>
          </a:p>
          <a:p>
            <a:pPr lvl="1" eaLnBrk="1" hangingPunct="1"/>
            <a:r>
              <a:rPr lang="en-US" altLang="en-US"/>
              <a:t>Once a user has established a connection, a server process is started to handle the user processes requests. A server process can be either a dedicated server process or a shared server process. In a dedicated server environment, the server process handles the request of a single user process. Once a user process disconnects, the server process is terminated. In a shared server environment, the server process handles the request of several user processes. The server process communicates with the Oracle server using the Oracle Program Interface (OPI).</a:t>
            </a:r>
          </a:p>
          <a:p>
            <a:pPr lvl="1" eaLnBrk="1" hangingPunct="1"/>
            <a:r>
              <a:rPr lang="en-US" altLang="en-US" b="1"/>
              <a:t>Note: </a:t>
            </a:r>
            <a:r>
              <a:rPr lang="en-US" altLang="en-US"/>
              <a:t>Allocation of server process in a dedicated environment versus a shared environment is covered in further detail in the </a:t>
            </a:r>
            <a:r>
              <a:rPr lang="en-US" altLang="en-US" i="1"/>
              <a:t>Oracle9i Database Performance Tuning</a:t>
            </a:r>
            <a:r>
              <a:rPr lang="en-US" altLang="en-US"/>
              <a:t> course.</a:t>
            </a:r>
          </a:p>
          <a:p>
            <a:endParaRPr lang="vi-VN"/>
          </a:p>
        </p:txBody>
      </p:sp>
      <p:sp>
        <p:nvSpPr>
          <p:cNvPr id="4" name="Slide Number Placeholder 3"/>
          <p:cNvSpPr>
            <a:spLocks noGrp="1"/>
          </p:cNvSpPr>
          <p:nvPr>
            <p:ph type="sldNum" sz="quarter" idx="10"/>
          </p:nvPr>
        </p:nvSpPr>
        <p:spPr/>
        <p:txBody>
          <a:bodyPr/>
          <a:lstStyle/>
          <a:p>
            <a:fld id="{DF61EA0F-A667-4B49-8422-0062BC55E249}" type="slidenum">
              <a:rPr lang="en-US" smtClean="0"/>
              <a:t>21</a:t>
            </a:fld>
            <a:endParaRPr lang="en-US" dirty="0"/>
          </a:p>
        </p:txBody>
      </p:sp>
    </p:spTree>
    <p:extLst>
      <p:ext uri="{BB962C8B-B14F-4D97-AF65-F5344CB8AC3E}">
        <p14:creationId xmlns:p14="http://schemas.microsoft.com/office/powerpoint/2010/main" val="23496848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34</a:t>
            </a:fld>
            <a:endParaRPr lang="en-US" dirty="0"/>
          </a:p>
        </p:txBody>
      </p:sp>
    </p:spTree>
    <p:extLst>
      <p:ext uri="{BB962C8B-B14F-4D97-AF65-F5344CB8AC3E}">
        <p14:creationId xmlns:p14="http://schemas.microsoft.com/office/powerpoint/2010/main" val="1968739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ctrTitle"/>
          </p:nvPr>
        </p:nvSpPr>
        <p:spPr>
          <a:xfrm>
            <a:off x="838200" y="2061006"/>
            <a:ext cx="10515600" cy="2387600"/>
          </a:xfrm>
        </p:spPr>
        <p:txBody>
          <a:bodyPr anchor="b">
            <a:normAutofit/>
          </a:bodyPr>
          <a:lstStyle>
            <a:lvl1pPr algn="l">
              <a:defRPr sz="54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838202" y="5110609"/>
            <a:ext cx="6705599" cy="1137793"/>
          </a:xfrm>
        </p:spPr>
        <p:txBody>
          <a:bodyPr>
            <a:normAutofit/>
          </a:bodyPr>
          <a:lstStyle>
            <a:lvl1pPr marL="0" indent="0" algn="l">
              <a:lnSpc>
                <a:spcPct val="150000"/>
              </a:lnSpc>
              <a:spcBef>
                <a:spcPts val="600"/>
              </a:spcBef>
              <a:buNone/>
              <a:defRPr sz="2800">
                <a:solidFill>
                  <a:srgbClr val="D24726"/>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8BEEBAAA-29B5-4AF5-BC5F-7E580C29002D}" type="datetimeFigureOut">
              <a:rPr lang="en-US" smtClean="0"/>
              <a:t>2024-04-26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dirty="0"/>
          </a:p>
        </p:txBody>
      </p:sp>
      <p:sp>
        <p:nvSpPr>
          <p:cNvPr id="8" name="Rectangle 7"/>
          <p:cNvSpPr/>
          <p:nvPr userDrawn="1"/>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p:cNvSpPr/>
          <p:nvPr/>
        </p:nvSpPr>
        <p:spPr>
          <a:xfrm>
            <a:off x="0" y="0"/>
            <a:ext cx="12192000" cy="72887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173360" y="0"/>
            <a:ext cx="11831406" cy="728870"/>
          </a:xfrm>
        </p:spPr>
        <p:txBody>
          <a:bodyPr anchor="b">
            <a:normAutofit/>
          </a:bodyPr>
          <a:lstStyle>
            <a:lvl1pPr>
              <a:defRPr sz="3600" b="1">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8BEEBAAA-29B5-4AF5-BC5F-7E580C29002D}" type="datetimeFigureOut">
              <a:rPr lang="en-US" smtClean="0"/>
              <a:pPr/>
              <a:t>2024-04-26</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860EDB8-5305-433F-BE41-D7A86D811DB3}" type="slidenum">
              <a:rPr lang="en-US" smtClean="0"/>
              <a:pPr/>
              <a:t>‹#›</a:t>
            </a:fld>
            <a:endParaRPr lang="en-US" dirty="0"/>
          </a:p>
        </p:txBody>
      </p:sp>
      <p:sp>
        <p:nvSpPr>
          <p:cNvPr id="3" name="Action Button: Home 2">
            <a:hlinkClick r:id="rId2" action="ppaction://hlinksldjump" highlightClick="1"/>
          </p:cNvPr>
          <p:cNvSpPr/>
          <p:nvPr userDrawn="1"/>
        </p:nvSpPr>
        <p:spPr>
          <a:xfrm>
            <a:off x="11611970" y="6329034"/>
            <a:ext cx="523164" cy="501648"/>
          </a:xfrm>
          <a:prstGeom prst="actionButtonHo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21858365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32766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8BEEBAAA-29B5-4AF5-BC5F-7E580C29002D}" type="datetimeFigureOut">
              <a:rPr lang="en-US" smtClean="0"/>
              <a:pPr/>
              <a:t>2024-04-26</a:t>
            </a:fld>
            <a:endParaRPr lang="en-US" dirty="0"/>
          </a:p>
        </p:txBody>
      </p:sp>
      <p:sp>
        <p:nvSpPr>
          <p:cNvPr id="5" name="Footer Placeholder 4"/>
          <p:cNvSpPr>
            <a:spLocks noGrp="1"/>
          </p:cNvSpPr>
          <p:nvPr>
            <p:ph type="ftr" sz="quarter" idx="3"/>
          </p:nvPr>
        </p:nvSpPr>
        <p:spPr>
          <a:xfrm>
            <a:off x="4648200" y="6356352"/>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8077200" y="6356352"/>
            <a:ext cx="32766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ct val="30000"/>
        </a:spcBef>
        <a:buClr>
          <a:srgbClr val="FF0000"/>
        </a:buClr>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ct val="30000"/>
        </a:spcBef>
        <a:buClr>
          <a:srgbClr val="FF0000"/>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ct val="30000"/>
        </a:spcBef>
        <a:buClr>
          <a:srgbClr val="FF0000"/>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ct val="30000"/>
        </a:spcBef>
        <a:buClr>
          <a:srgbClr val="FF0000"/>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ct val="30000"/>
        </a:spcBef>
        <a:buClr>
          <a:srgbClr val="FF0000"/>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4.xml"/><Relationship Id="rId1" Type="http://schemas.openxmlformats.org/officeDocument/2006/relationships/slideLayout" Target="../slideLayouts/slideLayout2.xml"/><Relationship Id="rId6" Type="http://schemas.openxmlformats.org/officeDocument/2006/relationships/slide" Target="slide19.xml"/><Relationship Id="rId5" Type="http://schemas.openxmlformats.org/officeDocument/2006/relationships/slide" Target="slide29.xml"/><Relationship Id="rId4" Type="http://schemas.openxmlformats.org/officeDocument/2006/relationships/slide" Target="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21917" y="1010351"/>
            <a:ext cx="10515600" cy="2387600"/>
          </a:xfrm>
        </p:spPr>
        <p:txBody>
          <a:bodyPr/>
          <a:lstStyle/>
          <a:p>
            <a:pPr algn="ctr"/>
            <a:r>
              <a:rPr lang="en-US" b="1" dirty="0">
                <a:effectLst>
                  <a:outerShdw blurRad="38100" dist="38100" dir="2700000" algn="tl">
                    <a:srgbClr val="000000">
                      <a:alpha val="43137"/>
                    </a:srgbClr>
                  </a:outerShdw>
                </a:effectLst>
              </a:rPr>
              <a:t>CÁC THÀNH PHẦN CẤU TRÚC CỦA ORACLE</a:t>
            </a:r>
          </a:p>
        </p:txBody>
      </p:sp>
      <p:sp>
        <p:nvSpPr>
          <p:cNvPr id="3" name="Subtitle 2"/>
          <p:cNvSpPr>
            <a:spLocks noGrp="1"/>
          </p:cNvSpPr>
          <p:nvPr>
            <p:ph type="subTitle" idx="1"/>
          </p:nvPr>
        </p:nvSpPr>
        <p:spPr>
          <a:xfrm>
            <a:off x="5472332" y="5335570"/>
            <a:ext cx="6469148" cy="1319229"/>
          </a:xfrm>
        </p:spPr>
        <p:txBody>
          <a:bodyPr>
            <a:noAutofit/>
          </a:bodyPr>
          <a:lstStyle/>
          <a:p>
            <a:pPr>
              <a:lnSpc>
                <a:spcPts val="2400"/>
              </a:lnSpc>
              <a:spcBef>
                <a:spcPts val="0"/>
              </a:spcBef>
            </a:pPr>
            <a:r>
              <a:rPr lang="en-US" sz="1800" b="1" dirty="0"/>
              <a:t>GV: Phạm Đình Phong</a:t>
            </a:r>
          </a:p>
          <a:p>
            <a:pPr>
              <a:lnSpc>
                <a:spcPts val="2400"/>
              </a:lnSpc>
              <a:spcBef>
                <a:spcPts val="0"/>
              </a:spcBef>
            </a:pPr>
            <a:r>
              <a:rPr lang="en-US" sz="1800" b="1" dirty="0" err="1"/>
              <a:t>Bộ</a:t>
            </a:r>
            <a:r>
              <a:rPr lang="en-US" sz="1800" b="1" dirty="0"/>
              <a:t> </a:t>
            </a:r>
            <a:r>
              <a:rPr lang="en-US" sz="1800" b="1" dirty="0" err="1"/>
              <a:t>môn</a:t>
            </a:r>
            <a:r>
              <a:rPr lang="en-US" sz="1800" b="1" dirty="0"/>
              <a:t>: Khoa </a:t>
            </a:r>
            <a:r>
              <a:rPr lang="en-US" sz="1800" b="1" dirty="0" err="1"/>
              <a:t>Học</a:t>
            </a:r>
            <a:r>
              <a:rPr lang="en-US" sz="1800" b="1" dirty="0"/>
              <a:t> </a:t>
            </a:r>
            <a:r>
              <a:rPr lang="en-US" sz="1800" b="1" dirty="0" err="1"/>
              <a:t>Máy</a:t>
            </a:r>
            <a:r>
              <a:rPr lang="en-US" sz="1800" b="1" dirty="0"/>
              <a:t> </a:t>
            </a:r>
            <a:r>
              <a:rPr lang="en-US" sz="1800" b="1" dirty="0" err="1"/>
              <a:t>Tính</a:t>
            </a:r>
            <a:r>
              <a:rPr lang="en-US" sz="1800" b="1" dirty="0"/>
              <a:t>, Khoa </a:t>
            </a:r>
            <a:r>
              <a:rPr lang="en-US" sz="1800" b="1" dirty="0" err="1"/>
              <a:t>Công</a:t>
            </a:r>
            <a:r>
              <a:rPr lang="en-US" sz="1800" b="1" dirty="0"/>
              <a:t> </a:t>
            </a:r>
            <a:r>
              <a:rPr lang="en-US" sz="1800" b="1" dirty="0" err="1"/>
              <a:t>Nghệ</a:t>
            </a:r>
            <a:r>
              <a:rPr lang="en-US" sz="1800" b="1" dirty="0"/>
              <a:t> Thông Tin</a:t>
            </a:r>
          </a:p>
          <a:p>
            <a:pPr>
              <a:lnSpc>
                <a:spcPts val="2400"/>
              </a:lnSpc>
              <a:spcBef>
                <a:spcPts val="0"/>
              </a:spcBef>
            </a:pPr>
            <a:r>
              <a:rPr lang="en-US" sz="1800" b="1" dirty="0" err="1"/>
              <a:t>Trường</a:t>
            </a:r>
            <a:r>
              <a:rPr lang="en-US" sz="1800" b="1" dirty="0"/>
              <a:t> </a:t>
            </a:r>
            <a:r>
              <a:rPr lang="en-US" sz="1800" b="1" dirty="0" err="1"/>
              <a:t>Đại</a:t>
            </a:r>
            <a:r>
              <a:rPr lang="en-US" sz="1800" b="1" dirty="0"/>
              <a:t> </a:t>
            </a:r>
            <a:r>
              <a:rPr lang="en-US" sz="1800" b="1" dirty="0" err="1"/>
              <a:t>Học</a:t>
            </a:r>
            <a:r>
              <a:rPr lang="en-US" sz="1800" b="1" dirty="0"/>
              <a:t> Giao Thông Vân </a:t>
            </a:r>
            <a:r>
              <a:rPr lang="en-US" sz="1800" b="1" dirty="0" err="1"/>
              <a:t>Tải</a:t>
            </a:r>
            <a:endParaRPr lang="en-US" sz="1800" b="1" dirty="0"/>
          </a:p>
        </p:txBody>
      </p:sp>
    </p:spTree>
    <p:extLst>
      <p:ext uri="{BB962C8B-B14F-4D97-AF65-F5344CB8AC3E}">
        <p14:creationId xmlns:p14="http://schemas.microsoft.com/office/powerpoint/2010/main" val="24718077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1. Mục đích</a:t>
            </a:r>
            <a:endParaRPr lang="vi-VN"/>
          </a:p>
        </p:txBody>
      </p:sp>
      <p:sp>
        <p:nvSpPr>
          <p:cNvPr id="3" name="Rectangle 2"/>
          <p:cNvSpPr txBox="1">
            <a:spLocks noChangeArrowheads="1"/>
          </p:cNvSpPr>
          <p:nvPr/>
        </p:nvSpPr>
        <p:spPr>
          <a:xfrm>
            <a:off x="914400" y="533400"/>
            <a:ext cx="7315200" cy="876300"/>
          </a:xfrm>
          <a:prstGeom prst="rect">
            <a:avLst/>
          </a:prstGeom>
        </p:spPr>
        <p:txBody>
          <a:bodyPr vert="horz" lIns="91440" tIns="45720" rIns="91440" bIns="45720" rtlCol="0" anchor="b">
            <a:normAutofit/>
          </a:bodyPr>
          <a:lstStyle>
            <a:lvl1pPr algn="l" defTabSz="914400" rtl="0" eaLnBrk="1" latinLnBrk="0" hangingPunct="1">
              <a:spcBef>
                <a:spcPct val="0"/>
              </a:spcBef>
              <a:buNone/>
              <a:defRPr sz="3600" b="1" kern="1200">
                <a:solidFill>
                  <a:schemeClr val="bg1"/>
                </a:solidFill>
                <a:latin typeface="Arial" panose="020B0604020202020204" pitchFamily="34" charset="0"/>
                <a:ea typeface="+mj-ea"/>
                <a:cs typeface="Arial" panose="020B0604020202020204" pitchFamily="34" charset="0"/>
              </a:defRPr>
            </a:lvl1pPr>
          </a:lstStyle>
          <a:p>
            <a:r>
              <a:rPr lang="en-US" altLang="en-US"/>
              <a:t>Mục đích</a:t>
            </a:r>
          </a:p>
        </p:txBody>
      </p:sp>
      <p:sp>
        <p:nvSpPr>
          <p:cNvPr id="4" name="Rectangle 3"/>
          <p:cNvSpPr txBox="1">
            <a:spLocks noChangeArrowheads="1"/>
          </p:cNvSpPr>
          <p:nvPr/>
        </p:nvSpPr>
        <p:spPr>
          <a:xfrm>
            <a:off x="516835" y="1158840"/>
            <a:ext cx="10482469" cy="1833563"/>
          </a:xfrm>
          <a:prstGeom prst="rect">
            <a:avLst/>
          </a:prstGeom>
        </p:spPr>
        <p:txBody>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lvl="1" algn="just">
              <a:lnSpc>
                <a:spcPct val="150000"/>
              </a:lnSpc>
              <a:buClr>
                <a:srgbClr val="FF0000"/>
              </a:buClr>
            </a:pPr>
            <a:r>
              <a:rPr lang="en-US" altLang="en-US" b="1">
                <a:latin typeface="Times New Roman" panose="02020603050405020304" pitchFamily="18" charset="0"/>
                <a:cs typeface="Times New Roman" panose="02020603050405020304" pitchFamily="18" charset="0"/>
              </a:rPr>
              <a:t>Phác họa được cấu trúc của Oracle và các thành phần chính của nó </a:t>
            </a:r>
          </a:p>
          <a:p>
            <a:pPr lvl="1" algn="just">
              <a:lnSpc>
                <a:spcPct val="150000"/>
              </a:lnSpc>
              <a:buClr>
                <a:srgbClr val="FF0000"/>
              </a:buClr>
            </a:pPr>
            <a:r>
              <a:rPr lang="en-US" altLang="en-US" b="1">
                <a:latin typeface="Times New Roman" panose="02020603050405020304" pitchFamily="18" charset="0"/>
                <a:cs typeface="Times New Roman" panose="02020603050405020304" pitchFamily="18" charset="0"/>
              </a:rPr>
              <a:t>Liệt kê các cấu trúc trong việc kết nối từ một user tới một Oracle instance</a:t>
            </a:r>
          </a:p>
        </p:txBody>
      </p:sp>
    </p:spTree>
    <p:extLst>
      <p:ext uri="{BB962C8B-B14F-4D97-AF65-F5344CB8AC3E}">
        <p14:creationId xmlns:p14="http://schemas.microsoft.com/office/powerpoint/2010/main" val="269963660"/>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2. Nội dung bài học</a:t>
            </a:r>
            <a:endParaRPr lang="vi-VN"/>
          </a:p>
        </p:txBody>
      </p:sp>
      <p:sp>
        <p:nvSpPr>
          <p:cNvPr id="3" name="AutoShape 8"/>
          <p:cNvSpPr>
            <a:spLocks noChangeArrowheads="1"/>
          </p:cNvSpPr>
          <p:nvPr/>
        </p:nvSpPr>
        <p:spPr bwMode="gray">
          <a:xfrm>
            <a:off x="3550363" y="2795284"/>
            <a:ext cx="282251" cy="258433"/>
          </a:xfrm>
          <a:prstGeom prst="rightArrow">
            <a:avLst>
              <a:gd name="adj1" fmla="val 50000"/>
              <a:gd name="adj2" fmla="val 45507"/>
            </a:avLst>
          </a:prstGeom>
          <a:solidFill>
            <a:srgbClr val="FEFEFE"/>
          </a:solidFill>
          <a:ln w="9525">
            <a:noFill/>
            <a:miter lim="800000"/>
            <a:headEnd/>
            <a:tailEnd/>
          </a:ln>
          <a:effectLst/>
        </p:spPr>
        <p:txBody>
          <a:bodyPr wrap="none" anchor="ctr"/>
          <a:lstStyle/>
          <a:p>
            <a:pPr defTabSz="685983" fontAlgn="base">
              <a:spcBef>
                <a:spcPct val="0"/>
              </a:spcBef>
              <a:spcAft>
                <a:spcPct val="0"/>
              </a:spcAft>
            </a:pPr>
            <a:endParaRPr lang="en-US" sz="1350">
              <a:solidFill>
                <a:srgbClr val="080808"/>
              </a:solidFill>
              <a:latin typeface="Arial" charset="0"/>
            </a:endParaRPr>
          </a:p>
        </p:txBody>
      </p:sp>
      <p:sp>
        <p:nvSpPr>
          <p:cNvPr id="4" name="AutoShape 10"/>
          <p:cNvSpPr>
            <a:spLocks noChangeArrowheads="1"/>
          </p:cNvSpPr>
          <p:nvPr/>
        </p:nvSpPr>
        <p:spPr bwMode="gray">
          <a:xfrm>
            <a:off x="3530114" y="3951683"/>
            <a:ext cx="282252" cy="260814"/>
          </a:xfrm>
          <a:prstGeom prst="rightArrow">
            <a:avLst>
              <a:gd name="adj1" fmla="val 50000"/>
              <a:gd name="adj2" fmla="val 45091"/>
            </a:avLst>
          </a:prstGeom>
          <a:solidFill>
            <a:srgbClr val="FEFEFE"/>
          </a:solidFill>
          <a:ln w="9525">
            <a:noFill/>
            <a:miter lim="800000"/>
            <a:headEnd/>
            <a:tailEnd/>
          </a:ln>
          <a:effectLst/>
        </p:spPr>
        <p:txBody>
          <a:bodyPr wrap="none" anchor="ctr"/>
          <a:lstStyle/>
          <a:p>
            <a:pPr defTabSz="685983" fontAlgn="base">
              <a:spcBef>
                <a:spcPct val="0"/>
              </a:spcBef>
              <a:spcAft>
                <a:spcPct val="0"/>
              </a:spcAft>
            </a:pPr>
            <a:endParaRPr lang="en-US" sz="1350">
              <a:solidFill>
                <a:srgbClr val="080808"/>
              </a:solidFill>
              <a:latin typeface="Arial" charset="0"/>
            </a:endParaRPr>
          </a:p>
        </p:txBody>
      </p:sp>
      <p:sp>
        <p:nvSpPr>
          <p:cNvPr id="5" name="AutoShape 12"/>
          <p:cNvSpPr>
            <a:spLocks noChangeArrowheads="1"/>
          </p:cNvSpPr>
          <p:nvPr/>
        </p:nvSpPr>
        <p:spPr bwMode="gray">
          <a:xfrm>
            <a:off x="3536072" y="1673423"/>
            <a:ext cx="282251" cy="258433"/>
          </a:xfrm>
          <a:prstGeom prst="rightArrow">
            <a:avLst>
              <a:gd name="adj1" fmla="val 50000"/>
              <a:gd name="adj2" fmla="val 45507"/>
            </a:avLst>
          </a:prstGeom>
          <a:solidFill>
            <a:srgbClr val="FEFEFE"/>
          </a:solidFill>
          <a:ln w="9525">
            <a:noFill/>
            <a:miter lim="800000"/>
            <a:headEnd/>
            <a:tailEnd/>
          </a:ln>
          <a:effectLst/>
        </p:spPr>
        <p:txBody>
          <a:bodyPr wrap="none" anchor="ctr"/>
          <a:lstStyle/>
          <a:p>
            <a:pPr defTabSz="685983" fontAlgn="base">
              <a:spcBef>
                <a:spcPct val="0"/>
              </a:spcBef>
              <a:spcAft>
                <a:spcPct val="0"/>
              </a:spcAft>
            </a:pPr>
            <a:endParaRPr lang="en-US" sz="1350">
              <a:solidFill>
                <a:srgbClr val="080808"/>
              </a:solidFill>
              <a:latin typeface="Arial" charset="0"/>
            </a:endParaRPr>
          </a:p>
        </p:txBody>
      </p:sp>
      <p:sp>
        <p:nvSpPr>
          <p:cNvPr id="6" name="AutoShape 13">
            <a:hlinkClick r:id="rId2" action="ppaction://hlinksldjump"/>
          </p:cNvPr>
          <p:cNvSpPr>
            <a:spLocks noChangeArrowheads="1"/>
          </p:cNvSpPr>
          <p:nvPr/>
        </p:nvSpPr>
        <p:spPr bwMode="gray">
          <a:xfrm>
            <a:off x="2519838" y="1246474"/>
            <a:ext cx="6750771" cy="685382"/>
          </a:xfrm>
          <a:prstGeom prst="roundRect">
            <a:avLst>
              <a:gd name="adj" fmla="val 11921"/>
            </a:avLst>
          </a:prstGeom>
          <a:gradFill rotWithShape="1">
            <a:gsLst>
              <a:gs pos="0">
                <a:srgbClr val="F77A1D"/>
              </a:gs>
              <a:gs pos="100000">
                <a:srgbClr val="F77A1D">
                  <a:gamma/>
                  <a:shade val="69804"/>
                  <a:invGamma/>
                </a:srgbClr>
              </a:gs>
            </a:gsLst>
            <a:lin ang="5400000" scaled="1"/>
          </a:gradFill>
          <a:ln w="25400">
            <a:solidFill>
              <a:srgbClr val="FEFEFE"/>
            </a:solidFill>
            <a:round/>
            <a:headEnd/>
            <a:tailEnd/>
          </a:ln>
          <a:effectLst>
            <a:outerShdw dist="53882" dir="2700000" algn="ctr" rotWithShape="0">
              <a:srgbClr val="000000">
                <a:alpha val="50000"/>
              </a:srgbClr>
            </a:outerShdw>
          </a:effectLst>
        </p:spPr>
        <p:txBody>
          <a:bodyPr wrap="none" anchor="ctr"/>
          <a:lstStyle/>
          <a:p>
            <a:pPr defTabSz="685983" fontAlgn="base">
              <a:spcBef>
                <a:spcPct val="0"/>
              </a:spcBef>
              <a:spcAft>
                <a:spcPct val="0"/>
              </a:spcAft>
              <a:defRPr/>
            </a:pPr>
            <a:r>
              <a:rPr lang="en-US" sz="2026" b="1" ker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 MÔ HÌNH CẤU TRÚC ORACLE SERVER</a:t>
            </a:r>
          </a:p>
        </p:txBody>
      </p:sp>
      <p:sp>
        <p:nvSpPr>
          <p:cNvPr id="7" name="AutoShape 15">
            <a:hlinkClick r:id="rId3" action="ppaction://hlinksldjump"/>
          </p:cNvPr>
          <p:cNvSpPr>
            <a:spLocks noChangeArrowheads="1"/>
          </p:cNvSpPr>
          <p:nvPr/>
        </p:nvSpPr>
        <p:spPr bwMode="gray">
          <a:xfrm>
            <a:off x="2551932" y="2279868"/>
            <a:ext cx="6718678" cy="607285"/>
          </a:xfrm>
          <a:prstGeom prst="roundRect">
            <a:avLst>
              <a:gd name="adj" fmla="val 11921"/>
            </a:avLst>
          </a:prstGeom>
          <a:gradFill rotWithShape="1">
            <a:gsLst>
              <a:gs pos="0">
                <a:srgbClr val="5BBE4E"/>
              </a:gs>
              <a:gs pos="100000">
                <a:srgbClr val="5BBE4E">
                  <a:gamma/>
                  <a:shade val="69804"/>
                  <a:invGamma/>
                </a:srgbClr>
              </a:gs>
            </a:gsLst>
            <a:lin ang="5400000" scaled="1"/>
          </a:gradFill>
          <a:ln w="25400">
            <a:solidFill>
              <a:srgbClr val="FEFEFE"/>
            </a:solidFill>
            <a:round/>
            <a:headEnd/>
            <a:tailEnd/>
          </a:ln>
          <a:effectLst>
            <a:outerShdw dist="53882" dir="2700000" algn="ctr" rotWithShape="0">
              <a:srgbClr val="000000">
                <a:alpha val="50000"/>
              </a:srgbClr>
            </a:outerShdw>
          </a:effectLst>
        </p:spPr>
        <p:txBody>
          <a:bodyPr wrap="none" anchor="ctr"/>
          <a:lstStyle/>
          <a:p>
            <a:pPr defTabSz="685983" fontAlgn="base">
              <a:spcBef>
                <a:spcPct val="0"/>
              </a:spcBef>
              <a:spcAft>
                <a:spcPct val="0"/>
              </a:spcAft>
              <a:defRPr/>
            </a:pPr>
            <a:r>
              <a:rPr lang="en-US" sz="2026" b="1" ker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II. CÁC THÀNH PHẦN CHÍNH CỦA ORACLE SERVER</a:t>
            </a:r>
          </a:p>
        </p:txBody>
      </p:sp>
      <p:sp>
        <p:nvSpPr>
          <p:cNvPr id="8" name="AutoShape 17">
            <a:hlinkClick r:id="rId4" action="ppaction://hlinksldjump"/>
          </p:cNvPr>
          <p:cNvSpPr>
            <a:spLocks noChangeArrowheads="1"/>
          </p:cNvSpPr>
          <p:nvPr/>
        </p:nvSpPr>
        <p:spPr bwMode="gray">
          <a:xfrm>
            <a:off x="2519836" y="3269234"/>
            <a:ext cx="6750771" cy="703842"/>
          </a:xfrm>
          <a:prstGeom prst="roundRect">
            <a:avLst>
              <a:gd name="adj" fmla="val 11921"/>
            </a:avLst>
          </a:prstGeom>
          <a:gradFill rotWithShape="1">
            <a:gsLst>
              <a:gs pos="0">
                <a:srgbClr val="8F038F"/>
              </a:gs>
              <a:gs pos="100000">
                <a:srgbClr val="8F038F">
                  <a:gamma/>
                  <a:shade val="69804"/>
                  <a:invGamma/>
                </a:srgbClr>
              </a:gs>
            </a:gsLst>
            <a:lin ang="5400000" scaled="1"/>
          </a:gradFill>
          <a:ln w="25400">
            <a:solidFill>
              <a:srgbClr val="FEFEFE"/>
            </a:solidFill>
            <a:round/>
            <a:headEnd/>
            <a:tailEnd/>
          </a:ln>
          <a:effectLst>
            <a:outerShdw dist="53882" dir="2700000" algn="ctr" rotWithShape="0">
              <a:srgbClr val="000000">
                <a:alpha val="50000"/>
              </a:srgbClr>
            </a:outerShdw>
          </a:effectLst>
        </p:spPr>
        <p:txBody>
          <a:bodyPr wrap="none" anchor="ctr"/>
          <a:lstStyle/>
          <a:p>
            <a:pPr defTabSz="685983" fontAlgn="base">
              <a:spcBef>
                <a:spcPct val="0"/>
              </a:spcBef>
              <a:spcAft>
                <a:spcPct val="0"/>
              </a:spcAft>
              <a:defRPr/>
            </a:pPr>
            <a:r>
              <a:rPr lang="en-US" sz="2026" b="1" ker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III. CẤU TRÚC BỘ NHỚ</a:t>
            </a:r>
          </a:p>
        </p:txBody>
      </p:sp>
      <p:sp>
        <p:nvSpPr>
          <p:cNvPr id="9" name="AutoShape 17">
            <a:hlinkClick r:id="rId5" action="ppaction://hlinksldjump"/>
          </p:cNvPr>
          <p:cNvSpPr>
            <a:spLocks noChangeArrowheads="1"/>
          </p:cNvSpPr>
          <p:nvPr/>
        </p:nvSpPr>
        <p:spPr bwMode="gray">
          <a:xfrm>
            <a:off x="2551932" y="5445456"/>
            <a:ext cx="6718677" cy="689208"/>
          </a:xfrm>
          <a:prstGeom prst="roundRect">
            <a:avLst>
              <a:gd name="adj" fmla="val 11921"/>
            </a:avLst>
          </a:prstGeom>
          <a:gradFill flip="none" rotWithShape="1">
            <a:gsLst>
              <a:gs pos="0">
                <a:schemeClr val="accent2">
                  <a:lumMod val="50000"/>
                  <a:shade val="30000"/>
                  <a:satMod val="115000"/>
                </a:schemeClr>
              </a:gs>
              <a:gs pos="50000">
                <a:schemeClr val="accent2">
                  <a:lumMod val="50000"/>
                  <a:shade val="67500"/>
                  <a:satMod val="115000"/>
                </a:schemeClr>
              </a:gs>
              <a:gs pos="100000">
                <a:schemeClr val="accent2">
                  <a:lumMod val="50000"/>
                  <a:shade val="100000"/>
                  <a:satMod val="115000"/>
                </a:schemeClr>
              </a:gs>
            </a:gsLst>
            <a:path path="circle">
              <a:fillToRect l="100000" t="100000"/>
            </a:path>
            <a:tileRect r="-100000" b="-100000"/>
          </a:gradFill>
          <a:ln w="25400">
            <a:noFill/>
            <a:round/>
            <a:headEnd/>
            <a:tailEnd/>
          </a:ln>
          <a:effectLst>
            <a:outerShdw blurRad="50800" dist="38100" dir="2700000" algn="tl" rotWithShape="0">
              <a:prstClr val="black">
                <a:alpha val="40000"/>
              </a:prstClr>
            </a:outerShdw>
          </a:effectLst>
          <a:scene3d>
            <a:camera prst="orthographicFront">
              <a:rot lat="0" lon="0" rev="0"/>
            </a:camera>
            <a:lightRig rig="balanced" dir="t">
              <a:rot lat="0" lon="0" rev="8700000"/>
            </a:lightRig>
          </a:scene3d>
          <a:sp3d>
            <a:bevelT w="190500" h="38100"/>
          </a:sp3d>
        </p:spPr>
        <p:txBody>
          <a:bodyPr wrap="none" anchor="ctr"/>
          <a:lstStyle/>
          <a:p>
            <a:pPr defTabSz="685983" fontAlgn="base">
              <a:spcBef>
                <a:spcPct val="0"/>
              </a:spcBef>
              <a:spcAft>
                <a:spcPct val="0"/>
              </a:spcAft>
              <a:defRPr/>
            </a:pPr>
            <a:r>
              <a:rPr lang="en-US" sz="2026" b="1" ker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 CÁC MÔ HÌNH KẾT NỐI ĐẾN ORACLE SERVER</a:t>
            </a:r>
          </a:p>
        </p:txBody>
      </p:sp>
      <p:sp>
        <p:nvSpPr>
          <p:cNvPr id="11" name="AutoShape 17">
            <a:hlinkClick r:id="rId6" action="ppaction://hlinksldjump"/>
          </p:cNvPr>
          <p:cNvSpPr>
            <a:spLocks noChangeArrowheads="1"/>
          </p:cNvSpPr>
          <p:nvPr/>
        </p:nvSpPr>
        <p:spPr bwMode="gray">
          <a:xfrm>
            <a:off x="2535884" y="4391095"/>
            <a:ext cx="6750771" cy="703842"/>
          </a:xfrm>
          <a:prstGeom prst="roundRect">
            <a:avLst>
              <a:gd name="adj" fmla="val 11921"/>
            </a:avLst>
          </a:prstGeom>
          <a:gradFill rotWithShape="1">
            <a:gsLst>
              <a:gs pos="0">
                <a:schemeClr val="accent1">
                  <a:lumMod val="75000"/>
                </a:schemeClr>
              </a:gs>
              <a:gs pos="100000">
                <a:srgbClr val="00B0F0"/>
              </a:gs>
            </a:gsLst>
            <a:lin ang="5400000" scaled="1"/>
          </a:gradFill>
          <a:ln w="25400">
            <a:solidFill>
              <a:srgbClr val="FEFEFE"/>
            </a:solidFill>
            <a:round/>
            <a:headEnd/>
            <a:tailEnd/>
          </a:ln>
          <a:effectLst>
            <a:outerShdw dist="53882" dir="2700000" algn="ctr" rotWithShape="0">
              <a:srgbClr val="000000">
                <a:alpha val="50000"/>
              </a:srgbClr>
            </a:outerShdw>
          </a:effectLst>
        </p:spPr>
        <p:txBody>
          <a:bodyPr wrap="none" anchor="ctr"/>
          <a:lstStyle/>
          <a:p>
            <a:pPr defTabSz="685983" fontAlgn="base">
              <a:spcBef>
                <a:spcPct val="0"/>
              </a:spcBef>
              <a:spcAft>
                <a:spcPct val="0"/>
              </a:spcAft>
              <a:defRPr/>
            </a:pPr>
            <a:r>
              <a:rPr lang="en-US" sz="2026" b="1" ker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IV. PHÂN LOẠI PROCESS</a:t>
            </a:r>
          </a:p>
        </p:txBody>
      </p:sp>
    </p:spTree>
    <p:extLst>
      <p:ext uri="{BB962C8B-B14F-4D97-AF65-F5344CB8AC3E}">
        <p14:creationId xmlns:p14="http://schemas.microsoft.com/office/powerpoint/2010/main" val="21281977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dissolve">
                                      <p:cBhvr>
                                        <p:cTn id="11" dur="500"/>
                                        <p:tgtEl>
                                          <p:spTgt spid="7"/>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500"/>
                                        <p:tgtEl>
                                          <p:spTgt spid="8"/>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dissolve">
                                      <p:cBhvr>
                                        <p:cTn id="19" dur="500"/>
                                        <p:tgtEl>
                                          <p:spTgt spid="11"/>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dissolv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a:grpSpLocks/>
          </p:cNvGrpSpPr>
          <p:nvPr/>
        </p:nvGrpSpPr>
        <p:grpSpPr bwMode="auto">
          <a:xfrm>
            <a:off x="3306417" y="5055705"/>
            <a:ext cx="1219200" cy="838200"/>
            <a:chOff x="720" y="3168"/>
            <a:chExt cx="768" cy="528"/>
          </a:xfrm>
        </p:grpSpPr>
        <p:grpSp>
          <p:nvGrpSpPr>
            <p:cNvPr id="5" name="Group 3"/>
            <p:cNvGrpSpPr>
              <a:grpSpLocks/>
            </p:cNvGrpSpPr>
            <p:nvPr/>
          </p:nvGrpSpPr>
          <p:grpSpPr bwMode="auto">
            <a:xfrm>
              <a:off x="720" y="3168"/>
              <a:ext cx="768" cy="528"/>
              <a:chOff x="288" y="2982"/>
              <a:chExt cx="532" cy="412"/>
            </a:xfrm>
          </p:grpSpPr>
          <p:sp>
            <p:nvSpPr>
              <p:cNvPr id="7" name="Rectangle 4"/>
              <p:cNvSpPr>
                <a:spLocks noChangeArrowheads="1"/>
              </p:cNvSpPr>
              <p:nvPr/>
            </p:nvSpPr>
            <p:spPr bwMode="gray">
              <a:xfrm>
                <a:off x="288" y="3066"/>
                <a:ext cx="532" cy="246"/>
              </a:xfrm>
              <a:prstGeom prst="rect">
                <a:avLst/>
              </a:prstGeom>
              <a:solidFill>
                <a:srgbClr val="9999FF"/>
              </a:solidFill>
              <a:ln w="3175">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8" name="Oval 5"/>
              <p:cNvSpPr>
                <a:spLocks noChangeArrowheads="1"/>
              </p:cNvSpPr>
              <p:nvPr/>
            </p:nvSpPr>
            <p:spPr bwMode="gray">
              <a:xfrm>
                <a:off x="288" y="2982"/>
                <a:ext cx="532" cy="158"/>
              </a:xfrm>
              <a:prstGeom prst="ellipse">
                <a:avLst/>
              </a:prstGeom>
              <a:solidFill>
                <a:srgbClr val="CCCC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9" name="Oval 6"/>
              <p:cNvSpPr>
                <a:spLocks noChangeArrowheads="1"/>
              </p:cNvSpPr>
              <p:nvPr/>
            </p:nvSpPr>
            <p:spPr bwMode="gray">
              <a:xfrm>
                <a:off x="288" y="3236"/>
                <a:ext cx="532" cy="158"/>
              </a:xfrm>
              <a:prstGeom prst="ellipse">
                <a:avLst/>
              </a:prstGeom>
              <a:solidFill>
                <a:srgbClr val="9999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sp>
          <p:nvSpPr>
            <p:cNvPr id="6" name="Rectangle 7"/>
            <p:cNvSpPr>
              <a:spLocks noChangeArrowheads="1"/>
            </p:cNvSpPr>
            <p:nvPr/>
          </p:nvSpPr>
          <p:spPr bwMode="auto">
            <a:xfrm>
              <a:off x="764" y="3311"/>
              <a:ext cx="681" cy="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571500" indent="-228600" defTabSz="1428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defTabSz="142875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42875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42875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spcBef>
                  <a:spcPct val="0"/>
                </a:spcBef>
                <a:buClrTx/>
                <a:buFontTx/>
                <a:buNone/>
              </a:pPr>
              <a:r>
                <a:rPr lang="en-US" altLang="en-US" sz="1400"/>
                <a:t>Password</a:t>
              </a:r>
            </a:p>
            <a:p>
              <a:pPr algn="ctr">
                <a:spcBef>
                  <a:spcPct val="0"/>
                </a:spcBef>
                <a:buClrTx/>
                <a:buFontTx/>
                <a:buNone/>
              </a:pPr>
              <a:r>
                <a:rPr lang="en-US" altLang="en-US" sz="1400"/>
                <a:t>file</a:t>
              </a:r>
            </a:p>
          </p:txBody>
        </p:sp>
      </p:grpSp>
      <p:grpSp>
        <p:nvGrpSpPr>
          <p:cNvPr id="10" name="Group 8"/>
          <p:cNvGrpSpPr>
            <a:grpSpLocks/>
          </p:cNvGrpSpPr>
          <p:nvPr/>
        </p:nvGrpSpPr>
        <p:grpSpPr bwMode="auto">
          <a:xfrm>
            <a:off x="6367117" y="3565043"/>
            <a:ext cx="207963" cy="990600"/>
            <a:chOff x="3148" y="2229"/>
            <a:chExt cx="131" cy="624"/>
          </a:xfrm>
        </p:grpSpPr>
        <p:sp>
          <p:nvSpPr>
            <p:cNvPr id="11" name="Line 9"/>
            <p:cNvSpPr>
              <a:spLocks noChangeShapeType="1"/>
            </p:cNvSpPr>
            <p:nvPr/>
          </p:nvSpPr>
          <p:spPr bwMode="auto">
            <a:xfrm rot="5400000">
              <a:off x="3057" y="2631"/>
              <a:ext cx="444" cy="0"/>
            </a:xfrm>
            <a:prstGeom prst="line">
              <a:avLst/>
            </a:prstGeom>
            <a:noFill/>
            <a:ln w="28575">
              <a:solidFill>
                <a:schemeClr val="tx1"/>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2" name="Line 10"/>
            <p:cNvSpPr>
              <a:spLocks noChangeShapeType="1"/>
            </p:cNvSpPr>
            <p:nvPr/>
          </p:nvSpPr>
          <p:spPr bwMode="auto">
            <a:xfrm rot="16200000" flipV="1">
              <a:off x="2926" y="2451"/>
              <a:ext cx="444" cy="0"/>
            </a:xfrm>
            <a:prstGeom prst="line">
              <a:avLst/>
            </a:prstGeom>
            <a:noFill/>
            <a:ln w="28575">
              <a:solidFill>
                <a:schemeClr val="tx1"/>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sp>
        <p:nvSpPr>
          <p:cNvPr id="13" name="Line 11"/>
          <p:cNvSpPr>
            <a:spLocks noChangeShapeType="1"/>
          </p:cNvSpPr>
          <p:nvPr/>
        </p:nvSpPr>
        <p:spPr bwMode="auto">
          <a:xfrm flipH="1" flipV="1">
            <a:off x="3303242" y="2874480"/>
            <a:ext cx="704850" cy="0"/>
          </a:xfrm>
          <a:prstGeom prst="line">
            <a:avLst/>
          </a:prstGeom>
          <a:noFill/>
          <a:ln w="28575">
            <a:solidFill>
              <a:schemeClr val="tx1"/>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4" name="Line 12"/>
          <p:cNvSpPr>
            <a:spLocks noChangeShapeType="1"/>
          </p:cNvSpPr>
          <p:nvPr/>
        </p:nvSpPr>
        <p:spPr bwMode="auto">
          <a:xfrm rot="16200000" flipV="1">
            <a:off x="2607917" y="2106130"/>
            <a:ext cx="704850" cy="0"/>
          </a:xfrm>
          <a:prstGeom prst="line">
            <a:avLst/>
          </a:prstGeom>
          <a:noFill/>
          <a:ln w="28575">
            <a:solidFill>
              <a:schemeClr val="tx1"/>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5" name="Rectangle 14"/>
          <p:cNvSpPr>
            <a:spLocks noChangeArrowheads="1"/>
          </p:cNvSpPr>
          <p:nvPr/>
        </p:nvSpPr>
        <p:spPr bwMode="blackWhite">
          <a:xfrm>
            <a:off x="4012855" y="1188555"/>
            <a:ext cx="4949825" cy="2667000"/>
          </a:xfrm>
          <a:prstGeom prst="rect">
            <a:avLst/>
          </a:prstGeom>
          <a:solidFill>
            <a:srgbClr val="FF66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800"/>
              <a:t>Instance</a:t>
            </a:r>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p:txBody>
      </p:sp>
      <p:sp>
        <p:nvSpPr>
          <p:cNvPr id="16" name="Rectangle 15"/>
          <p:cNvSpPr>
            <a:spLocks noChangeArrowheads="1"/>
          </p:cNvSpPr>
          <p:nvPr/>
        </p:nvSpPr>
        <p:spPr bwMode="blackWhite">
          <a:xfrm>
            <a:off x="4043017" y="1507643"/>
            <a:ext cx="4803775" cy="1804987"/>
          </a:xfrm>
          <a:prstGeom prst="rect">
            <a:avLst/>
          </a:prstGeom>
          <a:solidFill>
            <a:srgbClr val="CCCCCC"/>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800"/>
              <a:t>SGA</a:t>
            </a:r>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p:txBody>
      </p:sp>
      <p:sp>
        <p:nvSpPr>
          <p:cNvPr id="17" name="Rectangle 16"/>
          <p:cNvSpPr>
            <a:spLocks noChangeArrowheads="1"/>
          </p:cNvSpPr>
          <p:nvPr/>
        </p:nvSpPr>
        <p:spPr bwMode="blackWhite">
          <a:xfrm>
            <a:off x="7397405" y="1950555"/>
            <a:ext cx="1325562" cy="792163"/>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400"/>
              <a:t>Redo Log</a:t>
            </a:r>
            <a:br>
              <a:rPr lang="en-US" altLang="en-US" sz="1400"/>
            </a:br>
            <a:r>
              <a:rPr lang="en-US" altLang="en-US" sz="1400"/>
              <a:t>Buffer</a:t>
            </a:r>
          </a:p>
        </p:txBody>
      </p:sp>
      <p:sp>
        <p:nvSpPr>
          <p:cNvPr id="18" name="Rectangle 17"/>
          <p:cNvSpPr>
            <a:spLocks noChangeArrowheads="1"/>
          </p:cNvSpPr>
          <p:nvPr/>
        </p:nvSpPr>
        <p:spPr bwMode="blackWhite">
          <a:xfrm>
            <a:off x="4150967" y="1601305"/>
            <a:ext cx="1573213" cy="1614488"/>
          </a:xfrm>
          <a:prstGeom prst="rect">
            <a:avLst/>
          </a:prstGeom>
          <a:solidFill>
            <a:srgbClr val="FFCC33"/>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400"/>
              <a:t>Shared Pool</a:t>
            </a:r>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p:txBody>
      </p:sp>
      <p:sp>
        <p:nvSpPr>
          <p:cNvPr id="19" name="Rectangle 18"/>
          <p:cNvSpPr>
            <a:spLocks noChangeArrowheads="1"/>
          </p:cNvSpPr>
          <p:nvPr/>
        </p:nvSpPr>
        <p:spPr bwMode="blackWhite">
          <a:xfrm>
            <a:off x="4271617" y="2637943"/>
            <a:ext cx="1327150" cy="539750"/>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400"/>
              <a:t>Data Dictionary</a:t>
            </a:r>
            <a:br>
              <a:rPr lang="en-US" altLang="en-US" sz="1400"/>
            </a:br>
            <a:r>
              <a:rPr lang="en-US" altLang="en-US" sz="1400"/>
              <a:t>Cache</a:t>
            </a:r>
          </a:p>
        </p:txBody>
      </p:sp>
      <p:sp>
        <p:nvSpPr>
          <p:cNvPr id="20" name="Rectangle 19"/>
          <p:cNvSpPr>
            <a:spLocks noChangeArrowheads="1"/>
          </p:cNvSpPr>
          <p:nvPr/>
        </p:nvSpPr>
        <p:spPr bwMode="blackWhite">
          <a:xfrm>
            <a:off x="4271617" y="2029930"/>
            <a:ext cx="1327150" cy="538163"/>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400"/>
              <a:t>Library</a:t>
            </a:r>
          </a:p>
          <a:p>
            <a:pPr algn="ctr">
              <a:lnSpc>
                <a:spcPct val="95000"/>
              </a:lnSpc>
              <a:spcBef>
                <a:spcPct val="0"/>
              </a:spcBef>
              <a:buClrTx/>
              <a:buFontTx/>
              <a:buNone/>
            </a:pPr>
            <a:r>
              <a:rPr lang="en-US" altLang="en-US" sz="1400"/>
              <a:t>Cache</a:t>
            </a:r>
          </a:p>
        </p:txBody>
      </p:sp>
      <p:sp>
        <p:nvSpPr>
          <p:cNvPr id="21" name="Oval 20"/>
          <p:cNvSpPr>
            <a:spLocks noChangeArrowheads="1"/>
          </p:cNvSpPr>
          <p:nvPr/>
        </p:nvSpPr>
        <p:spPr bwMode="blackWhite">
          <a:xfrm>
            <a:off x="5706717" y="3374543"/>
            <a:ext cx="723900" cy="42703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600"/>
              <a:t>DBWR</a:t>
            </a:r>
          </a:p>
        </p:txBody>
      </p:sp>
      <p:sp>
        <p:nvSpPr>
          <p:cNvPr id="22" name="Oval 21"/>
          <p:cNvSpPr>
            <a:spLocks noChangeArrowheads="1"/>
          </p:cNvSpPr>
          <p:nvPr/>
        </p:nvSpPr>
        <p:spPr bwMode="blackWhite">
          <a:xfrm>
            <a:off x="4898680" y="3374543"/>
            <a:ext cx="723900" cy="42703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600"/>
              <a:t>SMON</a:t>
            </a:r>
          </a:p>
        </p:txBody>
      </p:sp>
      <p:sp>
        <p:nvSpPr>
          <p:cNvPr id="23" name="Oval 22"/>
          <p:cNvSpPr>
            <a:spLocks noChangeArrowheads="1"/>
          </p:cNvSpPr>
          <p:nvPr/>
        </p:nvSpPr>
        <p:spPr bwMode="blackWhite">
          <a:xfrm>
            <a:off x="4093817" y="3374543"/>
            <a:ext cx="723900" cy="42703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600"/>
              <a:t>PMON</a:t>
            </a:r>
          </a:p>
        </p:txBody>
      </p:sp>
      <p:sp>
        <p:nvSpPr>
          <p:cNvPr id="24" name="Oval 23"/>
          <p:cNvSpPr>
            <a:spLocks noChangeArrowheads="1"/>
          </p:cNvSpPr>
          <p:nvPr/>
        </p:nvSpPr>
        <p:spPr bwMode="blackWhite">
          <a:xfrm>
            <a:off x="7306917" y="3374543"/>
            <a:ext cx="719138" cy="42703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600"/>
              <a:t>CKPT</a:t>
            </a:r>
          </a:p>
        </p:txBody>
      </p:sp>
      <p:sp>
        <p:nvSpPr>
          <p:cNvPr id="25" name="Oval 24"/>
          <p:cNvSpPr>
            <a:spLocks noChangeArrowheads="1"/>
          </p:cNvSpPr>
          <p:nvPr/>
        </p:nvSpPr>
        <p:spPr bwMode="blackWhite">
          <a:xfrm>
            <a:off x="6497292" y="3374543"/>
            <a:ext cx="723900" cy="42703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600"/>
              <a:t>LGWR</a:t>
            </a:r>
          </a:p>
        </p:txBody>
      </p:sp>
      <p:sp>
        <p:nvSpPr>
          <p:cNvPr id="26" name="Oval 25"/>
          <p:cNvSpPr>
            <a:spLocks noChangeArrowheads="1"/>
          </p:cNvSpPr>
          <p:nvPr/>
        </p:nvSpPr>
        <p:spPr bwMode="blackWhite">
          <a:xfrm>
            <a:off x="8121305" y="3374543"/>
            <a:ext cx="719137" cy="42703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600"/>
              <a:t>Others</a:t>
            </a:r>
          </a:p>
        </p:txBody>
      </p:sp>
      <p:sp>
        <p:nvSpPr>
          <p:cNvPr id="27" name="Oval 26"/>
          <p:cNvSpPr>
            <a:spLocks noChangeArrowheads="1"/>
          </p:cNvSpPr>
          <p:nvPr/>
        </p:nvSpPr>
        <p:spPr bwMode="blackWhite">
          <a:xfrm>
            <a:off x="2315817" y="1261580"/>
            <a:ext cx="1295400" cy="762000"/>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400"/>
              <a:t>User</a:t>
            </a:r>
            <a:br>
              <a:rPr lang="en-US" altLang="en-US" sz="1400"/>
            </a:br>
            <a:r>
              <a:rPr lang="en-US" altLang="en-US" sz="1400"/>
              <a:t>process</a:t>
            </a:r>
          </a:p>
        </p:txBody>
      </p:sp>
      <p:sp>
        <p:nvSpPr>
          <p:cNvPr id="28" name="Oval 27"/>
          <p:cNvSpPr>
            <a:spLocks noChangeArrowheads="1"/>
          </p:cNvSpPr>
          <p:nvPr/>
        </p:nvSpPr>
        <p:spPr bwMode="blackWhite">
          <a:xfrm>
            <a:off x="2320580" y="2472843"/>
            <a:ext cx="1295400" cy="762000"/>
          </a:xfrm>
          <a:prstGeom prst="ellipse">
            <a:avLst/>
          </a:prstGeom>
          <a:solidFill>
            <a:srgbClr val="FF9BCE"/>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spcBef>
                <a:spcPct val="0"/>
              </a:spcBef>
              <a:buClrTx/>
              <a:buFontTx/>
              <a:buNone/>
            </a:pPr>
            <a:r>
              <a:rPr lang="en-US" altLang="en-US" sz="1400"/>
              <a:t>Server</a:t>
            </a:r>
            <a:br>
              <a:rPr lang="en-US" altLang="en-US" sz="1400"/>
            </a:br>
            <a:r>
              <a:rPr lang="en-US" altLang="en-US" sz="1400"/>
              <a:t>process</a:t>
            </a:r>
          </a:p>
        </p:txBody>
      </p:sp>
      <p:sp>
        <p:nvSpPr>
          <p:cNvPr id="29" name="Rectangle 28"/>
          <p:cNvSpPr>
            <a:spLocks noChangeArrowheads="1"/>
          </p:cNvSpPr>
          <p:nvPr/>
        </p:nvSpPr>
        <p:spPr bwMode="auto">
          <a:xfrm>
            <a:off x="3147667" y="3111018"/>
            <a:ext cx="592138" cy="311150"/>
          </a:xfrm>
          <a:prstGeom prst="rect">
            <a:avLst/>
          </a:prstGeom>
          <a:solidFill>
            <a:srgbClr val="95CAFF"/>
          </a:solidFill>
          <a:ln>
            <a:noFill/>
          </a:ln>
          <a:effectLst/>
          <a:extLst>
            <a:ext uri="{91240B29-F687-4F45-9708-019B960494DF}">
              <a14:hiddenLine xmlns:a14="http://schemas.microsoft.com/office/drawing/2010/main" w="254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spcBef>
                <a:spcPct val="50000"/>
              </a:spcBef>
              <a:buClrTx/>
              <a:buFontTx/>
              <a:buNone/>
            </a:pPr>
            <a:r>
              <a:rPr lang="en-US" altLang="en-US" sz="1400"/>
              <a:t>PGA</a:t>
            </a:r>
          </a:p>
        </p:txBody>
      </p:sp>
      <p:sp>
        <p:nvSpPr>
          <p:cNvPr id="30" name="Rectangle 29"/>
          <p:cNvSpPr>
            <a:spLocks noChangeArrowheads="1"/>
          </p:cNvSpPr>
          <p:nvPr/>
        </p:nvSpPr>
        <p:spPr bwMode="blackWhite">
          <a:xfrm>
            <a:off x="4678017" y="4303230"/>
            <a:ext cx="3289300" cy="1839913"/>
          </a:xfrm>
          <a:prstGeom prst="rect">
            <a:avLst/>
          </a:prstGeom>
          <a:solidFill>
            <a:srgbClr val="FFCC33"/>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endParaRPr lang="en-US" altLang="en-US" sz="1800"/>
          </a:p>
        </p:txBody>
      </p:sp>
      <p:grpSp>
        <p:nvGrpSpPr>
          <p:cNvPr id="31" name="Group 30"/>
          <p:cNvGrpSpPr>
            <a:grpSpLocks/>
          </p:cNvGrpSpPr>
          <p:nvPr/>
        </p:nvGrpSpPr>
        <p:grpSpPr bwMode="auto">
          <a:xfrm>
            <a:off x="5955955" y="4903305"/>
            <a:ext cx="912812" cy="654050"/>
            <a:chOff x="1070" y="1910"/>
            <a:chExt cx="532" cy="412"/>
          </a:xfrm>
        </p:grpSpPr>
        <p:sp>
          <p:nvSpPr>
            <p:cNvPr id="32" name="Rectangle 31"/>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3" name="Oval 32"/>
            <p:cNvSpPr>
              <a:spLocks noChangeArrowheads="1"/>
            </p:cNvSpPr>
            <p:nvPr/>
          </p:nvSpPr>
          <p:spPr bwMode="ltGray">
            <a:xfrm>
              <a:off x="1070" y="1910"/>
              <a:ext cx="532" cy="15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4" name="Oval 33"/>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grpSp>
        <p:nvGrpSpPr>
          <p:cNvPr id="35" name="Group 34"/>
          <p:cNvGrpSpPr>
            <a:grpSpLocks/>
          </p:cNvGrpSpPr>
          <p:nvPr/>
        </p:nvGrpSpPr>
        <p:grpSpPr bwMode="auto">
          <a:xfrm>
            <a:off x="5955955" y="4350855"/>
            <a:ext cx="912812" cy="654050"/>
            <a:chOff x="1070" y="1910"/>
            <a:chExt cx="532" cy="412"/>
          </a:xfrm>
        </p:grpSpPr>
        <p:sp>
          <p:nvSpPr>
            <p:cNvPr id="36" name="Rectangle 35"/>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7" name="Oval 36"/>
            <p:cNvSpPr>
              <a:spLocks noChangeArrowheads="1"/>
            </p:cNvSpPr>
            <p:nvPr/>
          </p:nvSpPr>
          <p:spPr bwMode="ltGray">
            <a:xfrm>
              <a:off x="1070" y="1910"/>
              <a:ext cx="532" cy="15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8" name="Oval 37"/>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grpSp>
        <p:nvGrpSpPr>
          <p:cNvPr id="39" name="Group 38"/>
          <p:cNvGrpSpPr>
            <a:grpSpLocks/>
          </p:cNvGrpSpPr>
          <p:nvPr/>
        </p:nvGrpSpPr>
        <p:grpSpPr bwMode="auto">
          <a:xfrm>
            <a:off x="4830417" y="5430355"/>
            <a:ext cx="990600" cy="654050"/>
            <a:chOff x="1070" y="1910"/>
            <a:chExt cx="532" cy="412"/>
          </a:xfrm>
        </p:grpSpPr>
        <p:sp>
          <p:nvSpPr>
            <p:cNvPr id="40" name="Rectangle 39"/>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41" name="Oval 40"/>
            <p:cNvSpPr>
              <a:spLocks noChangeArrowheads="1"/>
            </p:cNvSpPr>
            <p:nvPr/>
          </p:nvSpPr>
          <p:spPr bwMode="ltGray">
            <a:xfrm>
              <a:off x="1070" y="1910"/>
              <a:ext cx="532" cy="15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42" name="Oval 41"/>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grpSp>
        <p:nvGrpSpPr>
          <p:cNvPr id="43" name="Group 42"/>
          <p:cNvGrpSpPr>
            <a:grpSpLocks/>
          </p:cNvGrpSpPr>
          <p:nvPr/>
        </p:nvGrpSpPr>
        <p:grpSpPr bwMode="auto">
          <a:xfrm>
            <a:off x="4830417" y="4895368"/>
            <a:ext cx="990600" cy="654050"/>
            <a:chOff x="1070" y="1910"/>
            <a:chExt cx="532" cy="412"/>
          </a:xfrm>
        </p:grpSpPr>
        <p:sp>
          <p:nvSpPr>
            <p:cNvPr id="44" name="Rectangle 43"/>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45" name="Oval 44"/>
            <p:cNvSpPr>
              <a:spLocks noChangeArrowheads="1"/>
            </p:cNvSpPr>
            <p:nvPr/>
          </p:nvSpPr>
          <p:spPr bwMode="ltGray">
            <a:xfrm>
              <a:off x="1070" y="1910"/>
              <a:ext cx="532" cy="15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46" name="Oval 45"/>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grpSp>
        <p:nvGrpSpPr>
          <p:cNvPr id="47" name="Group 46"/>
          <p:cNvGrpSpPr>
            <a:grpSpLocks/>
          </p:cNvGrpSpPr>
          <p:nvPr/>
        </p:nvGrpSpPr>
        <p:grpSpPr bwMode="auto">
          <a:xfrm>
            <a:off x="4832005" y="4350855"/>
            <a:ext cx="989012" cy="654050"/>
            <a:chOff x="1070" y="1910"/>
            <a:chExt cx="532" cy="412"/>
          </a:xfrm>
        </p:grpSpPr>
        <p:sp>
          <p:nvSpPr>
            <p:cNvPr id="48" name="Rectangle 47"/>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49" name="Oval 48"/>
            <p:cNvSpPr>
              <a:spLocks noChangeArrowheads="1"/>
            </p:cNvSpPr>
            <p:nvPr/>
          </p:nvSpPr>
          <p:spPr bwMode="ltGray">
            <a:xfrm>
              <a:off x="1070" y="1910"/>
              <a:ext cx="532" cy="15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50" name="Oval 49"/>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sp>
        <p:nvSpPr>
          <p:cNvPr id="51" name="Rectangle 50"/>
          <p:cNvSpPr>
            <a:spLocks noChangeArrowheads="1"/>
          </p:cNvSpPr>
          <p:nvPr/>
        </p:nvSpPr>
        <p:spPr bwMode="auto">
          <a:xfrm>
            <a:off x="5827367" y="4555643"/>
            <a:ext cx="1169988" cy="407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188" tIns="52388" rIns="103188" bIns="52388">
            <a:spAutoFit/>
          </a:bodyPr>
          <a:lstStyle>
            <a:lvl1pPr defTabSz="104140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61963" indent="-228600" defTabSz="104140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925513" indent="-228600" defTabSz="10414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04140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04140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70000"/>
              </a:lnSpc>
              <a:spcBef>
                <a:spcPct val="50000"/>
              </a:spcBef>
              <a:buClrTx/>
              <a:buFontTx/>
              <a:buNone/>
            </a:pPr>
            <a:r>
              <a:rPr lang="en-US" altLang="en-US" sz="1400"/>
              <a:t>Control files</a:t>
            </a:r>
          </a:p>
        </p:txBody>
      </p:sp>
      <p:sp>
        <p:nvSpPr>
          <p:cNvPr id="52" name="Rectangle 51"/>
          <p:cNvSpPr>
            <a:spLocks noChangeArrowheads="1"/>
          </p:cNvSpPr>
          <p:nvPr/>
        </p:nvSpPr>
        <p:spPr bwMode="auto">
          <a:xfrm>
            <a:off x="4716117" y="4593743"/>
            <a:ext cx="1219200" cy="515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188" tIns="52388" rIns="103188" bIns="52388">
            <a:spAutoFit/>
          </a:bodyPr>
          <a:lstStyle>
            <a:lvl1pPr defTabSz="104140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61963" indent="-228600" defTabSz="104140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925513" indent="-228600" defTabSz="10414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04140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04140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70000"/>
              </a:lnSpc>
              <a:spcBef>
                <a:spcPct val="50000"/>
              </a:spcBef>
              <a:buClrTx/>
              <a:buFontTx/>
              <a:buNone/>
            </a:pPr>
            <a:r>
              <a:rPr lang="en-US" altLang="en-US" sz="1400"/>
              <a:t>Data</a:t>
            </a:r>
          </a:p>
          <a:p>
            <a:pPr algn="ctr">
              <a:lnSpc>
                <a:spcPct val="70000"/>
              </a:lnSpc>
              <a:spcBef>
                <a:spcPct val="50000"/>
              </a:spcBef>
              <a:buClrTx/>
              <a:buFontTx/>
              <a:buNone/>
            </a:pPr>
            <a:r>
              <a:rPr lang="en-US" altLang="en-US" sz="1400"/>
              <a:t>files </a:t>
            </a:r>
          </a:p>
        </p:txBody>
      </p:sp>
      <p:sp>
        <p:nvSpPr>
          <p:cNvPr id="53" name="Rectangle 52"/>
          <p:cNvSpPr>
            <a:spLocks noChangeArrowheads="1"/>
          </p:cNvSpPr>
          <p:nvPr/>
        </p:nvSpPr>
        <p:spPr bwMode="auto">
          <a:xfrm>
            <a:off x="6705512" y="5751030"/>
            <a:ext cx="1259961" cy="392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571500" indent="-228600" defTabSz="1428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defTabSz="142875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42875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42875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spcBef>
                <a:spcPct val="0"/>
              </a:spcBef>
              <a:buClrTx/>
              <a:buFontTx/>
              <a:buNone/>
            </a:pPr>
            <a:r>
              <a:rPr lang="en-US" altLang="en-US" sz="1800"/>
              <a:t>Database</a:t>
            </a:r>
          </a:p>
        </p:txBody>
      </p:sp>
      <p:grpSp>
        <p:nvGrpSpPr>
          <p:cNvPr id="54" name="Group 53"/>
          <p:cNvGrpSpPr>
            <a:grpSpLocks/>
          </p:cNvGrpSpPr>
          <p:nvPr/>
        </p:nvGrpSpPr>
        <p:grpSpPr bwMode="auto">
          <a:xfrm>
            <a:off x="6983067" y="4896955"/>
            <a:ext cx="912813" cy="654050"/>
            <a:chOff x="1070" y="1910"/>
            <a:chExt cx="532" cy="412"/>
          </a:xfrm>
        </p:grpSpPr>
        <p:sp>
          <p:nvSpPr>
            <p:cNvPr id="55" name="Rectangle 54"/>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56" name="Oval 55"/>
            <p:cNvSpPr>
              <a:spLocks noChangeArrowheads="1"/>
            </p:cNvSpPr>
            <p:nvPr/>
          </p:nvSpPr>
          <p:spPr bwMode="ltGray">
            <a:xfrm>
              <a:off x="1070" y="1910"/>
              <a:ext cx="532" cy="15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57" name="Oval 56"/>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sp>
        <p:nvSpPr>
          <p:cNvPr id="58" name="Rectangle 57"/>
          <p:cNvSpPr>
            <a:spLocks noChangeArrowheads="1"/>
          </p:cNvSpPr>
          <p:nvPr/>
        </p:nvSpPr>
        <p:spPr bwMode="blackWhite">
          <a:xfrm>
            <a:off x="5838480" y="1947380"/>
            <a:ext cx="1511300" cy="908050"/>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400"/>
              <a:t>Database</a:t>
            </a:r>
            <a:br>
              <a:rPr lang="en-US" altLang="en-US" sz="1400"/>
            </a:br>
            <a:r>
              <a:rPr lang="en-US" altLang="en-US" sz="1400"/>
              <a:t>Buffer Cache</a:t>
            </a:r>
          </a:p>
        </p:txBody>
      </p:sp>
      <p:grpSp>
        <p:nvGrpSpPr>
          <p:cNvPr id="59" name="Group 58"/>
          <p:cNvGrpSpPr>
            <a:grpSpLocks/>
          </p:cNvGrpSpPr>
          <p:nvPr/>
        </p:nvGrpSpPr>
        <p:grpSpPr bwMode="auto">
          <a:xfrm>
            <a:off x="6983067" y="4379430"/>
            <a:ext cx="912813" cy="654050"/>
            <a:chOff x="1070" y="1910"/>
            <a:chExt cx="532" cy="412"/>
          </a:xfrm>
        </p:grpSpPr>
        <p:sp>
          <p:nvSpPr>
            <p:cNvPr id="60" name="Rectangle 59"/>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61" name="Oval 60"/>
            <p:cNvSpPr>
              <a:spLocks noChangeArrowheads="1"/>
            </p:cNvSpPr>
            <p:nvPr/>
          </p:nvSpPr>
          <p:spPr bwMode="ltGray">
            <a:xfrm>
              <a:off x="1070" y="1910"/>
              <a:ext cx="532" cy="15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62" name="Oval 61"/>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sp>
        <p:nvSpPr>
          <p:cNvPr id="63" name="Rectangle 62"/>
          <p:cNvSpPr>
            <a:spLocks noChangeArrowheads="1"/>
          </p:cNvSpPr>
          <p:nvPr/>
        </p:nvSpPr>
        <p:spPr bwMode="auto">
          <a:xfrm>
            <a:off x="6964017" y="4598505"/>
            <a:ext cx="1042988" cy="407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188" tIns="52388" rIns="103188" bIns="52388">
            <a:spAutoFit/>
          </a:bodyPr>
          <a:lstStyle>
            <a:lvl1pPr defTabSz="104140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61963" indent="-228600" defTabSz="104140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925513" indent="-228600" defTabSz="10414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04140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04140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70000"/>
              </a:lnSpc>
              <a:spcBef>
                <a:spcPct val="50000"/>
              </a:spcBef>
              <a:buClrTx/>
              <a:buFontTx/>
              <a:buNone/>
            </a:pPr>
            <a:r>
              <a:rPr lang="en-US" altLang="en-US" sz="1400"/>
              <a:t>Redo Log files</a:t>
            </a:r>
          </a:p>
        </p:txBody>
      </p:sp>
      <p:sp>
        <p:nvSpPr>
          <p:cNvPr id="64" name="Rectangle 63"/>
          <p:cNvSpPr>
            <a:spLocks noChangeArrowheads="1"/>
          </p:cNvSpPr>
          <p:nvPr/>
        </p:nvSpPr>
        <p:spPr bwMode="blackWhite">
          <a:xfrm>
            <a:off x="5924205" y="2901468"/>
            <a:ext cx="1339850" cy="328612"/>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400"/>
              <a:t>Java Pool</a:t>
            </a:r>
          </a:p>
        </p:txBody>
      </p:sp>
      <p:sp>
        <p:nvSpPr>
          <p:cNvPr id="65" name="Rectangle 64"/>
          <p:cNvSpPr>
            <a:spLocks noChangeArrowheads="1"/>
          </p:cNvSpPr>
          <p:nvPr/>
        </p:nvSpPr>
        <p:spPr bwMode="blackWhite">
          <a:xfrm>
            <a:off x="7411692" y="2850668"/>
            <a:ext cx="1282700" cy="385762"/>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400"/>
              <a:t>Large Pool</a:t>
            </a:r>
          </a:p>
        </p:txBody>
      </p:sp>
      <p:grpSp>
        <p:nvGrpSpPr>
          <p:cNvPr id="66" name="Group 65"/>
          <p:cNvGrpSpPr>
            <a:grpSpLocks/>
          </p:cNvGrpSpPr>
          <p:nvPr/>
        </p:nvGrpSpPr>
        <p:grpSpPr bwMode="auto">
          <a:xfrm>
            <a:off x="3295305" y="4369905"/>
            <a:ext cx="1219200" cy="838200"/>
            <a:chOff x="288" y="2982"/>
            <a:chExt cx="532" cy="412"/>
          </a:xfrm>
        </p:grpSpPr>
        <p:sp>
          <p:nvSpPr>
            <p:cNvPr id="67" name="Rectangle 66"/>
            <p:cNvSpPr>
              <a:spLocks noChangeArrowheads="1"/>
            </p:cNvSpPr>
            <p:nvPr/>
          </p:nvSpPr>
          <p:spPr bwMode="gray">
            <a:xfrm>
              <a:off x="288" y="3066"/>
              <a:ext cx="532" cy="246"/>
            </a:xfrm>
            <a:prstGeom prst="rect">
              <a:avLst/>
            </a:prstGeom>
            <a:solidFill>
              <a:srgbClr val="9999FF"/>
            </a:solidFill>
            <a:ln w="3175">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68" name="Oval 67"/>
            <p:cNvSpPr>
              <a:spLocks noChangeArrowheads="1"/>
            </p:cNvSpPr>
            <p:nvPr/>
          </p:nvSpPr>
          <p:spPr bwMode="gray">
            <a:xfrm>
              <a:off x="288" y="2982"/>
              <a:ext cx="532" cy="158"/>
            </a:xfrm>
            <a:prstGeom prst="ellipse">
              <a:avLst/>
            </a:prstGeom>
            <a:solidFill>
              <a:srgbClr val="CCCC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69" name="Oval 68"/>
            <p:cNvSpPr>
              <a:spLocks noChangeArrowheads="1"/>
            </p:cNvSpPr>
            <p:nvPr/>
          </p:nvSpPr>
          <p:spPr bwMode="gray">
            <a:xfrm>
              <a:off x="288" y="3236"/>
              <a:ext cx="532" cy="158"/>
            </a:xfrm>
            <a:prstGeom prst="ellipse">
              <a:avLst/>
            </a:prstGeom>
            <a:solidFill>
              <a:srgbClr val="9999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sp>
        <p:nvSpPr>
          <p:cNvPr id="70" name="Rectangle 69"/>
          <p:cNvSpPr>
            <a:spLocks noChangeArrowheads="1"/>
          </p:cNvSpPr>
          <p:nvPr/>
        </p:nvSpPr>
        <p:spPr bwMode="auto">
          <a:xfrm>
            <a:off x="3301037" y="4674705"/>
            <a:ext cx="1112485" cy="546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571500" indent="-228600" defTabSz="1428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defTabSz="142875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42875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42875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spcBef>
                <a:spcPct val="0"/>
              </a:spcBef>
              <a:buClrTx/>
              <a:buFontTx/>
              <a:buNone/>
            </a:pPr>
            <a:r>
              <a:rPr lang="en-US" altLang="en-US" sz="1400"/>
              <a:t>Parameter</a:t>
            </a:r>
          </a:p>
          <a:p>
            <a:pPr algn="ctr">
              <a:spcBef>
                <a:spcPct val="0"/>
              </a:spcBef>
              <a:buClrTx/>
              <a:buFontTx/>
              <a:buNone/>
            </a:pPr>
            <a:r>
              <a:rPr lang="en-US" altLang="en-US" sz="1400"/>
              <a:t>file</a:t>
            </a:r>
          </a:p>
        </p:txBody>
      </p:sp>
      <p:grpSp>
        <p:nvGrpSpPr>
          <p:cNvPr id="71" name="Group 70"/>
          <p:cNvGrpSpPr>
            <a:grpSpLocks/>
          </p:cNvGrpSpPr>
          <p:nvPr/>
        </p:nvGrpSpPr>
        <p:grpSpPr bwMode="auto">
          <a:xfrm>
            <a:off x="8254655" y="4446105"/>
            <a:ext cx="1219200" cy="838200"/>
            <a:chOff x="288" y="2982"/>
            <a:chExt cx="532" cy="412"/>
          </a:xfrm>
        </p:grpSpPr>
        <p:sp>
          <p:nvSpPr>
            <p:cNvPr id="72" name="Rectangle 71"/>
            <p:cNvSpPr>
              <a:spLocks noChangeArrowheads="1"/>
            </p:cNvSpPr>
            <p:nvPr/>
          </p:nvSpPr>
          <p:spPr bwMode="gray">
            <a:xfrm>
              <a:off x="288" y="3066"/>
              <a:ext cx="532" cy="246"/>
            </a:xfrm>
            <a:prstGeom prst="rect">
              <a:avLst/>
            </a:prstGeom>
            <a:solidFill>
              <a:srgbClr val="9999FF"/>
            </a:solidFill>
            <a:ln w="3175">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73" name="Oval 72"/>
            <p:cNvSpPr>
              <a:spLocks noChangeArrowheads="1"/>
            </p:cNvSpPr>
            <p:nvPr/>
          </p:nvSpPr>
          <p:spPr bwMode="gray">
            <a:xfrm>
              <a:off x="288" y="2982"/>
              <a:ext cx="532" cy="158"/>
            </a:xfrm>
            <a:prstGeom prst="ellipse">
              <a:avLst/>
            </a:prstGeom>
            <a:solidFill>
              <a:srgbClr val="CCCC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74" name="Oval 73"/>
            <p:cNvSpPr>
              <a:spLocks noChangeArrowheads="1"/>
            </p:cNvSpPr>
            <p:nvPr/>
          </p:nvSpPr>
          <p:spPr bwMode="gray">
            <a:xfrm>
              <a:off x="288" y="3236"/>
              <a:ext cx="532" cy="158"/>
            </a:xfrm>
            <a:prstGeom prst="ellipse">
              <a:avLst/>
            </a:prstGeom>
            <a:solidFill>
              <a:srgbClr val="9999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sp>
        <p:nvSpPr>
          <p:cNvPr id="75" name="Rectangle 74"/>
          <p:cNvSpPr>
            <a:spLocks noChangeArrowheads="1"/>
          </p:cNvSpPr>
          <p:nvPr/>
        </p:nvSpPr>
        <p:spPr bwMode="auto">
          <a:xfrm>
            <a:off x="8330540" y="4750905"/>
            <a:ext cx="1049968" cy="546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571500" indent="-228600" defTabSz="1428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defTabSz="142875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42875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42875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spcBef>
                <a:spcPct val="0"/>
              </a:spcBef>
              <a:buClrTx/>
              <a:buFontTx/>
              <a:buNone/>
            </a:pPr>
            <a:r>
              <a:rPr lang="en-US" altLang="en-US" sz="1400"/>
              <a:t>Archived </a:t>
            </a:r>
          </a:p>
          <a:p>
            <a:pPr algn="ctr">
              <a:spcBef>
                <a:spcPct val="0"/>
              </a:spcBef>
              <a:buClrTx/>
              <a:buFontTx/>
              <a:buNone/>
            </a:pPr>
            <a:r>
              <a:rPr lang="en-US" altLang="en-US" sz="1400"/>
              <a:t>Log files</a:t>
            </a:r>
          </a:p>
        </p:txBody>
      </p:sp>
      <p:sp>
        <p:nvSpPr>
          <p:cNvPr id="3" name="Title 2"/>
          <p:cNvSpPr>
            <a:spLocks noGrp="1"/>
          </p:cNvSpPr>
          <p:nvPr>
            <p:ph type="title"/>
          </p:nvPr>
        </p:nvSpPr>
        <p:spPr/>
        <p:txBody>
          <a:bodyPr>
            <a:normAutofit/>
          </a:bodyPr>
          <a:lstStyle/>
          <a:p>
            <a:r>
              <a:rPr lang="en-US"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 MÔ HÌNH CẤU TRÚC ORACLE SERVER</a:t>
            </a:r>
            <a:endParaRPr lang="vi-VN"/>
          </a:p>
        </p:txBody>
      </p:sp>
    </p:spTree>
    <p:extLst>
      <p:ext uri="{BB962C8B-B14F-4D97-AF65-F5344CB8AC3E}">
        <p14:creationId xmlns:p14="http://schemas.microsoft.com/office/powerpoint/2010/main" val="6936464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defTabSz="685983" fontAlgn="base">
              <a:spcAft>
                <a:spcPct val="0"/>
              </a:spcAft>
              <a:defRPr/>
            </a:pPr>
            <a:r>
              <a:rPr lang="en-US"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II. CÁC THÀNH PHẦN CHÍNH CỦA ORACLE SERVER</a:t>
            </a:r>
          </a:p>
        </p:txBody>
      </p:sp>
      <p:sp>
        <p:nvSpPr>
          <p:cNvPr id="3" name="Rectangle 2"/>
          <p:cNvSpPr/>
          <p:nvPr/>
        </p:nvSpPr>
        <p:spPr>
          <a:xfrm>
            <a:off x="544513" y="1076663"/>
            <a:ext cx="11201400" cy="1133515"/>
          </a:xfrm>
          <a:prstGeom prst="rect">
            <a:avLst/>
          </a:prstGeom>
        </p:spPr>
        <p:txBody>
          <a:bodyPr wrap="square">
            <a:spAutoFit/>
          </a:bodyPr>
          <a:lstStyle/>
          <a:p>
            <a:pPr marL="342900" indent="-342900" algn="just">
              <a:lnSpc>
                <a:spcPct val="150000"/>
              </a:lnSpc>
              <a:buClr>
                <a:srgbClr val="FF0000"/>
              </a:buClr>
              <a:buFont typeface="Arial" panose="020B0604020202020204" pitchFamily="34" charset="0"/>
              <a:buChar char="•"/>
            </a:pPr>
            <a:r>
              <a:rPr lang="vi-VN" sz="2400">
                <a:latin typeface="Times New Roman" panose="02020603050405020304" pitchFamily="18" charset="0"/>
                <a:ea typeface="Arial" panose="020B0604020202020204" pitchFamily="34" charset="0"/>
              </a:rPr>
              <a:t>Là tập hợp các file, tiến trình (processes) và cấu trúc bộ nhớ trong Oracle Server. </a:t>
            </a:r>
          </a:p>
          <a:p>
            <a:pPr marL="342900" indent="-342900" algn="just">
              <a:lnSpc>
                <a:spcPct val="150000"/>
              </a:lnSpc>
              <a:buClr>
                <a:srgbClr val="FF0000"/>
              </a:buClr>
              <a:buFont typeface="Arial" panose="020B0604020202020204" pitchFamily="34" charset="0"/>
              <a:buChar char="•"/>
            </a:pPr>
            <a:r>
              <a:rPr lang="vi-VN" sz="2400">
                <a:latin typeface="Times New Roman" panose="02020603050405020304" pitchFamily="18" charset="0"/>
                <a:ea typeface="Arial" panose="020B0604020202020204" pitchFamily="34" charset="0"/>
              </a:rPr>
              <a:t>Oracle Server bao gồm 2 thành phần chính là: Oracle Instance và Oracle Database. </a:t>
            </a:r>
            <a:endParaRPr lang="vi-VN" sz="2400"/>
          </a:p>
        </p:txBody>
      </p:sp>
      <p:sp>
        <p:nvSpPr>
          <p:cNvPr id="5" name="Rectangle 2"/>
          <p:cNvSpPr txBox="1">
            <a:spLocks noChangeArrowheads="1"/>
          </p:cNvSpPr>
          <p:nvPr/>
        </p:nvSpPr>
        <p:spPr>
          <a:xfrm>
            <a:off x="379829" y="371953"/>
            <a:ext cx="3221500" cy="876300"/>
          </a:xfrm>
          <a:prstGeom prst="rect">
            <a:avLst/>
          </a:prstGeom>
        </p:spPr>
        <p:txBody>
          <a:bodyPr vert="horz" lIns="91440" tIns="45720" rIns="91440" bIns="45720" rtlCol="0" anchor="b">
            <a:normAutofit fontScale="85000" lnSpcReduction="10000"/>
          </a:bodyPr>
          <a:lstStyle>
            <a:lvl1pPr algn="l" defTabSz="914400" rtl="0" eaLnBrk="1" latinLnBrk="0" hangingPunct="1">
              <a:spcBef>
                <a:spcPct val="0"/>
              </a:spcBef>
              <a:buNone/>
              <a:defRPr sz="3600" b="1" kern="1200">
                <a:solidFill>
                  <a:schemeClr val="bg1"/>
                </a:solidFill>
                <a:latin typeface="Arial" panose="020B0604020202020204" pitchFamily="34" charset="0"/>
                <a:ea typeface="+mj-ea"/>
                <a:cs typeface="Arial" panose="020B0604020202020204" pitchFamily="34" charset="0"/>
              </a:defRPr>
            </a:lvl1pPr>
          </a:lstStyle>
          <a:p>
            <a:pPr marL="571500" indent="-571500">
              <a:buFont typeface="Wingdings" panose="05000000000000000000" pitchFamily="2" charset="2"/>
              <a:buChar char="v"/>
            </a:pPr>
            <a:r>
              <a:rPr lang="en-US" altLang="en-US">
                <a:solidFill>
                  <a:schemeClr val="tx1"/>
                </a:solidFill>
                <a:latin typeface="Times New Roman" panose="02020603050405020304" pitchFamily="18" charset="0"/>
                <a:cs typeface="Times New Roman" panose="02020603050405020304" pitchFamily="18" charset="0"/>
              </a:rPr>
              <a:t>Oracle server:</a:t>
            </a:r>
            <a:endParaRPr lang="en-US" altLang="en-US"/>
          </a:p>
        </p:txBody>
      </p:sp>
      <p:sp>
        <p:nvSpPr>
          <p:cNvPr id="218" name="Freeform 4"/>
          <p:cNvSpPr>
            <a:spLocks/>
          </p:cNvSpPr>
          <p:nvPr/>
        </p:nvSpPr>
        <p:spPr bwMode="auto">
          <a:xfrm>
            <a:off x="4492762" y="4547108"/>
            <a:ext cx="2590800" cy="679450"/>
          </a:xfrm>
          <a:custGeom>
            <a:avLst/>
            <a:gdLst>
              <a:gd name="T0" fmla="*/ 969963 w 1632"/>
              <a:gd name="T1" fmla="*/ 544559 h 408"/>
              <a:gd name="T2" fmla="*/ 0 w 1632"/>
              <a:gd name="T3" fmla="*/ 0 h 408"/>
              <a:gd name="T4" fmla="*/ 2589213 w 1632"/>
              <a:gd name="T5" fmla="*/ 0 h 408"/>
              <a:gd name="T6" fmla="*/ 1381125 w 1632"/>
              <a:gd name="T7" fmla="*/ 677785 h 4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32" h="408">
                <a:moveTo>
                  <a:pt x="611" y="327"/>
                </a:moveTo>
                <a:lnTo>
                  <a:pt x="0" y="0"/>
                </a:lnTo>
                <a:lnTo>
                  <a:pt x="1631" y="0"/>
                </a:lnTo>
                <a:lnTo>
                  <a:pt x="870" y="407"/>
                </a:lnTo>
              </a:path>
            </a:pathLst>
          </a:custGeom>
          <a:solidFill>
            <a:schemeClr val="accent1"/>
          </a:solidFill>
          <a:ln w="25400" cap="rnd" cmpd="sng">
            <a:solidFill>
              <a:schemeClr val="tx1"/>
            </a:solidFill>
            <a:prstDash val="sysDot"/>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nvGrpSpPr>
          <p:cNvPr id="220" name="Group 5"/>
          <p:cNvGrpSpPr>
            <a:grpSpLocks/>
          </p:cNvGrpSpPr>
          <p:nvPr/>
        </p:nvGrpSpPr>
        <p:grpSpPr bwMode="auto">
          <a:xfrm>
            <a:off x="4480062" y="2557971"/>
            <a:ext cx="2641600" cy="2009775"/>
            <a:chOff x="3456" y="1329"/>
            <a:chExt cx="1664" cy="1266"/>
          </a:xfrm>
        </p:grpSpPr>
        <p:sp>
          <p:nvSpPr>
            <p:cNvPr id="221" name="Rectangle 6"/>
            <p:cNvSpPr>
              <a:spLocks noChangeArrowheads="1"/>
            </p:cNvSpPr>
            <p:nvPr/>
          </p:nvSpPr>
          <p:spPr bwMode="blackWhite">
            <a:xfrm>
              <a:off x="3456" y="1334"/>
              <a:ext cx="1664" cy="1261"/>
            </a:xfrm>
            <a:prstGeom prst="rect">
              <a:avLst/>
            </a:prstGeom>
            <a:noFill/>
            <a:ln w="25400">
              <a:solidFill>
                <a:schemeClr val="tx1"/>
              </a:solidFill>
              <a:miter lim="800000"/>
              <a:headEnd/>
              <a:tailEnd/>
            </a:ln>
            <a:effectLst/>
            <a:extLst>
              <a:ext uri="{909E8E84-426E-40DD-AFC4-6F175D3DCCD1}">
                <a14:hiddenFill xmlns:a14="http://schemas.microsoft.com/office/drawing/2010/main">
                  <a:gradFill rotWithShape="0">
                    <a:gsLst>
                      <a:gs pos="0">
                        <a:schemeClr val="tx1">
                          <a:gamma/>
                          <a:shade val="89804"/>
                          <a:invGamma/>
                        </a:schemeClr>
                      </a:gs>
                      <a:gs pos="50000">
                        <a:schemeClr val="tx1"/>
                      </a:gs>
                      <a:gs pos="100000">
                        <a:schemeClr val="tx1">
                          <a:gamma/>
                          <a:shade val="89804"/>
                          <a:invGamma/>
                        </a:schemeClr>
                      </a:gs>
                    </a:gsLst>
                    <a:lin ang="27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buClr>
                  <a:srgbClr val="000000"/>
                </a:buClr>
                <a:buFont typeface="Arial" panose="020B0604020202020204" pitchFamily="34" charset="0"/>
                <a:buNone/>
                <a:defRPr/>
              </a:pPr>
              <a:endParaRPr lang="en-US"/>
            </a:p>
          </p:txBody>
        </p:sp>
        <p:sp>
          <p:nvSpPr>
            <p:cNvPr id="222" name="Rectangle 7"/>
            <p:cNvSpPr>
              <a:spLocks noChangeArrowheads="1"/>
            </p:cNvSpPr>
            <p:nvPr/>
          </p:nvSpPr>
          <p:spPr bwMode="blackWhite">
            <a:xfrm>
              <a:off x="3596" y="1533"/>
              <a:ext cx="1386" cy="619"/>
            </a:xfrm>
            <a:prstGeom prst="rect">
              <a:avLst/>
            </a:prstGeom>
            <a:solidFill>
              <a:srgbClr val="FF66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23" name="Rectangle 8"/>
            <p:cNvSpPr>
              <a:spLocks noChangeArrowheads="1"/>
            </p:cNvSpPr>
            <p:nvPr/>
          </p:nvSpPr>
          <p:spPr bwMode="blackWhite">
            <a:xfrm>
              <a:off x="3629" y="1611"/>
              <a:ext cx="1305" cy="381"/>
            </a:xfrm>
            <a:prstGeom prst="rect">
              <a:avLst/>
            </a:prstGeom>
            <a:solidFill>
              <a:srgbClr val="CCCCCC"/>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24" name="Rectangle 9"/>
            <p:cNvSpPr>
              <a:spLocks noChangeArrowheads="1"/>
            </p:cNvSpPr>
            <p:nvPr/>
          </p:nvSpPr>
          <p:spPr bwMode="blackWhite">
            <a:xfrm>
              <a:off x="4467" y="1626"/>
              <a:ext cx="432" cy="346"/>
            </a:xfrm>
            <a:prstGeom prst="rect">
              <a:avLst/>
            </a:prstGeom>
            <a:solidFill>
              <a:srgbClr val="FFCC33"/>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25" name="Rectangle 10"/>
            <p:cNvSpPr>
              <a:spLocks noChangeArrowheads="1"/>
            </p:cNvSpPr>
            <p:nvPr/>
          </p:nvSpPr>
          <p:spPr bwMode="blackWhite">
            <a:xfrm>
              <a:off x="4502" y="1847"/>
              <a:ext cx="365" cy="107"/>
            </a:xfrm>
            <a:prstGeom prst="rect">
              <a:avLst/>
            </a:prstGeom>
            <a:solidFill>
              <a:srgbClr val="99CC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26" name="Rectangle 11"/>
            <p:cNvSpPr>
              <a:spLocks noChangeArrowheads="1"/>
            </p:cNvSpPr>
            <p:nvPr/>
          </p:nvSpPr>
          <p:spPr bwMode="blackWhite">
            <a:xfrm>
              <a:off x="4502" y="1698"/>
              <a:ext cx="365" cy="122"/>
            </a:xfrm>
            <a:prstGeom prst="rect">
              <a:avLst/>
            </a:prstGeom>
            <a:solidFill>
              <a:srgbClr val="99CC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27" name="Oval 12"/>
            <p:cNvSpPr>
              <a:spLocks noChangeArrowheads="1"/>
            </p:cNvSpPr>
            <p:nvPr/>
          </p:nvSpPr>
          <p:spPr bwMode="blackWhite">
            <a:xfrm>
              <a:off x="3942" y="2041"/>
              <a:ext cx="193" cy="8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28" name="Oval 13"/>
            <p:cNvSpPr>
              <a:spLocks noChangeArrowheads="1"/>
            </p:cNvSpPr>
            <p:nvPr/>
          </p:nvSpPr>
          <p:spPr bwMode="blackWhite">
            <a:xfrm>
              <a:off x="3715" y="2041"/>
              <a:ext cx="192" cy="8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29" name="Oval 14"/>
            <p:cNvSpPr>
              <a:spLocks noChangeArrowheads="1"/>
            </p:cNvSpPr>
            <p:nvPr/>
          </p:nvSpPr>
          <p:spPr bwMode="blackWhite">
            <a:xfrm>
              <a:off x="4396" y="2041"/>
              <a:ext cx="190" cy="8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30" name="Oval 15"/>
            <p:cNvSpPr>
              <a:spLocks noChangeArrowheads="1"/>
            </p:cNvSpPr>
            <p:nvPr/>
          </p:nvSpPr>
          <p:spPr bwMode="blackWhite">
            <a:xfrm>
              <a:off x="4164" y="2041"/>
              <a:ext cx="195" cy="8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31" name="Oval 16"/>
            <p:cNvSpPr>
              <a:spLocks noChangeArrowheads="1"/>
            </p:cNvSpPr>
            <p:nvPr/>
          </p:nvSpPr>
          <p:spPr bwMode="blackWhite">
            <a:xfrm>
              <a:off x="4625" y="2041"/>
              <a:ext cx="190" cy="8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nvGrpSpPr>
            <p:cNvPr id="232" name="Group 17"/>
            <p:cNvGrpSpPr>
              <a:grpSpLocks/>
            </p:cNvGrpSpPr>
            <p:nvPr/>
          </p:nvGrpSpPr>
          <p:grpSpPr bwMode="auto">
            <a:xfrm>
              <a:off x="4790" y="1761"/>
              <a:ext cx="58" cy="53"/>
              <a:chOff x="4606" y="1539"/>
              <a:chExt cx="58" cy="53"/>
            </a:xfrm>
          </p:grpSpPr>
          <p:sp>
            <p:nvSpPr>
              <p:cNvPr id="417" name="Line 18"/>
              <p:cNvSpPr>
                <a:spLocks noChangeShapeType="1"/>
              </p:cNvSpPr>
              <p:nvPr/>
            </p:nvSpPr>
            <p:spPr bwMode="blackWhite">
              <a:xfrm flipH="1">
                <a:off x="4641" y="1551"/>
                <a:ext cx="16" cy="12"/>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18" name="Line 19"/>
              <p:cNvSpPr>
                <a:spLocks noChangeShapeType="1"/>
              </p:cNvSpPr>
              <p:nvPr/>
            </p:nvSpPr>
            <p:spPr bwMode="blackWhite">
              <a:xfrm flipH="1">
                <a:off x="4642" y="1550"/>
                <a:ext cx="16" cy="15"/>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19" name="Line 20"/>
              <p:cNvSpPr>
                <a:spLocks noChangeShapeType="1"/>
              </p:cNvSpPr>
              <p:nvPr/>
            </p:nvSpPr>
            <p:spPr bwMode="blackWhite">
              <a:xfrm flipH="1">
                <a:off x="4641" y="1558"/>
                <a:ext cx="15" cy="1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20" name="Freeform 21"/>
              <p:cNvSpPr>
                <a:spLocks/>
              </p:cNvSpPr>
              <p:nvPr/>
            </p:nvSpPr>
            <p:spPr bwMode="blackWhite">
              <a:xfrm>
                <a:off x="4606" y="1543"/>
                <a:ext cx="57" cy="42"/>
              </a:xfrm>
              <a:custGeom>
                <a:avLst/>
                <a:gdLst>
                  <a:gd name="T0" fmla="*/ 56 w 57"/>
                  <a:gd name="T1" fmla="*/ 4 h 42"/>
                  <a:gd name="T2" fmla="*/ 51 w 57"/>
                  <a:gd name="T3" fmla="*/ 41 h 42"/>
                  <a:gd name="T4" fmla="*/ 0 w 57"/>
                  <a:gd name="T5" fmla="*/ 37 h 42"/>
                  <a:gd name="T6" fmla="*/ 4 w 57"/>
                  <a:gd name="T7" fmla="*/ 0 h 42"/>
                  <a:gd name="T8" fmla="*/ 56 w 57"/>
                  <a:gd name="T9" fmla="*/ 4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 h="42">
                    <a:moveTo>
                      <a:pt x="56" y="4"/>
                    </a:moveTo>
                    <a:lnTo>
                      <a:pt x="51" y="41"/>
                    </a:lnTo>
                    <a:lnTo>
                      <a:pt x="0" y="37"/>
                    </a:lnTo>
                    <a:lnTo>
                      <a:pt x="4" y="0"/>
                    </a:lnTo>
                    <a:lnTo>
                      <a:pt x="56" y="4"/>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21" name="Freeform 22"/>
              <p:cNvSpPr>
                <a:spLocks/>
              </p:cNvSpPr>
              <p:nvPr/>
            </p:nvSpPr>
            <p:spPr bwMode="blackWhite">
              <a:xfrm>
                <a:off x="4607" y="1541"/>
                <a:ext cx="56" cy="43"/>
              </a:xfrm>
              <a:custGeom>
                <a:avLst/>
                <a:gdLst>
                  <a:gd name="T0" fmla="*/ 55 w 56"/>
                  <a:gd name="T1" fmla="*/ 4 h 43"/>
                  <a:gd name="T2" fmla="*/ 50 w 56"/>
                  <a:gd name="T3" fmla="*/ 42 h 43"/>
                  <a:gd name="T4" fmla="*/ 0 w 56"/>
                  <a:gd name="T5" fmla="*/ 38 h 43"/>
                  <a:gd name="T6" fmla="*/ 4 w 56"/>
                  <a:gd name="T7" fmla="*/ 0 h 43"/>
                  <a:gd name="T8" fmla="*/ 55 w 56"/>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43">
                    <a:moveTo>
                      <a:pt x="55" y="4"/>
                    </a:moveTo>
                    <a:lnTo>
                      <a:pt x="50" y="42"/>
                    </a:lnTo>
                    <a:lnTo>
                      <a:pt x="0" y="38"/>
                    </a:lnTo>
                    <a:lnTo>
                      <a:pt x="4" y="0"/>
                    </a:lnTo>
                    <a:lnTo>
                      <a:pt x="55" y="4"/>
                    </a:lnTo>
                  </a:path>
                </a:pathLst>
              </a:custGeom>
              <a:solidFill>
                <a:srgbClr val="989898"/>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22" name="Freeform 23"/>
              <p:cNvSpPr>
                <a:spLocks/>
              </p:cNvSpPr>
              <p:nvPr/>
            </p:nvSpPr>
            <p:spPr bwMode="blackWhite">
              <a:xfrm>
                <a:off x="4610" y="1539"/>
                <a:ext cx="54" cy="44"/>
              </a:xfrm>
              <a:custGeom>
                <a:avLst/>
                <a:gdLst>
                  <a:gd name="T0" fmla="*/ 53 w 54"/>
                  <a:gd name="T1" fmla="*/ 4 h 44"/>
                  <a:gd name="T2" fmla="*/ 49 w 54"/>
                  <a:gd name="T3" fmla="*/ 43 h 44"/>
                  <a:gd name="T4" fmla="*/ 0 w 54"/>
                  <a:gd name="T5" fmla="*/ 39 h 44"/>
                  <a:gd name="T6" fmla="*/ 4 w 54"/>
                  <a:gd name="T7" fmla="*/ 0 h 44"/>
                  <a:gd name="T8" fmla="*/ 53 w 54"/>
                  <a:gd name="T9" fmla="*/ 4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44">
                    <a:moveTo>
                      <a:pt x="53" y="4"/>
                    </a:moveTo>
                    <a:lnTo>
                      <a:pt x="49" y="43"/>
                    </a:lnTo>
                    <a:lnTo>
                      <a:pt x="0" y="39"/>
                    </a:lnTo>
                    <a:lnTo>
                      <a:pt x="4" y="0"/>
                    </a:lnTo>
                    <a:lnTo>
                      <a:pt x="53" y="4"/>
                    </a:lnTo>
                  </a:path>
                </a:pathLst>
              </a:custGeom>
              <a:solidFill>
                <a:srgbClr val="FFCC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23" name="Freeform 24"/>
              <p:cNvSpPr>
                <a:spLocks/>
              </p:cNvSpPr>
              <p:nvPr/>
            </p:nvSpPr>
            <p:spPr bwMode="blackWhite">
              <a:xfrm>
                <a:off x="4610" y="1539"/>
                <a:ext cx="54" cy="44"/>
              </a:xfrm>
              <a:custGeom>
                <a:avLst/>
                <a:gdLst>
                  <a:gd name="T0" fmla="*/ 53 w 54"/>
                  <a:gd name="T1" fmla="*/ 4 h 44"/>
                  <a:gd name="T2" fmla="*/ 49 w 54"/>
                  <a:gd name="T3" fmla="*/ 43 h 44"/>
                  <a:gd name="T4" fmla="*/ 0 w 54"/>
                  <a:gd name="T5" fmla="*/ 39 h 44"/>
                  <a:gd name="T6" fmla="*/ 4 w 54"/>
                  <a:gd name="T7" fmla="*/ 0 h 44"/>
                  <a:gd name="T8" fmla="*/ 53 w 54"/>
                  <a:gd name="T9" fmla="*/ 4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44">
                    <a:moveTo>
                      <a:pt x="53" y="4"/>
                    </a:moveTo>
                    <a:lnTo>
                      <a:pt x="49" y="43"/>
                    </a:lnTo>
                    <a:lnTo>
                      <a:pt x="0" y="39"/>
                    </a:lnTo>
                    <a:lnTo>
                      <a:pt x="4" y="0"/>
                    </a:lnTo>
                    <a:lnTo>
                      <a:pt x="53" y="4"/>
                    </a:lnTo>
                  </a:path>
                </a:pathLst>
              </a:custGeom>
              <a:noFill/>
              <a:ln w="12700" cap="rnd" cmpd="sng">
                <a:solidFill>
                  <a:srgbClr val="7F7F7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24" name="Freeform 25"/>
              <p:cNvSpPr>
                <a:spLocks/>
              </p:cNvSpPr>
              <p:nvPr/>
            </p:nvSpPr>
            <p:spPr bwMode="blackWhite">
              <a:xfrm>
                <a:off x="4617" y="1543"/>
                <a:ext cx="42" cy="19"/>
              </a:xfrm>
              <a:custGeom>
                <a:avLst/>
                <a:gdLst>
                  <a:gd name="T0" fmla="*/ 41 w 42"/>
                  <a:gd name="T1" fmla="*/ 11 h 19"/>
                  <a:gd name="T2" fmla="*/ 40 w 42"/>
                  <a:gd name="T3" fmla="*/ 18 h 19"/>
                  <a:gd name="T4" fmla="*/ 0 w 42"/>
                  <a:gd name="T5" fmla="*/ 7 h 19"/>
                  <a:gd name="T6" fmla="*/ 0 w 42"/>
                  <a:gd name="T7" fmla="*/ 0 h 19"/>
                  <a:gd name="T8" fmla="*/ 41 w 42"/>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 h="19">
                    <a:moveTo>
                      <a:pt x="41" y="11"/>
                    </a:moveTo>
                    <a:lnTo>
                      <a:pt x="40" y="18"/>
                    </a:lnTo>
                    <a:lnTo>
                      <a:pt x="0" y="7"/>
                    </a:lnTo>
                    <a:lnTo>
                      <a:pt x="0" y="0"/>
                    </a:lnTo>
                    <a:lnTo>
                      <a:pt x="41"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25" name="Freeform 26"/>
              <p:cNvSpPr>
                <a:spLocks/>
              </p:cNvSpPr>
              <p:nvPr/>
            </p:nvSpPr>
            <p:spPr bwMode="blackWhite">
              <a:xfrm>
                <a:off x="4615" y="1550"/>
                <a:ext cx="44" cy="19"/>
              </a:xfrm>
              <a:custGeom>
                <a:avLst/>
                <a:gdLst>
                  <a:gd name="T0" fmla="*/ 43 w 44"/>
                  <a:gd name="T1" fmla="*/ 11 h 19"/>
                  <a:gd name="T2" fmla="*/ 42 w 44"/>
                  <a:gd name="T3" fmla="*/ 18 h 19"/>
                  <a:gd name="T4" fmla="*/ 0 w 44"/>
                  <a:gd name="T5" fmla="*/ 6 h 19"/>
                  <a:gd name="T6" fmla="*/ 0 w 44"/>
                  <a:gd name="T7" fmla="*/ 0 h 19"/>
                  <a:gd name="T8" fmla="*/ 43 w 44"/>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19">
                    <a:moveTo>
                      <a:pt x="43" y="11"/>
                    </a:moveTo>
                    <a:lnTo>
                      <a:pt x="42" y="18"/>
                    </a:lnTo>
                    <a:lnTo>
                      <a:pt x="0" y="6"/>
                    </a:lnTo>
                    <a:lnTo>
                      <a:pt x="0" y="0"/>
                    </a:lnTo>
                    <a:lnTo>
                      <a:pt x="43"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26" name="Freeform 27"/>
              <p:cNvSpPr>
                <a:spLocks/>
              </p:cNvSpPr>
              <p:nvPr/>
            </p:nvSpPr>
            <p:spPr bwMode="blackWhite">
              <a:xfrm>
                <a:off x="4615" y="1558"/>
                <a:ext cx="43" cy="19"/>
              </a:xfrm>
              <a:custGeom>
                <a:avLst/>
                <a:gdLst>
                  <a:gd name="T0" fmla="*/ 42 w 43"/>
                  <a:gd name="T1" fmla="*/ 11 h 19"/>
                  <a:gd name="T2" fmla="*/ 41 w 43"/>
                  <a:gd name="T3" fmla="*/ 18 h 19"/>
                  <a:gd name="T4" fmla="*/ 0 w 43"/>
                  <a:gd name="T5" fmla="*/ 6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6"/>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27" name="Freeform 28"/>
              <p:cNvSpPr>
                <a:spLocks/>
              </p:cNvSpPr>
              <p:nvPr/>
            </p:nvSpPr>
            <p:spPr bwMode="blackWhite">
              <a:xfrm>
                <a:off x="4615" y="1565"/>
                <a:ext cx="43" cy="19"/>
              </a:xfrm>
              <a:custGeom>
                <a:avLst/>
                <a:gdLst>
                  <a:gd name="T0" fmla="*/ 42 w 43"/>
                  <a:gd name="T1" fmla="*/ 11 h 19"/>
                  <a:gd name="T2" fmla="*/ 41 w 43"/>
                  <a:gd name="T3" fmla="*/ 18 h 19"/>
                  <a:gd name="T4" fmla="*/ 0 w 43"/>
                  <a:gd name="T5" fmla="*/ 7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7"/>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28" name="Freeform 29"/>
              <p:cNvSpPr>
                <a:spLocks/>
              </p:cNvSpPr>
              <p:nvPr/>
            </p:nvSpPr>
            <p:spPr bwMode="blackWhite">
              <a:xfrm>
                <a:off x="4615" y="1573"/>
                <a:ext cx="43" cy="19"/>
              </a:xfrm>
              <a:custGeom>
                <a:avLst/>
                <a:gdLst>
                  <a:gd name="T0" fmla="*/ 42 w 43"/>
                  <a:gd name="T1" fmla="*/ 11 h 19"/>
                  <a:gd name="T2" fmla="*/ 41 w 43"/>
                  <a:gd name="T3" fmla="*/ 18 h 19"/>
                  <a:gd name="T4" fmla="*/ 0 w 43"/>
                  <a:gd name="T5" fmla="*/ 6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6"/>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sp>
          <p:nvSpPr>
            <p:cNvPr id="233" name="Line 30"/>
            <p:cNvSpPr>
              <a:spLocks noChangeShapeType="1"/>
            </p:cNvSpPr>
            <p:nvPr/>
          </p:nvSpPr>
          <p:spPr bwMode="blackWhite">
            <a:xfrm flipH="1">
              <a:off x="4737" y="1735"/>
              <a:ext cx="37" cy="2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nvGrpSpPr>
            <p:cNvPr id="234" name="Group 31"/>
            <p:cNvGrpSpPr>
              <a:grpSpLocks/>
            </p:cNvGrpSpPr>
            <p:nvPr/>
          </p:nvGrpSpPr>
          <p:grpSpPr bwMode="auto">
            <a:xfrm>
              <a:off x="4727" y="1720"/>
              <a:ext cx="59" cy="52"/>
              <a:chOff x="4543" y="1498"/>
              <a:chExt cx="59" cy="52"/>
            </a:xfrm>
          </p:grpSpPr>
          <p:sp>
            <p:nvSpPr>
              <p:cNvPr id="405" name="Line 32"/>
              <p:cNvSpPr>
                <a:spLocks noChangeShapeType="1"/>
              </p:cNvSpPr>
              <p:nvPr/>
            </p:nvSpPr>
            <p:spPr bwMode="blackWhite">
              <a:xfrm flipH="1">
                <a:off x="4581" y="1511"/>
                <a:ext cx="12" cy="12"/>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06" name="Line 33"/>
              <p:cNvSpPr>
                <a:spLocks noChangeShapeType="1"/>
              </p:cNvSpPr>
              <p:nvPr/>
            </p:nvSpPr>
            <p:spPr bwMode="blackWhite">
              <a:xfrm flipH="1">
                <a:off x="4581" y="1508"/>
                <a:ext cx="17" cy="16"/>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07" name="Line 34"/>
              <p:cNvSpPr>
                <a:spLocks noChangeShapeType="1"/>
              </p:cNvSpPr>
              <p:nvPr/>
            </p:nvSpPr>
            <p:spPr bwMode="blackWhite">
              <a:xfrm flipH="1">
                <a:off x="4581" y="1515"/>
                <a:ext cx="12" cy="12"/>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08" name="Freeform 35"/>
              <p:cNvSpPr>
                <a:spLocks/>
              </p:cNvSpPr>
              <p:nvPr/>
            </p:nvSpPr>
            <p:spPr bwMode="blackWhite">
              <a:xfrm>
                <a:off x="4543" y="1501"/>
                <a:ext cx="56" cy="44"/>
              </a:xfrm>
              <a:custGeom>
                <a:avLst/>
                <a:gdLst>
                  <a:gd name="T0" fmla="*/ 55 w 56"/>
                  <a:gd name="T1" fmla="*/ 4 h 44"/>
                  <a:gd name="T2" fmla="*/ 50 w 56"/>
                  <a:gd name="T3" fmla="*/ 43 h 44"/>
                  <a:gd name="T4" fmla="*/ 0 w 56"/>
                  <a:gd name="T5" fmla="*/ 39 h 44"/>
                  <a:gd name="T6" fmla="*/ 4 w 56"/>
                  <a:gd name="T7" fmla="*/ 0 h 44"/>
                  <a:gd name="T8" fmla="*/ 55 w 56"/>
                  <a:gd name="T9" fmla="*/ 4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44">
                    <a:moveTo>
                      <a:pt x="55" y="4"/>
                    </a:moveTo>
                    <a:lnTo>
                      <a:pt x="50" y="43"/>
                    </a:lnTo>
                    <a:lnTo>
                      <a:pt x="0" y="39"/>
                    </a:lnTo>
                    <a:lnTo>
                      <a:pt x="4" y="0"/>
                    </a:lnTo>
                    <a:lnTo>
                      <a:pt x="55" y="4"/>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09" name="Freeform 36"/>
              <p:cNvSpPr>
                <a:spLocks/>
              </p:cNvSpPr>
              <p:nvPr/>
            </p:nvSpPr>
            <p:spPr bwMode="blackWhite">
              <a:xfrm>
                <a:off x="4547" y="1500"/>
                <a:ext cx="55" cy="42"/>
              </a:xfrm>
              <a:custGeom>
                <a:avLst/>
                <a:gdLst>
                  <a:gd name="T0" fmla="*/ 54 w 55"/>
                  <a:gd name="T1" fmla="*/ 4 h 42"/>
                  <a:gd name="T2" fmla="*/ 49 w 55"/>
                  <a:gd name="T3" fmla="*/ 41 h 42"/>
                  <a:gd name="T4" fmla="*/ 0 w 55"/>
                  <a:gd name="T5" fmla="*/ 37 h 42"/>
                  <a:gd name="T6" fmla="*/ 4 w 55"/>
                  <a:gd name="T7" fmla="*/ 0 h 42"/>
                  <a:gd name="T8" fmla="*/ 54 w 55"/>
                  <a:gd name="T9" fmla="*/ 4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 h="42">
                    <a:moveTo>
                      <a:pt x="54" y="4"/>
                    </a:moveTo>
                    <a:lnTo>
                      <a:pt x="49" y="41"/>
                    </a:lnTo>
                    <a:lnTo>
                      <a:pt x="0" y="37"/>
                    </a:lnTo>
                    <a:lnTo>
                      <a:pt x="4" y="0"/>
                    </a:lnTo>
                    <a:lnTo>
                      <a:pt x="54" y="4"/>
                    </a:lnTo>
                  </a:path>
                </a:pathLst>
              </a:custGeom>
              <a:solidFill>
                <a:srgbClr val="989898"/>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10" name="Freeform 37"/>
              <p:cNvSpPr>
                <a:spLocks/>
              </p:cNvSpPr>
              <p:nvPr/>
            </p:nvSpPr>
            <p:spPr bwMode="blackWhite">
              <a:xfrm>
                <a:off x="4548" y="1498"/>
                <a:ext cx="54" cy="43"/>
              </a:xfrm>
              <a:custGeom>
                <a:avLst/>
                <a:gdLst>
                  <a:gd name="T0" fmla="*/ 53 w 54"/>
                  <a:gd name="T1" fmla="*/ 4 h 43"/>
                  <a:gd name="T2" fmla="*/ 49 w 54"/>
                  <a:gd name="T3" fmla="*/ 42 h 43"/>
                  <a:gd name="T4" fmla="*/ 0 w 54"/>
                  <a:gd name="T5" fmla="*/ 38 h 43"/>
                  <a:gd name="T6" fmla="*/ 4 w 54"/>
                  <a:gd name="T7" fmla="*/ 0 h 43"/>
                  <a:gd name="T8" fmla="*/ 53 w 54"/>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43">
                    <a:moveTo>
                      <a:pt x="53" y="4"/>
                    </a:moveTo>
                    <a:lnTo>
                      <a:pt x="49" y="42"/>
                    </a:lnTo>
                    <a:lnTo>
                      <a:pt x="0" y="38"/>
                    </a:lnTo>
                    <a:lnTo>
                      <a:pt x="4" y="0"/>
                    </a:lnTo>
                    <a:lnTo>
                      <a:pt x="53" y="4"/>
                    </a:lnTo>
                  </a:path>
                </a:pathLst>
              </a:custGeom>
              <a:solidFill>
                <a:srgbClr val="FFCC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11" name="Freeform 38"/>
              <p:cNvSpPr>
                <a:spLocks/>
              </p:cNvSpPr>
              <p:nvPr/>
            </p:nvSpPr>
            <p:spPr bwMode="blackWhite">
              <a:xfrm>
                <a:off x="4548" y="1498"/>
                <a:ext cx="54" cy="43"/>
              </a:xfrm>
              <a:custGeom>
                <a:avLst/>
                <a:gdLst>
                  <a:gd name="T0" fmla="*/ 53 w 54"/>
                  <a:gd name="T1" fmla="*/ 4 h 43"/>
                  <a:gd name="T2" fmla="*/ 49 w 54"/>
                  <a:gd name="T3" fmla="*/ 42 h 43"/>
                  <a:gd name="T4" fmla="*/ 0 w 54"/>
                  <a:gd name="T5" fmla="*/ 38 h 43"/>
                  <a:gd name="T6" fmla="*/ 4 w 54"/>
                  <a:gd name="T7" fmla="*/ 0 h 43"/>
                  <a:gd name="T8" fmla="*/ 53 w 54"/>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43">
                    <a:moveTo>
                      <a:pt x="53" y="4"/>
                    </a:moveTo>
                    <a:lnTo>
                      <a:pt x="49" y="42"/>
                    </a:lnTo>
                    <a:lnTo>
                      <a:pt x="0" y="38"/>
                    </a:lnTo>
                    <a:lnTo>
                      <a:pt x="4" y="0"/>
                    </a:lnTo>
                    <a:lnTo>
                      <a:pt x="53" y="4"/>
                    </a:lnTo>
                  </a:path>
                </a:pathLst>
              </a:custGeom>
              <a:noFill/>
              <a:ln w="12700" cap="rnd" cmpd="sng">
                <a:solidFill>
                  <a:srgbClr val="7F7F7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12" name="Freeform 39"/>
              <p:cNvSpPr>
                <a:spLocks/>
              </p:cNvSpPr>
              <p:nvPr/>
            </p:nvSpPr>
            <p:spPr bwMode="blackWhite">
              <a:xfrm>
                <a:off x="4555" y="1501"/>
                <a:ext cx="44" cy="19"/>
              </a:xfrm>
              <a:custGeom>
                <a:avLst/>
                <a:gdLst>
                  <a:gd name="T0" fmla="*/ 43 w 44"/>
                  <a:gd name="T1" fmla="*/ 11 h 19"/>
                  <a:gd name="T2" fmla="*/ 42 w 44"/>
                  <a:gd name="T3" fmla="*/ 18 h 19"/>
                  <a:gd name="T4" fmla="*/ 0 w 44"/>
                  <a:gd name="T5" fmla="*/ 7 h 19"/>
                  <a:gd name="T6" fmla="*/ 0 w 44"/>
                  <a:gd name="T7" fmla="*/ 0 h 19"/>
                  <a:gd name="T8" fmla="*/ 43 w 44"/>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19">
                    <a:moveTo>
                      <a:pt x="43" y="11"/>
                    </a:moveTo>
                    <a:lnTo>
                      <a:pt x="42" y="18"/>
                    </a:lnTo>
                    <a:lnTo>
                      <a:pt x="0" y="7"/>
                    </a:lnTo>
                    <a:lnTo>
                      <a:pt x="0" y="0"/>
                    </a:lnTo>
                    <a:lnTo>
                      <a:pt x="43"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13" name="Freeform 40"/>
              <p:cNvSpPr>
                <a:spLocks/>
              </p:cNvSpPr>
              <p:nvPr/>
            </p:nvSpPr>
            <p:spPr bwMode="blackWhite">
              <a:xfrm>
                <a:off x="4554" y="1508"/>
                <a:ext cx="43" cy="19"/>
              </a:xfrm>
              <a:custGeom>
                <a:avLst/>
                <a:gdLst>
                  <a:gd name="T0" fmla="*/ 42 w 43"/>
                  <a:gd name="T1" fmla="*/ 11 h 19"/>
                  <a:gd name="T2" fmla="*/ 41 w 43"/>
                  <a:gd name="T3" fmla="*/ 18 h 19"/>
                  <a:gd name="T4" fmla="*/ 0 w 43"/>
                  <a:gd name="T5" fmla="*/ 6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6"/>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14" name="Freeform 41"/>
              <p:cNvSpPr>
                <a:spLocks/>
              </p:cNvSpPr>
              <p:nvPr/>
            </p:nvSpPr>
            <p:spPr bwMode="blackWhite">
              <a:xfrm>
                <a:off x="4553" y="1515"/>
                <a:ext cx="43" cy="19"/>
              </a:xfrm>
              <a:custGeom>
                <a:avLst/>
                <a:gdLst>
                  <a:gd name="T0" fmla="*/ 42 w 43"/>
                  <a:gd name="T1" fmla="*/ 11 h 19"/>
                  <a:gd name="T2" fmla="*/ 41 w 43"/>
                  <a:gd name="T3" fmla="*/ 18 h 19"/>
                  <a:gd name="T4" fmla="*/ 0 w 43"/>
                  <a:gd name="T5" fmla="*/ 6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6"/>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15" name="Freeform 42"/>
              <p:cNvSpPr>
                <a:spLocks/>
              </p:cNvSpPr>
              <p:nvPr/>
            </p:nvSpPr>
            <p:spPr bwMode="blackWhite">
              <a:xfrm>
                <a:off x="4553" y="1523"/>
                <a:ext cx="43" cy="19"/>
              </a:xfrm>
              <a:custGeom>
                <a:avLst/>
                <a:gdLst>
                  <a:gd name="T0" fmla="*/ 42 w 43"/>
                  <a:gd name="T1" fmla="*/ 11 h 19"/>
                  <a:gd name="T2" fmla="*/ 41 w 43"/>
                  <a:gd name="T3" fmla="*/ 18 h 19"/>
                  <a:gd name="T4" fmla="*/ 0 w 43"/>
                  <a:gd name="T5" fmla="*/ 7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7"/>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16" name="Freeform 43"/>
              <p:cNvSpPr>
                <a:spLocks/>
              </p:cNvSpPr>
              <p:nvPr/>
            </p:nvSpPr>
            <p:spPr bwMode="blackWhite">
              <a:xfrm>
                <a:off x="4553" y="1531"/>
                <a:ext cx="41" cy="19"/>
              </a:xfrm>
              <a:custGeom>
                <a:avLst/>
                <a:gdLst>
                  <a:gd name="T0" fmla="*/ 40 w 41"/>
                  <a:gd name="T1" fmla="*/ 11 h 19"/>
                  <a:gd name="T2" fmla="*/ 39 w 41"/>
                  <a:gd name="T3" fmla="*/ 18 h 19"/>
                  <a:gd name="T4" fmla="*/ 0 w 41"/>
                  <a:gd name="T5" fmla="*/ 6 h 19"/>
                  <a:gd name="T6" fmla="*/ 0 w 41"/>
                  <a:gd name="T7" fmla="*/ 0 h 19"/>
                  <a:gd name="T8" fmla="*/ 40 w 41"/>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19">
                    <a:moveTo>
                      <a:pt x="40" y="11"/>
                    </a:moveTo>
                    <a:lnTo>
                      <a:pt x="39" y="18"/>
                    </a:lnTo>
                    <a:lnTo>
                      <a:pt x="0" y="6"/>
                    </a:lnTo>
                    <a:lnTo>
                      <a:pt x="0" y="0"/>
                    </a:lnTo>
                    <a:lnTo>
                      <a:pt x="40"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235" name="Group 44"/>
            <p:cNvGrpSpPr>
              <a:grpSpLocks/>
            </p:cNvGrpSpPr>
            <p:nvPr/>
          </p:nvGrpSpPr>
          <p:grpSpPr bwMode="auto">
            <a:xfrm>
              <a:off x="4720" y="1773"/>
              <a:ext cx="58" cy="52"/>
              <a:chOff x="4536" y="1551"/>
              <a:chExt cx="58" cy="52"/>
            </a:xfrm>
          </p:grpSpPr>
          <p:sp>
            <p:nvSpPr>
              <p:cNvPr id="393" name="Line 45"/>
              <p:cNvSpPr>
                <a:spLocks noChangeShapeType="1"/>
              </p:cNvSpPr>
              <p:nvPr/>
            </p:nvSpPr>
            <p:spPr bwMode="blackWhite">
              <a:xfrm flipH="1">
                <a:off x="4570" y="1565"/>
                <a:ext cx="17" cy="1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94" name="Line 46"/>
              <p:cNvSpPr>
                <a:spLocks noChangeShapeType="1"/>
              </p:cNvSpPr>
              <p:nvPr/>
            </p:nvSpPr>
            <p:spPr bwMode="blackWhite">
              <a:xfrm flipH="1">
                <a:off x="4573" y="1561"/>
                <a:ext cx="17" cy="16"/>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95" name="Line 47"/>
              <p:cNvSpPr>
                <a:spLocks noChangeShapeType="1"/>
              </p:cNvSpPr>
              <p:nvPr/>
            </p:nvSpPr>
            <p:spPr bwMode="blackWhite">
              <a:xfrm flipH="1">
                <a:off x="4570" y="1568"/>
                <a:ext cx="17" cy="13"/>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96" name="Freeform 48"/>
              <p:cNvSpPr>
                <a:spLocks/>
              </p:cNvSpPr>
              <p:nvPr/>
            </p:nvSpPr>
            <p:spPr bwMode="blackWhite">
              <a:xfrm>
                <a:off x="4536" y="1556"/>
                <a:ext cx="55" cy="43"/>
              </a:xfrm>
              <a:custGeom>
                <a:avLst/>
                <a:gdLst>
                  <a:gd name="T0" fmla="*/ 54 w 55"/>
                  <a:gd name="T1" fmla="*/ 4 h 43"/>
                  <a:gd name="T2" fmla="*/ 49 w 55"/>
                  <a:gd name="T3" fmla="*/ 42 h 43"/>
                  <a:gd name="T4" fmla="*/ 0 w 55"/>
                  <a:gd name="T5" fmla="*/ 38 h 43"/>
                  <a:gd name="T6" fmla="*/ 4 w 55"/>
                  <a:gd name="T7" fmla="*/ 0 h 43"/>
                  <a:gd name="T8" fmla="*/ 54 w 55"/>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 h="43">
                    <a:moveTo>
                      <a:pt x="54" y="4"/>
                    </a:moveTo>
                    <a:lnTo>
                      <a:pt x="49" y="42"/>
                    </a:lnTo>
                    <a:lnTo>
                      <a:pt x="0" y="38"/>
                    </a:lnTo>
                    <a:lnTo>
                      <a:pt x="4" y="0"/>
                    </a:lnTo>
                    <a:lnTo>
                      <a:pt x="54" y="4"/>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97" name="Freeform 49"/>
              <p:cNvSpPr>
                <a:spLocks/>
              </p:cNvSpPr>
              <p:nvPr/>
            </p:nvSpPr>
            <p:spPr bwMode="blackWhite">
              <a:xfrm>
                <a:off x="4537" y="1552"/>
                <a:ext cx="56" cy="43"/>
              </a:xfrm>
              <a:custGeom>
                <a:avLst/>
                <a:gdLst>
                  <a:gd name="T0" fmla="*/ 55 w 56"/>
                  <a:gd name="T1" fmla="*/ 4 h 43"/>
                  <a:gd name="T2" fmla="*/ 50 w 56"/>
                  <a:gd name="T3" fmla="*/ 42 h 43"/>
                  <a:gd name="T4" fmla="*/ 0 w 56"/>
                  <a:gd name="T5" fmla="*/ 38 h 43"/>
                  <a:gd name="T6" fmla="*/ 4 w 56"/>
                  <a:gd name="T7" fmla="*/ 0 h 43"/>
                  <a:gd name="T8" fmla="*/ 55 w 56"/>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43">
                    <a:moveTo>
                      <a:pt x="55" y="4"/>
                    </a:moveTo>
                    <a:lnTo>
                      <a:pt x="50" y="42"/>
                    </a:lnTo>
                    <a:lnTo>
                      <a:pt x="0" y="38"/>
                    </a:lnTo>
                    <a:lnTo>
                      <a:pt x="4" y="0"/>
                    </a:lnTo>
                    <a:lnTo>
                      <a:pt x="55" y="4"/>
                    </a:lnTo>
                  </a:path>
                </a:pathLst>
              </a:custGeom>
              <a:solidFill>
                <a:srgbClr val="989898"/>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98" name="Freeform 50"/>
              <p:cNvSpPr>
                <a:spLocks/>
              </p:cNvSpPr>
              <p:nvPr/>
            </p:nvSpPr>
            <p:spPr bwMode="blackWhite">
              <a:xfrm>
                <a:off x="4538" y="1551"/>
                <a:ext cx="56" cy="43"/>
              </a:xfrm>
              <a:custGeom>
                <a:avLst/>
                <a:gdLst>
                  <a:gd name="T0" fmla="*/ 55 w 56"/>
                  <a:gd name="T1" fmla="*/ 4 h 43"/>
                  <a:gd name="T2" fmla="*/ 51 w 56"/>
                  <a:gd name="T3" fmla="*/ 42 h 43"/>
                  <a:gd name="T4" fmla="*/ 0 w 56"/>
                  <a:gd name="T5" fmla="*/ 38 h 43"/>
                  <a:gd name="T6" fmla="*/ 4 w 56"/>
                  <a:gd name="T7" fmla="*/ 0 h 43"/>
                  <a:gd name="T8" fmla="*/ 55 w 56"/>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43">
                    <a:moveTo>
                      <a:pt x="55" y="4"/>
                    </a:moveTo>
                    <a:lnTo>
                      <a:pt x="51" y="42"/>
                    </a:lnTo>
                    <a:lnTo>
                      <a:pt x="0" y="38"/>
                    </a:lnTo>
                    <a:lnTo>
                      <a:pt x="4" y="0"/>
                    </a:lnTo>
                    <a:lnTo>
                      <a:pt x="55" y="4"/>
                    </a:lnTo>
                  </a:path>
                </a:pathLst>
              </a:custGeom>
              <a:solidFill>
                <a:srgbClr val="FFCC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99" name="Freeform 51"/>
              <p:cNvSpPr>
                <a:spLocks/>
              </p:cNvSpPr>
              <p:nvPr/>
            </p:nvSpPr>
            <p:spPr bwMode="blackWhite">
              <a:xfrm>
                <a:off x="4538" y="1551"/>
                <a:ext cx="56" cy="43"/>
              </a:xfrm>
              <a:custGeom>
                <a:avLst/>
                <a:gdLst>
                  <a:gd name="T0" fmla="*/ 55 w 56"/>
                  <a:gd name="T1" fmla="*/ 4 h 43"/>
                  <a:gd name="T2" fmla="*/ 51 w 56"/>
                  <a:gd name="T3" fmla="*/ 42 h 43"/>
                  <a:gd name="T4" fmla="*/ 0 w 56"/>
                  <a:gd name="T5" fmla="*/ 38 h 43"/>
                  <a:gd name="T6" fmla="*/ 4 w 56"/>
                  <a:gd name="T7" fmla="*/ 0 h 43"/>
                  <a:gd name="T8" fmla="*/ 55 w 56"/>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43">
                    <a:moveTo>
                      <a:pt x="55" y="4"/>
                    </a:moveTo>
                    <a:lnTo>
                      <a:pt x="51" y="42"/>
                    </a:lnTo>
                    <a:lnTo>
                      <a:pt x="0" y="38"/>
                    </a:lnTo>
                    <a:lnTo>
                      <a:pt x="4" y="0"/>
                    </a:lnTo>
                    <a:lnTo>
                      <a:pt x="55" y="4"/>
                    </a:lnTo>
                  </a:path>
                </a:pathLst>
              </a:custGeom>
              <a:noFill/>
              <a:ln w="12700" cap="rnd" cmpd="sng">
                <a:solidFill>
                  <a:srgbClr val="7F7F7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00" name="Freeform 52"/>
              <p:cNvSpPr>
                <a:spLocks/>
              </p:cNvSpPr>
              <p:nvPr/>
            </p:nvSpPr>
            <p:spPr bwMode="blackWhite">
              <a:xfrm>
                <a:off x="4548" y="1556"/>
                <a:ext cx="43" cy="19"/>
              </a:xfrm>
              <a:custGeom>
                <a:avLst/>
                <a:gdLst>
                  <a:gd name="T0" fmla="*/ 42 w 43"/>
                  <a:gd name="T1" fmla="*/ 11 h 19"/>
                  <a:gd name="T2" fmla="*/ 41 w 43"/>
                  <a:gd name="T3" fmla="*/ 18 h 19"/>
                  <a:gd name="T4" fmla="*/ 0 w 43"/>
                  <a:gd name="T5" fmla="*/ 7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7"/>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01" name="Freeform 53"/>
              <p:cNvSpPr>
                <a:spLocks/>
              </p:cNvSpPr>
              <p:nvPr/>
            </p:nvSpPr>
            <p:spPr bwMode="blackWhite">
              <a:xfrm>
                <a:off x="4547" y="1561"/>
                <a:ext cx="44" cy="20"/>
              </a:xfrm>
              <a:custGeom>
                <a:avLst/>
                <a:gdLst>
                  <a:gd name="T0" fmla="*/ 43 w 44"/>
                  <a:gd name="T1" fmla="*/ 12 h 20"/>
                  <a:gd name="T2" fmla="*/ 42 w 44"/>
                  <a:gd name="T3" fmla="*/ 19 h 20"/>
                  <a:gd name="T4" fmla="*/ 0 w 44"/>
                  <a:gd name="T5" fmla="*/ 7 h 20"/>
                  <a:gd name="T6" fmla="*/ 0 w 44"/>
                  <a:gd name="T7" fmla="*/ 0 h 20"/>
                  <a:gd name="T8" fmla="*/ 43 w 44"/>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20">
                    <a:moveTo>
                      <a:pt x="43" y="12"/>
                    </a:moveTo>
                    <a:lnTo>
                      <a:pt x="42" y="19"/>
                    </a:lnTo>
                    <a:lnTo>
                      <a:pt x="0" y="7"/>
                    </a:lnTo>
                    <a:lnTo>
                      <a:pt x="0" y="0"/>
                    </a:lnTo>
                    <a:lnTo>
                      <a:pt x="43" y="1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02" name="Freeform 54"/>
              <p:cNvSpPr>
                <a:spLocks/>
              </p:cNvSpPr>
              <p:nvPr/>
            </p:nvSpPr>
            <p:spPr bwMode="blackWhite">
              <a:xfrm>
                <a:off x="4547" y="1568"/>
                <a:ext cx="41" cy="19"/>
              </a:xfrm>
              <a:custGeom>
                <a:avLst/>
                <a:gdLst>
                  <a:gd name="T0" fmla="*/ 40 w 41"/>
                  <a:gd name="T1" fmla="*/ 11 h 19"/>
                  <a:gd name="T2" fmla="*/ 39 w 41"/>
                  <a:gd name="T3" fmla="*/ 18 h 19"/>
                  <a:gd name="T4" fmla="*/ 0 w 41"/>
                  <a:gd name="T5" fmla="*/ 6 h 19"/>
                  <a:gd name="T6" fmla="*/ 0 w 41"/>
                  <a:gd name="T7" fmla="*/ 0 h 19"/>
                  <a:gd name="T8" fmla="*/ 40 w 41"/>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19">
                    <a:moveTo>
                      <a:pt x="40" y="11"/>
                    </a:moveTo>
                    <a:lnTo>
                      <a:pt x="39" y="18"/>
                    </a:lnTo>
                    <a:lnTo>
                      <a:pt x="0" y="6"/>
                    </a:lnTo>
                    <a:lnTo>
                      <a:pt x="0" y="0"/>
                    </a:lnTo>
                    <a:lnTo>
                      <a:pt x="40"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03" name="Freeform 55"/>
              <p:cNvSpPr>
                <a:spLocks/>
              </p:cNvSpPr>
              <p:nvPr/>
            </p:nvSpPr>
            <p:spPr bwMode="blackWhite">
              <a:xfrm>
                <a:off x="4543" y="1575"/>
                <a:ext cx="45" cy="19"/>
              </a:xfrm>
              <a:custGeom>
                <a:avLst/>
                <a:gdLst>
                  <a:gd name="T0" fmla="*/ 44 w 45"/>
                  <a:gd name="T1" fmla="*/ 11 h 19"/>
                  <a:gd name="T2" fmla="*/ 43 w 45"/>
                  <a:gd name="T3" fmla="*/ 18 h 19"/>
                  <a:gd name="T4" fmla="*/ 0 w 45"/>
                  <a:gd name="T5" fmla="*/ 7 h 19"/>
                  <a:gd name="T6" fmla="*/ 0 w 45"/>
                  <a:gd name="T7" fmla="*/ 0 h 19"/>
                  <a:gd name="T8" fmla="*/ 44 w 45"/>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19">
                    <a:moveTo>
                      <a:pt x="44" y="11"/>
                    </a:moveTo>
                    <a:lnTo>
                      <a:pt x="43" y="18"/>
                    </a:lnTo>
                    <a:lnTo>
                      <a:pt x="0" y="7"/>
                    </a:lnTo>
                    <a:lnTo>
                      <a:pt x="0" y="0"/>
                    </a:lnTo>
                    <a:lnTo>
                      <a:pt x="44"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404" name="Freeform 56"/>
              <p:cNvSpPr>
                <a:spLocks/>
              </p:cNvSpPr>
              <p:nvPr/>
            </p:nvSpPr>
            <p:spPr bwMode="blackWhite">
              <a:xfrm>
                <a:off x="4543" y="1584"/>
                <a:ext cx="45" cy="19"/>
              </a:xfrm>
              <a:custGeom>
                <a:avLst/>
                <a:gdLst>
                  <a:gd name="T0" fmla="*/ 44 w 45"/>
                  <a:gd name="T1" fmla="*/ 11 h 19"/>
                  <a:gd name="T2" fmla="*/ 43 w 45"/>
                  <a:gd name="T3" fmla="*/ 18 h 19"/>
                  <a:gd name="T4" fmla="*/ 0 w 45"/>
                  <a:gd name="T5" fmla="*/ 6 h 19"/>
                  <a:gd name="T6" fmla="*/ 0 w 45"/>
                  <a:gd name="T7" fmla="*/ 0 h 19"/>
                  <a:gd name="T8" fmla="*/ 44 w 45"/>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19">
                    <a:moveTo>
                      <a:pt x="44" y="11"/>
                    </a:moveTo>
                    <a:lnTo>
                      <a:pt x="43" y="18"/>
                    </a:lnTo>
                    <a:lnTo>
                      <a:pt x="0" y="6"/>
                    </a:lnTo>
                    <a:lnTo>
                      <a:pt x="0" y="0"/>
                    </a:lnTo>
                    <a:lnTo>
                      <a:pt x="44"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236" name="Group 57"/>
            <p:cNvGrpSpPr>
              <a:grpSpLocks/>
            </p:cNvGrpSpPr>
            <p:nvPr/>
          </p:nvGrpSpPr>
          <p:grpSpPr bwMode="auto">
            <a:xfrm>
              <a:off x="4596" y="1771"/>
              <a:ext cx="57" cy="52"/>
              <a:chOff x="4412" y="1549"/>
              <a:chExt cx="57" cy="52"/>
            </a:xfrm>
          </p:grpSpPr>
          <p:sp>
            <p:nvSpPr>
              <p:cNvPr id="381" name="Line 58"/>
              <p:cNvSpPr>
                <a:spLocks noChangeShapeType="1"/>
              </p:cNvSpPr>
              <p:nvPr/>
            </p:nvSpPr>
            <p:spPr bwMode="blackWhite">
              <a:xfrm flipH="1">
                <a:off x="4447" y="1560"/>
                <a:ext cx="14" cy="13"/>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82" name="Line 59"/>
              <p:cNvSpPr>
                <a:spLocks noChangeShapeType="1"/>
              </p:cNvSpPr>
              <p:nvPr/>
            </p:nvSpPr>
            <p:spPr bwMode="blackWhite">
              <a:xfrm flipH="1">
                <a:off x="4447" y="1559"/>
                <a:ext cx="17" cy="15"/>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83" name="Line 60"/>
              <p:cNvSpPr>
                <a:spLocks noChangeShapeType="1"/>
              </p:cNvSpPr>
              <p:nvPr/>
            </p:nvSpPr>
            <p:spPr bwMode="blackWhite">
              <a:xfrm flipH="1">
                <a:off x="4447" y="1567"/>
                <a:ext cx="14" cy="12"/>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84" name="Freeform 61"/>
              <p:cNvSpPr>
                <a:spLocks/>
              </p:cNvSpPr>
              <p:nvPr/>
            </p:nvSpPr>
            <p:spPr bwMode="blackWhite">
              <a:xfrm>
                <a:off x="4412" y="1552"/>
                <a:ext cx="53" cy="43"/>
              </a:xfrm>
              <a:custGeom>
                <a:avLst/>
                <a:gdLst>
                  <a:gd name="T0" fmla="*/ 52 w 53"/>
                  <a:gd name="T1" fmla="*/ 4 h 43"/>
                  <a:gd name="T2" fmla="*/ 48 w 53"/>
                  <a:gd name="T3" fmla="*/ 42 h 43"/>
                  <a:gd name="T4" fmla="*/ 0 w 53"/>
                  <a:gd name="T5" fmla="*/ 38 h 43"/>
                  <a:gd name="T6" fmla="*/ 4 w 53"/>
                  <a:gd name="T7" fmla="*/ 0 h 43"/>
                  <a:gd name="T8" fmla="*/ 52 w 53"/>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43">
                    <a:moveTo>
                      <a:pt x="52" y="4"/>
                    </a:moveTo>
                    <a:lnTo>
                      <a:pt x="48" y="42"/>
                    </a:lnTo>
                    <a:lnTo>
                      <a:pt x="0" y="38"/>
                    </a:lnTo>
                    <a:lnTo>
                      <a:pt x="4" y="0"/>
                    </a:lnTo>
                    <a:lnTo>
                      <a:pt x="52" y="4"/>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85" name="Freeform 62"/>
              <p:cNvSpPr>
                <a:spLocks/>
              </p:cNvSpPr>
              <p:nvPr/>
            </p:nvSpPr>
            <p:spPr bwMode="blackWhite">
              <a:xfrm>
                <a:off x="4413" y="1551"/>
                <a:ext cx="55" cy="43"/>
              </a:xfrm>
              <a:custGeom>
                <a:avLst/>
                <a:gdLst>
                  <a:gd name="T0" fmla="*/ 54 w 55"/>
                  <a:gd name="T1" fmla="*/ 4 h 43"/>
                  <a:gd name="T2" fmla="*/ 49 w 55"/>
                  <a:gd name="T3" fmla="*/ 42 h 43"/>
                  <a:gd name="T4" fmla="*/ 0 w 55"/>
                  <a:gd name="T5" fmla="*/ 38 h 43"/>
                  <a:gd name="T6" fmla="*/ 4 w 55"/>
                  <a:gd name="T7" fmla="*/ 0 h 43"/>
                  <a:gd name="T8" fmla="*/ 54 w 55"/>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 h="43">
                    <a:moveTo>
                      <a:pt x="54" y="4"/>
                    </a:moveTo>
                    <a:lnTo>
                      <a:pt x="49" y="42"/>
                    </a:lnTo>
                    <a:lnTo>
                      <a:pt x="0" y="38"/>
                    </a:lnTo>
                    <a:lnTo>
                      <a:pt x="4" y="0"/>
                    </a:lnTo>
                    <a:lnTo>
                      <a:pt x="54" y="4"/>
                    </a:lnTo>
                  </a:path>
                </a:pathLst>
              </a:custGeom>
              <a:solidFill>
                <a:srgbClr val="989898"/>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86" name="Freeform 63"/>
              <p:cNvSpPr>
                <a:spLocks/>
              </p:cNvSpPr>
              <p:nvPr/>
            </p:nvSpPr>
            <p:spPr bwMode="blackWhite">
              <a:xfrm>
                <a:off x="4414" y="1549"/>
                <a:ext cx="55" cy="43"/>
              </a:xfrm>
              <a:custGeom>
                <a:avLst/>
                <a:gdLst>
                  <a:gd name="T0" fmla="*/ 54 w 55"/>
                  <a:gd name="T1" fmla="*/ 4 h 43"/>
                  <a:gd name="T2" fmla="*/ 50 w 55"/>
                  <a:gd name="T3" fmla="*/ 42 h 43"/>
                  <a:gd name="T4" fmla="*/ 0 w 55"/>
                  <a:gd name="T5" fmla="*/ 38 h 43"/>
                  <a:gd name="T6" fmla="*/ 4 w 55"/>
                  <a:gd name="T7" fmla="*/ 0 h 43"/>
                  <a:gd name="T8" fmla="*/ 54 w 55"/>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 h="43">
                    <a:moveTo>
                      <a:pt x="54" y="4"/>
                    </a:moveTo>
                    <a:lnTo>
                      <a:pt x="50" y="42"/>
                    </a:lnTo>
                    <a:lnTo>
                      <a:pt x="0" y="38"/>
                    </a:lnTo>
                    <a:lnTo>
                      <a:pt x="4" y="0"/>
                    </a:lnTo>
                    <a:lnTo>
                      <a:pt x="54" y="4"/>
                    </a:lnTo>
                  </a:path>
                </a:pathLst>
              </a:custGeom>
              <a:solidFill>
                <a:srgbClr val="FFCC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87" name="Freeform 64"/>
              <p:cNvSpPr>
                <a:spLocks/>
              </p:cNvSpPr>
              <p:nvPr/>
            </p:nvSpPr>
            <p:spPr bwMode="blackWhite">
              <a:xfrm>
                <a:off x="4414" y="1549"/>
                <a:ext cx="55" cy="43"/>
              </a:xfrm>
              <a:custGeom>
                <a:avLst/>
                <a:gdLst>
                  <a:gd name="T0" fmla="*/ 54 w 55"/>
                  <a:gd name="T1" fmla="*/ 4 h 43"/>
                  <a:gd name="T2" fmla="*/ 50 w 55"/>
                  <a:gd name="T3" fmla="*/ 42 h 43"/>
                  <a:gd name="T4" fmla="*/ 0 w 55"/>
                  <a:gd name="T5" fmla="*/ 38 h 43"/>
                  <a:gd name="T6" fmla="*/ 4 w 55"/>
                  <a:gd name="T7" fmla="*/ 0 h 43"/>
                  <a:gd name="T8" fmla="*/ 54 w 55"/>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 h="43">
                    <a:moveTo>
                      <a:pt x="54" y="4"/>
                    </a:moveTo>
                    <a:lnTo>
                      <a:pt x="50" y="42"/>
                    </a:lnTo>
                    <a:lnTo>
                      <a:pt x="0" y="38"/>
                    </a:lnTo>
                    <a:lnTo>
                      <a:pt x="4" y="0"/>
                    </a:lnTo>
                    <a:lnTo>
                      <a:pt x="54" y="4"/>
                    </a:lnTo>
                  </a:path>
                </a:pathLst>
              </a:custGeom>
              <a:noFill/>
              <a:ln w="12700" cap="rnd" cmpd="sng">
                <a:solidFill>
                  <a:srgbClr val="7F7F7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88" name="Freeform 65"/>
              <p:cNvSpPr>
                <a:spLocks/>
              </p:cNvSpPr>
              <p:nvPr/>
            </p:nvSpPr>
            <p:spPr bwMode="blackWhite">
              <a:xfrm>
                <a:off x="4423" y="1552"/>
                <a:ext cx="42" cy="20"/>
              </a:xfrm>
              <a:custGeom>
                <a:avLst/>
                <a:gdLst>
                  <a:gd name="T0" fmla="*/ 41 w 42"/>
                  <a:gd name="T1" fmla="*/ 12 h 20"/>
                  <a:gd name="T2" fmla="*/ 40 w 42"/>
                  <a:gd name="T3" fmla="*/ 19 h 20"/>
                  <a:gd name="T4" fmla="*/ 0 w 42"/>
                  <a:gd name="T5" fmla="*/ 7 h 20"/>
                  <a:gd name="T6" fmla="*/ 0 w 42"/>
                  <a:gd name="T7" fmla="*/ 0 h 20"/>
                  <a:gd name="T8" fmla="*/ 41 w 42"/>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 h="20">
                    <a:moveTo>
                      <a:pt x="41" y="12"/>
                    </a:moveTo>
                    <a:lnTo>
                      <a:pt x="40" y="19"/>
                    </a:lnTo>
                    <a:lnTo>
                      <a:pt x="0" y="7"/>
                    </a:lnTo>
                    <a:lnTo>
                      <a:pt x="0" y="0"/>
                    </a:lnTo>
                    <a:lnTo>
                      <a:pt x="41" y="1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89" name="Freeform 66"/>
              <p:cNvSpPr>
                <a:spLocks/>
              </p:cNvSpPr>
              <p:nvPr/>
            </p:nvSpPr>
            <p:spPr bwMode="blackWhite">
              <a:xfrm>
                <a:off x="4423" y="1559"/>
                <a:ext cx="42" cy="19"/>
              </a:xfrm>
              <a:custGeom>
                <a:avLst/>
                <a:gdLst>
                  <a:gd name="T0" fmla="*/ 41 w 42"/>
                  <a:gd name="T1" fmla="*/ 11 h 19"/>
                  <a:gd name="T2" fmla="*/ 40 w 42"/>
                  <a:gd name="T3" fmla="*/ 18 h 19"/>
                  <a:gd name="T4" fmla="*/ 0 w 42"/>
                  <a:gd name="T5" fmla="*/ 6 h 19"/>
                  <a:gd name="T6" fmla="*/ 0 w 42"/>
                  <a:gd name="T7" fmla="*/ 0 h 19"/>
                  <a:gd name="T8" fmla="*/ 41 w 42"/>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 h="19">
                    <a:moveTo>
                      <a:pt x="41" y="11"/>
                    </a:moveTo>
                    <a:lnTo>
                      <a:pt x="40" y="18"/>
                    </a:lnTo>
                    <a:lnTo>
                      <a:pt x="0" y="6"/>
                    </a:lnTo>
                    <a:lnTo>
                      <a:pt x="0" y="0"/>
                    </a:lnTo>
                    <a:lnTo>
                      <a:pt x="41"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90" name="Freeform 67"/>
              <p:cNvSpPr>
                <a:spLocks/>
              </p:cNvSpPr>
              <p:nvPr/>
            </p:nvSpPr>
            <p:spPr bwMode="blackWhite">
              <a:xfrm>
                <a:off x="4420" y="1567"/>
                <a:ext cx="43" cy="19"/>
              </a:xfrm>
              <a:custGeom>
                <a:avLst/>
                <a:gdLst>
                  <a:gd name="T0" fmla="*/ 42 w 43"/>
                  <a:gd name="T1" fmla="*/ 11 h 19"/>
                  <a:gd name="T2" fmla="*/ 41 w 43"/>
                  <a:gd name="T3" fmla="*/ 18 h 19"/>
                  <a:gd name="T4" fmla="*/ 0 w 43"/>
                  <a:gd name="T5" fmla="*/ 6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6"/>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91" name="Freeform 68"/>
              <p:cNvSpPr>
                <a:spLocks/>
              </p:cNvSpPr>
              <p:nvPr/>
            </p:nvSpPr>
            <p:spPr bwMode="blackWhite">
              <a:xfrm>
                <a:off x="4419" y="1573"/>
                <a:ext cx="44" cy="19"/>
              </a:xfrm>
              <a:custGeom>
                <a:avLst/>
                <a:gdLst>
                  <a:gd name="T0" fmla="*/ 43 w 44"/>
                  <a:gd name="T1" fmla="*/ 11 h 19"/>
                  <a:gd name="T2" fmla="*/ 42 w 44"/>
                  <a:gd name="T3" fmla="*/ 18 h 19"/>
                  <a:gd name="T4" fmla="*/ 0 w 44"/>
                  <a:gd name="T5" fmla="*/ 7 h 19"/>
                  <a:gd name="T6" fmla="*/ 0 w 44"/>
                  <a:gd name="T7" fmla="*/ 0 h 19"/>
                  <a:gd name="T8" fmla="*/ 43 w 44"/>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19">
                    <a:moveTo>
                      <a:pt x="43" y="11"/>
                    </a:moveTo>
                    <a:lnTo>
                      <a:pt x="42" y="18"/>
                    </a:lnTo>
                    <a:lnTo>
                      <a:pt x="0" y="7"/>
                    </a:lnTo>
                    <a:lnTo>
                      <a:pt x="0" y="0"/>
                    </a:lnTo>
                    <a:lnTo>
                      <a:pt x="43"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92" name="Freeform 69"/>
              <p:cNvSpPr>
                <a:spLocks/>
              </p:cNvSpPr>
              <p:nvPr/>
            </p:nvSpPr>
            <p:spPr bwMode="blackWhite">
              <a:xfrm>
                <a:off x="4418" y="1582"/>
                <a:ext cx="44" cy="19"/>
              </a:xfrm>
              <a:custGeom>
                <a:avLst/>
                <a:gdLst>
                  <a:gd name="T0" fmla="*/ 43 w 44"/>
                  <a:gd name="T1" fmla="*/ 11 h 19"/>
                  <a:gd name="T2" fmla="*/ 42 w 44"/>
                  <a:gd name="T3" fmla="*/ 18 h 19"/>
                  <a:gd name="T4" fmla="*/ 0 w 44"/>
                  <a:gd name="T5" fmla="*/ 6 h 19"/>
                  <a:gd name="T6" fmla="*/ 0 w 44"/>
                  <a:gd name="T7" fmla="*/ 0 h 19"/>
                  <a:gd name="T8" fmla="*/ 43 w 44"/>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19">
                    <a:moveTo>
                      <a:pt x="43" y="11"/>
                    </a:moveTo>
                    <a:lnTo>
                      <a:pt x="42" y="18"/>
                    </a:lnTo>
                    <a:lnTo>
                      <a:pt x="0" y="6"/>
                    </a:lnTo>
                    <a:lnTo>
                      <a:pt x="0" y="0"/>
                    </a:lnTo>
                    <a:lnTo>
                      <a:pt x="43"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237" name="Group 70"/>
            <p:cNvGrpSpPr>
              <a:grpSpLocks/>
            </p:cNvGrpSpPr>
            <p:nvPr/>
          </p:nvGrpSpPr>
          <p:grpSpPr bwMode="auto">
            <a:xfrm>
              <a:off x="4516" y="1742"/>
              <a:ext cx="60" cy="52"/>
              <a:chOff x="4332" y="1520"/>
              <a:chExt cx="60" cy="52"/>
            </a:xfrm>
          </p:grpSpPr>
          <p:sp>
            <p:nvSpPr>
              <p:cNvPr id="369" name="Line 71"/>
              <p:cNvSpPr>
                <a:spLocks noChangeShapeType="1"/>
              </p:cNvSpPr>
              <p:nvPr/>
            </p:nvSpPr>
            <p:spPr bwMode="blackWhite">
              <a:xfrm flipH="1">
                <a:off x="4371" y="1533"/>
                <a:ext cx="11" cy="11"/>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70" name="Line 72"/>
              <p:cNvSpPr>
                <a:spLocks noChangeShapeType="1"/>
              </p:cNvSpPr>
              <p:nvPr/>
            </p:nvSpPr>
            <p:spPr bwMode="blackWhite">
              <a:xfrm flipH="1">
                <a:off x="4373" y="1531"/>
                <a:ext cx="15" cy="15"/>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71" name="Line 73"/>
              <p:cNvSpPr>
                <a:spLocks noChangeShapeType="1"/>
              </p:cNvSpPr>
              <p:nvPr/>
            </p:nvSpPr>
            <p:spPr bwMode="blackWhite">
              <a:xfrm flipH="1">
                <a:off x="4371" y="1536"/>
                <a:ext cx="11" cy="13"/>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72" name="Freeform 74"/>
              <p:cNvSpPr>
                <a:spLocks/>
              </p:cNvSpPr>
              <p:nvPr/>
            </p:nvSpPr>
            <p:spPr bwMode="blackWhite">
              <a:xfrm>
                <a:off x="4332" y="1525"/>
                <a:ext cx="57" cy="43"/>
              </a:xfrm>
              <a:custGeom>
                <a:avLst/>
                <a:gdLst>
                  <a:gd name="T0" fmla="*/ 56 w 57"/>
                  <a:gd name="T1" fmla="*/ 4 h 43"/>
                  <a:gd name="T2" fmla="*/ 51 w 57"/>
                  <a:gd name="T3" fmla="*/ 42 h 43"/>
                  <a:gd name="T4" fmla="*/ 0 w 57"/>
                  <a:gd name="T5" fmla="*/ 38 h 43"/>
                  <a:gd name="T6" fmla="*/ 4 w 57"/>
                  <a:gd name="T7" fmla="*/ 0 h 43"/>
                  <a:gd name="T8" fmla="*/ 56 w 57"/>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 h="43">
                    <a:moveTo>
                      <a:pt x="56" y="4"/>
                    </a:moveTo>
                    <a:lnTo>
                      <a:pt x="51" y="42"/>
                    </a:lnTo>
                    <a:lnTo>
                      <a:pt x="0" y="38"/>
                    </a:lnTo>
                    <a:lnTo>
                      <a:pt x="4" y="0"/>
                    </a:lnTo>
                    <a:lnTo>
                      <a:pt x="56" y="4"/>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73" name="Freeform 75"/>
              <p:cNvSpPr>
                <a:spLocks/>
              </p:cNvSpPr>
              <p:nvPr/>
            </p:nvSpPr>
            <p:spPr bwMode="blackWhite">
              <a:xfrm>
                <a:off x="4337" y="1523"/>
                <a:ext cx="54" cy="43"/>
              </a:xfrm>
              <a:custGeom>
                <a:avLst/>
                <a:gdLst>
                  <a:gd name="T0" fmla="*/ 53 w 54"/>
                  <a:gd name="T1" fmla="*/ 4 h 43"/>
                  <a:gd name="T2" fmla="*/ 48 w 54"/>
                  <a:gd name="T3" fmla="*/ 42 h 43"/>
                  <a:gd name="T4" fmla="*/ 0 w 54"/>
                  <a:gd name="T5" fmla="*/ 38 h 43"/>
                  <a:gd name="T6" fmla="*/ 4 w 54"/>
                  <a:gd name="T7" fmla="*/ 0 h 43"/>
                  <a:gd name="T8" fmla="*/ 53 w 54"/>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43">
                    <a:moveTo>
                      <a:pt x="53" y="4"/>
                    </a:moveTo>
                    <a:lnTo>
                      <a:pt x="48" y="42"/>
                    </a:lnTo>
                    <a:lnTo>
                      <a:pt x="0" y="38"/>
                    </a:lnTo>
                    <a:lnTo>
                      <a:pt x="4" y="0"/>
                    </a:lnTo>
                    <a:lnTo>
                      <a:pt x="53" y="4"/>
                    </a:lnTo>
                  </a:path>
                </a:pathLst>
              </a:custGeom>
              <a:solidFill>
                <a:srgbClr val="989898"/>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74" name="Freeform 76"/>
              <p:cNvSpPr>
                <a:spLocks/>
              </p:cNvSpPr>
              <p:nvPr/>
            </p:nvSpPr>
            <p:spPr bwMode="blackWhite">
              <a:xfrm>
                <a:off x="4338" y="1520"/>
                <a:ext cx="54" cy="42"/>
              </a:xfrm>
              <a:custGeom>
                <a:avLst/>
                <a:gdLst>
                  <a:gd name="T0" fmla="*/ 53 w 54"/>
                  <a:gd name="T1" fmla="*/ 4 h 42"/>
                  <a:gd name="T2" fmla="*/ 49 w 54"/>
                  <a:gd name="T3" fmla="*/ 41 h 42"/>
                  <a:gd name="T4" fmla="*/ 0 w 54"/>
                  <a:gd name="T5" fmla="*/ 37 h 42"/>
                  <a:gd name="T6" fmla="*/ 4 w 54"/>
                  <a:gd name="T7" fmla="*/ 0 h 42"/>
                  <a:gd name="T8" fmla="*/ 53 w 54"/>
                  <a:gd name="T9" fmla="*/ 4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42">
                    <a:moveTo>
                      <a:pt x="53" y="4"/>
                    </a:moveTo>
                    <a:lnTo>
                      <a:pt x="49" y="41"/>
                    </a:lnTo>
                    <a:lnTo>
                      <a:pt x="0" y="37"/>
                    </a:lnTo>
                    <a:lnTo>
                      <a:pt x="4" y="0"/>
                    </a:lnTo>
                    <a:lnTo>
                      <a:pt x="53" y="4"/>
                    </a:lnTo>
                  </a:path>
                </a:pathLst>
              </a:custGeom>
              <a:solidFill>
                <a:srgbClr val="FFCC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75" name="Freeform 77"/>
              <p:cNvSpPr>
                <a:spLocks/>
              </p:cNvSpPr>
              <p:nvPr/>
            </p:nvSpPr>
            <p:spPr bwMode="blackWhite">
              <a:xfrm>
                <a:off x="4338" y="1520"/>
                <a:ext cx="54" cy="42"/>
              </a:xfrm>
              <a:custGeom>
                <a:avLst/>
                <a:gdLst>
                  <a:gd name="T0" fmla="*/ 53 w 54"/>
                  <a:gd name="T1" fmla="*/ 4 h 42"/>
                  <a:gd name="T2" fmla="*/ 49 w 54"/>
                  <a:gd name="T3" fmla="*/ 41 h 42"/>
                  <a:gd name="T4" fmla="*/ 0 w 54"/>
                  <a:gd name="T5" fmla="*/ 37 h 42"/>
                  <a:gd name="T6" fmla="*/ 4 w 54"/>
                  <a:gd name="T7" fmla="*/ 0 h 42"/>
                  <a:gd name="T8" fmla="*/ 53 w 54"/>
                  <a:gd name="T9" fmla="*/ 4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42">
                    <a:moveTo>
                      <a:pt x="53" y="4"/>
                    </a:moveTo>
                    <a:lnTo>
                      <a:pt x="49" y="41"/>
                    </a:lnTo>
                    <a:lnTo>
                      <a:pt x="0" y="37"/>
                    </a:lnTo>
                    <a:lnTo>
                      <a:pt x="4" y="0"/>
                    </a:lnTo>
                    <a:lnTo>
                      <a:pt x="53" y="4"/>
                    </a:lnTo>
                  </a:path>
                </a:pathLst>
              </a:custGeom>
              <a:noFill/>
              <a:ln w="12700" cap="rnd" cmpd="sng">
                <a:solidFill>
                  <a:srgbClr val="7F7F7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76" name="Freeform 78"/>
              <p:cNvSpPr>
                <a:spLocks/>
              </p:cNvSpPr>
              <p:nvPr/>
            </p:nvSpPr>
            <p:spPr bwMode="blackWhite">
              <a:xfrm>
                <a:off x="4344" y="1525"/>
                <a:ext cx="45" cy="19"/>
              </a:xfrm>
              <a:custGeom>
                <a:avLst/>
                <a:gdLst>
                  <a:gd name="T0" fmla="*/ 44 w 45"/>
                  <a:gd name="T1" fmla="*/ 11 h 19"/>
                  <a:gd name="T2" fmla="*/ 43 w 45"/>
                  <a:gd name="T3" fmla="*/ 18 h 19"/>
                  <a:gd name="T4" fmla="*/ 0 w 45"/>
                  <a:gd name="T5" fmla="*/ 7 h 19"/>
                  <a:gd name="T6" fmla="*/ 0 w 45"/>
                  <a:gd name="T7" fmla="*/ 0 h 19"/>
                  <a:gd name="T8" fmla="*/ 44 w 45"/>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19">
                    <a:moveTo>
                      <a:pt x="44" y="11"/>
                    </a:moveTo>
                    <a:lnTo>
                      <a:pt x="43" y="18"/>
                    </a:lnTo>
                    <a:lnTo>
                      <a:pt x="0" y="7"/>
                    </a:lnTo>
                    <a:lnTo>
                      <a:pt x="0" y="0"/>
                    </a:lnTo>
                    <a:lnTo>
                      <a:pt x="44"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77" name="Freeform 79"/>
              <p:cNvSpPr>
                <a:spLocks/>
              </p:cNvSpPr>
              <p:nvPr/>
            </p:nvSpPr>
            <p:spPr bwMode="blackWhite">
              <a:xfrm>
                <a:off x="4344" y="1531"/>
                <a:ext cx="43" cy="19"/>
              </a:xfrm>
              <a:custGeom>
                <a:avLst/>
                <a:gdLst>
                  <a:gd name="T0" fmla="*/ 42 w 43"/>
                  <a:gd name="T1" fmla="*/ 11 h 19"/>
                  <a:gd name="T2" fmla="*/ 41 w 43"/>
                  <a:gd name="T3" fmla="*/ 18 h 19"/>
                  <a:gd name="T4" fmla="*/ 0 w 43"/>
                  <a:gd name="T5" fmla="*/ 6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6"/>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78" name="Freeform 80"/>
              <p:cNvSpPr>
                <a:spLocks/>
              </p:cNvSpPr>
              <p:nvPr/>
            </p:nvSpPr>
            <p:spPr bwMode="blackWhite">
              <a:xfrm>
                <a:off x="4342" y="1536"/>
                <a:ext cx="44" cy="20"/>
              </a:xfrm>
              <a:custGeom>
                <a:avLst/>
                <a:gdLst>
                  <a:gd name="T0" fmla="*/ 43 w 44"/>
                  <a:gd name="T1" fmla="*/ 12 h 20"/>
                  <a:gd name="T2" fmla="*/ 42 w 44"/>
                  <a:gd name="T3" fmla="*/ 19 h 20"/>
                  <a:gd name="T4" fmla="*/ 0 w 44"/>
                  <a:gd name="T5" fmla="*/ 7 h 20"/>
                  <a:gd name="T6" fmla="*/ 0 w 44"/>
                  <a:gd name="T7" fmla="*/ 0 h 20"/>
                  <a:gd name="T8" fmla="*/ 43 w 44"/>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20">
                    <a:moveTo>
                      <a:pt x="43" y="12"/>
                    </a:moveTo>
                    <a:lnTo>
                      <a:pt x="42" y="19"/>
                    </a:lnTo>
                    <a:lnTo>
                      <a:pt x="0" y="7"/>
                    </a:lnTo>
                    <a:lnTo>
                      <a:pt x="0" y="0"/>
                    </a:lnTo>
                    <a:lnTo>
                      <a:pt x="43" y="1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79" name="Freeform 81"/>
              <p:cNvSpPr>
                <a:spLocks/>
              </p:cNvSpPr>
              <p:nvPr/>
            </p:nvSpPr>
            <p:spPr bwMode="blackWhite">
              <a:xfrm>
                <a:off x="4342" y="1544"/>
                <a:ext cx="44" cy="20"/>
              </a:xfrm>
              <a:custGeom>
                <a:avLst/>
                <a:gdLst>
                  <a:gd name="T0" fmla="*/ 43 w 44"/>
                  <a:gd name="T1" fmla="*/ 12 h 20"/>
                  <a:gd name="T2" fmla="*/ 42 w 44"/>
                  <a:gd name="T3" fmla="*/ 19 h 20"/>
                  <a:gd name="T4" fmla="*/ 0 w 44"/>
                  <a:gd name="T5" fmla="*/ 7 h 20"/>
                  <a:gd name="T6" fmla="*/ 0 w 44"/>
                  <a:gd name="T7" fmla="*/ 0 h 20"/>
                  <a:gd name="T8" fmla="*/ 43 w 44"/>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20">
                    <a:moveTo>
                      <a:pt x="43" y="12"/>
                    </a:moveTo>
                    <a:lnTo>
                      <a:pt x="42" y="19"/>
                    </a:lnTo>
                    <a:lnTo>
                      <a:pt x="0" y="7"/>
                    </a:lnTo>
                    <a:lnTo>
                      <a:pt x="0" y="0"/>
                    </a:lnTo>
                    <a:lnTo>
                      <a:pt x="43" y="1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80" name="Freeform 82"/>
              <p:cNvSpPr>
                <a:spLocks/>
              </p:cNvSpPr>
              <p:nvPr/>
            </p:nvSpPr>
            <p:spPr bwMode="blackWhite">
              <a:xfrm>
                <a:off x="4342" y="1552"/>
                <a:ext cx="44" cy="20"/>
              </a:xfrm>
              <a:custGeom>
                <a:avLst/>
                <a:gdLst>
                  <a:gd name="T0" fmla="*/ 43 w 44"/>
                  <a:gd name="T1" fmla="*/ 11 h 20"/>
                  <a:gd name="T2" fmla="*/ 42 w 44"/>
                  <a:gd name="T3" fmla="*/ 19 h 20"/>
                  <a:gd name="T4" fmla="*/ 0 w 44"/>
                  <a:gd name="T5" fmla="*/ 7 h 20"/>
                  <a:gd name="T6" fmla="*/ 0 w 44"/>
                  <a:gd name="T7" fmla="*/ 0 h 20"/>
                  <a:gd name="T8" fmla="*/ 43 w 44"/>
                  <a:gd name="T9" fmla="*/ 11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20">
                    <a:moveTo>
                      <a:pt x="43" y="11"/>
                    </a:moveTo>
                    <a:lnTo>
                      <a:pt x="42" y="19"/>
                    </a:lnTo>
                    <a:lnTo>
                      <a:pt x="0" y="7"/>
                    </a:lnTo>
                    <a:lnTo>
                      <a:pt x="0" y="0"/>
                    </a:lnTo>
                    <a:lnTo>
                      <a:pt x="43"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grpSp>
          <p:nvGrpSpPr>
            <p:cNvPr id="238" name="Group 83"/>
            <p:cNvGrpSpPr>
              <a:grpSpLocks/>
            </p:cNvGrpSpPr>
            <p:nvPr/>
          </p:nvGrpSpPr>
          <p:grpSpPr bwMode="auto">
            <a:xfrm>
              <a:off x="4637" y="1708"/>
              <a:ext cx="59" cy="53"/>
              <a:chOff x="4453" y="1486"/>
              <a:chExt cx="59" cy="53"/>
            </a:xfrm>
          </p:grpSpPr>
          <p:sp>
            <p:nvSpPr>
              <p:cNvPr id="357" name="Line 84"/>
              <p:cNvSpPr>
                <a:spLocks noChangeShapeType="1"/>
              </p:cNvSpPr>
              <p:nvPr/>
            </p:nvSpPr>
            <p:spPr bwMode="blackWhite">
              <a:xfrm flipH="1">
                <a:off x="4488" y="1499"/>
                <a:ext cx="17" cy="11"/>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58" name="Line 85"/>
              <p:cNvSpPr>
                <a:spLocks noChangeShapeType="1"/>
              </p:cNvSpPr>
              <p:nvPr/>
            </p:nvSpPr>
            <p:spPr bwMode="blackWhite">
              <a:xfrm flipH="1">
                <a:off x="4489" y="1497"/>
                <a:ext cx="18" cy="14"/>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59" name="Line 86"/>
              <p:cNvSpPr>
                <a:spLocks noChangeShapeType="1"/>
              </p:cNvSpPr>
              <p:nvPr/>
            </p:nvSpPr>
            <p:spPr bwMode="blackWhite">
              <a:xfrm flipH="1">
                <a:off x="4488" y="1503"/>
                <a:ext cx="15" cy="14"/>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60" name="Freeform 87"/>
              <p:cNvSpPr>
                <a:spLocks/>
              </p:cNvSpPr>
              <p:nvPr/>
            </p:nvSpPr>
            <p:spPr bwMode="blackWhite">
              <a:xfrm>
                <a:off x="4453" y="1490"/>
                <a:ext cx="58" cy="44"/>
              </a:xfrm>
              <a:custGeom>
                <a:avLst/>
                <a:gdLst>
                  <a:gd name="T0" fmla="*/ 57 w 58"/>
                  <a:gd name="T1" fmla="*/ 4 h 44"/>
                  <a:gd name="T2" fmla="*/ 52 w 58"/>
                  <a:gd name="T3" fmla="*/ 43 h 44"/>
                  <a:gd name="T4" fmla="*/ 0 w 58"/>
                  <a:gd name="T5" fmla="*/ 39 h 44"/>
                  <a:gd name="T6" fmla="*/ 4 w 58"/>
                  <a:gd name="T7" fmla="*/ 0 h 44"/>
                  <a:gd name="T8" fmla="*/ 57 w 58"/>
                  <a:gd name="T9" fmla="*/ 4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 h="44">
                    <a:moveTo>
                      <a:pt x="57" y="4"/>
                    </a:moveTo>
                    <a:lnTo>
                      <a:pt x="52" y="43"/>
                    </a:lnTo>
                    <a:lnTo>
                      <a:pt x="0" y="39"/>
                    </a:lnTo>
                    <a:lnTo>
                      <a:pt x="4" y="0"/>
                    </a:lnTo>
                    <a:lnTo>
                      <a:pt x="57" y="4"/>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61" name="Freeform 88"/>
              <p:cNvSpPr>
                <a:spLocks/>
              </p:cNvSpPr>
              <p:nvPr/>
            </p:nvSpPr>
            <p:spPr bwMode="blackWhite">
              <a:xfrm>
                <a:off x="4455" y="1489"/>
                <a:ext cx="56" cy="43"/>
              </a:xfrm>
              <a:custGeom>
                <a:avLst/>
                <a:gdLst>
                  <a:gd name="T0" fmla="*/ 55 w 56"/>
                  <a:gd name="T1" fmla="*/ 4 h 43"/>
                  <a:gd name="T2" fmla="*/ 50 w 56"/>
                  <a:gd name="T3" fmla="*/ 42 h 43"/>
                  <a:gd name="T4" fmla="*/ 0 w 56"/>
                  <a:gd name="T5" fmla="*/ 38 h 43"/>
                  <a:gd name="T6" fmla="*/ 4 w 56"/>
                  <a:gd name="T7" fmla="*/ 0 h 43"/>
                  <a:gd name="T8" fmla="*/ 55 w 56"/>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43">
                    <a:moveTo>
                      <a:pt x="55" y="4"/>
                    </a:moveTo>
                    <a:lnTo>
                      <a:pt x="50" y="42"/>
                    </a:lnTo>
                    <a:lnTo>
                      <a:pt x="0" y="38"/>
                    </a:lnTo>
                    <a:lnTo>
                      <a:pt x="4" y="0"/>
                    </a:lnTo>
                    <a:lnTo>
                      <a:pt x="55" y="4"/>
                    </a:lnTo>
                  </a:path>
                </a:pathLst>
              </a:custGeom>
              <a:solidFill>
                <a:srgbClr val="989898"/>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62" name="Freeform 89"/>
              <p:cNvSpPr>
                <a:spLocks/>
              </p:cNvSpPr>
              <p:nvPr/>
            </p:nvSpPr>
            <p:spPr bwMode="blackWhite">
              <a:xfrm>
                <a:off x="4456" y="1486"/>
                <a:ext cx="56" cy="43"/>
              </a:xfrm>
              <a:custGeom>
                <a:avLst/>
                <a:gdLst>
                  <a:gd name="T0" fmla="*/ 55 w 56"/>
                  <a:gd name="T1" fmla="*/ 4 h 43"/>
                  <a:gd name="T2" fmla="*/ 51 w 56"/>
                  <a:gd name="T3" fmla="*/ 42 h 43"/>
                  <a:gd name="T4" fmla="*/ 0 w 56"/>
                  <a:gd name="T5" fmla="*/ 38 h 43"/>
                  <a:gd name="T6" fmla="*/ 4 w 56"/>
                  <a:gd name="T7" fmla="*/ 0 h 43"/>
                  <a:gd name="T8" fmla="*/ 55 w 56"/>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43">
                    <a:moveTo>
                      <a:pt x="55" y="4"/>
                    </a:moveTo>
                    <a:lnTo>
                      <a:pt x="51" y="42"/>
                    </a:lnTo>
                    <a:lnTo>
                      <a:pt x="0" y="38"/>
                    </a:lnTo>
                    <a:lnTo>
                      <a:pt x="4" y="0"/>
                    </a:lnTo>
                    <a:lnTo>
                      <a:pt x="55" y="4"/>
                    </a:lnTo>
                  </a:path>
                </a:pathLst>
              </a:custGeom>
              <a:solidFill>
                <a:srgbClr val="FFCC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63" name="Freeform 90"/>
              <p:cNvSpPr>
                <a:spLocks/>
              </p:cNvSpPr>
              <p:nvPr/>
            </p:nvSpPr>
            <p:spPr bwMode="blackWhite">
              <a:xfrm>
                <a:off x="4456" y="1486"/>
                <a:ext cx="56" cy="43"/>
              </a:xfrm>
              <a:custGeom>
                <a:avLst/>
                <a:gdLst>
                  <a:gd name="T0" fmla="*/ 55 w 56"/>
                  <a:gd name="T1" fmla="*/ 4 h 43"/>
                  <a:gd name="T2" fmla="*/ 51 w 56"/>
                  <a:gd name="T3" fmla="*/ 42 h 43"/>
                  <a:gd name="T4" fmla="*/ 0 w 56"/>
                  <a:gd name="T5" fmla="*/ 38 h 43"/>
                  <a:gd name="T6" fmla="*/ 4 w 56"/>
                  <a:gd name="T7" fmla="*/ 0 h 43"/>
                  <a:gd name="T8" fmla="*/ 55 w 56"/>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43">
                    <a:moveTo>
                      <a:pt x="55" y="4"/>
                    </a:moveTo>
                    <a:lnTo>
                      <a:pt x="51" y="42"/>
                    </a:lnTo>
                    <a:lnTo>
                      <a:pt x="0" y="38"/>
                    </a:lnTo>
                    <a:lnTo>
                      <a:pt x="4" y="0"/>
                    </a:lnTo>
                    <a:lnTo>
                      <a:pt x="55" y="4"/>
                    </a:lnTo>
                  </a:path>
                </a:pathLst>
              </a:custGeom>
              <a:noFill/>
              <a:ln w="12700" cap="rnd" cmpd="sng">
                <a:solidFill>
                  <a:srgbClr val="7F7F7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64" name="Freeform 91"/>
              <p:cNvSpPr>
                <a:spLocks/>
              </p:cNvSpPr>
              <p:nvPr/>
            </p:nvSpPr>
            <p:spPr bwMode="blackWhite">
              <a:xfrm>
                <a:off x="4464" y="1490"/>
                <a:ext cx="44" cy="19"/>
              </a:xfrm>
              <a:custGeom>
                <a:avLst/>
                <a:gdLst>
                  <a:gd name="T0" fmla="*/ 43 w 44"/>
                  <a:gd name="T1" fmla="*/ 11 h 19"/>
                  <a:gd name="T2" fmla="*/ 42 w 44"/>
                  <a:gd name="T3" fmla="*/ 18 h 19"/>
                  <a:gd name="T4" fmla="*/ 0 w 44"/>
                  <a:gd name="T5" fmla="*/ 7 h 19"/>
                  <a:gd name="T6" fmla="*/ 0 w 44"/>
                  <a:gd name="T7" fmla="*/ 0 h 19"/>
                  <a:gd name="T8" fmla="*/ 43 w 44"/>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19">
                    <a:moveTo>
                      <a:pt x="43" y="11"/>
                    </a:moveTo>
                    <a:lnTo>
                      <a:pt x="42" y="18"/>
                    </a:lnTo>
                    <a:lnTo>
                      <a:pt x="0" y="7"/>
                    </a:lnTo>
                    <a:lnTo>
                      <a:pt x="0" y="0"/>
                    </a:lnTo>
                    <a:lnTo>
                      <a:pt x="43"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65" name="Freeform 92"/>
              <p:cNvSpPr>
                <a:spLocks/>
              </p:cNvSpPr>
              <p:nvPr/>
            </p:nvSpPr>
            <p:spPr bwMode="blackWhite">
              <a:xfrm>
                <a:off x="4462" y="1497"/>
                <a:ext cx="45" cy="19"/>
              </a:xfrm>
              <a:custGeom>
                <a:avLst/>
                <a:gdLst>
                  <a:gd name="T0" fmla="*/ 44 w 45"/>
                  <a:gd name="T1" fmla="*/ 11 h 19"/>
                  <a:gd name="T2" fmla="*/ 43 w 45"/>
                  <a:gd name="T3" fmla="*/ 18 h 19"/>
                  <a:gd name="T4" fmla="*/ 0 w 45"/>
                  <a:gd name="T5" fmla="*/ 6 h 19"/>
                  <a:gd name="T6" fmla="*/ 0 w 45"/>
                  <a:gd name="T7" fmla="*/ 0 h 19"/>
                  <a:gd name="T8" fmla="*/ 44 w 45"/>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19">
                    <a:moveTo>
                      <a:pt x="44" y="11"/>
                    </a:moveTo>
                    <a:lnTo>
                      <a:pt x="43" y="18"/>
                    </a:lnTo>
                    <a:lnTo>
                      <a:pt x="0" y="6"/>
                    </a:lnTo>
                    <a:lnTo>
                      <a:pt x="0" y="0"/>
                    </a:lnTo>
                    <a:lnTo>
                      <a:pt x="44"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66" name="Freeform 93"/>
              <p:cNvSpPr>
                <a:spLocks/>
              </p:cNvSpPr>
              <p:nvPr/>
            </p:nvSpPr>
            <p:spPr bwMode="blackWhite">
              <a:xfrm>
                <a:off x="4461" y="1503"/>
                <a:ext cx="46" cy="20"/>
              </a:xfrm>
              <a:custGeom>
                <a:avLst/>
                <a:gdLst>
                  <a:gd name="T0" fmla="*/ 45 w 46"/>
                  <a:gd name="T1" fmla="*/ 12 h 20"/>
                  <a:gd name="T2" fmla="*/ 44 w 46"/>
                  <a:gd name="T3" fmla="*/ 19 h 20"/>
                  <a:gd name="T4" fmla="*/ 0 w 46"/>
                  <a:gd name="T5" fmla="*/ 7 h 20"/>
                  <a:gd name="T6" fmla="*/ 0 w 46"/>
                  <a:gd name="T7" fmla="*/ 0 h 20"/>
                  <a:gd name="T8" fmla="*/ 45 w 46"/>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 h="20">
                    <a:moveTo>
                      <a:pt x="45" y="12"/>
                    </a:moveTo>
                    <a:lnTo>
                      <a:pt x="44" y="19"/>
                    </a:lnTo>
                    <a:lnTo>
                      <a:pt x="0" y="7"/>
                    </a:lnTo>
                    <a:lnTo>
                      <a:pt x="0" y="0"/>
                    </a:lnTo>
                    <a:lnTo>
                      <a:pt x="45" y="1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67" name="Freeform 94"/>
              <p:cNvSpPr>
                <a:spLocks/>
              </p:cNvSpPr>
              <p:nvPr/>
            </p:nvSpPr>
            <p:spPr bwMode="blackWhite">
              <a:xfrm>
                <a:off x="4461" y="1511"/>
                <a:ext cx="46" cy="20"/>
              </a:xfrm>
              <a:custGeom>
                <a:avLst/>
                <a:gdLst>
                  <a:gd name="T0" fmla="*/ 45 w 46"/>
                  <a:gd name="T1" fmla="*/ 12 h 20"/>
                  <a:gd name="T2" fmla="*/ 44 w 46"/>
                  <a:gd name="T3" fmla="*/ 19 h 20"/>
                  <a:gd name="T4" fmla="*/ 0 w 46"/>
                  <a:gd name="T5" fmla="*/ 7 h 20"/>
                  <a:gd name="T6" fmla="*/ 0 w 46"/>
                  <a:gd name="T7" fmla="*/ 0 h 20"/>
                  <a:gd name="T8" fmla="*/ 45 w 46"/>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 h="20">
                    <a:moveTo>
                      <a:pt x="45" y="12"/>
                    </a:moveTo>
                    <a:lnTo>
                      <a:pt x="44" y="19"/>
                    </a:lnTo>
                    <a:lnTo>
                      <a:pt x="0" y="7"/>
                    </a:lnTo>
                    <a:lnTo>
                      <a:pt x="0" y="0"/>
                    </a:lnTo>
                    <a:lnTo>
                      <a:pt x="45" y="1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68" name="Freeform 95"/>
              <p:cNvSpPr>
                <a:spLocks/>
              </p:cNvSpPr>
              <p:nvPr/>
            </p:nvSpPr>
            <p:spPr bwMode="blackWhite">
              <a:xfrm>
                <a:off x="4461" y="1519"/>
                <a:ext cx="45" cy="20"/>
              </a:xfrm>
              <a:custGeom>
                <a:avLst/>
                <a:gdLst>
                  <a:gd name="T0" fmla="*/ 44 w 45"/>
                  <a:gd name="T1" fmla="*/ 11 h 20"/>
                  <a:gd name="T2" fmla="*/ 43 w 45"/>
                  <a:gd name="T3" fmla="*/ 19 h 20"/>
                  <a:gd name="T4" fmla="*/ 0 w 45"/>
                  <a:gd name="T5" fmla="*/ 7 h 20"/>
                  <a:gd name="T6" fmla="*/ 0 w 45"/>
                  <a:gd name="T7" fmla="*/ 0 h 20"/>
                  <a:gd name="T8" fmla="*/ 44 w 45"/>
                  <a:gd name="T9" fmla="*/ 11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20">
                    <a:moveTo>
                      <a:pt x="44" y="11"/>
                    </a:moveTo>
                    <a:lnTo>
                      <a:pt x="43" y="19"/>
                    </a:lnTo>
                    <a:lnTo>
                      <a:pt x="0" y="7"/>
                    </a:lnTo>
                    <a:lnTo>
                      <a:pt x="0" y="0"/>
                    </a:lnTo>
                    <a:lnTo>
                      <a:pt x="44"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sp>
          <p:nvSpPr>
            <p:cNvPr id="239" name="Rectangle 96"/>
            <p:cNvSpPr>
              <a:spLocks noChangeArrowheads="1"/>
            </p:cNvSpPr>
            <p:nvPr/>
          </p:nvSpPr>
          <p:spPr bwMode="blackWhite">
            <a:xfrm>
              <a:off x="4518" y="1861"/>
              <a:ext cx="63" cy="11"/>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40" name="Rectangle 97"/>
            <p:cNvSpPr>
              <a:spLocks noChangeArrowheads="1"/>
            </p:cNvSpPr>
            <p:nvPr/>
          </p:nvSpPr>
          <p:spPr bwMode="blackWhite">
            <a:xfrm>
              <a:off x="4518" y="1896"/>
              <a:ext cx="63" cy="10"/>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41" name="Rectangle 98"/>
            <p:cNvSpPr>
              <a:spLocks noChangeArrowheads="1"/>
            </p:cNvSpPr>
            <p:nvPr/>
          </p:nvSpPr>
          <p:spPr bwMode="blackWhite">
            <a:xfrm>
              <a:off x="4518" y="1934"/>
              <a:ext cx="63" cy="10"/>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42" name="Rectangle 99"/>
            <p:cNvSpPr>
              <a:spLocks noChangeArrowheads="1"/>
            </p:cNvSpPr>
            <p:nvPr/>
          </p:nvSpPr>
          <p:spPr bwMode="blackWhite">
            <a:xfrm>
              <a:off x="4644" y="1861"/>
              <a:ext cx="67" cy="11"/>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43" name="Rectangle 100"/>
            <p:cNvSpPr>
              <a:spLocks noChangeArrowheads="1"/>
            </p:cNvSpPr>
            <p:nvPr/>
          </p:nvSpPr>
          <p:spPr bwMode="blackWhite">
            <a:xfrm>
              <a:off x="4644" y="1896"/>
              <a:ext cx="67" cy="10"/>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44" name="Rectangle 101"/>
            <p:cNvSpPr>
              <a:spLocks noChangeArrowheads="1"/>
            </p:cNvSpPr>
            <p:nvPr/>
          </p:nvSpPr>
          <p:spPr bwMode="blackWhite">
            <a:xfrm>
              <a:off x="4644" y="1934"/>
              <a:ext cx="67" cy="10"/>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45" name="Rectangle 102"/>
            <p:cNvSpPr>
              <a:spLocks noChangeArrowheads="1"/>
            </p:cNvSpPr>
            <p:nvPr/>
          </p:nvSpPr>
          <p:spPr bwMode="blackWhite">
            <a:xfrm>
              <a:off x="4769" y="1861"/>
              <a:ext cx="80" cy="11"/>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46" name="Rectangle 103"/>
            <p:cNvSpPr>
              <a:spLocks noChangeArrowheads="1"/>
            </p:cNvSpPr>
            <p:nvPr/>
          </p:nvSpPr>
          <p:spPr bwMode="blackWhite">
            <a:xfrm>
              <a:off x="4769" y="1896"/>
              <a:ext cx="80" cy="10"/>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47" name="Rectangle 104"/>
            <p:cNvSpPr>
              <a:spLocks noChangeArrowheads="1"/>
            </p:cNvSpPr>
            <p:nvPr/>
          </p:nvSpPr>
          <p:spPr bwMode="blackWhite">
            <a:xfrm>
              <a:off x="4769" y="1934"/>
              <a:ext cx="80" cy="10"/>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48" name="Rectangle 105"/>
            <p:cNvSpPr>
              <a:spLocks noChangeArrowheads="1"/>
            </p:cNvSpPr>
            <p:nvPr/>
          </p:nvSpPr>
          <p:spPr bwMode="blackWhite">
            <a:xfrm>
              <a:off x="4059" y="1774"/>
              <a:ext cx="361" cy="195"/>
            </a:xfrm>
            <a:prstGeom prst="rect">
              <a:avLst/>
            </a:prstGeom>
            <a:solidFill>
              <a:srgbClr val="99CC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49" name="Rectangle 106"/>
            <p:cNvSpPr>
              <a:spLocks noChangeArrowheads="1"/>
            </p:cNvSpPr>
            <p:nvPr/>
          </p:nvSpPr>
          <p:spPr bwMode="blackWhite">
            <a:xfrm>
              <a:off x="4092" y="1937"/>
              <a:ext cx="299" cy="10"/>
            </a:xfrm>
            <a:prstGeom prst="rect">
              <a:avLst/>
            </a:prstGeom>
            <a:gradFill rotWithShape="0">
              <a:gsLst>
                <a:gs pos="0">
                  <a:srgbClr val="000000"/>
                </a:gs>
                <a:gs pos="20000">
                  <a:srgbClr val="0A128C"/>
                </a:gs>
                <a:gs pos="35001">
                  <a:srgbClr val="181CC7"/>
                </a:gs>
                <a:gs pos="44000">
                  <a:srgbClr val="7005D4"/>
                </a:gs>
                <a:gs pos="50000">
                  <a:srgbClr val="8C3D91"/>
                </a:gs>
                <a:gs pos="56000">
                  <a:srgbClr val="7005D4"/>
                </a:gs>
                <a:gs pos="64999">
                  <a:srgbClr val="181CC7"/>
                </a:gs>
                <a:gs pos="80000">
                  <a:srgbClr val="0A128C"/>
                </a:gs>
                <a:gs pos="100000">
                  <a:srgbClr val="000000"/>
                </a:gs>
              </a:gsLst>
              <a:lin ang="0" scaled="1"/>
            </a:gra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50" name="Rectangle 107"/>
            <p:cNvSpPr>
              <a:spLocks noChangeArrowheads="1"/>
            </p:cNvSpPr>
            <p:nvPr/>
          </p:nvSpPr>
          <p:spPr bwMode="blackWhite">
            <a:xfrm>
              <a:off x="4092" y="1892"/>
              <a:ext cx="299" cy="10"/>
            </a:xfrm>
            <a:prstGeom prst="rect">
              <a:avLst/>
            </a:prstGeom>
            <a:gradFill rotWithShape="0">
              <a:gsLst>
                <a:gs pos="0">
                  <a:srgbClr val="000000"/>
                </a:gs>
                <a:gs pos="20000">
                  <a:srgbClr val="0A128C"/>
                </a:gs>
                <a:gs pos="35001">
                  <a:srgbClr val="181CC7"/>
                </a:gs>
                <a:gs pos="44000">
                  <a:srgbClr val="7005D4"/>
                </a:gs>
                <a:gs pos="50000">
                  <a:srgbClr val="8C3D91"/>
                </a:gs>
                <a:gs pos="56000">
                  <a:srgbClr val="7005D4"/>
                </a:gs>
                <a:gs pos="64999">
                  <a:srgbClr val="181CC7"/>
                </a:gs>
                <a:gs pos="80000">
                  <a:srgbClr val="0A128C"/>
                </a:gs>
                <a:gs pos="100000">
                  <a:srgbClr val="000000"/>
                </a:gs>
              </a:gsLst>
              <a:lin ang="0" scaled="1"/>
            </a:gra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51" name="Rectangle 108"/>
            <p:cNvSpPr>
              <a:spLocks noChangeArrowheads="1"/>
            </p:cNvSpPr>
            <p:nvPr/>
          </p:nvSpPr>
          <p:spPr bwMode="blackWhite">
            <a:xfrm>
              <a:off x="4092" y="1798"/>
              <a:ext cx="299" cy="10"/>
            </a:xfrm>
            <a:prstGeom prst="rect">
              <a:avLst/>
            </a:prstGeom>
            <a:gradFill rotWithShape="0">
              <a:gsLst>
                <a:gs pos="0">
                  <a:srgbClr val="000000"/>
                </a:gs>
                <a:gs pos="20000">
                  <a:srgbClr val="0A128C"/>
                </a:gs>
                <a:gs pos="35001">
                  <a:srgbClr val="181CC7"/>
                </a:gs>
                <a:gs pos="44000">
                  <a:srgbClr val="7005D4"/>
                </a:gs>
                <a:gs pos="50000">
                  <a:srgbClr val="8C3D91"/>
                </a:gs>
                <a:gs pos="56000">
                  <a:srgbClr val="7005D4"/>
                </a:gs>
                <a:gs pos="64999">
                  <a:srgbClr val="181CC7"/>
                </a:gs>
                <a:gs pos="80000">
                  <a:srgbClr val="0A128C"/>
                </a:gs>
                <a:gs pos="100000">
                  <a:srgbClr val="000000"/>
                </a:gs>
              </a:gsLst>
              <a:lin ang="0" scaled="1"/>
            </a:gra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nvGrpSpPr>
            <p:cNvPr id="252" name="Group 109"/>
            <p:cNvGrpSpPr>
              <a:grpSpLocks/>
            </p:cNvGrpSpPr>
            <p:nvPr/>
          </p:nvGrpSpPr>
          <p:grpSpPr bwMode="auto">
            <a:xfrm>
              <a:off x="3673" y="1777"/>
              <a:ext cx="333" cy="196"/>
              <a:chOff x="3489" y="1555"/>
              <a:chExt cx="333" cy="196"/>
            </a:xfrm>
          </p:grpSpPr>
          <p:grpSp>
            <p:nvGrpSpPr>
              <p:cNvPr id="267" name="Group 110"/>
              <p:cNvGrpSpPr>
                <a:grpSpLocks/>
              </p:cNvGrpSpPr>
              <p:nvPr/>
            </p:nvGrpSpPr>
            <p:grpSpPr bwMode="auto">
              <a:xfrm>
                <a:off x="3490" y="1555"/>
                <a:ext cx="332" cy="196"/>
                <a:chOff x="3490" y="1555"/>
                <a:chExt cx="332" cy="196"/>
              </a:xfrm>
            </p:grpSpPr>
            <p:sp>
              <p:nvSpPr>
                <p:cNvPr id="269" name="Rectangle 111"/>
                <p:cNvSpPr>
                  <a:spLocks noChangeArrowheads="1"/>
                </p:cNvSpPr>
                <p:nvPr/>
              </p:nvSpPr>
              <p:spPr bwMode="blackWhite">
                <a:xfrm>
                  <a:off x="3490" y="1610"/>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70" name="Rectangle 112"/>
                <p:cNvSpPr>
                  <a:spLocks noChangeArrowheads="1"/>
                </p:cNvSpPr>
                <p:nvPr/>
              </p:nvSpPr>
              <p:spPr bwMode="blackWhite">
                <a:xfrm>
                  <a:off x="3576" y="1610"/>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71" name="Rectangle 113"/>
                <p:cNvSpPr>
                  <a:spLocks noChangeArrowheads="1"/>
                </p:cNvSpPr>
                <p:nvPr/>
              </p:nvSpPr>
              <p:spPr bwMode="blackWhite">
                <a:xfrm>
                  <a:off x="3660" y="1610"/>
                  <a:ext cx="34"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72" name="Rectangle 114"/>
                <p:cNvSpPr>
                  <a:spLocks noChangeArrowheads="1"/>
                </p:cNvSpPr>
                <p:nvPr/>
              </p:nvSpPr>
              <p:spPr bwMode="blackWhite">
                <a:xfrm>
                  <a:off x="3745" y="1610"/>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73" name="Rectangle 115"/>
                <p:cNvSpPr>
                  <a:spLocks noChangeArrowheads="1"/>
                </p:cNvSpPr>
                <p:nvPr/>
              </p:nvSpPr>
              <p:spPr bwMode="blackWhite">
                <a:xfrm>
                  <a:off x="3532" y="1610"/>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74" name="Rectangle 116"/>
                <p:cNvSpPr>
                  <a:spLocks noChangeArrowheads="1"/>
                </p:cNvSpPr>
                <p:nvPr/>
              </p:nvSpPr>
              <p:spPr bwMode="blackWhite">
                <a:xfrm>
                  <a:off x="3619" y="1610"/>
                  <a:ext cx="33"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75" name="Rectangle 117"/>
                <p:cNvSpPr>
                  <a:spLocks noChangeArrowheads="1"/>
                </p:cNvSpPr>
                <p:nvPr/>
              </p:nvSpPr>
              <p:spPr bwMode="blackWhite">
                <a:xfrm>
                  <a:off x="3701" y="1610"/>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76" name="Rectangle 118"/>
                <p:cNvSpPr>
                  <a:spLocks noChangeArrowheads="1"/>
                </p:cNvSpPr>
                <p:nvPr/>
              </p:nvSpPr>
              <p:spPr bwMode="blackWhite">
                <a:xfrm>
                  <a:off x="3490" y="1555"/>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77" name="Rectangle 119"/>
                <p:cNvSpPr>
                  <a:spLocks noChangeArrowheads="1"/>
                </p:cNvSpPr>
                <p:nvPr/>
              </p:nvSpPr>
              <p:spPr bwMode="blackWhite">
                <a:xfrm>
                  <a:off x="3576" y="1555"/>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78" name="Rectangle 120"/>
                <p:cNvSpPr>
                  <a:spLocks noChangeArrowheads="1"/>
                </p:cNvSpPr>
                <p:nvPr/>
              </p:nvSpPr>
              <p:spPr bwMode="blackWhite">
                <a:xfrm>
                  <a:off x="3659" y="1555"/>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79" name="Rectangle 121"/>
                <p:cNvSpPr>
                  <a:spLocks noChangeArrowheads="1"/>
                </p:cNvSpPr>
                <p:nvPr/>
              </p:nvSpPr>
              <p:spPr bwMode="blackWhite">
                <a:xfrm>
                  <a:off x="3745" y="1555"/>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80" name="Rectangle 122"/>
                <p:cNvSpPr>
                  <a:spLocks noChangeArrowheads="1"/>
                </p:cNvSpPr>
                <p:nvPr/>
              </p:nvSpPr>
              <p:spPr bwMode="blackWhite">
                <a:xfrm>
                  <a:off x="3532" y="1555"/>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81" name="Rectangle 123"/>
                <p:cNvSpPr>
                  <a:spLocks noChangeArrowheads="1"/>
                </p:cNvSpPr>
                <p:nvPr/>
              </p:nvSpPr>
              <p:spPr bwMode="blackWhite">
                <a:xfrm>
                  <a:off x="3617" y="1555"/>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82" name="Rectangle 124"/>
                <p:cNvSpPr>
                  <a:spLocks noChangeArrowheads="1"/>
                </p:cNvSpPr>
                <p:nvPr/>
              </p:nvSpPr>
              <p:spPr bwMode="blackWhite">
                <a:xfrm>
                  <a:off x="3701" y="1555"/>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83" name="Rectangle 125"/>
                <p:cNvSpPr>
                  <a:spLocks noChangeArrowheads="1"/>
                </p:cNvSpPr>
                <p:nvPr/>
              </p:nvSpPr>
              <p:spPr bwMode="blackWhite">
                <a:xfrm>
                  <a:off x="3785" y="1555"/>
                  <a:ext cx="37"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84" name="Rectangle 126"/>
                <p:cNvSpPr>
                  <a:spLocks noChangeArrowheads="1"/>
                </p:cNvSpPr>
                <p:nvPr/>
              </p:nvSpPr>
              <p:spPr bwMode="blackWhite">
                <a:xfrm>
                  <a:off x="3490" y="1572"/>
                  <a:ext cx="36"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85" name="Rectangle 127"/>
                <p:cNvSpPr>
                  <a:spLocks noChangeArrowheads="1"/>
                </p:cNvSpPr>
                <p:nvPr/>
              </p:nvSpPr>
              <p:spPr bwMode="blackWhite">
                <a:xfrm>
                  <a:off x="3576" y="1572"/>
                  <a:ext cx="36"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86" name="Rectangle 128"/>
                <p:cNvSpPr>
                  <a:spLocks noChangeArrowheads="1"/>
                </p:cNvSpPr>
                <p:nvPr/>
              </p:nvSpPr>
              <p:spPr bwMode="blackWhite">
                <a:xfrm>
                  <a:off x="3660" y="1572"/>
                  <a:ext cx="34"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87" name="Rectangle 129"/>
                <p:cNvSpPr>
                  <a:spLocks noChangeArrowheads="1"/>
                </p:cNvSpPr>
                <p:nvPr/>
              </p:nvSpPr>
              <p:spPr bwMode="blackWhite">
                <a:xfrm>
                  <a:off x="3745" y="1572"/>
                  <a:ext cx="32"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88" name="Rectangle 130"/>
                <p:cNvSpPr>
                  <a:spLocks noChangeArrowheads="1"/>
                </p:cNvSpPr>
                <p:nvPr/>
              </p:nvSpPr>
              <p:spPr bwMode="blackWhite">
                <a:xfrm>
                  <a:off x="3532" y="1572"/>
                  <a:ext cx="36"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89" name="Rectangle 131"/>
                <p:cNvSpPr>
                  <a:spLocks noChangeArrowheads="1"/>
                </p:cNvSpPr>
                <p:nvPr/>
              </p:nvSpPr>
              <p:spPr bwMode="blackWhite">
                <a:xfrm>
                  <a:off x="3617" y="1572"/>
                  <a:ext cx="35"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90" name="Rectangle 132"/>
                <p:cNvSpPr>
                  <a:spLocks noChangeArrowheads="1"/>
                </p:cNvSpPr>
                <p:nvPr/>
              </p:nvSpPr>
              <p:spPr bwMode="blackWhite">
                <a:xfrm>
                  <a:off x="3701" y="1572"/>
                  <a:ext cx="36"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91" name="Rectangle 133"/>
                <p:cNvSpPr>
                  <a:spLocks noChangeArrowheads="1"/>
                </p:cNvSpPr>
                <p:nvPr/>
              </p:nvSpPr>
              <p:spPr bwMode="blackWhite">
                <a:xfrm>
                  <a:off x="3785" y="1572"/>
                  <a:ext cx="37"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92" name="Rectangle 134"/>
                <p:cNvSpPr>
                  <a:spLocks noChangeArrowheads="1"/>
                </p:cNvSpPr>
                <p:nvPr/>
              </p:nvSpPr>
              <p:spPr bwMode="blackWhite">
                <a:xfrm>
                  <a:off x="3490" y="1592"/>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93" name="Rectangle 135"/>
                <p:cNvSpPr>
                  <a:spLocks noChangeArrowheads="1"/>
                </p:cNvSpPr>
                <p:nvPr/>
              </p:nvSpPr>
              <p:spPr bwMode="blackWhite">
                <a:xfrm>
                  <a:off x="3576" y="1592"/>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94" name="Rectangle 136"/>
                <p:cNvSpPr>
                  <a:spLocks noChangeArrowheads="1"/>
                </p:cNvSpPr>
                <p:nvPr/>
              </p:nvSpPr>
              <p:spPr bwMode="blackWhite">
                <a:xfrm>
                  <a:off x="3660" y="1592"/>
                  <a:ext cx="34"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95" name="Rectangle 137"/>
                <p:cNvSpPr>
                  <a:spLocks noChangeArrowheads="1"/>
                </p:cNvSpPr>
                <p:nvPr/>
              </p:nvSpPr>
              <p:spPr bwMode="blackWhite">
                <a:xfrm>
                  <a:off x="3745" y="1592"/>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96" name="Rectangle 138"/>
                <p:cNvSpPr>
                  <a:spLocks noChangeArrowheads="1"/>
                </p:cNvSpPr>
                <p:nvPr/>
              </p:nvSpPr>
              <p:spPr bwMode="blackWhite">
                <a:xfrm>
                  <a:off x="3532" y="1592"/>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97" name="Rectangle 139"/>
                <p:cNvSpPr>
                  <a:spLocks noChangeArrowheads="1"/>
                </p:cNvSpPr>
                <p:nvPr/>
              </p:nvSpPr>
              <p:spPr bwMode="blackWhite">
                <a:xfrm>
                  <a:off x="3617" y="1592"/>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98" name="Rectangle 140"/>
                <p:cNvSpPr>
                  <a:spLocks noChangeArrowheads="1"/>
                </p:cNvSpPr>
                <p:nvPr/>
              </p:nvSpPr>
              <p:spPr bwMode="blackWhite">
                <a:xfrm>
                  <a:off x="3701" y="1592"/>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99" name="Rectangle 141"/>
                <p:cNvSpPr>
                  <a:spLocks noChangeArrowheads="1"/>
                </p:cNvSpPr>
                <p:nvPr/>
              </p:nvSpPr>
              <p:spPr bwMode="blackWhite">
                <a:xfrm>
                  <a:off x="3785" y="1592"/>
                  <a:ext cx="37"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00" name="Rectangle 142"/>
                <p:cNvSpPr>
                  <a:spLocks noChangeArrowheads="1"/>
                </p:cNvSpPr>
                <p:nvPr/>
              </p:nvSpPr>
              <p:spPr bwMode="blackWhite">
                <a:xfrm>
                  <a:off x="3785" y="1610"/>
                  <a:ext cx="37"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01" name="Rectangle 143"/>
                <p:cNvSpPr>
                  <a:spLocks noChangeArrowheads="1"/>
                </p:cNvSpPr>
                <p:nvPr/>
              </p:nvSpPr>
              <p:spPr bwMode="blackWhite">
                <a:xfrm>
                  <a:off x="3490" y="1627"/>
                  <a:ext cx="36"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02" name="Rectangle 144"/>
                <p:cNvSpPr>
                  <a:spLocks noChangeArrowheads="1"/>
                </p:cNvSpPr>
                <p:nvPr/>
              </p:nvSpPr>
              <p:spPr bwMode="blackWhite">
                <a:xfrm>
                  <a:off x="3576" y="1627"/>
                  <a:ext cx="36"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03" name="Rectangle 145"/>
                <p:cNvSpPr>
                  <a:spLocks noChangeArrowheads="1"/>
                </p:cNvSpPr>
                <p:nvPr/>
              </p:nvSpPr>
              <p:spPr bwMode="blackWhite">
                <a:xfrm>
                  <a:off x="3660" y="1627"/>
                  <a:ext cx="34"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04" name="Rectangle 146"/>
                <p:cNvSpPr>
                  <a:spLocks noChangeArrowheads="1"/>
                </p:cNvSpPr>
                <p:nvPr/>
              </p:nvSpPr>
              <p:spPr bwMode="blackWhite">
                <a:xfrm>
                  <a:off x="3745" y="1627"/>
                  <a:ext cx="35"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05" name="Rectangle 147"/>
                <p:cNvSpPr>
                  <a:spLocks noChangeArrowheads="1"/>
                </p:cNvSpPr>
                <p:nvPr/>
              </p:nvSpPr>
              <p:spPr bwMode="blackWhite">
                <a:xfrm>
                  <a:off x="3532" y="1627"/>
                  <a:ext cx="33"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06" name="Rectangle 148"/>
                <p:cNvSpPr>
                  <a:spLocks noChangeArrowheads="1"/>
                </p:cNvSpPr>
                <p:nvPr/>
              </p:nvSpPr>
              <p:spPr bwMode="blackWhite">
                <a:xfrm>
                  <a:off x="3617" y="1627"/>
                  <a:ext cx="35"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07" name="Rectangle 149"/>
                <p:cNvSpPr>
                  <a:spLocks noChangeArrowheads="1"/>
                </p:cNvSpPr>
                <p:nvPr/>
              </p:nvSpPr>
              <p:spPr bwMode="blackWhite">
                <a:xfrm>
                  <a:off x="3701" y="1627"/>
                  <a:ext cx="36"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08" name="Rectangle 150"/>
                <p:cNvSpPr>
                  <a:spLocks noChangeArrowheads="1"/>
                </p:cNvSpPr>
                <p:nvPr/>
              </p:nvSpPr>
              <p:spPr bwMode="blackWhite">
                <a:xfrm>
                  <a:off x="3785" y="1627"/>
                  <a:ext cx="37"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09" name="Rectangle 151"/>
                <p:cNvSpPr>
                  <a:spLocks noChangeArrowheads="1"/>
                </p:cNvSpPr>
                <p:nvPr/>
              </p:nvSpPr>
              <p:spPr bwMode="blackWhite">
                <a:xfrm>
                  <a:off x="3490" y="1646"/>
                  <a:ext cx="36"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10" name="Rectangle 152"/>
                <p:cNvSpPr>
                  <a:spLocks noChangeArrowheads="1"/>
                </p:cNvSpPr>
                <p:nvPr/>
              </p:nvSpPr>
              <p:spPr bwMode="blackWhite">
                <a:xfrm>
                  <a:off x="3576" y="1646"/>
                  <a:ext cx="35"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11" name="Rectangle 153"/>
                <p:cNvSpPr>
                  <a:spLocks noChangeArrowheads="1"/>
                </p:cNvSpPr>
                <p:nvPr/>
              </p:nvSpPr>
              <p:spPr bwMode="blackWhite">
                <a:xfrm>
                  <a:off x="3660" y="1646"/>
                  <a:ext cx="34"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12" name="Rectangle 154"/>
                <p:cNvSpPr>
                  <a:spLocks noChangeArrowheads="1"/>
                </p:cNvSpPr>
                <p:nvPr/>
              </p:nvSpPr>
              <p:spPr bwMode="blackWhite">
                <a:xfrm>
                  <a:off x="3745" y="1646"/>
                  <a:ext cx="35"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13" name="Rectangle 155"/>
                <p:cNvSpPr>
                  <a:spLocks noChangeArrowheads="1"/>
                </p:cNvSpPr>
                <p:nvPr/>
              </p:nvSpPr>
              <p:spPr bwMode="blackWhite">
                <a:xfrm>
                  <a:off x="3532" y="1646"/>
                  <a:ext cx="36"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14" name="Rectangle 156"/>
                <p:cNvSpPr>
                  <a:spLocks noChangeArrowheads="1"/>
                </p:cNvSpPr>
                <p:nvPr/>
              </p:nvSpPr>
              <p:spPr bwMode="blackWhite">
                <a:xfrm>
                  <a:off x="3619" y="1646"/>
                  <a:ext cx="33"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15" name="Rectangle 157"/>
                <p:cNvSpPr>
                  <a:spLocks noChangeArrowheads="1"/>
                </p:cNvSpPr>
                <p:nvPr/>
              </p:nvSpPr>
              <p:spPr bwMode="blackWhite">
                <a:xfrm>
                  <a:off x="3701" y="1646"/>
                  <a:ext cx="36"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16" name="Rectangle 158"/>
                <p:cNvSpPr>
                  <a:spLocks noChangeArrowheads="1"/>
                </p:cNvSpPr>
                <p:nvPr/>
              </p:nvSpPr>
              <p:spPr bwMode="blackWhite">
                <a:xfrm>
                  <a:off x="3785" y="1646"/>
                  <a:ext cx="37"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17" name="Rectangle 159"/>
                <p:cNvSpPr>
                  <a:spLocks noChangeArrowheads="1"/>
                </p:cNvSpPr>
                <p:nvPr/>
              </p:nvSpPr>
              <p:spPr bwMode="blackWhite">
                <a:xfrm>
                  <a:off x="3490" y="1666"/>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18" name="Rectangle 160"/>
                <p:cNvSpPr>
                  <a:spLocks noChangeArrowheads="1"/>
                </p:cNvSpPr>
                <p:nvPr/>
              </p:nvSpPr>
              <p:spPr bwMode="blackWhite">
                <a:xfrm>
                  <a:off x="3576" y="1666"/>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19" name="Rectangle 161"/>
                <p:cNvSpPr>
                  <a:spLocks noChangeArrowheads="1"/>
                </p:cNvSpPr>
                <p:nvPr/>
              </p:nvSpPr>
              <p:spPr bwMode="blackWhite">
                <a:xfrm>
                  <a:off x="3660" y="1666"/>
                  <a:ext cx="34"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20" name="Rectangle 162"/>
                <p:cNvSpPr>
                  <a:spLocks noChangeArrowheads="1"/>
                </p:cNvSpPr>
                <p:nvPr/>
              </p:nvSpPr>
              <p:spPr bwMode="blackWhite">
                <a:xfrm>
                  <a:off x="3745" y="1666"/>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21" name="Rectangle 163"/>
                <p:cNvSpPr>
                  <a:spLocks noChangeArrowheads="1"/>
                </p:cNvSpPr>
                <p:nvPr/>
              </p:nvSpPr>
              <p:spPr bwMode="blackWhite">
                <a:xfrm>
                  <a:off x="3532" y="1666"/>
                  <a:ext cx="33"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22" name="Rectangle 164"/>
                <p:cNvSpPr>
                  <a:spLocks noChangeArrowheads="1"/>
                </p:cNvSpPr>
                <p:nvPr/>
              </p:nvSpPr>
              <p:spPr bwMode="blackWhite">
                <a:xfrm>
                  <a:off x="3617" y="1666"/>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23" name="Rectangle 165"/>
                <p:cNvSpPr>
                  <a:spLocks noChangeArrowheads="1"/>
                </p:cNvSpPr>
                <p:nvPr/>
              </p:nvSpPr>
              <p:spPr bwMode="blackWhite">
                <a:xfrm>
                  <a:off x="3701" y="1666"/>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24" name="Rectangle 166"/>
                <p:cNvSpPr>
                  <a:spLocks noChangeArrowheads="1"/>
                </p:cNvSpPr>
                <p:nvPr/>
              </p:nvSpPr>
              <p:spPr bwMode="blackWhite">
                <a:xfrm>
                  <a:off x="3785" y="1666"/>
                  <a:ext cx="37"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25" name="Rectangle 167"/>
                <p:cNvSpPr>
                  <a:spLocks noChangeArrowheads="1"/>
                </p:cNvSpPr>
                <p:nvPr/>
              </p:nvSpPr>
              <p:spPr bwMode="blackWhite">
                <a:xfrm>
                  <a:off x="3490" y="1684"/>
                  <a:ext cx="34"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26" name="Rectangle 168"/>
                <p:cNvSpPr>
                  <a:spLocks noChangeArrowheads="1"/>
                </p:cNvSpPr>
                <p:nvPr/>
              </p:nvSpPr>
              <p:spPr bwMode="blackWhite">
                <a:xfrm>
                  <a:off x="3576" y="1684"/>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27" name="Rectangle 169"/>
                <p:cNvSpPr>
                  <a:spLocks noChangeArrowheads="1"/>
                </p:cNvSpPr>
                <p:nvPr/>
              </p:nvSpPr>
              <p:spPr bwMode="blackWhite">
                <a:xfrm>
                  <a:off x="3659" y="1684"/>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28" name="Rectangle 170"/>
                <p:cNvSpPr>
                  <a:spLocks noChangeArrowheads="1"/>
                </p:cNvSpPr>
                <p:nvPr/>
              </p:nvSpPr>
              <p:spPr bwMode="blackWhite">
                <a:xfrm>
                  <a:off x="3745" y="1684"/>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29" name="Rectangle 171"/>
                <p:cNvSpPr>
                  <a:spLocks noChangeArrowheads="1"/>
                </p:cNvSpPr>
                <p:nvPr/>
              </p:nvSpPr>
              <p:spPr bwMode="blackWhite">
                <a:xfrm>
                  <a:off x="3532" y="1684"/>
                  <a:ext cx="33"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30" name="Rectangle 172"/>
                <p:cNvSpPr>
                  <a:spLocks noChangeArrowheads="1"/>
                </p:cNvSpPr>
                <p:nvPr/>
              </p:nvSpPr>
              <p:spPr bwMode="blackWhite">
                <a:xfrm>
                  <a:off x="3617" y="1684"/>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31" name="Rectangle 173"/>
                <p:cNvSpPr>
                  <a:spLocks noChangeArrowheads="1"/>
                </p:cNvSpPr>
                <p:nvPr/>
              </p:nvSpPr>
              <p:spPr bwMode="blackWhite">
                <a:xfrm>
                  <a:off x="3701" y="1684"/>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32" name="Rectangle 174"/>
                <p:cNvSpPr>
                  <a:spLocks noChangeArrowheads="1"/>
                </p:cNvSpPr>
                <p:nvPr/>
              </p:nvSpPr>
              <p:spPr bwMode="blackWhite">
                <a:xfrm>
                  <a:off x="3785" y="1684"/>
                  <a:ext cx="37"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33" name="Rectangle 175"/>
                <p:cNvSpPr>
                  <a:spLocks noChangeArrowheads="1"/>
                </p:cNvSpPr>
                <p:nvPr/>
              </p:nvSpPr>
              <p:spPr bwMode="blackWhite">
                <a:xfrm>
                  <a:off x="3490" y="1702"/>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34" name="Rectangle 176"/>
                <p:cNvSpPr>
                  <a:spLocks noChangeArrowheads="1"/>
                </p:cNvSpPr>
                <p:nvPr/>
              </p:nvSpPr>
              <p:spPr bwMode="blackWhite">
                <a:xfrm>
                  <a:off x="3576" y="1702"/>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35" name="Rectangle 177"/>
                <p:cNvSpPr>
                  <a:spLocks noChangeArrowheads="1"/>
                </p:cNvSpPr>
                <p:nvPr/>
              </p:nvSpPr>
              <p:spPr bwMode="blackWhite">
                <a:xfrm>
                  <a:off x="3660" y="1702"/>
                  <a:ext cx="34"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36" name="Rectangle 178"/>
                <p:cNvSpPr>
                  <a:spLocks noChangeArrowheads="1"/>
                </p:cNvSpPr>
                <p:nvPr/>
              </p:nvSpPr>
              <p:spPr bwMode="blackWhite">
                <a:xfrm>
                  <a:off x="3745" y="1702"/>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37" name="Rectangle 179"/>
                <p:cNvSpPr>
                  <a:spLocks noChangeArrowheads="1"/>
                </p:cNvSpPr>
                <p:nvPr/>
              </p:nvSpPr>
              <p:spPr bwMode="blackWhite">
                <a:xfrm>
                  <a:off x="3532" y="1702"/>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38" name="Rectangle 180"/>
                <p:cNvSpPr>
                  <a:spLocks noChangeArrowheads="1"/>
                </p:cNvSpPr>
                <p:nvPr/>
              </p:nvSpPr>
              <p:spPr bwMode="blackWhite">
                <a:xfrm>
                  <a:off x="3617" y="1702"/>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39" name="Rectangle 181"/>
                <p:cNvSpPr>
                  <a:spLocks noChangeArrowheads="1"/>
                </p:cNvSpPr>
                <p:nvPr/>
              </p:nvSpPr>
              <p:spPr bwMode="blackWhite">
                <a:xfrm>
                  <a:off x="3701" y="1702"/>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40" name="Rectangle 182"/>
                <p:cNvSpPr>
                  <a:spLocks noChangeArrowheads="1"/>
                </p:cNvSpPr>
                <p:nvPr/>
              </p:nvSpPr>
              <p:spPr bwMode="blackWhite">
                <a:xfrm>
                  <a:off x="3785" y="1702"/>
                  <a:ext cx="37"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41" name="Rectangle 183"/>
                <p:cNvSpPr>
                  <a:spLocks noChangeArrowheads="1"/>
                </p:cNvSpPr>
                <p:nvPr/>
              </p:nvSpPr>
              <p:spPr bwMode="blackWhite">
                <a:xfrm>
                  <a:off x="3490" y="1720"/>
                  <a:ext cx="36"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42" name="Rectangle 184"/>
                <p:cNvSpPr>
                  <a:spLocks noChangeArrowheads="1"/>
                </p:cNvSpPr>
                <p:nvPr/>
              </p:nvSpPr>
              <p:spPr bwMode="blackWhite">
                <a:xfrm>
                  <a:off x="3576" y="1720"/>
                  <a:ext cx="35"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43" name="Rectangle 185"/>
                <p:cNvSpPr>
                  <a:spLocks noChangeArrowheads="1"/>
                </p:cNvSpPr>
                <p:nvPr/>
              </p:nvSpPr>
              <p:spPr bwMode="blackWhite">
                <a:xfrm>
                  <a:off x="3660" y="1720"/>
                  <a:ext cx="34"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44" name="Rectangle 186"/>
                <p:cNvSpPr>
                  <a:spLocks noChangeArrowheads="1"/>
                </p:cNvSpPr>
                <p:nvPr/>
              </p:nvSpPr>
              <p:spPr bwMode="blackWhite">
                <a:xfrm>
                  <a:off x="3745" y="1720"/>
                  <a:ext cx="35"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45" name="Rectangle 187"/>
                <p:cNvSpPr>
                  <a:spLocks noChangeArrowheads="1"/>
                </p:cNvSpPr>
                <p:nvPr/>
              </p:nvSpPr>
              <p:spPr bwMode="blackWhite">
                <a:xfrm>
                  <a:off x="3532" y="1720"/>
                  <a:ext cx="36"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46" name="Rectangle 188"/>
                <p:cNvSpPr>
                  <a:spLocks noChangeArrowheads="1"/>
                </p:cNvSpPr>
                <p:nvPr/>
              </p:nvSpPr>
              <p:spPr bwMode="blackWhite">
                <a:xfrm>
                  <a:off x="3617" y="1720"/>
                  <a:ext cx="35"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47" name="Rectangle 189"/>
                <p:cNvSpPr>
                  <a:spLocks noChangeArrowheads="1"/>
                </p:cNvSpPr>
                <p:nvPr/>
              </p:nvSpPr>
              <p:spPr bwMode="blackWhite">
                <a:xfrm>
                  <a:off x="3701" y="1720"/>
                  <a:ext cx="36"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48" name="Rectangle 190"/>
                <p:cNvSpPr>
                  <a:spLocks noChangeArrowheads="1"/>
                </p:cNvSpPr>
                <p:nvPr/>
              </p:nvSpPr>
              <p:spPr bwMode="blackWhite">
                <a:xfrm>
                  <a:off x="3785" y="1720"/>
                  <a:ext cx="37"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49" name="Rectangle 191"/>
                <p:cNvSpPr>
                  <a:spLocks noChangeArrowheads="1"/>
                </p:cNvSpPr>
                <p:nvPr/>
              </p:nvSpPr>
              <p:spPr bwMode="blackWhite">
                <a:xfrm>
                  <a:off x="3491" y="1740"/>
                  <a:ext cx="33" cy="11"/>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50" name="Rectangle 192"/>
                <p:cNvSpPr>
                  <a:spLocks noChangeArrowheads="1"/>
                </p:cNvSpPr>
                <p:nvPr/>
              </p:nvSpPr>
              <p:spPr bwMode="blackWhite">
                <a:xfrm>
                  <a:off x="3576" y="1740"/>
                  <a:ext cx="36" cy="11"/>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51" name="Rectangle 193"/>
                <p:cNvSpPr>
                  <a:spLocks noChangeArrowheads="1"/>
                </p:cNvSpPr>
                <p:nvPr/>
              </p:nvSpPr>
              <p:spPr bwMode="blackWhite">
                <a:xfrm>
                  <a:off x="3660" y="1740"/>
                  <a:ext cx="34" cy="11"/>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52" name="Rectangle 194"/>
                <p:cNvSpPr>
                  <a:spLocks noChangeArrowheads="1"/>
                </p:cNvSpPr>
                <p:nvPr/>
              </p:nvSpPr>
              <p:spPr bwMode="blackWhite">
                <a:xfrm>
                  <a:off x="3745" y="1740"/>
                  <a:ext cx="35" cy="11"/>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53" name="Rectangle 195"/>
                <p:cNvSpPr>
                  <a:spLocks noChangeArrowheads="1"/>
                </p:cNvSpPr>
                <p:nvPr/>
              </p:nvSpPr>
              <p:spPr bwMode="blackWhite">
                <a:xfrm>
                  <a:off x="3532" y="1740"/>
                  <a:ext cx="33" cy="11"/>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54" name="Rectangle 196"/>
                <p:cNvSpPr>
                  <a:spLocks noChangeArrowheads="1"/>
                </p:cNvSpPr>
                <p:nvPr/>
              </p:nvSpPr>
              <p:spPr bwMode="blackWhite">
                <a:xfrm>
                  <a:off x="3617" y="1740"/>
                  <a:ext cx="35" cy="11"/>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55" name="Rectangle 197"/>
                <p:cNvSpPr>
                  <a:spLocks noChangeArrowheads="1"/>
                </p:cNvSpPr>
                <p:nvPr/>
              </p:nvSpPr>
              <p:spPr bwMode="blackWhite">
                <a:xfrm>
                  <a:off x="3701" y="1740"/>
                  <a:ext cx="36" cy="11"/>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56" name="Rectangle 198"/>
                <p:cNvSpPr>
                  <a:spLocks noChangeArrowheads="1"/>
                </p:cNvSpPr>
                <p:nvPr/>
              </p:nvSpPr>
              <p:spPr bwMode="blackWhite">
                <a:xfrm>
                  <a:off x="3785" y="1740"/>
                  <a:ext cx="37" cy="11"/>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sp>
            <p:nvSpPr>
              <p:cNvPr id="268" name="Rectangle 199"/>
              <p:cNvSpPr>
                <a:spLocks noChangeArrowheads="1"/>
              </p:cNvSpPr>
              <p:nvPr/>
            </p:nvSpPr>
            <p:spPr bwMode="blackWhite">
              <a:xfrm>
                <a:off x="3489" y="1556"/>
                <a:ext cx="329" cy="191"/>
              </a:xfrm>
              <a:prstGeom prst="rect">
                <a:avLst/>
              </a:prstGeom>
              <a:noFill/>
              <a:ln w="254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sp>
          <p:nvSpPr>
            <p:cNvPr id="253" name="Rectangle 200"/>
            <p:cNvSpPr>
              <a:spLocks noChangeArrowheads="1"/>
            </p:cNvSpPr>
            <p:nvPr/>
          </p:nvSpPr>
          <p:spPr bwMode="blackWhite">
            <a:xfrm>
              <a:off x="4092" y="1847"/>
              <a:ext cx="299" cy="10"/>
            </a:xfrm>
            <a:prstGeom prst="rect">
              <a:avLst/>
            </a:prstGeom>
            <a:gradFill rotWithShape="0">
              <a:gsLst>
                <a:gs pos="0">
                  <a:srgbClr val="000000"/>
                </a:gs>
                <a:gs pos="20000">
                  <a:srgbClr val="0A128C"/>
                </a:gs>
                <a:gs pos="35001">
                  <a:srgbClr val="181CC7"/>
                </a:gs>
                <a:gs pos="44000">
                  <a:srgbClr val="7005D4"/>
                </a:gs>
                <a:gs pos="50000">
                  <a:srgbClr val="8C3D91"/>
                </a:gs>
                <a:gs pos="56000">
                  <a:srgbClr val="7005D4"/>
                </a:gs>
                <a:gs pos="64999">
                  <a:srgbClr val="181CC7"/>
                </a:gs>
                <a:gs pos="80000">
                  <a:srgbClr val="0A128C"/>
                </a:gs>
                <a:gs pos="100000">
                  <a:srgbClr val="000000"/>
                </a:gs>
              </a:gsLst>
              <a:lin ang="0" scaled="1"/>
            </a:gra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54" name="Rectangle 201"/>
            <p:cNvSpPr>
              <a:spLocks noChangeArrowheads="1"/>
            </p:cNvSpPr>
            <p:nvPr/>
          </p:nvSpPr>
          <p:spPr bwMode="blackWhite">
            <a:xfrm>
              <a:off x="3762" y="1329"/>
              <a:ext cx="10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spcBef>
                  <a:spcPct val="50000"/>
                </a:spcBef>
                <a:buClrTx/>
                <a:buFontTx/>
                <a:buNone/>
              </a:pPr>
              <a:r>
                <a:rPr lang="en-US" altLang="en-US" sz="1800"/>
                <a:t>Oracle server</a:t>
              </a:r>
            </a:p>
          </p:txBody>
        </p:sp>
        <p:grpSp>
          <p:nvGrpSpPr>
            <p:cNvPr id="255" name="Group 202"/>
            <p:cNvGrpSpPr>
              <a:grpSpLocks/>
            </p:cNvGrpSpPr>
            <p:nvPr/>
          </p:nvGrpSpPr>
          <p:grpSpPr bwMode="auto">
            <a:xfrm>
              <a:off x="3552" y="2215"/>
              <a:ext cx="432" cy="335"/>
              <a:chOff x="288" y="2982"/>
              <a:chExt cx="532" cy="412"/>
            </a:xfrm>
          </p:grpSpPr>
          <p:sp>
            <p:nvSpPr>
              <p:cNvPr id="264" name="Rectangle 203"/>
              <p:cNvSpPr>
                <a:spLocks noChangeArrowheads="1"/>
              </p:cNvSpPr>
              <p:nvPr/>
            </p:nvSpPr>
            <p:spPr bwMode="gray">
              <a:xfrm>
                <a:off x="288" y="3066"/>
                <a:ext cx="532" cy="246"/>
              </a:xfrm>
              <a:prstGeom prst="rect">
                <a:avLst/>
              </a:prstGeom>
              <a:solidFill>
                <a:srgbClr val="9999FF"/>
              </a:solidFill>
              <a:ln w="3175">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65" name="Oval 204"/>
              <p:cNvSpPr>
                <a:spLocks noChangeArrowheads="1"/>
              </p:cNvSpPr>
              <p:nvPr/>
            </p:nvSpPr>
            <p:spPr bwMode="gray">
              <a:xfrm>
                <a:off x="288" y="2982"/>
                <a:ext cx="532" cy="158"/>
              </a:xfrm>
              <a:prstGeom prst="ellipse">
                <a:avLst/>
              </a:prstGeom>
              <a:solidFill>
                <a:srgbClr val="CCCC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66" name="Oval 205"/>
              <p:cNvSpPr>
                <a:spLocks noChangeArrowheads="1"/>
              </p:cNvSpPr>
              <p:nvPr/>
            </p:nvSpPr>
            <p:spPr bwMode="gray">
              <a:xfrm>
                <a:off x="288" y="3236"/>
                <a:ext cx="532" cy="158"/>
              </a:xfrm>
              <a:prstGeom prst="ellipse">
                <a:avLst/>
              </a:prstGeom>
              <a:solidFill>
                <a:srgbClr val="9999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grpSp>
          <p:nvGrpSpPr>
            <p:cNvPr id="256" name="Group 206"/>
            <p:cNvGrpSpPr>
              <a:grpSpLocks/>
            </p:cNvGrpSpPr>
            <p:nvPr/>
          </p:nvGrpSpPr>
          <p:grpSpPr bwMode="auto">
            <a:xfrm>
              <a:off x="4080" y="2215"/>
              <a:ext cx="432" cy="335"/>
              <a:chOff x="288" y="2982"/>
              <a:chExt cx="532" cy="412"/>
            </a:xfrm>
          </p:grpSpPr>
          <p:sp>
            <p:nvSpPr>
              <p:cNvPr id="261" name="Rectangle 207"/>
              <p:cNvSpPr>
                <a:spLocks noChangeArrowheads="1"/>
              </p:cNvSpPr>
              <p:nvPr/>
            </p:nvSpPr>
            <p:spPr bwMode="gray">
              <a:xfrm>
                <a:off x="288" y="3066"/>
                <a:ext cx="532" cy="246"/>
              </a:xfrm>
              <a:prstGeom prst="rect">
                <a:avLst/>
              </a:prstGeom>
              <a:solidFill>
                <a:srgbClr val="9999FF"/>
              </a:solidFill>
              <a:ln w="3175">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62" name="Oval 208"/>
              <p:cNvSpPr>
                <a:spLocks noChangeArrowheads="1"/>
              </p:cNvSpPr>
              <p:nvPr/>
            </p:nvSpPr>
            <p:spPr bwMode="gray">
              <a:xfrm>
                <a:off x="288" y="2982"/>
                <a:ext cx="532" cy="158"/>
              </a:xfrm>
              <a:prstGeom prst="ellipse">
                <a:avLst/>
              </a:prstGeom>
              <a:solidFill>
                <a:srgbClr val="CCCC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63" name="Oval 209"/>
              <p:cNvSpPr>
                <a:spLocks noChangeArrowheads="1"/>
              </p:cNvSpPr>
              <p:nvPr/>
            </p:nvSpPr>
            <p:spPr bwMode="gray">
              <a:xfrm>
                <a:off x="288" y="3236"/>
                <a:ext cx="532" cy="158"/>
              </a:xfrm>
              <a:prstGeom prst="ellipse">
                <a:avLst/>
              </a:prstGeom>
              <a:solidFill>
                <a:srgbClr val="9999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grpSp>
          <p:nvGrpSpPr>
            <p:cNvPr id="257" name="Group 210"/>
            <p:cNvGrpSpPr>
              <a:grpSpLocks/>
            </p:cNvGrpSpPr>
            <p:nvPr/>
          </p:nvGrpSpPr>
          <p:grpSpPr bwMode="auto">
            <a:xfrm>
              <a:off x="4608" y="2215"/>
              <a:ext cx="432" cy="335"/>
              <a:chOff x="288" y="2982"/>
              <a:chExt cx="532" cy="412"/>
            </a:xfrm>
          </p:grpSpPr>
          <p:sp>
            <p:nvSpPr>
              <p:cNvPr id="258" name="Rectangle 211"/>
              <p:cNvSpPr>
                <a:spLocks noChangeArrowheads="1"/>
              </p:cNvSpPr>
              <p:nvPr/>
            </p:nvSpPr>
            <p:spPr bwMode="gray">
              <a:xfrm>
                <a:off x="288" y="3066"/>
                <a:ext cx="532" cy="246"/>
              </a:xfrm>
              <a:prstGeom prst="rect">
                <a:avLst/>
              </a:prstGeom>
              <a:solidFill>
                <a:srgbClr val="9999FF"/>
              </a:solidFill>
              <a:ln w="3175">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59" name="Oval 212"/>
              <p:cNvSpPr>
                <a:spLocks noChangeArrowheads="1"/>
              </p:cNvSpPr>
              <p:nvPr/>
            </p:nvSpPr>
            <p:spPr bwMode="gray">
              <a:xfrm>
                <a:off x="288" y="2982"/>
                <a:ext cx="532" cy="158"/>
              </a:xfrm>
              <a:prstGeom prst="ellipse">
                <a:avLst/>
              </a:prstGeom>
              <a:solidFill>
                <a:srgbClr val="CCCC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60" name="Oval 213"/>
              <p:cNvSpPr>
                <a:spLocks noChangeArrowheads="1"/>
              </p:cNvSpPr>
              <p:nvPr/>
            </p:nvSpPr>
            <p:spPr bwMode="gray">
              <a:xfrm>
                <a:off x="288" y="3236"/>
                <a:ext cx="532" cy="158"/>
              </a:xfrm>
              <a:prstGeom prst="ellipse">
                <a:avLst/>
              </a:prstGeom>
              <a:solidFill>
                <a:srgbClr val="9999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grpSp>
      <p:pic>
        <p:nvPicPr>
          <p:cNvPr id="429" name="Picture 214" descr="comp"/>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70662" y="4791583"/>
            <a:ext cx="792163" cy="138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82360501"/>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1. Oracle instance</a:t>
            </a:r>
          </a:p>
        </p:txBody>
      </p:sp>
      <p:sp>
        <p:nvSpPr>
          <p:cNvPr id="3" name="Rectangle 3"/>
          <p:cNvSpPr txBox="1">
            <a:spLocks noChangeArrowheads="1"/>
          </p:cNvSpPr>
          <p:nvPr/>
        </p:nvSpPr>
        <p:spPr>
          <a:xfrm>
            <a:off x="691357" y="1047959"/>
            <a:ext cx="9258300" cy="1533518"/>
          </a:xfrm>
          <a:prstGeom prst="rect">
            <a:avLst/>
          </a:prstGeom>
        </p:spPr>
        <p:txBody>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lvl="1">
              <a:buClr>
                <a:srgbClr val="FF0000"/>
              </a:buClr>
            </a:pPr>
            <a:r>
              <a:rPr lang="en-US" altLang="en-US">
                <a:latin typeface="Times New Roman" panose="02020603050405020304" pitchFamily="18" charset="0"/>
                <a:cs typeface="Times New Roman" panose="02020603050405020304" pitchFamily="18" charset="0"/>
              </a:rPr>
              <a:t>Là phương thức truy cập hệ thống CSDL Oracle </a:t>
            </a:r>
          </a:p>
          <a:p>
            <a:pPr lvl="1">
              <a:buClr>
                <a:srgbClr val="FF0000"/>
              </a:buClr>
            </a:pPr>
            <a:r>
              <a:rPr lang="en-US" altLang="en-US">
                <a:latin typeface="Times New Roman" panose="02020603050405020304" pitchFamily="18" charset="0"/>
                <a:cs typeface="Times New Roman" panose="02020603050405020304" pitchFamily="18" charset="0"/>
              </a:rPr>
              <a:t>Chỉ luôn luôn mở một và chỉ một CSDL </a:t>
            </a:r>
          </a:p>
          <a:p>
            <a:pPr lvl="1">
              <a:buClr>
                <a:srgbClr val="FF0000"/>
              </a:buClr>
            </a:pPr>
            <a:r>
              <a:rPr lang="en-US" altLang="en-US">
                <a:latin typeface="Times New Roman" panose="02020603050405020304" pitchFamily="18" charset="0"/>
                <a:cs typeface="Times New Roman" panose="02020603050405020304" pitchFamily="18" charset="0"/>
              </a:rPr>
              <a:t>Bao gồm các cấu trúc background process và cấu trúc bộ nhớ</a:t>
            </a:r>
          </a:p>
        </p:txBody>
      </p:sp>
      <p:grpSp>
        <p:nvGrpSpPr>
          <p:cNvPr id="24" name="Group 23"/>
          <p:cNvGrpSpPr/>
          <p:nvPr/>
        </p:nvGrpSpPr>
        <p:grpSpPr>
          <a:xfrm>
            <a:off x="2321893" y="3183355"/>
            <a:ext cx="9244805" cy="2667000"/>
            <a:chOff x="2817813" y="3295650"/>
            <a:chExt cx="9244805" cy="2667000"/>
          </a:xfrm>
        </p:grpSpPr>
        <p:sp>
          <p:nvSpPr>
            <p:cNvPr id="4" name="Rectangle 4"/>
            <p:cNvSpPr>
              <a:spLocks noChangeArrowheads="1"/>
            </p:cNvSpPr>
            <p:nvPr/>
          </p:nvSpPr>
          <p:spPr bwMode="auto">
            <a:xfrm>
              <a:off x="8265319" y="5538701"/>
              <a:ext cx="3797299"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algn="l">
                <a:spcBef>
                  <a:spcPct val="50000"/>
                </a:spcBef>
                <a:buClrTx/>
                <a:buFontTx/>
                <a:buNone/>
              </a:pPr>
              <a:r>
                <a:rPr lang="en-US" altLang="en-US"/>
                <a:t>Cấu trúc background process</a:t>
              </a:r>
            </a:p>
          </p:txBody>
        </p:sp>
        <p:sp>
          <p:nvSpPr>
            <p:cNvPr id="5" name="Rectangle 5"/>
            <p:cNvSpPr>
              <a:spLocks noChangeArrowheads="1"/>
            </p:cNvSpPr>
            <p:nvPr/>
          </p:nvSpPr>
          <p:spPr bwMode="auto">
            <a:xfrm>
              <a:off x="8265319" y="4154099"/>
              <a:ext cx="2127250"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algn="l">
                <a:spcBef>
                  <a:spcPct val="50000"/>
                </a:spcBef>
                <a:buClrTx/>
                <a:buFontTx/>
                <a:buNone/>
              </a:pPr>
              <a:r>
                <a:rPr lang="en-US" altLang="en-US"/>
                <a:t>Cấu trúc bộ nhớ </a:t>
              </a:r>
            </a:p>
          </p:txBody>
        </p:sp>
        <p:sp>
          <p:nvSpPr>
            <p:cNvPr id="6" name="Rectangle 6"/>
            <p:cNvSpPr>
              <a:spLocks noChangeArrowheads="1"/>
            </p:cNvSpPr>
            <p:nvPr/>
          </p:nvSpPr>
          <p:spPr bwMode="blackWhite">
            <a:xfrm>
              <a:off x="2817813" y="3295650"/>
              <a:ext cx="4949825" cy="2667000"/>
            </a:xfrm>
            <a:prstGeom prst="rect">
              <a:avLst/>
            </a:prstGeom>
            <a:solidFill>
              <a:srgbClr val="FF66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800"/>
                <a:t>Instance</a:t>
              </a:r>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p:txBody>
        </p:sp>
        <p:sp>
          <p:nvSpPr>
            <p:cNvPr id="7" name="Rectangle 7"/>
            <p:cNvSpPr>
              <a:spLocks noChangeArrowheads="1"/>
            </p:cNvSpPr>
            <p:nvPr/>
          </p:nvSpPr>
          <p:spPr bwMode="blackWhite">
            <a:xfrm>
              <a:off x="2847976" y="3614738"/>
              <a:ext cx="4803775" cy="1804987"/>
            </a:xfrm>
            <a:prstGeom prst="rect">
              <a:avLst/>
            </a:prstGeom>
            <a:solidFill>
              <a:srgbClr val="CCCCCC"/>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800"/>
                <a:t>SGA</a:t>
              </a:r>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p:txBody>
        </p:sp>
        <p:sp>
          <p:nvSpPr>
            <p:cNvPr id="8" name="Rectangle 8"/>
            <p:cNvSpPr>
              <a:spLocks noChangeArrowheads="1"/>
            </p:cNvSpPr>
            <p:nvPr/>
          </p:nvSpPr>
          <p:spPr bwMode="blackWhite">
            <a:xfrm>
              <a:off x="6202363" y="4057650"/>
              <a:ext cx="1325563" cy="792163"/>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400"/>
                <a:t>Redo Log</a:t>
              </a:r>
              <a:br>
                <a:rPr lang="en-US" altLang="en-US" sz="1400"/>
              </a:br>
              <a:r>
                <a:rPr lang="en-US" altLang="en-US" sz="1400"/>
                <a:t>Buffer</a:t>
              </a:r>
            </a:p>
          </p:txBody>
        </p:sp>
        <p:sp>
          <p:nvSpPr>
            <p:cNvPr id="9" name="Rectangle 9"/>
            <p:cNvSpPr>
              <a:spLocks noChangeArrowheads="1"/>
            </p:cNvSpPr>
            <p:nvPr/>
          </p:nvSpPr>
          <p:spPr bwMode="blackWhite">
            <a:xfrm>
              <a:off x="2955926" y="3708400"/>
              <a:ext cx="1573212" cy="1614488"/>
            </a:xfrm>
            <a:prstGeom prst="rect">
              <a:avLst/>
            </a:prstGeom>
            <a:solidFill>
              <a:srgbClr val="FFCC33"/>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400"/>
                <a:t>Shared Pool</a:t>
              </a:r>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p:txBody>
        </p:sp>
        <p:sp>
          <p:nvSpPr>
            <p:cNvPr id="10" name="Rectangle 10"/>
            <p:cNvSpPr>
              <a:spLocks noChangeArrowheads="1"/>
            </p:cNvSpPr>
            <p:nvPr/>
          </p:nvSpPr>
          <p:spPr bwMode="blackWhite">
            <a:xfrm>
              <a:off x="3076576" y="4745038"/>
              <a:ext cx="1327150" cy="539750"/>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400"/>
                <a:t>Data Dictionary</a:t>
              </a:r>
              <a:br>
                <a:rPr lang="en-US" altLang="en-US" sz="1400"/>
              </a:br>
              <a:r>
                <a:rPr lang="en-US" altLang="en-US" sz="1400"/>
                <a:t>Cache</a:t>
              </a:r>
            </a:p>
          </p:txBody>
        </p:sp>
        <p:sp>
          <p:nvSpPr>
            <p:cNvPr id="11" name="Rectangle 11"/>
            <p:cNvSpPr>
              <a:spLocks noChangeArrowheads="1"/>
            </p:cNvSpPr>
            <p:nvPr/>
          </p:nvSpPr>
          <p:spPr bwMode="blackWhite">
            <a:xfrm>
              <a:off x="3076576" y="4137025"/>
              <a:ext cx="1327150" cy="538163"/>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400"/>
                <a:t>Library</a:t>
              </a:r>
            </a:p>
            <a:p>
              <a:pPr algn="ctr">
                <a:lnSpc>
                  <a:spcPct val="95000"/>
                </a:lnSpc>
                <a:spcBef>
                  <a:spcPct val="0"/>
                </a:spcBef>
                <a:buClrTx/>
                <a:buFontTx/>
                <a:buNone/>
              </a:pPr>
              <a:r>
                <a:rPr lang="en-US" altLang="en-US" sz="1400"/>
                <a:t>Cache</a:t>
              </a:r>
            </a:p>
          </p:txBody>
        </p:sp>
        <p:sp>
          <p:nvSpPr>
            <p:cNvPr id="12" name="Oval 12"/>
            <p:cNvSpPr>
              <a:spLocks noChangeArrowheads="1"/>
            </p:cNvSpPr>
            <p:nvPr/>
          </p:nvSpPr>
          <p:spPr bwMode="blackWhite">
            <a:xfrm>
              <a:off x="4511676" y="5481638"/>
              <a:ext cx="723900" cy="42703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600"/>
                <a:t>DBWR</a:t>
              </a:r>
            </a:p>
          </p:txBody>
        </p:sp>
        <p:sp>
          <p:nvSpPr>
            <p:cNvPr id="13" name="Oval 13"/>
            <p:cNvSpPr>
              <a:spLocks noChangeArrowheads="1"/>
            </p:cNvSpPr>
            <p:nvPr/>
          </p:nvSpPr>
          <p:spPr bwMode="blackWhite">
            <a:xfrm>
              <a:off x="3703638" y="5481638"/>
              <a:ext cx="723900" cy="42703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600"/>
                <a:t>SMON</a:t>
              </a:r>
            </a:p>
          </p:txBody>
        </p:sp>
        <p:sp>
          <p:nvSpPr>
            <p:cNvPr id="14" name="Oval 14"/>
            <p:cNvSpPr>
              <a:spLocks noChangeArrowheads="1"/>
            </p:cNvSpPr>
            <p:nvPr/>
          </p:nvSpPr>
          <p:spPr bwMode="blackWhite">
            <a:xfrm>
              <a:off x="2898776" y="5481638"/>
              <a:ext cx="723900" cy="42703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600"/>
                <a:t>PMON</a:t>
              </a:r>
            </a:p>
          </p:txBody>
        </p:sp>
        <p:sp>
          <p:nvSpPr>
            <p:cNvPr id="15" name="Oval 15"/>
            <p:cNvSpPr>
              <a:spLocks noChangeArrowheads="1"/>
            </p:cNvSpPr>
            <p:nvPr/>
          </p:nvSpPr>
          <p:spPr bwMode="blackWhite">
            <a:xfrm>
              <a:off x="6111876" y="5481638"/>
              <a:ext cx="719137" cy="42703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600"/>
                <a:t>CKPT</a:t>
              </a:r>
            </a:p>
          </p:txBody>
        </p:sp>
        <p:sp>
          <p:nvSpPr>
            <p:cNvPr id="16" name="Oval 16"/>
            <p:cNvSpPr>
              <a:spLocks noChangeArrowheads="1"/>
            </p:cNvSpPr>
            <p:nvPr/>
          </p:nvSpPr>
          <p:spPr bwMode="blackWhite">
            <a:xfrm>
              <a:off x="5302251" y="5481638"/>
              <a:ext cx="723900" cy="42703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600"/>
                <a:t>LGWR</a:t>
              </a:r>
            </a:p>
          </p:txBody>
        </p:sp>
        <p:sp>
          <p:nvSpPr>
            <p:cNvPr id="17" name="Oval 17"/>
            <p:cNvSpPr>
              <a:spLocks noChangeArrowheads="1"/>
            </p:cNvSpPr>
            <p:nvPr/>
          </p:nvSpPr>
          <p:spPr bwMode="blackWhite">
            <a:xfrm>
              <a:off x="6926263" y="5481638"/>
              <a:ext cx="719138" cy="42703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600"/>
                <a:t>Others</a:t>
              </a:r>
            </a:p>
          </p:txBody>
        </p:sp>
        <p:sp>
          <p:nvSpPr>
            <p:cNvPr id="18" name="Rectangle 18"/>
            <p:cNvSpPr>
              <a:spLocks noChangeArrowheads="1"/>
            </p:cNvSpPr>
            <p:nvPr/>
          </p:nvSpPr>
          <p:spPr bwMode="blackWhite">
            <a:xfrm>
              <a:off x="4643438" y="4054475"/>
              <a:ext cx="1511300" cy="908050"/>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400"/>
                <a:t>Database</a:t>
              </a:r>
              <a:br>
                <a:rPr lang="en-US" altLang="en-US" sz="1400"/>
              </a:br>
              <a:r>
                <a:rPr lang="en-US" altLang="en-US" sz="1400"/>
                <a:t>Buffer Cache</a:t>
              </a:r>
            </a:p>
          </p:txBody>
        </p:sp>
        <p:sp>
          <p:nvSpPr>
            <p:cNvPr id="19" name="Rectangle 19"/>
            <p:cNvSpPr>
              <a:spLocks noChangeArrowheads="1"/>
            </p:cNvSpPr>
            <p:nvPr/>
          </p:nvSpPr>
          <p:spPr bwMode="blackWhite">
            <a:xfrm>
              <a:off x="4729163" y="5008563"/>
              <a:ext cx="1339850" cy="328612"/>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400"/>
                <a:t>Java Pool</a:t>
              </a:r>
            </a:p>
          </p:txBody>
        </p:sp>
        <p:sp>
          <p:nvSpPr>
            <p:cNvPr id="20" name="Rectangle 20"/>
            <p:cNvSpPr>
              <a:spLocks noChangeArrowheads="1"/>
            </p:cNvSpPr>
            <p:nvPr/>
          </p:nvSpPr>
          <p:spPr bwMode="blackWhite">
            <a:xfrm>
              <a:off x="6216651" y="4957763"/>
              <a:ext cx="1282700" cy="385762"/>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400"/>
                <a:t>Large Pool</a:t>
              </a:r>
            </a:p>
          </p:txBody>
        </p:sp>
        <p:sp>
          <p:nvSpPr>
            <p:cNvPr id="22" name="Right Brace 21"/>
            <p:cNvSpPr/>
            <p:nvPr/>
          </p:nvSpPr>
          <p:spPr>
            <a:xfrm>
              <a:off x="7888288" y="3353206"/>
              <a:ext cx="261144" cy="199031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23" name="Right Brace 22"/>
            <p:cNvSpPr/>
            <p:nvPr/>
          </p:nvSpPr>
          <p:spPr>
            <a:xfrm>
              <a:off x="7862888" y="5419725"/>
              <a:ext cx="286544" cy="48895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grpSp>
    </p:spTree>
    <p:extLst>
      <p:ext uri="{BB962C8B-B14F-4D97-AF65-F5344CB8AC3E}">
        <p14:creationId xmlns:p14="http://schemas.microsoft.com/office/powerpoint/2010/main" val="3498954184"/>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p:txBody>
          <a:bodyPr/>
          <a:lstStyle/>
          <a:p>
            <a:r>
              <a:rPr lang="en-US" altLang="en-US"/>
              <a:t>2. Oracle Database</a:t>
            </a:r>
            <a:endParaRPr lang="vi-VN"/>
          </a:p>
        </p:txBody>
      </p:sp>
      <p:sp>
        <p:nvSpPr>
          <p:cNvPr id="5" name="Rectangle 3"/>
          <p:cNvSpPr txBox="1">
            <a:spLocks noChangeArrowheads="1"/>
          </p:cNvSpPr>
          <p:nvPr/>
        </p:nvSpPr>
        <p:spPr>
          <a:xfrm>
            <a:off x="477022" y="1459047"/>
            <a:ext cx="11527744" cy="3266370"/>
          </a:xfrm>
          <a:prstGeom prst="rect">
            <a:avLst/>
          </a:prstGeom>
        </p:spPr>
        <p:txBody>
          <a:bodyPr/>
          <a:lstStyle>
            <a:lvl1pPr marL="228600" indent="-228600" algn="l" defTabSz="914400" rtl="0" eaLnBrk="1" latinLnBrk="0" hangingPunct="1">
              <a:lnSpc>
                <a:spcPct val="90000"/>
              </a:lnSpc>
              <a:spcBef>
                <a:spcPct val="30000"/>
              </a:spcBef>
              <a:buClr>
                <a:srgbClr val="FF0000"/>
              </a:buClr>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ct val="30000"/>
              </a:spcBef>
              <a:buClr>
                <a:srgbClr val="FF0000"/>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ct val="30000"/>
              </a:spcBef>
              <a:buClr>
                <a:srgbClr val="FF0000"/>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ct val="30000"/>
              </a:spcBef>
              <a:buClr>
                <a:srgbClr val="FF0000"/>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ct val="30000"/>
              </a:spcBef>
              <a:buClr>
                <a:srgbClr val="FF0000"/>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1" indent="0"/>
            <a:r>
              <a:rPr lang="en-US" altLang="en-US">
                <a:latin typeface="Times New Roman" panose="02020603050405020304" pitchFamily="18" charset="0"/>
                <a:cs typeface="Times New Roman" panose="02020603050405020304" pitchFamily="18" charset="0"/>
              </a:rPr>
              <a:t> Là một tập hợp các file để lưu trữ và truy vấn dữ liệu, có cấu trúc vật lý và cấu trúc logic.</a:t>
            </a:r>
          </a:p>
          <a:p>
            <a:pPr marL="0" lvl="1" indent="0"/>
            <a:r>
              <a:rPr lang="en-US" altLang="en-US">
                <a:latin typeface="Times New Roman" panose="02020603050405020304" pitchFamily="18" charset="0"/>
                <a:cs typeface="Times New Roman" panose="02020603050405020304" pitchFamily="18" charset="0"/>
              </a:rPr>
              <a:t>Cấu trúc vật lý gồm có 3 loại file:</a:t>
            </a:r>
          </a:p>
          <a:p>
            <a:pPr marL="800100" lvl="2" indent="-342900">
              <a:buFont typeface="Wingdings" panose="05000000000000000000" pitchFamily="2" charset="2"/>
              <a:buChar char="§"/>
            </a:pPr>
            <a:r>
              <a:rPr lang="en-US" altLang="en-US" sz="2400">
                <a:latin typeface="Times New Roman" panose="02020603050405020304" pitchFamily="18" charset="0"/>
                <a:cs typeface="Times New Roman" panose="02020603050405020304" pitchFamily="18" charset="0"/>
              </a:rPr>
              <a:t> Data files: Chứa dữ liệu trong database</a:t>
            </a:r>
          </a:p>
          <a:p>
            <a:pPr marL="800100" lvl="2" indent="-342900">
              <a:buFont typeface="Wingdings" panose="05000000000000000000" pitchFamily="2" charset="2"/>
              <a:buChar char="§"/>
            </a:pPr>
            <a:r>
              <a:rPr lang="en-US" altLang="en-US" sz="2400">
                <a:latin typeface="Times New Roman" panose="02020603050405020304" pitchFamily="18" charset="0"/>
                <a:cs typeface="Times New Roman" panose="02020603050405020304" pitchFamily="18" charset="0"/>
              </a:rPr>
              <a:t>Online redo log files: Lưu tất cả những thay đổi trên CSDL khi instance được khởi động, cho phép khôi phục dữ liệu trong trường hợp xảy ra lỗi.</a:t>
            </a:r>
          </a:p>
          <a:p>
            <a:pPr marL="800100" lvl="2" indent="-342900">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Control </a:t>
            </a:r>
            <a:r>
              <a:rPr lang="en-US" altLang="en-US" sz="2400">
                <a:latin typeface="Times New Roman" panose="02020603050405020304" pitchFamily="18" charset="0"/>
                <a:cs typeface="Times New Roman" panose="02020603050405020304" pitchFamily="18" charset="0"/>
              </a:rPr>
              <a:t>files: </a:t>
            </a:r>
            <a:r>
              <a:rPr lang="vi-VN" sz="2400">
                <a:latin typeface="Times New Roman" panose="02020603050405020304" pitchFamily="18" charset="0"/>
                <a:cs typeface="Times New Roman" panose="02020603050405020304" pitchFamily="18" charset="0"/>
              </a:rPr>
              <a:t>ghi lại cấu trúc vật lý của CSDL như tên của database, tên và nơi lưu trữ các datafile hay redo log file, ...</a:t>
            </a:r>
            <a:endParaRPr lang="en-US" altLang="en-US" sz="2400" dirty="0">
              <a:latin typeface="Times New Roman" panose="02020603050405020304" pitchFamily="18" charset="0"/>
              <a:cs typeface="Times New Roman" panose="02020603050405020304" pitchFamily="18" charset="0"/>
            </a:endParaRPr>
          </a:p>
        </p:txBody>
      </p:sp>
      <p:grpSp>
        <p:nvGrpSpPr>
          <p:cNvPr id="6" name="Group 4"/>
          <p:cNvGrpSpPr>
            <a:grpSpLocks/>
          </p:cNvGrpSpPr>
          <p:nvPr/>
        </p:nvGrpSpPr>
        <p:grpSpPr bwMode="auto">
          <a:xfrm>
            <a:off x="4312616" y="4217512"/>
            <a:ext cx="6283325" cy="2154238"/>
            <a:chOff x="908" y="2136"/>
            <a:chExt cx="3958" cy="1357"/>
          </a:xfrm>
        </p:grpSpPr>
        <p:grpSp>
          <p:nvGrpSpPr>
            <p:cNvPr id="7" name="Group 5"/>
            <p:cNvGrpSpPr>
              <a:grpSpLocks/>
            </p:cNvGrpSpPr>
            <p:nvPr/>
          </p:nvGrpSpPr>
          <p:grpSpPr bwMode="auto">
            <a:xfrm>
              <a:off x="4077" y="2808"/>
              <a:ext cx="768" cy="528"/>
              <a:chOff x="288" y="2982"/>
              <a:chExt cx="532" cy="412"/>
            </a:xfrm>
          </p:grpSpPr>
          <p:sp>
            <p:nvSpPr>
              <p:cNvPr id="57" name="Rectangle 6"/>
              <p:cNvSpPr>
                <a:spLocks noChangeArrowheads="1"/>
              </p:cNvSpPr>
              <p:nvPr/>
            </p:nvSpPr>
            <p:spPr bwMode="gray">
              <a:xfrm>
                <a:off x="288" y="3066"/>
                <a:ext cx="532" cy="246"/>
              </a:xfrm>
              <a:prstGeom prst="rect">
                <a:avLst/>
              </a:prstGeom>
              <a:solidFill>
                <a:srgbClr val="9999FF"/>
              </a:solidFill>
              <a:ln w="3175">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58" name="Oval 7"/>
              <p:cNvSpPr>
                <a:spLocks noChangeArrowheads="1"/>
              </p:cNvSpPr>
              <p:nvPr/>
            </p:nvSpPr>
            <p:spPr bwMode="gray">
              <a:xfrm>
                <a:off x="288" y="2982"/>
                <a:ext cx="532" cy="158"/>
              </a:xfrm>
              <a:prstGeom prst="ellipse">
                <a:avLst/>
              </a:prstGeom>
              <a:solidFill>
                <a:srgbClr val="CCCC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59" name="Oval 8"/>
              <p:cNvSpPr>
                <a:spLocks noChangeArrowheads="1"/>
              </p:cNvSpPr>
              <p:nvPr/>
            </p:nvSpPr>
            <p:spPr bwMode="gray">
              <a:xfrm>
                <a:off x="288" y="3236"/>
                <a:ext cx="532" cy="158"/>
              </a:xfrm>
              <a:prstGeom prst="ellipse">
                <a:avLst/>
              </a:prstGeom>
              <a:solidFill>
                <a:srgbClr val="9999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grpSp>
          <p:nvGrpSpPr>
            <p:cNvPr id="8" name="Group 9"/>
            <p:cNvGrpSpPr>
              <a:grpSpLocks/>
            </p:cNvGrpSpPr>
            <p:nvPr/>
          </p:nvGrpSpPr>
          <p:grpSpPr bwMode="auto">
            <a:xfrm>
              <a:off x="920" y="2808"/>
              <a:ext cx="834" cy="565"/>
              <a:chOff x="687" y="3168"/>
              <a:chExt cx="834" cy="565"/>
            </a:xfrm>
          </p:grpSpPr>
          <p:grpSp>
            <p:nvGrpSpPr>
              <p:cNvPr id="52" name="Group 10"/>
              <p:cNvGrpSpPr>
                <a:grpSpLocks/>
              </p:cNvGrpSpPr>
              <p:nvPr/>
            </p:nvGrpSpPr>
            <p:grpSpPr bwMode="auto">
              <a:xfrm>
                <a:off x="720" y="3168"/>
                <a:ext cx="768" cy="528"/>
                <a:chOff x="288" y="2982"/>
                <a:chExt cx="532" cy="412"/>
              </a:xfrm>
            </p:grpSpPr>
            <p:sp>
              <p:nvSpPr>
                <p:cNvPr id="54" name="Rectangle 11"/>
                <p:cNvSpPr>
                  <a:spLocks noChangeArrowheads="1"/>
                </p:cNvSpPr>
                <p:nvPr/>
              </p:nvSpPr>
              <p:spPr bwMode="gray">
                <a:xfrm>
                  <a:off x="288" y="3066"/>
                  <a:ext cx="532" cy="246"/>
                </a:xfrm>
                <a:prstGeom prst="rect">
                  <a:avLst/>
                </a:prstGeom>
                <a:solidFill>
                  <a:srgbClr val="9999FF"/>
                </a:solidFill>
                <a:ln w="3175">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55" name="Oval 12"/>
                <p:cNvSpPr>
                  <a:spLocks noChangeArrowheads="1"/>
                </p:cNvSpPr>
                <p:nvPr/>
              </p:nvSpPr>
              <p:spPr bwMode="gray">
                <a:xfrm>
                  <a:off x="288" y="2982"/>
                  <a:ext cx="532" cy="158"/>
                </a:xfrm>
                <a:prstGeom prst="ellipse">
                  <a:avLst/>
                </a:prstGeom>
                <a:solidFill>
                  <a:srgbClr val="CCCC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56" name="Oval 13"/>
                <p:cNvSpPr>
                  <a:spLocks noChangeArrowheads="1"/>
                </p:cNvSpPr>
                <p:nvPr/>
              </p:nvSpPr>
              <p:spPr bwMode="gray">
                <a:xfrm>
                  <a:off x="288" y="3236"/>
                  <a:ext cx="532" cy="158"/>
                </a:xfrm>
                <a:prstGeom prst="ellipse">
                  <a:avLst/>
                </a:prstGeom>
                <a:solidFill>
                  <a:srgbClr val="9999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sp>
            <p:nvSpPr>
              <p:cNvPr id="53" name="Rectangle 14"/>
              <p:cNvSpPr>
                <a:spLocks noChangeArrowheads="1"/>
              </p:cNvSpPr>
              <p:nvPr/>
            </p:nvSpPr>
            <p:spPr bwMode="auto">
              <a:xfrm>
                <a:off x="687" y="3311"/>
                <a:ext cx="834" cy="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571500" indent="-228600" defTabSz="1428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defTabSz="142875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42875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42875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spcBef>
                    <a:spcPct val="0"/>
                  </a:spcBef>
                  <a:buClrTx/>
                  <a:buFontTx/>
                  <a:buNone/>
                </a:pPr>
                <a:r>
                  <a:rPr lang="en-US" altLang="en-US" sz="1800" dirty="0"/>
                  <a:t>Password</a:t>
                </a:r>
              </a:p>
              <a:p>
                <a:pPr algn="ctr">
                  <a:spcBef>
                    <a:spcPct val="0"/>
                  </a:spcBef>
                  <a:buClrTx/>
                  <a:buFontTx/>
                  <a:buNone/>
                </a:pPr>
                <a:r>
                  <a:rPr lang="en-US" altLang="en-US" sz="1800" dirty="0"/>
                  <a:t>file</a:t>
                </a:r>
              </a:p>
            </p:txBody>
          </p:sp>
        </p:grpSp>
        <p:grpSp>
          <p:nvGrpSpPr>
            <p:cNvPr id="9" name="Group 15"/>
            <p:cNvGrpSpPr>
              <a:grpSpLocks/>
            </p:cNvGrpSpPr>
            <p:nvPr/>
          </p:nvGrpSpPr>
          <p:grpSpPr bwMode="auto">
            <a:xfrm>
              <a:off x="953" y="2376"/>
              <a:ext cx="768" cy="528"/>
              <a:chOff x="288" y="2982"/>
              <a:chExt cx="532" cy="412"/>
            </a:xfrm>
          </p:grpSpPr>
          <p:sp>
            <p:nvSpPr>
              <p:cNvPr id="49" name="Rectangle 16"/>
              <p:cNvSpPr>
                <a:spLocks noChangeArrowheads="1"/>
              </p:cNvSpPr>
              <p:nvPr/>
            </p:nvSpPr>
            <p:spPr bwMode="gray">
              <a:xfrm>
                <a:off x="288" y="3066"/>
                <a:ext cx="532" cy="246"/>
              </a:xfrm>
              <a:prstGeom prst="rect">
                <a:avLst/>
              </a:prstGeom>
              <a:solidFill>
                <a:srgbClr val="9999FF"/>
              </a:solidFill>
              <a:ln w="3175">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50" name="Oval 17"/>
              <p:cNvSpPr>
                <a:spLocks noChangeArrowheads="1"/>
              </p:cNvSpPr>
              <p:nvPr/>
            </p:nvSpPr>
            <p:spPr bwMode="gray">
              <a:xfrm>
                <a:off x="288" y="2982"/>
                <a:ext cx="532" cy="158"/>
              </a:xfrm>
              <a:prstGeom prst="ellipse">
                <a:avLst/>
              </a:prstGeom>
              <a:solidFill>
                <a:srgbClr val="CCCC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51" name="Oval 18"/>
              <p:cNvSpPr>
                <a:spLocks noChangeArrowheads="1"/>
              </p:cNvSpPr>
              <p:nvPr/>
            </p:nvSpPr>
            <p:spPr bwMode="gray">
              <a:xfrm>
                <a:off x="288" y="3236"/>
                <a:ext cx="532" cy="158"/>
              </a:xfrm>
              <a:prstGeom prst="ellipse">
                <a:avLst/>
              </a:prstGeom>
              <a:solidFill>
                <a:srgbClr val="9999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sp>
          <p:nvSpPr>
            <p:cNvPr id="10" name="Rectangle 19"/>
            <p:cNvSpPr>
              <a:spLocks noChangeArrowheads="1"/>
            </p:cNvSpPr>
            <p:nvPr/>
          </p:nvSpPr>
          <p:spPr bwMode="auto">
            <a:xfrm>
              <a:off x="908" y="2519"/>
              <a:ext cx="858" cy="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571500" indent="-228600" defTabSz="1428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defTabSz="142875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42875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42875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spcBef>
                  <a:spcPct val="0"/>
                </a:spcBef>
                <a:buClrTx/>
                <a:buFontTx/>
                <a:buNone/>
              </a:pPr>
              <a:r>
                <a:rPr lang="en-US" altLang="en-US" sz="1800" dirty="0"/>
                <a:t>Parameter</a:t>
              </a:r>
            </a:p>
            <a:p>
              <a:pPr algn="ctr">
                <a:spcBef>
                  <a:spcPct val="0"/>
                </a:spcBef>
                <a:buClrTx/>
                <a:buFontTx/>
                <a:buNone/>
              </a:pPr>
              <a:r>
                <a:rPr lang="en-US" altLang="en-US" sz="1800" dirty="0"/>
                <a:t>file</a:t>
              </a:r>
            </a:p>
          </p:txBody>
        </p:sp>
        <p:grpSp>
          <p:nvGrpSpPr>
            <p:cNvPr id="11" name="Group 20"/>
            <p:cNvGrpSpPr>
              <a:grpSpLocks/>
            </p:cNvGrpSpPr>
            <p:nvPr/>
          </p:nvGrpSpPr>
          <p:grpSpPr bwMode="auto">
            <a:xfrm>
              <a:off x="4077" y="2376"/>
              <a:ext cx="768" cy="528"/>
              <a:chOff x="288" y="2982"/>
              <a:chExt cx="532" cy="412"/>
            </a:xfrm>
          </p:grpSpPr>
          <p:sp>
            <p:nvSpPr>
              <p:cNvPr id="46" name="Rectangle 21"/>
              <p:cNvSpPr>
                <a:spLocks noChangeArrowheads="1"/>
              </p:cNvSpPr>
              <p:nvPr/>
            </p:nvSpPr>
            <p:spPr bwMode="gray">
              <a:xfrm>
                <a:off x="288" y="3066"/>
                <a:ext cx="532" cy="246"/>
              </a:xfrm>
              <a:prstGeom prst="rect">
                <a:avLst/>
              </a:prstGeom>
              <a:solidFill>
                <a:srgbClr val="9999FF"/>
              </a:solidFill>
              <a:ln w="3175">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47" name="Oval 22"/>
              <p:cNvSpPr>
                <a:spLocks noChangeArrowheads="1"/>
              </p:cNvSpPr>
              <p:nvPr/>
            </p:nvSpPr>
            <p:spPr bwMode="gray">
              <a:xfrm>
                <a:off x="288" y="2982"/>
                <a:ext cx="532" cy="158"/>
              </a:xfrm>
              <a:prstGeom prst="ellipse">
                <a:avLst/>
              </a:prstGeom>
              <a:solidFill>
                <a:srgbClr val="CCCC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48" name="Oval 23"/>
              <p:cNvSpPr>
                <a:spLocks noChangeArrowheads="1"/>
              </p:cNvSpPr>
              <p:nvPr/>
            </p:nvSpPr>
            <p:spPr bwMode="gray">
              <a:xfrm>
                <a:off x="288" y="3236"/>
                <a:ext cx="532" cy="158"/>
              </a:xfrm>
              <a:prstGeom prst="ellipse">
                <a:avLst/>
              </a:prstGeom>
              <a:solidFill>
                <a:srgbClr val="9999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sp>
          <p:nvSpPr>
            <p:cNvPr id="12" name="Rectangle 24"/>
            <p:cNvSpPr>
              <a:spLocks noChangeArrowheads="1"/>
            </p:cNvSpPr>
            <p:nvPr/>
          </p:nvSpPr>
          <p:spPr bwMode="auto">
            <a:xfrm>
              <a:off x="4056" y="2519"/>
              <a:ext cx="810" cy="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571500" indent="-228600" defTabSz="1428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defTabSz="142875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42875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42875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spcBef>
                  <a:spcPct val="0"/>
                </a:spcBef>
                <a:buClrTx/>
                <a:buFontTx/>
                <a:buNone/>
              </a:pPr>
              <a:r>
                <a:rPr lang="en-US" altLang="en-US" sz="1800" dirty="0"/>
                <a:t>Archived </a:t>
              </a:r>
            </a:p>
            <a:p>
              <a:pPr algn="ctr">
                <a:spcBef>
                  <a:spcPct val="0"/>
                </a:spcBef>
                <a:buClrTx/>
                <a:buFontTx/>
                <a:buNone/>
              </a:pPr>
              <a:r>
                <a:rPr lang="en-US" altLang="en-US" sz="1800" dirty="0"/>
                <a:t>Log files</a:t>
              </a:r>
            </a:p>
          </p:txBody>
        </p:sp>
        <p:sp>
          <p:nvSpPr>
            <p:cNvPr id="13" name="Rectangle 25"/>
            <p:cNvSpPr>
              <a:spLocks noChangeArrowheads="1"/>
            </p:cNvSpPr>
            <p:nvPr/>
          </p:nvSpPr>
          <p:spPr bwMode="blackWhite">
            <a:xfrm>
              <a:off x="1824" y="2136"/>
              <a:ext cx="2072" cy="1357"/>
            </a:xfrm>
            <a:prstGeom prst="rect">
              <a:avLst/>
            </a:prstGeom>
            <a:solidFill>
              <a:srgbClr val="FFCC33"/>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endParaRPr lang="en-US" altLang="en-US" sz="1800" dirty="0"/>
            </a:p>
          </p:txBody>
        </p:sp>
        <p:grpSp>
          <p:nvGrpSpPr>
            <p:cNvPr id="14" name="Group 26"/>
            <p:cNvGrpSpPr>
              <a:grpSpLocks/>
            </p:cNvGrpSpPr>
            <p:nvPr/>
          </p:nvGrpSpPr>
          <p:grpSpPr bwMode="auto">
            <a:xfrm>
              <a:off x="2629" y="2712"/>
              <a:ext cx="575" cy="412"/>
              <a:chOff x="1070" y="1910"/>
              <a:chExt cx="532" cy="412"/>
            </a:xfrm>
          </p:grpSpPr>
          <p:sp>
            <p:nvSpPr>
              <p:cNvPr id="43" name="Rectangle 27"/>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44" name="Oval 28"/>
              <p:cNvSpPr>
                <a:spLocks noChangeArrowheads="1"/>
              </p:cNvSpPr>
              <p:nvPr/>
            </p:nvSpPr>
            <p:spPr bwMode="ltGray">
              <a:xfrm>
                <a:off x="1070" y="1910"/>
                <a:ext cx="532" cy="15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45" name="Oval 29"/>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grpSp>
          <p:nvGrpSpPr>
            <p:cNvPr id="15" name="Group 30"/>
            <p:cNvGrpSpPr>
              <a:grpSpLocks/>
            </p:cNvGrpSpPr>
            <p:nvPr/>
          </p:nvGrpSpPr>
          <p:grpSpPr bwMode="auto">
            <a:xfrm>
              <a:off x="2629" y="2364"/>
              <a:ext cx="575" cy="412"/>
              <a:chOff x="1070" y="1910"/>
              <a:chExt cx="532" cy="412"/>
            </a:xfrm>
          </p:grpSpPr>
          <p:sp>
            <p:nvSpPr>
              <p:cNvPr id="40" name="Rectangle 31"/>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41" name="Oval 32"/>
              <p:cNvSpPr>
                <a:spLocks noChangeArrowheads="1"/>
              </p:cNvSpPr>
              <p:nvPr/>
            </p:nvSpPr>
            <p:spPr bwMode="ltGray">
              <a:xfrm>
                <a:off x="1070" y="1910"/>
                <a:ext cx="532" cy="15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42" name="Oval 33"/>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grpSp>
          <p:nvGrpSpPr>
            <p:cNvPr id="16" name="Group 34"/>
            <p:cNvGrpSpPr>
              <a:grpSpLocks/>
            </p:cNvGrpSpPr>
            <p:nvPr/>
          </p:nvGrpSpPr>
          <p:grpSpPr bwMode="auto">
            <a:xfrm>
              <a:off x="1920" y="3044"/>
              <a:ext cx="624" cy="412"/>
              <a:chOff x="1070" y="1910"/>
              <a:chExt cx="532" cy="412"/>
            </a:xfrm>
          </p:grpSpPr>
          <p:sp>
            <p:nvSpPr>
              <p:cNvPr id="37" name="Rectangle 35"/>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8" name="Oval 36"/>
              <p:cNvSpPr>
                <a:spLocks noChangeArrowheads="1"/>
              </p:cNvSpPr>
              <p:nvPr/>
            </p:nvSpPr>
            <p:spPr bwMode="ltGray">
              <a:xfrm>
                <a:off x="1070" y="1910"/>
                <a:ext cx="532" cy="15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9" name="Oval 37"/>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grpSp>
          <p:nvGrpSpPr>
            <p:cNvPr id="17" name="Group 38"/>
            <p:cNvGrpSpPr>
              <a:grpSpLocks/>
            </p:cNvGrpSpPr>
            <p:nvPr/>
          </p:nvGrpSpPr>
          <p:grpSpPr bwMode="auto">
            <a:xfrm>
              <a:off x="1920" y="2707"/>
              <a:ext cx="624" cy="412"/>
              <a:chOff x="1070" y="1910"/>
              <a:chExt cx="532" cy="412"/>
            </a:xfrm>
          </p:grpSpPr>
          <p:sp>
            <p:nvSpPr>
              <p:cNvPr id="34" name="Rectangle 39"/>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5" name="Oval 40"/>
              <p:cNvSpPr>
                <a:spLocks noChangeArrowheads="1"/>
              </p:cNvSpPr>
              <p:nvPr/>
            </p:nvSpPr>
            <p:spPr bwMode="ltGray">
              <a:xfrm>
                <a:off x="1070" y="1910"/>
                <a:ext cx="532" cy="15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6" name="Oval 41"/>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grpSp>
          <p:nvGrpSpPr>
            <p:cNvPr id="18" name="Group 42"/>
            <p:cNvGrpSpPr>
              <a:grpSpLocks/>
            </p:cNvGrpSpPr>
            <p:nvPr/>
          </p:nvGrpSpPr>
          <p:grpSpPr bwMode="auto">
            <a:xfrm>
              <a:off x="1921" y="2364"/>
              <a:ext cx="623" cy="412"/>
              <a:chOff x="1070" y="1910"/>
              <a:chExt cx="532" cy="412"/>
            </a:xfrm>
          </p:grpSpPr>
          <p:sp>
            <p:nvSpPr>
              <p:cNvPr id="31" name="Rectangle 43"/>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2" name="Oval 44"/>
              <p:cNvSpPr>
                <a:spLocks noChangeArrowheads="1"/>
              </p:cNvSpPr>
              <p:nvPr/>
            </p:nvSpPr>
            <p:spPr bwMode="ltGray">
              <a:xfrm>
                <a:off x="1070" y="1910"/>
                <a:ext cx="532" cy="15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3" name="Oval 45"/>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sp>
          <p:nvSpPr>
            <p:cNvPr id="19" name="Rectangle 46"/>
            <p:cNvSpPr>
              <a:spLocks noChangeArrowheads="1"/>
            </p:cNvSpPr>
            <p:nvPr/>
          </p:nvSpPr>
          <p:spPr bwMode="auto">
            <a:xfrm>
              <a:off x="2548" y="2493"/>
              <a:ext cx="737"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188" tIns="52388" rIns="103188" bIns="52388">
              <a:spAutoFit/>
            </a:bodyPr>
            <a:lstStyle>
              <a:lvl1pPr defTabSz="104140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61963" indent="-228600" defTabSz="104140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925513" indent="-228600" defTabSz="10414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04140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04140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70000"/>
                </a:lnSpc>
                <a:spcBef>
                  <a:spcPct val="50000"/>
                </a:spcBef>
                <a:buClrTx/>
                <a:buFontTx/>
                <a:buNone/>
              </a:pPr>
              <a:r>
                <a:rPr lang="en-US" altLang="en-US" sz="1800" dirty="0"/>
                <a:t>Control files</a:t>
              </a:r>
            </a:p>
          </p:txBody>
        </p:sp>
        <p:sp>
          <p:nvSpPr>
            <p:cNvPr id="20" name="Rectangle 47"/>
            <p:cNvSpPr>
              <a:spLocks noChangeArrowheads="1"/>
            </p:cNvSpPr>
            <p:nvPr/>
          </p:nvSpPr>
          <p:spPr bwMode="auto">
            <a:xfrm>
              <a:off x="1848" y="2517"/>
              <a:ext cx="768" cy="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188" tIns="52388" rIns="103188" bIns="52388">
              <a:spAutoFit/>
            </a:bodyPr>
            <a:lstStyle>
              <a:lvl1pPr defTabSz="104140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61963" indent="-228600" defTabSz="104140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925513" indent="-228600" defTabSz="10414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04140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04140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70000"/>
                </a:lnSpc>
                <a:spcBef>
                  <a:spcPct val="50000"/>
                </a:spcBef>
                <a:buClrTx/>
                <a:buFontTx/>
                <a:buNone/>
              </a:pPr>
              <a:r>
                <a:rPr lang="en-US" altLang="en-US" sz="1800" dirty="0"/>
                <a:t>Data</a:t>
              </a:r>
            </a:p>
            <a:p>
              <a:pPr algn="ctr">
                <a:lnSpc>
                  <a:spcPct val="70000"/>
                </a:lnSpc>
                <a:spcBef>
                  <a:spcPct val="50000"/>
                </a:spcBef>
                <a:buClrTx/>
                <a:buFontTx/>
                <a:buNone/>
              </a:pPr>
              <a:r>
                <a:rPr lang="en-US" altLang="en-US" sz="1800" dirty="0"/>
                <a:t>files </a:t>
              </a:r>
            </a:p>
          </p:txBody>
        </p:sp>
        <p:grpSp>
          <p:nvGrpSpPr>
            <p:cNvPr id="21" name="Group 48"/>
            <p:cNvGrpSpPr>
              <a:grpSpLocks/>
            </p:cNvGrpSpPr>
            <p:nvPr/>
          </p:nvGrpSpPr>
          <p:grpSpPr bwMode="auto">
            <a:xfrm>
              <a:off x="3276" y="2708"/>
              <a:ext cx="575" cy="412"/>
              <a:chOff x="1070" y="1910"/>
              <a:chExt cx="532" cy="412"/>
            </a:xfrm>
          </p:grpSpPr>
          <p:sp>
            <p:nvSpPr>
              <p:cNvPr id="28" name="Rectangle 49"/>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9" name="Oval 50"/>
              <p:cNvSpPr>
                <a:spLocks noChangeArrowheads="1"/>
              </p:cNvSpPr>
              <p:nvPr/>
            </p:nvSpPr>
            <p:spPr bwMode="ltGray">
              <a:xfrm>
                <a:off x="1070" y="1910"/>
                <a:ext cx="532" cy="15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0" name="Oval 51"/>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grpSp>
          <p:nvGrpSpPr>
            <p:cNvPr id="22" name="Group 52"/>
            <p:cNvGrpSpPr>
              <a:grpSpLocks/>
            </p:cNvGrpSpPr>
            <p:nvPr/>
          </p:nvGrpSpPr>
          <p:grpSpPr bwMode="auto">
            <a:xfrm>
              <a:off x="3276" y="2382"/>
              <a:ext cx="575" cy="412"/>
              <a:chOff x="1070" y="1910"/>
              <a:chExt cx="532" cy="412"/>
            </a:xfrm>
          </p:grpSpPr>
          <p:sp>
            <p:nvSpPr>
              <p:cNvPr id="25" name="Rectangle 53"/>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6" name="Oval 54"/>
              <p:cNvSpPr>
                <a:spLocks noChangeArrowheads="1"/>
              </p:cNvSpPr>
              <p:nvPr/>
            </p:nvSpPr>
            <p:spPr bwMode="ltGray">
              <a:xfrm>
                <a:off x="1070" y="1910"/>
                <a:ext cx="532" cy="15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7" name="Oval 55"/>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sp>
          <p:nvSpPr>
            <p:cNvPr id="23" name="Rectangle 56"/>
            <p:cNvSpPr>
              <a:spLocks noChangeArrowheads="1"/>
            </p:cNvSpPr>
            <p:nvPr/>
          </p:nvSpPr>
          <p:spPr bwMode="auto">
            <a:xfrm>
              <a:off x="3235" y="2376"/>
              <a:ext cx="657" cy="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188" tIns="52388" rIns="103188" bIns="52388">
              <a:spAutoFit/>
            </a:bodyPr>
            <a:lstStyle>
              <a:lvl1pPr defTabSz="104140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61963" indent="-228600" defTabSz="104140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925513" indent="-228600" defTabSz="10414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04140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04140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70000"/>
                </a:lnSpc>
                <a:spcBef>
                  <a:spcPct val="50000"/>
                </a:spcBef>
                <a:buClrTx/>
                <a:buFontTx/>
                <a:buNone/>
              </a:pPr>
              <a:r>
                <a:rPr lang="en-US" altLang="en-US" sz="1800" dirty="0"/>
                <a:t>Redo Log files</a:t>
              </a:r>
            </a:p>
          </p:txBody>
        </p:sp>
        <p:sp>
          <p:nvSpPr>
            <p:cNvPr id="24" name="Rectangle 57"/>
            <p:cNvSpPr>
              <a:spLocks noChangeArrowheads="1"/>
            </p:cNvSpPr>
            <p:nvPr/>
          </p:nvSpPr>
          <p:spPr bwMode="auto">
            <a:xfrm>
              <a:off x="2217" y="2136"/>
              <a:ext cx="1286"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571500" indent="-228600" defTabSz="1428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defTabSz="142875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42875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42875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spcBef>
                  <a:spcPct val="0"/>
                </a:spcBef>
                <a:buClrTx/>
                <a:buFontTx/>
                <a:buNone/>
              </a:pPr>
              <a:r>
                <a:rPr lang="en-US" altLang="en-US" sz="1800" dirty="0"/>
                <a:t>Oracle Database</a:t>
              </a:r>
            </a:p>
          </p:txBody>
        </p:sp>
      </p:grpSp>
    </p:spTree>
    <p:extLst>
      <p:ext uri="{BB962C8B-B14F-4D97-AF65-F5344CB8AC3E}">
        <p14:creationId xmlns:p14="http://schemas.microsoft.com/office/powerpoint/2010/main" val="763437980"/>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p:txBody>
          <a:bodyPr/>
          <a:lstStyle/>
          <a:p>
            <a:r>
              <a:rPr lang="en-US" altLang="en-US"/>
              <a:t>2. Oracle Database </a:t>
            </a:r>
            <a:endParaRPr lang="vi-VN"/>
          </a:p>
        </p:txBody>
      </p:sp>
      <p:sp>
        <p:nvSpPr>
          <p:cNvPr id="5" name="Rectangle 3"/>
          <p:cNvSpPr txBox="1">
            <a:spLocks noChangeArrowheads="1"/>
          </p:cNvSpPr>
          <p:nvPr/>
        </p:nvSpPr>
        <p:spPr>
          <a:xfrm>
            <a:off x="325191" y="1007476"/>
            <a:ext cx="11527744" cy="3266370"/>
          </a:xfrm>
          <a:prstGeom prst="rect">
            <a:avLst/>
          </a:prstGeom>
        </p:spPr>
        <p:txBody>
          <a:bodyPr/>
          <a:lstStyle>
            <a:lvl1pPr marL="228600" indent="-228600" algn="l" defTabSz="914400" rtl="0" eaLnBrk="1" latinLnBrk="0" hangingPunct="1">
              <a:lnSpc>
                <a:spcPct val="90000"/>
              </a:lnSpc>
              <a:spcBef>
                <a:spcPct val="30000"/>
              </a:spcBef>
              <a:buClr>
                <a:srgbClr val="FF0000"/>
              </a:buClr>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ct val="30000"/>
              </a:spcBef>
              <a:buClr>
                <a:srgbClr val="FF0000"/>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ct val="30000"/>
              </a:spcBef>
              <a:buClr>
                <a:srgbClr val="FF0000"/>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ct val="30000"/>
              </a:spcBef>
              <a:buClr>
                <a:srgbClr val="FF0000"/>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ct val="30000"/>
              </a:spcBef>
              <a:buClr>
                <a:srgbClr val="FF0000"/>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1" indent="0"/>
            <a:r>
              <a:rPr lang="en-US" altLang="en-US">
                <a:latin typeface="Times New Roman" panose="02020603050405020304" pitchFamily="18" charset="0"/>
                <a:cs typeface="Times New Roman" panose="02020603050405020304" pitchFamily="18" charset="0"/>
              </a:rPr>
              <a:t> Ngoài ra Oracle server còn có các loại file quan trọng khác:</a:t>
            </a:r>
          </a:p>
          <a:p>
            <a:pPr marL="914400" lvl="2" indent="-457200">
              <a:buFont typeface="Wingdings" panose="05000000000000000000" pitchFamily="2" charset="2"/>
              <a:buChar char="§"/>
            </a:pPr>
            <a:r>
              <a:rPr lang="en-US" altLang="en-US" sz="2400" b="1">
                <a:latin typeface="Times New Roman" panose="02020603050405020304" pitchFamily="18" charset="0"/>
                <a:cs typeface="Times New Roman" panose="02020603050405020304" pitchFamily="18" charset="0"/>
              </a:rPr>
              <a:t>Parameter file:</a:t>
            </a:r>
            <a:r>
              <a:rPr lang="en-US" altLang="en-US" sz="2400">
                <a:latin typeface="Times New Roman" panose="02020603050405020304" pitchFamily="18" charset="0"/>
                <a:cs typeface="Times New Roman" panose="02020603050405020304" pitchFamily="18" charset="0"/>
              </a:rPr>
              <a:t> xác định các đặc tính của Oracle instance, như là xác định kích thước của một số thành phần trong SGA, ...</a:t>
            </a:r>
          </a:p>
          <a:p>
            <a:pPr marL="914400" lvl="2" indent="-457200">
              <a:buFont typeface="Wingdings" panose="05000000000000000000" pitchFamily="2" charset="2"/>
              <a:buChar char="§"/>
            </a:pPr>
            <a:r>
              <a:rPr lang="en-US" altLang="en-US" sz="2400" b="1">
                <a:latin typeface="Times New Roman" panose="02020603050405020304" pitchFamily="18" charset="0"/>
                <a:cs typeface="Times New Roman" panose="02020603050405020304" pitchFamily="18" charset="0"/>
              </a:rPr>
              <a:t>Password file:</a:t>
            </a:r>
            <a:r>
              <a:rPr lang="en-US" altLang="en-US" sz="2400">
                <a:latin typeface="Times New Roman" panose="02020603050405020304" pitchFamily="18" charset="0"/>
                <a:cs typeface="Times New Roman" panose="02020603050405020304" pitchFamily="18" charset="0"/>
              </a:rPr>
              <a:t> xác thực người dùng có quyền để startup và shutdown Oracle instance</a:t>
            </a:r>
          </a:p>
          <a:p>
            <a:pPr marL="914400" lvl="2" indent="-457200">
              <a:buFont typeface="Wingdings" panose="05000000000000000000" pitchFamily="2" charset="2"/>
              <a:buChar char="§"/>
            </a:pPr>
            <a:r>
              <a:rPr lang="en-US" altLang="en-US" sz="2400" b="1">
                <a:latin typeface="Times New Roman" panose="02020603050405020304" pitchFamily="18" charset="0"/>
                <a:cs typeface="Times New Roman" panose="02020603050405020304" pitchFamily="18" charset="0"/>
              </a:rPr>
              <a:t>Archived Log files</a:t>
            </a:r>
            <a:r>
              <a:rPr lang="vi-VN" altLang="en-US" sz="2400" b="1">
                <a:latin typeface="Times New Roman" panose="02020603050405020304" pitchFamily="18" charset="0"/>
                <a:cs typeface="Times New Roman" panose="02020603050405020304" pitchFamily="18" charset="0"/>
              </a:rPr>
              <a:t>:</a:t>
            </a:r>
            <a:r>
              <a:rPr lang="vi-VN" sz="2400">
                <a:latin typeface="Times New Roman" panose="02020603050405020304" pitchFamily="18" charset="0"/>
                <a:cs typeface="Times New Roman" panose="02020603050405020304" pitchFamily="18" charset="0"/>
              </a:rPr>
              <a:t> là những bản copy của redo log files, có mục đích để khôi phục lại dữ liệu trong trường hợp xảy ra lỗi.</a:t>
            </a:r>
            <a:endParaRPr lang="en-US" altLang="en-US" sz="2400">
              <a:latin typeface="Times New Roman" panose="02020603050405020304" pitchFamily="18" charset="0"/>
              <a:cs typeface="Times New Roman" panose="02020603050405020304" pitchFamily="18" charset="0"/>
            </a:endParaRPr>
          </a:p>
          <a:p>
            <a:pPr marL="914400" lvl="2" indent="-457200">
              <a:buFont typeface="Wingdings" panose="05000000000000000000" pitchFamily="2" charset="2"/>
              <a:buChar char="§"/>
            </a:pPr>
            <a:endParaRPr lang="en-US" altLang="en-US" sz="2400" dirty="0">
              <a:latin typeface="Times New Roman" panose="02020603050405020304" pitchFamily="18" charset="0"/>
              <a:cs typeface="Times New Roman" panose="02020603050405020304" pitchFamily="18" charset="0"/>
            </a:endParaRPr>
          </a:p>
        </p:txBody>
      </p:sp>
      <p:grpSp>
        <p:nvGrpSpPr>
          <p:cNvPr id="6" name="Group 4"/>
          <p:cNvGrpSpPr>
            <a:grpSpLocks/>
          </p:cNvGrpSpPr>
          <p:nvPr/>
        </p:nvGrpSpPr>
        <p:grpSpPr bwMode="auto">
          <a:xfrm>
            <a:off x="4312616" y="4217512"/>
            <a:ext cx="6283325" cy="2154238"/>
            <a:chOff x="908" y="2136"/>
            <a:chExt cx="3958" cy="1357"/>
          </a:xfrm>
        </p:grpSpPr>
        <p:grpSp>
          <p:nvGrpSpPr>
            <p:cNvPr id="7" name="Group 5"/>
            <p:cNvGrpSpPr>
              <a:grpSpLocks/>
            </p:cNvGrpSpPr>
            <p:nvPr/>
          </p:nvGrpSpPr>
          <p:grpSpPr bwMode="auto">
            <a:xfrm>
              <a:off x="4077" y="2808"/>
              <a:ext cx="768" cy="528"/>
              <a:chOff x="288" y="2982"/>
              <a:chExt cx="532" cy="412"/>
            </a:xfrm>
          </p:grpSpPr>
          <p:sp>
            <p:nvSpPr>
              <p:cNvPr id="57" name="Rectangle 6"/>
              <p:cNvSpPr>
                <a:spLocks noChangeArrowheads="1"/>
              </p:cNvSpPr>
              <p:nvPr/>
            </p:nvSpPr>
            <p:spPr bwMode="gray">
              <a:xfrm>
                <a:off x="288" y="3066"/>
                <a:ext cx="532" cy="246"/>
              </a:xfrm>
              <a:prstGeom prst="rect">
                <a:avLst/>
              </a:prstGeom>
              <a:solidFill>
                <a:srgbClr val="9999FF"/>
              </a:solidFill>
              <a:ln w="3175">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58" name="Oval 7"/>
              <p:cNvSpPr>
                <a:spLocks noChangeArrowheads="1"/>
              </p:cNvSpPr>
              <p:nvPr/>
            </p:nvSpPr>
            <p:spPr bwMode="gray">
              <a:xfrm>
                <a:off x="288" y="2982"/>
                <a:ext cx="532" cy="158"/>
              </a:xfrm>
              <a:prstGeom prst="ellipse">
                <a:avLst/>
              </a:prstGeom>
              <a:solidFill>
                <a:srgbClr val="CCCC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59" name="Oval 8"/>
              <p:cNvSpPr>
                <a:spLocks noChangeArrowheads="1"/>
              </p:cNvSpPr>
              <p:nvPr/>
            </p:nvSpPr>
            <p:spPr bwMode="gray">
              <a:xfrm>
                <a:off x="288" y="3236"/>
                <a:ext cx="532" cy="158"/>
              </a:xfrm>
              <a:prstGeom prst="ellipse">
                <a:avLst/>
              </a:prstGeom>
              <a:solidFill>
                <a:srgbClr val="9999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grpSp>
          <p:nvGrpSpPr>
            <p:cNvPr id="8" name="Group 9"/>
            <p:cNvGrpSpPr>
              <a:grpSpLocks/>
            </p:cNvGrpSpPr>
            <p:nvPr/>
          </p:nvGrpSpPr>
          <p:grpSpPr bwMode="auto">
            <a:xfrm>
              <a:off x="920" y="2808"/>
              <a:ext cx="834" cy="565"/>
              <a:chOff x="687" y="3168"/>
              <a:chExt cx="834" cy="565"/>
            </a:xfrm>
          </p:grpSpPr>
          <p:grpSp>
            <p:nvGrpSpPr>
              <p:cNvPr id="52" name="Group 10"/>
              <p:cNvGrpSpPr>
                <a:grpSpLocks/>
              </p:cNvGrpSpPr>
              <p:nvPr/>
            </p:nvGrpSpPr>
            <p:grpSpPr bwMode="auto">
              <a:xfrm>
                <a:off x="720" y="3168"/>
                <a:ext cx="768" cy="528"/>
                <a:chOff x="288" y="2982"/>
                <a:chExt cx="532" cy="412"/>
              </a:xfrm>
            </p:grpSpPr>
            <p:sp>
              <p:nvSpPr>
                <p:cNvPr id="54" name="Rectangle 11"/>
                <p:cNvSpPr>
                  <a:spLocks noChangeArrowheads="1"/>
                </p:cNvSpPr>
                <p:nvPr/>
              </p:nvSpPr>
              <p:spPr bwMode="gray">
                <a:xfrm>
                  <a:off x="288" y="3066"/>
                  <a:ext cx="532" cy="246"/>
                </a:xfrm>
                <a:prstGeom prst="rect">
                  <a:avLst/>
                </a:prstGeom>
                <a:solidFill>
                  <a:srgbClr val="9999FF"/>
                </a:solidFill>
                <a:ln w="3175">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55" name="Oval 12"/>
                <p:cNvSpPr>
                  <a:spLocks noChangeArrowheads="1"/>
                </p:cNvSpPr>
                <p:nvPr/>
              </p:nvSpPr>
              <p:spPr bwMode="gray">
                <a:xfrm>
                  <a:off x="288" y="2982"/>
                  <a:ext cx="532" cy="158"/>
                </a:xfrm>
                <a:prstGeom prst="ellipse">
                  <a:avLst/>
                </a:prstGeom>
                <a:solidFill>
                  <a:srgbClr val="CCCC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56" name="Oval 13"/>
                <p:cNvSpPr>
                  <a:spLocks noChangeArrowheads="1"/>
                </p:cNvSpPr>
                <p:nvPr/>
              </p:nvSpPr>
              <p:spPr bwMode="gray">
                <a:xfrm>
                  <a:off x="288" y="3236"/>
                  <a:ext cx="532" cy="158"/>
                </a:xfrm>
                <a:prstGeom prst="ellipse">
                  <a:avLst/>
                </a:prstGeom>
                <a:solidFill>
                  <a:srgbClr val="9999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sp>
            <p:nvSpPr>
              <p:cNvPr id="53" name="Rectangle 14"/>
              <p:cNvSpPr>
                <a:spLocks noChangeArrowheads="1"/>
              </p:cNvSpPr>
              <p:nvPr/>
            </p:nvSpPr>
            <p:spPr bwMode="auto">
              <a:xfrm>
                <a:off x="687" y="3311"/>
                <a:ext cx="834" cy="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571500" indent="-228600" defTabSz="1428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defTabSz="142875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42875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42875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spcBef>
                    <a:spcPct val="0"/>
                  </a:spcBef>
                  <a:buClrTx/>
                  <a:buFontTx/>
                  <a:buNone/>
                </a:pPr>
                <a:r>
                  <a:rPr lang="en-US" altLang="en-US" sz="1800" dirty="0"/>
                  <a:t>Password</a:t>
                </a:r>
              </a:p>
              <a:p>
                <a:pPr algn="ctr">
                  <a:spcBef>
                    <a:spcPct val="0"/>
                  </a:spcBef>
                  <a:buClrTx/>
                  <a:buFontTx/>
                  <a:buNone/>
                </a:pPr>
                <a:r>
                  <a:rPr lang="en-US" altLang="en-US" sz="1800" dirty="0"/>
                  <a:t>file</a:t>
                </a:r>
              </a:p>
            </p:txBody>
          </p:sp>
        </p:grpSp>
        <p:grpSp>
          <p:nvGrpSpPr>
            <p:cNvPr id="9" name="Group 15"/>
            <p:cNvGrpSpPr>
              <a:grpSpLocks/>
            </p:cNvGrpSpPr>
            <p:nvPr/>
          </p:nvGrpSpPr>
          <p:grpSpPr bwMode="auto">
            <a:xfrm>
              <a:off x="953" y="2376"/>
              <a:ext cx="768" cy="528"/>
              <a:chOff x="288" y="2982"/>
              <a:chExt cx="532" cy="412"/>
            </a:xfrm>
          </p:grpSpPr>
          <p:sp>
            <p:nvSpPr>
              <p:cNvPr id="49" name="Rectangle 16"/>
              <p:cNvSpPr>
                <a:spLocks noChangeArrowheads="1"/>
              </p:cNvSpPr>
              <p:nvPr/>
            </p:nvSpPr>
            <p:spPr bwMode="gray">
              <a:xfrm>
                <a:off x="288" y="3066"/>
                <a:ext cx="532" cy="246"/>
              </a:xfrm>
              <a:prstGeom prst="rect">
                <a:avLst/>
              </a:prstGeom>
              <a:solidFill>
                <a:srgbClr val="9999FF"/>
              </a:solidFill>
              <a:ln w="3175">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50" name="Oval 17"/>
              <p:cNvSpPr>
                <a:spLocks noChangeArrowheads="1"/>
              </p:cNvSpPr>
              <p:nvPr/>
            </p:nvSpPr>
            <p:spPr bwMode="gray">
              <a:xfrm>
                <a:off x="288" y="2982"/>
                <a:ext cx="532" cy="158"/>
              </a:xfrm>
              <a:prstGeom prst="ellipse">
                <a:avLst/>
              </a:prstGeom>
              <a:solidFill>
                <a:srgbClr val="CCCC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51" name="Oval 18"/>
              <p:cNvSpPr>
                <a:spLocks noChangeArrowheads="1"/>
              </p:cNvSpPr>
              <p:nvPr/>
            </p:nvSpPr>
            <p:spPr bwMode="gray">
              <a:xfrm>
                <a:off x="288" y="3236"/>
                <a:ext cx="532" cy="158"/>
              </a:xfrm>
              <a:prstGeom prst="ellipse">
                <a:avLst/>
              </a:prstGeom>
              <a:solidFill>
                <a:srgbClr val="9999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sp>
          <p:nvSpPr>
            <p:cNvPr id="10" name="Rectangle 19"/>
            <p:cNvSpPr>
              <a:spLocks noChangeArrowheads="1"/>
            </p:cNvSpPr>
            <p:nvPr/>
          </p:nvSpPr>
          <p:spPr bwMode="auto">
            <a:xfrm>
              <a:off x="908" y="2519"/>
              <a:ext cx="858" cy="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571500" indent="-228600" defTabSz="1428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defTabSz="142875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42875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42875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spcBef>
                  <a:spcPct val="0"/>
                </a:spcBef>
                <a:buClrTx/>
                <a:buFontTx/>
                <a:buNone/>
              </a:pPr>
              <a:r>
                <a:rPr lang="en-US" altLang="en-US" sz="1800" dirty="0"/>
                <a:t>Parameter</a:t>
              </a:r>
            </a:p>
            <a:p>
              <a:pPr algn="ctr">
                <a:spcBef>
                  <a:spcPct val="0"/>
                </a:spcBef>
                <a:buClrTx/>
                <a:buFontTx/>
                <a:buNone/>
              </a:pPr>
              <a:r>
                <a:rPr lang="en-US" altLang="en-US" sz="1800" dirty="0"/>
                <a:t>file</a:t>
              </a:r>
            </a:p>
          </p:txBody>
        </p:sp>
        <p:grpSp>
          <p:nvGrpSpPr>
            <p:cNvPr id="11" name="Group 20"/>
            <p:cNvGrpSpPr>
              <a:grpSpLocks/>
            </p:cNvGrpSpPr>
            <p:nvPr/>
          </p:nvGrpSpPr>
          <p:grpSpPr bwMode="auto">
            <a:xfrm>
              <a:off x="4077" y="2376"/>
              <a:ext cx="768" cy="528"/>
              <a:chOff x="288" y="2982"/>
              <a:chExt cx="532" cy="412"/>
            </a:xfrm>
          </p:grpSpPr>
          <p:sp>
            <p:nvSpPr>
              <p:cNvPr id="46" name="Rectangle 21"/>
              <p:cNvSpPr>
                <a:spLocks noChangeArrowheads="1"/>
              </p:cNvSpPr>
              <p:nvPr/>
            </p:nvSpPr>
            <p:spPr bwMode="gray">
              <a:xfrm>
                <a:off x="288" y="3066"/>
                <a:ext cx="532" cy="246"/>
              </a:xfrm>
              <a:prstGeom prst="rect">
                <a:avLst/>
              </a:prstGeom>
              <a:solidFill>
                <a:srgbClr val="9999FF"/>
              </a:solidFill>
              <a:ln w="3175">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47" name="Oval 22"/>
              <p:cNvSpPr>
                <a:spLocks noChangeArrowheads="1"/>
              </p:cNvSpPr>
              <p:nvPr/>
            </p:nvSpPr>
            <p:spPr bwMode="gray">
              <a:xfrm>
                <a:off x="288" y="2982"/>
                <a:ext cx="532" cy="158"/>
              </a:xfrm>
              <a:prstGeom prst="ellipse">
                <a:avLst/>
              </a:prstGeom>
              <a:solidFill>
                <a:srgbClr val="CCCC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48" name="Oval 23"/>
              <p:cNvSpPr>
                <a:spLocks noChangeArrowheads="1"/>
              </p:cNvSpPr>
              <p:nvPr/>
            </p:nvSpPr>
            <p:spPr bwMode="gray">
              <a:xfrm>
                <a:off x="288" y="3236"/>
                <a:ext cx="532" cy="158"/>
              </a:xfrm>
              <a:prstGeom prst="ellipse">
                <a:avLst/>
              </a:prstGeom>
              <a:solidFill>
                <a:srgbClr val="9999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sp>
          <p:nvSpPr>
            <p:cNvPr id="12" name="Rectangle 24"/>
            <p:cNvSpPr>
              <a:spLocks noChangeArrowheads="1"/>
            </p:cNvSpPr>
            <p:nvPr/>
          </p:nvSpPr>
          <p:spPr bwMode="auto">
            <a:xfrm>
              <a:off x="4056" y="2519"/>
              <a:ext cx="810" cy="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571500" indent="-228600" defTabSz="1428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defTabSz="142875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42875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42875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spcBef>
                  <a:spcPct val="0"/>
                </a:spcBef>
                <a:buClrTx/>
                <a:buFontTx/>
                <a:buNone/>
              </a:pPr>
              <a:r>
                <a:rPr lang="en-US" altLang="en-US" sz="1800" dirty="0"/>
                <a:t>Archived </a:t>
              </a:r>
            </a:p>
            <a:p>
              <a:pPr algn="ctr">
                <a:spcBef>
                  <a:spcPct val="0"/>
                </a:spcBef>
                <a:buClrTx/>
                <a:buFontTx/>
                <a:buNone/>
              </a:pPr>
              <a:r>
                <a:rPr lang="en-US" altLang="en-US" sz="1800" dirty="0"/>
                <a:t>Log files</a:t>
              </a:r>
            </a:p>
          </p:txBody>
        </p:sp>
        <p:sp>
          <p:nvSpPr>
            <p:cNvPr id="13" name="Rectangle 25"/>
            <p:cNvSpPr>
              <a:spLocks noChangeArrowheads="1"/>
            </p:cNvSpPr>
            <p:nvPr/>
          </p:nvSpPr>
          <p:spPr bwMode="blackWhite">
            <a:xfrm>
              <a:off x="1824" y="2136"/>
              <a:ext cx="2072" cy="1357"/>
            </a:xfrm>
            <a:prstGeom prst="rect">
              <a:avLst/>
            </a:prstGeom>
            <a:solidFill>
              <a:srgbClr val="FFCC33"/>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endParaRPr lang="en-US" altLang="en-US" sz="1800" dirty="0"/>
            </a:p>
          </p:txBody>
        </p:sp>
        <p:grpSp>
          <p:nvGrpSpPr>
            <p:cNvPr id="14" name="Group 26"/>
            <p:cNvGrpSpPr>
              <a:grpSpLocks/>
            </p:cNvGrpSpPr>
            <p:nvPr/>
          </p:nvGrpSpPr>
          <p:grpSpPr bwMode="auto">
            <a:xfrm>
              <a:off x="2629" y="2712"/>
              <a:ext cx="575" cy="412"/>
              <a:chOff x="1070" y="1910"/>
              <a:chExt cx="532" cy="412"/>
            </a:xfrm>
          </p:grpSpPr>
          <p:sp>
            <p:nvSpPr>
              <p:cNvPr id="43" name="Rectangle 27"/>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44" name="Oval 28"/>
              <p:cNvSpPr>
                <a:spLocks noChangeArrowheads="1"/>
              </p:cNvSpPr>
              <p:nvPr/>
            </p:nvSpPr>
            <p:spPr bwMode="ltGray">
              <a:xfrm>
                <a:off x="1070" y="1910"/>
                <a:ext cx="532" cy="15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45" name="Oval 29"/>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grpSp>
          <p:nvGrpSpPr>
            <p:cNvPr id="15" name="Group 30"/>
            <p:cNvGrpSpPr>
              <a:grpSpLocks/>
            </p:cNvGrpSpPr>
            <p:nvPr/>
          </p:nvGrpSpPr>
          <p:grpSpPr bwMode="auto">
            <a:xfrm>
              <a:off x="2629" y="2364"/>
              <a:ext cx="575" cy="412"/>
              <a:chOff x="1070" y="1910"/>
              <a:chExt cx="532" cy="412"/>
            </a:xfrm>
          </p:grpSpPr>
          <p:sp>
            <p:nvSpPr>
              <p:cNvPr id="40" name="Rectangle 31"/>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41" name="Oval 32"/>
              <p:cNvSpPr>
                <a:spLocks noChangeArrowheads="1"/>
              </p:cNvSpPr>
              <p:nvPr/>
            </p:nvSpPr>
            <p:spPr bwMode="ltGray">
              <a:xfrm>
                <a:off x="1070" y="1910"/>
                <a:ext cx="532" cy="15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42" name="Oval 33"/>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grpSp>
          <p:nvGrpSpPr>
            <p:cNvPr id="16" name="Group 34"/>
            <p:cNvGrpSpPr>
              <a:grpSpLocks/>
            </p:cNvGrpSpPr>
            <p:nvPr/>
          </p:nvGrpSpPr>
          <p:grpSpPr bwMode="auto">
            <a:xfrm>
              <a:off x="1920" y="3044"/>
              <a:ext cx="624" cy="412"/>
              <a:chOff x="1070" y="1910"/>
              <a:chExt cx="532" cy="412"/>
            </a:xfrm>
          </p:grpSpPr>
          <p:sp>
            <p:nvSpPr>
              <p:cNvPr id="37" name="Rectangle 35"/>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8" name="Oval 36"/>
              <p:cNvSpPr>
                <a:spLocks noChangeArrowheads="1"/>
              </p:cNvSpPr>
              <p:nvPr/>
            </p:nvSpPr>
            <p:spPr bwMode="ltGray">
              <a:xfrm>
                <a:off x="1070" y="1910"/>
                <a:ext cx="532" cy="15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9" name="Oval 37"/>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grpSp>
          <p:nvGrpSpPr>
            <p:cNvPr id="17" name="Group 38"/>
            <p:cNvGrpSpPr>
              <a:grpSpLocks/>
            </p:cNvGrpSpPr>
            <p:nvPr/>
          </p:nvGrpSpPr>
          <p:grpSpPr bwMode="auto">
            <a:xfrm>
              <a:off x="1920" y="2707"/>
              <a:ext cx="624" cy="412"/>
              <a:chOff x="1070" y="1910"/>
              <a:chExt cx="532" cy="412"/>
            </a:xfrm>
          </p:grpSpPr>
          <p:sp>
            <p:nvSpPr>
              <p:cNvPr id="34" name="Rectangle 39"/>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5" name="Oval 40"/>
              <p:cNvSpPr>
                <a:spLocks noChangeArrowheads="1"/>
              </p:cNvSpPr>
              <p:nvPr/>
            </p:nvSpPr>
            <p:spPr bwMode="ltGray">
              <a:xfrm>
                <a:off x="1070" y="1910"/>
                <a:ext cx="532" cy="15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6" name="Oval 41"/>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grpSp>
          <p:nvGrpSpPr>
            <p:cNvPr id="18" name="Group 42"/>
            <p:cNvGrpSpPr>
              <a:grpSpLocks/>
            </p:cNvGrpSpPr>
            <p:nvPr/>
          </p:nvGrpSpPr>
          <p:grpSpPr bwMode="auto">
            <a:xfrm>
              <a:off x="1921" y="2364"/>
              <a:ext cx="623" cy="412"/>
              <a:chOff x="1070" y="1910"/>
              <a:chExt cx="532" cy="412"/>
            </a:xfrm>
          </p:grpSpPr>
          <p:sp>
            <p:nvSpPr>
              <p:cNvPr id="31" name="Rectangle 43"/>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2" name="Oval 44"/>
              <p:cNvSpPr>
                <a:spLocks noChangeArrowheads="1"/>
              </p:cNvSpPr>
              <p:nvPr/>
            </p:nvSpPr>
            <p:spPr bwMode="ltGray">
              <a:xfrm>
                <a:off x="1070" y="1910"/>
                <a:ext cx="532" cy="15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3" name="Oval 45"/>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sp>
          <p:nvSpPr>
            <p:cNvPr id="19" name="Rectangle 46"/>
            <p:cNvSpPr>
              <a:spLocks noChangeArrowheads="1"/>
            </p:cNvSpPr>
            <p:nvPr/>
          </p:nvSpPr>
          <p:spPr bwMode="auto">
            <a:xfrm>
              <a:off x="2548" y="2493"/>
              <a:ext cx="737"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188" tIns="52388" rIns="103188" bIns="52388">
              <a:spAutoFit/>
            </a:bodyPr>
            <a:lstStyle>
              <a:lvl1pPr defTabSz="104140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61963" indent="-228600" defTabSz="104140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925513" indent="-228600" defTabSz="10414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04140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04140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70000"/>
                </a:lnSpc>
                <a:spcBef>
                  <a:spcPct val="50000"/>
                </a:spcBef>
                <a:buClrTx/>
                <a:buFontTx/>
                <a:buNone/>
              </a:pPr>
              <a:r>
                <a:rPr lang="en-US" altLang="en-US" sz="1800" dirty="0"/>
                <a:t>Control files</a:t>
              </a:r>
            </a:p>
          </p:txBody>
        </p:sp>
        <p:sp>
          <p:nvSpPr>
            <p:cNvPr id="20" name="Rectangle 47"/>
            <p:cNvSpPr>
              <a:spLocks noChangeArrowheads="1"/>
            </p:cNvSpPr>
            <p:nvPr/>
          </p:nvSpPr>
          <p:spPr bwMode="auto">
            <a:xfrm>
              <a:off x="1848" y="2517"/>
              <a:ext cx="768" cy="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188" tIns="52388" rIns="103188" bIns="52388">
              <a:spAutoFit/>
            </a:bodyPr>
            <a:lstStyle>
              <a:lvl1pPr defTabSz="104140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61963" indent="-228600" defTabSz="104140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925513" indent="-228600" defTabSz="10414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04140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04140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70000"/>
                </a:lnSpc>
                <a:spcBef>
                  <a:spcPct val="50000"/>
                </a:spcBef>
                <a:buClrTx/>
                <a:buFontTx/>
                <a:buNone/>
              </a:pPr>
              <a:r>
                <a:rPr lang="en-US" altLang="en-US" sz="1800" dirty="0"/>
                <a:t>Data</a:t>
              </a:r>
            </a:p>
            <a:p>
              <a:pPr algn="ctr">
                <a:lnSpc>
                  <a:spcPct val="70000"/>
                </a:lnSpc>
                <a:spcBef>
                  <a:spcPct val="50000"/>
                </a:spcBef>
                <a:buClrTx/>
                <a:buFontTx/>
                <a:buNone/>
              </a:pPr>
              <a:r>
                <a:rPr lang="en-US" altLang="en-US" sz="1800" dirty="0"/>
                <a:t>files </a:t>
              </a:r>
            </a:p>
          </p:txBody>
        </p:sp>
        <p:grpSp>
          <p:nvGrpSpPr>
            <p:cNvPr id="21" name="Group 48"/>
            <p:cNvGrpSpPr>
              <a:grpSpLocks/>
            </p:cNvGrpSpPr>
            <p:nvPr/>
          </p:nvGrpSpPr>
          <p:grpSpPr bwMode="auto">
            <a:xfrm>
              <a:off x="3276" y="2708"/>
              <a:ext cx="575" cy="412"/>
              <a:chOff x="1070" y="1910"/>
              <a:chExt cx="532" cy="412"/>
            </a:xfrm>
          </p:grpSpPr>
          <p:sp>
            <p:nvSpPr>
              <p:cNvPr id="28" name="Rectangle 49"/>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9" name="Oval 50"/>
              <p:cNvSpPr>
                <a:spLocks noChangeArrowheads="1"/>
              </p:cNvSpPr>
              <p:nvPr/>
            </p:nvSpPr>
            <p:spPr bwMode="ltGray">
              <a:xfrm>
                <a:off x="1070" y="1910"/>
                <a:ext cx="532" cy="15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30" name="Oval 51"/>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grpSp>
          <p:nvGrpSpPr>
            <p:cNvPr id="22" name="Group 52"/>
            <p:cNvGrpSpPr>
              <a:grpSpLocks/>
            </p:cNvGrpSpPr>
            <p:nvPr/>
          </p:nvGrpSpPr>
          <p:grpSpPr bwMode="auto">
            <a:xfrm>
              <a:off x="3276" y="2382"/>
              <a:ext cx="575" cy="412"/>
              <a:chOff x="1070" y="1910"/>
              <a:chExt cx="532" cy="412"/>
            </a:xfrm>
          </p:grpSpPr>
          <p:sp>
            <p:nvSpPr>
              <p:cNvPr id="25" name="Rectangle 53"/>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6" name="Oval 54"/>
              <p:cNvSpPr>
                <a:spLocks noChangeArrowheads="1"/>
              </p:cNvSpPr>
              <p:nvPr/>
            </p:nvSpPr>
            <p:spPr bwMode="ltGray">
              <a:xfrm>
                <a:off x="1070" y="1910"/>
                <a:ext cx="532" cy="15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sp>
            <p:nvSpPr>
              <p:cNvPr id="27" name="Oval 55"/>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eaLnBrk="1" hangingPunct="1"/>
                <a:endParaRPr lang="vi-VN"/>
              </a:p>
            </p:txBody>
          </p:sp>
        </p:grpSp>
        <p:sp>
          <p:nvSpPr>
            <p:cNvPr id="23" name="Rectangle 56"/>
            <p:cNvSpPr>
              <a:spLocks noChangeArrowheads="1"/>
            </p:cNvSpPr>
            <p:nvPr/>
          </p:nvSpPr>
          <p:spPr bwMode="auto">
            <a:xfrm>
              <a:off x="3235" y="2376"/>
              <a:ext cx="657" cy="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188" tIns="52388" rIns="103188" bIns="52388">
              <a:spAutoFit/>
            </a:bodyPr>
            <a:lstStyle>
              <a:lvl1pPr defTabSz="104140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61963" indent="-228600" defTabSz="104140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925513" indent="-228600" defTabSz="10414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04140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04140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70000"/>
                </a:lnSpc>
                <a:spcBef>
                  <a:spcPct val="50000"/>
                </a:spcBef>
                <a:buClrTx/>
                <a:buFontTx/>
                <a:buNone/>
              </a:pPr>
              <a:r>
                <a:rPr lang="en-US" altLang="en-US" sz="1800" dirty="0"/>
                <a:t>Redo Log files</a:t>
              </a:r>
            </a:p>
          </p:txBody>
        </p:sp>
        <p:sp>
          <p:nvSpPr>
            <p:cNvPr id="24" name="Rectangle 57"/>
            <p:cNvSpPr>
              <a:spLocks noChangeArrowheads="1"/>
            </p:cNvSpPr>
            <p:nvPr/>
          </p:nvSpPr>
          <p:spPr bwMode="auto">
            <a:xfrm>
              <a:off x="2217" y="2136"/>
              <a:ext cx="1286"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571500" indent="-228600" defTabSz="1428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defTabSz="142875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42875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42875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42875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spcBef>
                  <a:spcPct val="0"/>
                </a:spcBef>
                <a:buClrTx/>
                <a:buFontTx/>
                <a:buNone/>
              </a:pPr>
              <a:r>
                <a:rPr lang="en-US" altLang="en-US" sz="1800" dirty="0"/>
                <a:t>Oracle Database</a:t>
              </a:r>
            </a:p>
          </p:txBody>
        </p:sp>
      </p:grpSp>
      <p:pic>
        <p:nvPicPr>
          <p:cNvPr id="2" name="Picture 1"/>
          <p:cNvPicPr>
            <a:picLocks noChangeAspect="1"/>
          </p:cNvPicPr>
          <p:nvPr/>
        </p:nvPicPr>
        <p:blipFill>
          <a:blip r:embed="rId2"/>
          <a:stretch>
            <a:fillRect/>
          </a:stretch>
        </p:blipFill>
        <p:spPr>
          <a:xfrm>
            <a:off x="3654959" y="3832741"/>
            <a:ext cx="2019112" cy="2923779"/>
          </a:xfrm>
          <a:prstGeom prst="rect">
            <a:avLst/>
          </a:prstGeom>
        </p:spPr>
      </p:pic>
      <p:pic>
        <p:nvPicPr>
          <p:cNvPr id="4" name="Picture 3"/>
          <p:cNvPicPr>
            <a:picLocks noChangeAspect="1"/>
          </p:cNvPicPr>
          <p:nvPr/>
        </p:nvPicPr>
        <p:blipFill>
          <a:blip r:embed="rId3"/>
          <a:stretch>
            <a:fillRect/>
          </a:stretch>
        </p:blipFill>
        <p:spPr>
          <a:xfrm>
            <a:off x="9080845" y="4130834"/>
            <a:ext cx="2414251" cy="2503805"/>
          </a:xfrm>
          <a:prstGeom prst="rect">
            <a:avLst/>
          </a:prstGeom>
        </p:spPr>
      </p:pic>
    </p:spTree>
    <p:extLst>
      <p:ext uri="{BB962C8B-B14F-4D97-AF65-F5344CB8AC3E}">
        <p14:creationId xmlns:p14="http://schemas.microsoft.com/office/powerpoint/2010/main" val="2020519415"/>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Data files</a:t>
            </a:r>
          </a:p>
        </p:txBody>
      </p:sp>
      <p:sp>
        <p:nvSpPr>
          <p:cNvPr id="3" name="Rectangle 2"/>
          <p:cNvSpPr/>
          <p:nvPr/>
        </p:nvSpPr>
        <p:spPr>
          <a:xfrm>
            <a:off x="647700" y="925116"/>
            <a:ext cx="11239499" cy="3416320"/>
          </a:xfrm>
          <a:prstGeom prst="rect">
            <a:avLst/>
          </a:prstGeom>
        </p:spPr>
        <p:txBody>
          <a:bodyPr wrap="square">
            <a:spAutoFit/>
          </a:bodyPr>
          <a:lstStyle/>
          <a:p>
            <a:pPr algn="just"/>
            <a:r>
              <a:rPr lang="en-US" sz="2400">
                <a:solidFill>
                  <a:srgbClr val="333333"/>
                </a:solidFill>
                <a:latin typeface="Times New Roman" panose="02020603050405020304" pitchFamily="18" charset="0"/>
                <a:cs typeface="Times New Roman" panose="02020603050405020304" pitchFamily="18" charset="0"/>
              </a:rPr>
              <a:t>D</a:t>
            </a:r>
            <a:r>
              <a:rPr lang="vi-VN" sz="2400">
                <a:solidFill>
                  <a:srgbClr val="333333"/>
                </a:solidFill>
                <a:latin typeface="Times New Roman" panose="02020603050405020304" pitchFamily="18" charset="0"/>
                <a:cs typeface="Times New Roman" panose="02020603050405020304" pitchFamily="18" charset="0"/>
              </a:rPr>
              <a:t>ata files là các tập tin chứa dữ liệu của database, bao gồm cả dữ liệu của user hay ứng dụng, data dictionary của Oracle database. </a:t>
            </a:r>
          </a:p>
          <a:p>
            <a:pPr algn="just"/>
            <a:r>
              <a:rPr lang="vi-VN" sz="2400">
                <a:solidFill>
                  <a:srgbClr val="333333"/>
                </a:solidFill>
                <a:latin typeface="Times New Roman" panose="02020603050405020304" pitchFamily="18" charset="0"/>
                <a:cs typeface="Times New Roman" panose="02020603050405020304" pitchFamily="18" charset="0"/>
              </a:rPr>
              <a:t>Mỗi data file </a:t>
            </a:r>
            <a:r>
              <a:rPr lang="en-US" sz="2400">
                <a:solidFill>
                  <a:srgbClr val="333333"/>
                </a:solidFill>
                <a:latin typeface="Times New Roman" panose="02020603050405020304" pitchFamily="18" charset="0"/>
                <a:cs typeface="Times New Roman" panose="02020603050405020304" pitchFamily="18" charset="0"/>
              </a:rPr>
              <a:t>c</a:t>
            </a:r>
            <a:r>
              <a:rPr lang="vi-VN" sz="2400">
                <a:solidFill>
                  <a:srgbClr val="333333"/>
                </a:solidFill>
                <a:latin typeface="Times New Roman" panose="02020603050405020304" pitchFamily="18" charset="0"/>
                <a:cs typeface="Times New Roman" panose="02020603050405020304" pitchFamily="18" charset="0"/>
              </a:rPr>
              <a:t>ó thể tự tăng kích thước (AUTOEXTEND) và tối đa đến 1 giới hạn (MAXSIZE) nếu ta cấu hình khi tạo. </a:t>
            </a:r>
          </a:p>
          <a:p>
            <a:pPr algn="just"/>
            <a:r>
              <a:rPr lang="vi-VN" sz="2400">
                <a:solidFill>
                  <a:srgbClr val="333333"/>
                </a:solidFill>
                <a:latin typeface="Times New Roman" panose="02020603050405020304" pitchFamily="18" charset="0"/>
                <a:cs typeface="Times New Roman" panose="02020603050405020304" pitchFamily="18" charset="0"/>
              </a:rPr>
              <a:t>Data file có thể là:</a:t>
            </a:r>
          </a:p>
          <a:p>
            <a:pPr>
              <a:buFont typeface="Arial" panose="020B0604020202020204" pitchFamily="34" charset="0"/>
              <a:buChar char="•"/>
            </a:pPr>
            <a:r>
              <a:rPr lang="vi-VN" sz="2400" b="1">
                <a:solidFill>
                  <a:srgbClr val="333333"/>
                </a:solidFill>
                <a:latin typeface="Times New Roman" panose="02020603050405020304" pitchFamily="18" charset="0"/>
                <a:cs typeface="Times New Roman" panose="02020603050405020304" pitchFamily="18" charset="0"/>
              </a:rPr>
              <a:t>Datafile</a:t>
            </a:r>
            <a:r>
              <a:rPr lang="vi-VN" sz="2400">
                <a:solidFill>
                  <a:srgbClr val="333333"/>
                </a:solidFill>
                <a:latin typeface="Times New Roman" panose="02020603050405020304" pitchFamily="18" charset="0"/>
                <a:cs typeface="Times New Roman" panose="02020603050405020304" pitchFamily="18" charset="0"/>
              </a:rPr>
              <a:t>: các tập tin chứa dữ liệu</a:t>
            </a:r>
          </a:p>
          <a:p>
            <a:pPr>
              <a:buFont typeface="Arial" panose="020B0604020202020204" pitchFamily="34" charset="0"/>
              <a:buChar char="•"/>
            </a:pPr>
            <a:r>
              <a:rPr lang="vi-VN" sz="2400" b="1">
                <a:solidFill>
                  <a:srgbClr val="333333"/>
                </a:solidFill>
                <a:latin typeface="Times New Roman" panose="02020603050405020304" pitchFamily="18" charset="0"/>
                <a:cs typeface="Times New Roman" panose="02020603050405020304" pitchFamily="18" charset="0"/>
              </a:rPr>
              <a:t>Tempfile</a:t>
            </a:r>
            <a:r>
              <a:rPr lang="vi-VN" sz="2400">
                <a:solidFill>
                  <a:srgbClr val="333333"/>
                </a:solidFill>
                <a:latin typeface="Times New Roman" panose="02020603050405020304" pitchFamily="18" charset="0"/>
                <a:cs typeface="Times New Roman" panose="02020603050405020304" pitchFamily="18" charset="0"/>
              </a:rPr>
              <a:t>: các tập tin chứa dữ liệu tạm thời phục vụ cho hoạt động của database</a:t>
            </a:r>
          </a:p>
          <a:p>
            <a:pPr>
              <a:buFont typeface="Arial" panose="020B0604020202020204" pitchFamily="34" charset="0"/>
              <a:buChar char="•"/>
            </a:pPr>
            <a:r>
              <a:rPr lang="vi-VN" sz="2400" b="1">
                <a:solidFill>
                  <a:srgbClr val="333333"/>
                </a:solidFill>
                <a:latin typeface="Times New Roman" panose="02020603050405020304" pitchFamily="18" charset="0"/>
                <a:cs typeface="Times New Roman" panose="02020603050405020304" pitchFamily="18" charset="0"/>
              </a:rPr>
              <a:t>Undo datafile</a:t>
            </a:r>
            <a:r>
              <a:rPr lang="vi-VN" sz="2400">
                <a:solidFill>
                  <a:srgbClr val="333333"/>
                </a:solidFill>
                <a:latin typeface="Times New Roman" panose="02020603050405020304" pitchFamily="18" charset="0"/>
                <a:cs typeface="Times New Roman" panose="02020603050405020304" pitchFamily="18" charset="0"/>
              </a:rPr>
              <a:t>: các tập tin chứa dữ liệu undo phục vụ cho hoạt động của database</a:t>
            </a:r>
          </a:p>
          <a:p>
            <a:pPr algn="just"/>
            <a:r>
              <a:rPr lang="vi-VN" sz="2400">
                <a:solidFill>
                  <a:srgbClr val="333333"/>
                </a:solidFill>
                <a:latin typeface="Times New Roman" panose="02020603050405020304" pitchFamily="18" charset="0"/>
                <a:cs typeface="Times New Roman" panose="02020603050405020304" pitchFamily="18" charset="0"/>
              </a:rPr>
              <a:t> Các tập tin này hay có đuôi là </a:t>
            </a:r>
            <a:r>
              <a:rPr lang="vi-VN" sz="2400" b="1">
                <a:solidFill>
                  <a:srgbClr val="333333"/>
                </a:solidFill>
                <a:latin typeface="Times New Roman" panose="02020603050405020304" pitchFamily="18" charset="0"/>
                <a:cs typeface="Times New Roman" panose="02020603050405020304" pitchFamily="18" charset="0"/>
              </a:rPr>
              <a:t>.dbf</a:t>
            </a:r>
            <a:endParaRPr lang="vi-VN" sz="2400" b="0" i="0">
              <a:solidFill>
                <a:srgbClr val="333333"/>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7575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Control files</a:t>
            </a:r>
          </a:p>
        </p:txBody>
      </p:sp>
      <p:sp>
        <p:nvSpPr>
          <p:cNvPr id="3" name="Rectangle 2"/>
          <p:cNvSpPr/>
          <p:nvPr/>
        </p:nvSpPr>
        <p:spPr>
          <a:xfrm>
            <a:off x="469313" y="1067991"/>
            <a:ext cx="11239499" cy="2677656"/>
          </a:xfrm>
          <a:prstGeom prst="rect">
            <a:avLst/>
          </a:prstGeom>
        </p:spPr>
        <p:txBody>
          <a:bodyPr wrap="square">
            <a:spAutoFit/>
          </a:bodyPr>
          <a:lstStyle/>
          <a:p>
            <a:pPr marL="342900" indent="-342900">
              <a:buFont typeface="Arial" panose="020B0604020202020204" pitchFamily="34" charset="0"/>
              <a:buChar char="•"/>
            </a:pPr>
            <a:r>
              <a:rPr lang="vi-VN" sz="2400">
                <a:latin typeface="Times New Roman" panose="02020603050405020304" pitchFamily="18" charset="0"/>
                <a:cs typeface="Times New Roman" panose="02020603050405020304" pitchFamily="18" charset="0"/>
              </a:rPr>
              <a:t>Đây là tập tin hết sức quan trọng với database, nếu không có nó sẽ không open được database. Tập tin này chứa </a:t>
            </a:r>
            <a:r>
              <a:rPr lang="en-US" sz="2400">
                <a:latin typeface="Times New Roman" panose="02020603050405020304" pitchFamily="18" charset="0"/>
                <a:cs typeface="Times New Roman" panose="02020603050405020304" pitchFamily="18" charset="0"/>
              </a:rPr>
              <a:t>thông tin mô tả </a:t>
            </a:r>
            <a:r>
              <a:rPr lang="vi-VN" sz="2400">
                <a:latin typeface="Times New Roman" panose="02020603050405020304" pitchFamily="18" charset="0"/>
                <a:cs typeface="Times New Roman" panose="02020603050405020304" pitchFamily="18" charset="0"/>
              </a:rPr>
              <a:t>về database, như tên database, vị trí các data files, redo log files, thông tin về backup,…</a:t>
            </a:r>
          </a:p>
          <a:p>
            <a:pPr marL="342900" indent="-342900">
              <a:buFont typeface="Arial" panose="020B0604020202020204" pitchFamily="34" charset="0"/>
              <a:buChar char="•"/>
            </a:pPr>
            <a:r>
              <a:rPr lang="vi-VN" sz="2400">
                <a:latin typeface="Times New Roman" panose="02020603050405020304" pitchFamily="18" charset="0"/>
                <a:cs typeface="Times New Roman" panose="02020603050405020304" pitchFamily="18" charset="0"/>
              </a:rPr>
              <a:t>Do là tập tin quan trọng, nên chúng ta cần nhân bản file này ra làm </a:t>
            </a:r>
            <a:r>
              <a:rPr lang="en-US" sz="2400">
                <a:latin typeface="Times New Roman" panose="02020603050405020304" pitchFamily="18" charset="0"/>
                <a:cs typeface="Times New Roman" panose="02020603050405020304" pitchFamily="18" charset="0"/>
              </a:rPr>
              <a:t>nhiều </a:t>
            </a:r>
            <a:r>
              <a:rPr lang="vi-VN" sz="2400">
                <a:latin typeface="Times New Roman" panose="02020603050405020304" pitchFamily="18" charset="0"/>
                <a:cs typeface="Times New Roman" panose="02020603050405020304" pitchFamily="18" charset="0"/>
              </a:rPr>
              <a:t>bản ở các vị trí lưu trữ khác nhau, để trong trường hợp 1 file bị </a:t>
            </a:r>
            <a:r>
              <a:rPr lang="en-US" sz="2400">
                <a:latin typeface="Times New Roman" panose="02020603050405020304" pitchFamily="18" charset="0"/>
                <a:cs typeface="Times New Roman" panose="02020603050405020304" pitchFamily="18" charset="0"/>
              </a:rPr>
              <a:t>lỗi</a:t>
            </a:r>
            <a:r>
              <a:rPr lang="vi-VN" sz="2400">
                <a:latin typeface="Times New Roman" panose="02020603050405020304" pitchFamily="18" charset="0"/>
                <a:cs typeface="Times New Roman" panose="02020603050405020304" pitchFamily="18" charset="0"/>
              </a:rPr>
              <a:t> vẫn còn các file còn lại, đảm bảo hệ thống hoạt động.</a:t>
            </a:r>
          </a:p>
          <a:p>
            <a:pPr marL="342900" indent="-342900">
              <a:buFont typeface="Arial" panose="020B0604020202020204" pitchFamily="34" charset="0"/>
              <a:buChar char="•"/>
            </a:pPr>
            <a:r>
              <a:rPr lang="vi-VN" sz="2400">
                <a:latin typeface="Times New Roman" panose="02020603050405020304" pitchFamily="18" charset="0"/>
                <a:cs typeface="Times New Roman" panose="02020603050405020304" pitchFamily="18" charset="0"/>
              </a:rPr>
              <a:t>Các tập tin này hay có đuôi là </a:t>
            </a:r>
            <a:r>
              <a:rPr lang="vi-VN" sz="2400" b="1">
                <a:latin typeface="Times New Roman" panose="02020603050405020304" pitchFamily="18" charset="0"/>
                <a:cs typeface="Times New Roman" panose="02020603050405020304" pitchFamily="18" charset="0"/>
              </a:rPr>
              <a:t>.ctl</a:t>
            </a:r>
            <a:endParaRPr lang="vi-V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3745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Online redo log files</a:t>
            </a:r>
          </a:p>
        </p:txBody>
      </p:sp>
      <p:sp>
        <p:nvSpPr>
          <p:cNvPr id="3" name="Rectangle 2"/>
          <p:cNvSpPr/>
          <p:nvPr/>
        </p:nvSpPr>
        <p:spPr>
          <a:xfrm>
            <a:off x="469313" y="1067991"/>
            <a:ext cx="11239499" cy="4524315"/>
          </a:xfrm>
          <a:prstGeom prst="rect">
            <a:avLst/>
          </a:prstGeom>
        </p:spPr>
        <p:txBody>
          <a:bodyPr wrap="square">
            <a:spAutoFit/>
          </a:bodyPr>
          <a:lstStyle/>
          <a:p>
            <a:r>
              <a:rPr lang="vi-VN" sz="2400">
                <a:latin typeface="Times New Roman" panose="02020603050405020304" pitchFamily="18" charset="0"/>
                <a:cs typeface="Times New Roman" panose="02020603050405020304" pitchFamily="18" charset="0"/>
              </a:rPr>
              <a:t>Đây chính là các tập tin mà process LGWR ghi dữ liệu ra từ Redo log buffer. Các tập tin này cần thiết trong trường hợp instance </a:t>
            </a:r>
            <a:r>
              <a:rPr lang="en-US" sz="2400">
                <a:latin typeface="Times New Roman" panose="02020603050405020304" pitchFamily="18" charset="0"/>
                <a:cs typeface="Times New Roman" panose="02020603050405020304" pitchFamily="18" charset="0"/>
              </a:rPr>
              <a:t>bị lỗi</a:t>
            </a:r>
            <a:r>
              <a:rPr lang="vi-VN" sz="2400">
                <a:latin typeface="Times New Roman" panose="02020603050405020304" pitchFamily="18" charset="0"/>
                <a:cs typeface="Times New Roman" panose="02020603050405020304" pitchFamily="18" charset="0"/>
              </a:rPr>
              <a:t>, phải recover lại.</a:t>
            </a:r>
          </a:p>
          <a:p>
            <a:r>
              <a:rPr lang="vi-VN" sz="2400">
                <a:latin typeface="Times New Roman" panose="02020603050405020304" pitchFamily="18" charset="0"/>
                <a:cs typeface="Times New Roman" panose="02020603050405020304" pitchFamily="18" charset="0"/>
              </a:rPr>
              <a:t>Các redo log files được chia vào các log group. Mỗi log group cũng nên có 2 redo log files trở lên</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để đảm bảo khi có 1 file </a:t>
            </a:r>
            <a:r>
              <a:rPr lang="en-US" sz="2400">
                <a:latin typeface="Times New Roman" panose="02020603050405020304" pitchFamily="18" charset="0"/>
                <a:cs typeface="Times New Roman" panose="02020603050405020304" pitchFamily="18" charset="0"/>
              </a:rPr>
              <a:t>lỗi</a:t>
            </a:r>
            <a:r>
              <a:rPr lang="vi-VN" sz="2400">
                <a:latin typeface="Times New Roman" panose="02020603050405020304" pitchFamily="18" charset="0"/>
                <a:cs typeface="Times New Roman" panose="02020603050405020304" pitchFamily="18" charset="0"/>
              </a:rPr>
              <a:t> thì vẫn còn file còn lại để hệ thống hoạt động.</a:t>
            </a:r>
          </a:p>
          <a:p>
            <a:r>
              <a:rPr lang="en-US" sz="2400">
                <a:latin typeface="Times New Roman" panose="02020603050405020304" pitchFamily="18" charset="0"/>
                <a:cs typeface="Times New Roman" panose="02020603050405020304" pitchFamily="18" charset="0"/>
              </a:rPr>
              <a:t>Cần </a:t>
            </a:r>
            <a:r>
              <a:rPr lang="vi-VN" sz="2400">
                <a:latin typeface="Times New Roman" panose="02020603050405020304" pitchFamily="18" charset="0"/>
                <a:cs typeface="Times New Roman" panose="02020603050405020304" pitchFamily="18" charset="0"/>
              </a:rPr>
              <a:t>ít nhất 2 log group trong database. </a:t>
            </a:r>
          </a:p>
          <a:p>
            <a:r>
              <a:rPr lang="vi-VN" sz="2400">
                <a:latin typeface="Times New Roman" panose="02020603050405020304" pitchFamily="18" charset="0"/>
                <a:cs typeface="Times New Roman" panose="02020603050405020304" pitchFamily="18" charset="0"/>
              </a:rPr>
              <a:t> </a:t>
            </a:r>
          </a:p>
          <a:p>
            <a:r>
              <a:rPr lang="vi-VN" sz="2400">
                <a:latin typeface="Times New Roman" panose="02020603050405020304" pitchFamily="18" charset="0"/>
                <a:cs typeface="Times New Roman" panose="02020603050405020304" pitchFamily="18" charset="0"/>
              </a:rPr>
              <a:t>Khi hoạt động, log group có thể có các trạng thái sau:</a:t>
            </a:r>
          </a:p>
          <a:p>
            <a:r>
              <a:rPr lang="vi-VN" sz="2400" b="1">
                <a:latin typeface="Times New Roman" panose="02020603050405020304" pitchFamily="18" charset="0"/>
                <a:cs typeface="Times New Roman" panose="02020603050405020304" pitchFamily="18" charset="0"/>
              </a:rPr>
              <a:t>UNUSED</a:t>
            </a:r>
            <a:r>
              <a:rPr lang="vi-VN" sz="2400">
                <a:latin typeface="Times New Roman" panose="02020603050405020304" pitchFamily="18" charset="0"/>
                <a:cs typeface="Times New Roman" panose="02020603050405020304" pitchFamily="18" charset="0"/>
              </a:rPr>
              <a:t>: log group mới tạo, chưa sử dụng bao giờ</a:t>
            </a:r>
          </a:p>
          <a:p>
            <a:r>
              <a:rPr lang="vi-VN" sz="2400" b="1">
                <a:latin typeface="Times New Roman" panose="02020603050405020304" pitchFamily="18" charset="0"/>
                <a:cs typeface="Times New Roman" panose="02020603050405020304" pitchFamily="18" charset="0"/>
              </a:rPr>
              <a:t>CURRENT</a:t>
            </a:r>
            <a:r>
              <a:rPr lang="vi-VN" sz="2400">
                <a:latin typeface="Times New Roman" panose="02020603050405020304" pitchFamily="18" charset="0"/>
                <a:cs typeface="Times New Roman" panose="02020603050405020304" pitchFamily="18" charset="0"/>
              </a:rPr>
              <a:t>: log group đang được ghi dữ liệu</a:t>
            </a:r>
          </a:p>
          <a:p>
            <a:r>
              <a:rPr lang="vi-VN" sz="2400" b="1">
                <a:latin typeface="Times New Roman" panose="02020603050405020304" pitchFamily="18" charset="0"/>
                <a:cs typeface="Times New Roman" panose="02020603050405020304" pitchFamily="18" charset="0"/>
              </a:rPr>
              <a:t>ACTIVE</a:t>
            </a:r>
            <a:r>
              <a:rPr lang="vi-VN" sz="2400">
                <a:latin typeface="Times New Roman" panose="02020603050405020304" pitchFamily="18" charset="0"/>
                <a:cs typeface="Times New Roman" panose="02020603050405020304" pitchFamily="18" charset="0"/>
              </a:rPr>
              <a:t>: log group đang không ghi dữ liệu, nhưng đang cần phòng trường hợp instance </a:t>
            </a:r>
            <a:r>
              <a:rPr lang="en-US" sz="2400">
                <a:latin typeface="Times New Roman" panose="02020603050405020304" pitchFamily="18" charset="0"/>
                <a:cs typeface="Times New Roman" panose="02020603050405020304" pitchFamily="18" charset="0"/>
              </a:rPr>
              <a:t>lỗi</a:t>
            </a:r>
            <a:endParaRPr lang="vi-VN" sz="2400">
              <a:latin typeface="Times New Roman" panose="02020603050405020304" pitchFamily="18" charset="0"/>
              <a:cs typeface="Times New Roman" panose="02020603050405020304" pitchFamily="18" charset="0"/>
            </a:endParaRPr>
          </a:p>
          <a:p>
            <a:r>
              <a:rPr lang="vi-VN" sz="2400" b="1">
                <a:latin typeface="Times New Roman" panose="02020603050405020304" pitchFamily="18" charset="0"/>
                <a:cs typeface="Times New Roman" panose="02020603050405020304" pitchFamily="18" charset="0"/>
              </a:rPr>
              <a:t>INACTIVE</a:t>
            </a:r>
            <a:r>
              <a:rPr lang="vi-VN" sz="2400">
                <a:latin typeface="Times New Roman" panose="02020603050405020304" pitchFamily="18" charset="0"/>
                <a:cs typeface="Times New Roman" panose="02020603050405020304" pitchFamily="18" charset="0"/>
              </a:rPr>
              <a:t>: log group đang không ghi dữ liệu, không cần trong trường hợp instance </a:t>
            </a:r>
            <a:r>
              <a:rPr lang="en-US" sz="2400">
                <a:latin typeface="Times New Roman" panose="02020603050405020304" pitchFamily="18" charset="0"/>
                <a:cs typeface="Times New Roman" panose="02020603050405020304" pitchFamily="18" charset="0"/>
              </a:rPr>
              <a:t>lỗi.</a:t>
            </a:r>
            <a:endParaRPr lang="vi-V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1478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altLang="en-US"/>
              <a:t>2. Oracle Database</a:t>
            </a:r>
            <a:endParaRPr lang="vi-VN"/>
          </a:p>
        </p:txBody>
      </p:sp>
      <p:sp>
        <p:nvSpPr>
          <p:cNvPr id="40" name="Rectangle 3"/>
          <p:cNvSpPr txBox="1">
            <a:spLocks noChangeArrowheads="1"/>
          </p:cNvSpPr>
          <p:nvPr/>
        </p:nvSpPr>
        <p:spPr bwMode="auto">
          <a:xfrm>
            <a:off x="920763" y="1686141"/>
            <a:ext cx="10563054" cy="838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 tIns="12700" rIns="12700" bIns="12700" numCol="1" anchor="t" anchorCtr="0" compatLnSpc="1">
            <a:prstTxWarp prst="textNoShape">
              <a:avLst/>
            </a:prstTxWarp>
            <a:spAutoFit/>
          </a:bodyPr>
          <a:lstStyle>
            <a:lvl1pPr algn="l" defTabSz="228600" rtl="0" eaLnBrk="0" fontAlgn="base" hangingPunct="0">
              <a:spcBef>
                <a:spcPct val="20000"/>
              </a:spcBef>
              <a:spcAft>
                <a:spcPct val="0"/>
              </a:spcAft>
              <a:buClr>
                <a:srgbClr val="000000"/>
              </a:buClr>
              <a:buFont typeface="Arial" panose="020B0604020202020204" pitchFamily="34" charset="0"/>
              <a:tabLst>
                <a:tab pos="457200" algn="l"/>
                <a:tab pos="742950" algn="l"/>
              </a:tabLst>
              <a:defRPr sz="2200" b="1" kern="1200">
                <a:solidFill>
                  <a:schemeClr val="tx1"/>
                </a:solidFill>
                <a:latin typeface="+mn-lt"/>
                <a:ea typeface="+mn-ea"/>
                <a:cs typeface="+mn-cs"/>
              </a:defRPr>
            </a:lvl1pPr>
            <a:lvl2pPr marL="342900" indent="-228600" algn="l" defTabSz="228600" rtl="0" eaLnBrk="0" fontAlgn="base" hangingPunct="0">
              <a:spcBef>
                <a:spcPct val="20000"/>
              </a:spcBef>
              <a:spcAft>
                <a:spcPct val="0"/>
              </a:spcAft>
              <a:buClr>
                <a:srgbClr val="FF0000"/>
              </a:buClr>
              <a:buFont typeface="Arial" panose="020B0604020202020204" pitchFamily="34" charset="0"/>
              <a:buChar char="•"/>
              <a:tabLst>
                <a:tab pos="457200" algn="l"/>
                <a:tab pos="742950" algn="l"/>
              </a:tabLst>
              <a:defRPr sz="2200" b="1" kern="1200">
                <a:solidFill>
                  <a:schemeClr val="tx1"/>
                </a:solidFill>
                <a:latin typeface="+mn-lt"/>
                <a:ea typeface="+mn-ea"/>
                <a:cs typeface="+mn-cs"/>
              </a:defRPr>
            </a:lvl2pPr>
            <a:lvl3pPr marL="685800" indent="-228600" algn="l" defTabSz="228600" rtl="0" eaLnBrk="0" fontAlgn="base" hangingPunct="0">
              <a:spcBef>
                <a:spcPct val="20000"/>
              </a:spcBef>
              <a:spcAft>
                <a:spcPct val="0"/>
              </a:spcAft>
              <a:buClr>
                <a:srgbClr val="FF0000"/>
              </a:buClr>
              <a:buFont typeface="Arial" panose="020B0604020202020204" pitchFamily="34" charset="0"/>
              <a:buChar char="–"/>
              <a:tabLst>
                <a:tab pos="457200" algn="l"/>
                <a:tab pos="742950" algn="l"/>
              </a:tabLst>
              <a:defRPr sz="2000" b="1" kern="1200">
                <a:solidFill>
                  <a:schemeClr val="tx1"/>
                </a:solidFill>
                <a:latin typeface="+mn-lt"/>
                <a:ea typeface="+mn-ea"/>
                <a:cs typeface="+mn-cs"/>
              </a:defRPr>
            </a:lvl3pPr>
            <a:lvl4pPr marL="914400" algn="l" defTabSz="228600" rtl="0" eaLnBrk="0" fontAlgn="base" hangingPunct="0">
              <a:spcBef>
                <a:spcPct val="20000"/>
              </a:spcBef>
              <a:spcAft>
                <a:spcPct val="0"/>
              </a:spcAft>
              <a:buClr>
                <a:srgbClr val="000000"/>
              </a:buClr>
              <a:buFont typeface="Arial" panose="020B0604020202020204" pitchFamily="34" charset="0"/>
              <a:tabLst>
                <a:tab pos="457200" algn="l"/>
                <a:tab pos="742950" algn="l"/>
              </a:tabLst>
              <a:defRPr sz="2000" b="1" kern="1200">
                <a:solidFill>
                  <a:srgbClr val="FF0000"/>
                </a:solidFill>
                <a:latin typeface="+mn-lt"/>
                <a:ea typeface="+mn-ea"/>
                <a:cs typeface="+mn-cs"/>
              </a:defRPr>
            </a:lvl4pPr>
            <a:lvl5pPr marL="1143000" algn="l" defTabSz="228600" rtl="0" eaLnBrk="0" fontAlgn="base" hangingPunct="0">
              <a:spcBef>
                <a:spcPct val="20000"/>
              </a:spcBef>
              <a:spcAft>
                <a:spcPct val="0"/>
              </a:spcAft>
              <a:buClr>
                <a:srgbClr val="000000"/>
              </a:buClr>
              <a:buFont typeface="Arial" panose="020B0604020202020204" pitchFamily="34" charset="0"/>
              <a:tabLst>
                <a:tab pos="457200" algn="l"/>
                <a:tab pos="742950" algn="l"/>
              </a:tabLst>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1" indent="-228600" algn="l" defTabSz="228600" rtl="0" eaLnBrk="1" fontAlgn="base" latinLnBrk="0" hangingPunct="1">
              <a:lnSpc>
                <a:spcPct val="100000"/>
              </a:lnSpc>
              <a:spcBef>
                <a:spcPct val="20000"/>
              </a:spcBef>
              <a:spcAft>
                <a:spcPct val="0"/>
              </a:spcAft>
              <a:buClr>
                <a:srgbClr val="FF0000"/>
              </a:buClr>
              <a:buSzTx/>
              <a:buFont typeface="Arial" panose="020B0604020202020204" pitchFamily="34" charset="0"/>
              <a:buChar char="•"/>
              <a:tabLst>
                <a:tab pos="457200" algn="l"/>
                <a:tab pos="742950" algn="l"/>
              </a:tabLst>
              <a:defRPr/>
            </a:pPr>
            <a:r>
              <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rPr>
              <a:t>Xác định xem khoảng trống CSDL được sử dụng như thế nào.</a:t>
            </a:r>
          </a:p>
          <a:p>
            <a:pPr marL="342900" marR="0" lvl="1" indent="-228600" algn="l" defTabSz="228600" rtl="0" eaLnBrk="1" fontAlgn="base" latinLnBrk="0" hangingPunct="1">
              <a:lnSpc>
                <a:spcPct val="100000"/>
              </a:lnSpc>
              <a:spcBef>
                <a:spcPct val="20000"/>
              </a:spcBef>
              <a:spcAft>
                <a:spcPct val="0"/>
              </a:spcAft>
              <a:buClr>
                <a:srgbClr val="FF0000"/>
              </a:buClr>
              <a:buSzTx/>
              <a:buFont typeface="Arial" panose="020B0604020202020204" pitchFamily="34" charset="0"/>
              <a:buChar char="•"/>
              <a:tabLst>
                <a:tab pos="457200" algn="l"/>
                <a:tab pos="742950" algn="l"/>
              </a:tabLst>
              <a:defRPr/>
            </a:pPr>
            <a:r>
              <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rPr>
              <a:t>Xét về hệ thống cấp bậc bao gồm các tablespaces, segments, extents,và blocks.</a:t>
            </a:r>
          </a:p>
        </p:txBody>
      </p:sp>
      <p:sp>
        <p:nvSpPr>
          <p:cNvPr id="41" name="Rectangle 4"/>
          <p:cNvSpPr>
            <a:spLocks noChangeArrowheads="1"/>
          </p:cNvSpPr>
          <p:nvPr/>
        </p:nvSpPr>
        <p:spPr bwMode="auto">
          <a:xfrm>
            <a:off x="4624315" y="2690998"/>
            <a:ext cx="23415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Tablespace</a:t>
            </a:r>
          </a:p>
        </p:txBody>
      </p:sp>
      <p:sp>
        <p:nvSpPr>
          <p:cNvPr id="42" name="Rectangle 5"/>
          <p:cNvSpPr>
            <a:spLocks noChangeArrowheads="1"/>
          </p:cNvSpPr>
          <p:nvPr/>
        </p:nvSpPr>
        <p:spPr bwMode="auto">
          <a:xfrm>
            <a:off x="5178353" y="3243448"/>
            <a:ext cx="14303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Datafile</a:t>
            </a:r>
          </a:p>
        </p:txBody>
      </p:sp>
      <p:sp>
        <p:nvSpPr>
          <p:cNvPr id="43" name="Oval 6"/>
          <p:cNvSpPr>
            <a:spLocks noChangeArrowheads="1"/>
          </p:cNvSpPr>
          <p:nvPr/>
        </p:nvSpPr>
        <p:spPr bwMode="auto">
          <a:xfrm>
            <a:off x="3352728" y="4472173"/>
            <a:ext cx="4886325" cy="800100"/>
          </a:xfrm>
          <a:prstGeom prst="ellipse">
            <a:avLst/>
          </a:prstGeom>
          <a:noFill/>
          <a:ln w="28575">
            <a:solidFill>
              <a:srgbClr val="000000"/>
            </a:solidFill>
            <a:prstDash val="lg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 name="AutoShape 7"/>
          <p:cNvSpPr>
            <a:spLocks noChangeArrowheads="1"/>
          </p:cNvSpPr>
          <p:nvPr/>
        </p:nvSpPr>
        <p:spPr bwMode="blackWhite">
          <a:xfrm>
            <a:off x="3717853" y="3545073"/>
            <a:ext cx="1960562" cy="1454150"/>
          </a:xfrm>
          <a:prstGeom prst="cube">
            <a:avLst>
              <a:gd name="adj" fmla="val 24995"/>
            </a:avLst>
          </a:prstGeom>
          <a:solidFill>
            <a:srgbClr val="CCCCCC"/>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 name="AutoShape 8"/>
          <p:cNvSpPr>
            <a:spLocks noChangeArrowheads="1"/>
          </p:cNvSpPr>
          <p:nvPr/>
        </p:nvSpPr>
        <p:spPr bwMode="blackWhite">
          <a:xfrm>
            <a:off x="3846440" y="4597585"/>
            <a:ext cx="1258888" cy="382588"/>
          </a:xfrm>
          <a:prstGeom prst="cube">
            <a:avLst>
              <a:gd name="adj" fmla="val 24995"/>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 name="AutoShape 9"/>
          <p:cNvSpPr>
            <a:spLocks noChangeArrowheads="1"/>
          </p:cNvSpPr>
          <p:nvPr/>
        </p:nvSpPr>
        <p:spPr bwMode="blackWhite">
          <a:xfrm>
            <a:off x="3846440" y="4300723"/>
            <a:ext cx="1258888" cy="384175"/>
          </a:xfrm>
          <a:prstGeom prst="cube">
            <a:avLst>
              <a:gd name="adj" fmla="val 24995"/>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 name="AutoShape 10"/>
          <p:cNvSpPr>
            <a:spLocks noChangeArrowheads="1"/>
          </p:cNvSpPr>
          <p:nvPr/>
        </p:nvSpPr>
        <p:spPr bwMode="blackWhite">
          <a:xfrm>
            <a:off x="3846440" y="4005448"/>
            <a:ext cx="1258888" cy="384175"/>
          </a:xfrm>
          <a:prstGeom prst="cube">
            <a:avLst>
              <a:gd name="adj" fmla="val 24995"/>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 name="AutoShape 11"/>
          <p:cNvSpPr>
            <a:spLocks noChangeArrowheads="1"/>
          </p:cNvSpPr>
          <p:nvPr/>
        </p:nvSpPr>
        <p:spPr bwMode="auto">
          <a:xfrm>
            <a:off x="3908353" y="4137210"/>
            <a:ext cx="369887" cy="219075"/>
          </a:xfrm>
          <a:prstGeom prst="cube">
            <a:avLst>
              <a:gd name="adj" fmla="val 24995"/>
            </a:avLst>
          </a:prstGeom>
          <a:solidFill>
            <a:srgbClr val="CCCCCC"/>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9" name="AutoShape 12"/>
          <p:cNvSpPr>
            <a:spLocks noChangeArrowheads="1"/>
          </p:cNvSpPr>
          <p:nvPr/>
        </p:nvSpPr>
        <p:spPr bwMode="auto">
          <a:xfrm>
            <a:off x="4354440" y="4137210"/>
            <a:ext cx="369888" cy="219075"/>
          </a:xfrm>
          <a:prstGeom prst="cube">
            <a:avLst>
              <a:gd name="adj" fmla="val 24995"/>
            </a:avLst>
          </a:prstGeom>
          <a:solidFill>
            <a:srgbClr val="CCCCCC"/>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0" name="AutoShape 13"/>
          <p:cNvSpPr>
            <a:spLocks noChangeArrowheads="1"/>
          </p:cNvSpPr>
          <p:nvPr/>
        </p:nvSpPr>
        <p:spPr bwMode="auto">
          <a:xfrm>
            <a:off x="3908353" y="4434073"/>
            <a:ext cx="369887" cy="217487"/>
          </a:xfrm>
          <a:prstGeom prst="cube">
            <a:avLst>
              <a:gd name="adj" fmla="val 24995"/>
            </a:avLst>
          </a:prstGeom>
          <a:solidFill>
            <a:srgbClr val="CCCCCC"/>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1" name="AutoShape 14"/>
          <p:cNvSpPr>
            <a:spLocks noChangeArrowheads="1"/>
          </p:cNvSpPr>
          <p:nvPr/>
        </p:nvSpPr>
        <p:spPr bwMode="auto">
          <a:xfrm>
            <a:off x="4354440" y="4434073"/>
            <a:ext cx="369888" cy="217487"/>
          </a:xfrm>
          <a:prstGeom prst="cube">
            <a:avLst>
              <a:gd name="adj" fmla="val 24995"/>
            </a:avLst>
          </a:prstGeom>
          <a:solidFill>
            <a:srgbClr val="CCCCCC"/>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2" name="AutoShape 15"/>
          <p:cNvSpPr>
            <a:spLocks noChangeArrowheads="1"/>
          </p:cNvSpPr>
          <p:nvPr/>
        </p:nvSpPr>
        <p:spPr bwMode="auto">
          <a:xfrm>
            <a:off x="3908353" y="4727760"/>
            <a:ext cx="369887" cy="220663"/>
          </a:xfrm>
          <a:prstGeom prst="cube">
            <a:avLst>
              <a:gd name="adj" fmla="val 24995"/>
            </a:avLst>
          </a:prstGeom>
          <a:solidFill>
            <a:srgbClr val="CCCCCC"/>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3" name="AutoShape 16"/>
          <p:cNvSpPr>
            <a:spLocks noChangeArrowheads="1"/>
          </p:cNvSpPr>
          <p:nvPr/>
        </p:nvSpPr>
        <p:spPr bwMode="auto">
          <a:xfrm>
            <a:off x="4354440" y="4727760"/>
            <a:ext cx="369888" cy="220663"/>
          </a:xfrm>
          <a:prstGeom prst="cube">
            <a:avLst>
              <a:gd name="adj" fmla="val 24995"/>
            </a:avLst>
          </a:prstGeom>
          <a:solidFill>
            <a:srgbClr val="CCCCCC"/>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4" name="Rectangle 17"/>
          <p:cNvSpPr>
            <a:spLocks noChangeArrowheads="1"/>
          </p:cNvSpPr>
          <p:nvPr/>
        </p:nvSpPr>
        <p:spPr bwMode="auto">
          <a:xfrm>
            <a:off x="4043290" y="3543485"/>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l" defTabSz="914400" eaLnBrk="0" fontAlgn="base" latinLnBrk="0" hangingPunct="0">
              <a:lnSpc>
                <a:spcPct val="100000"/>
              </a:lnSpc>
              <a:spcBef>
                <a:spcPct val="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Segment</a:t>
            </a:r>
          </a:p>
        </p:txBody>
      </p:sp>
      <p:sp>
        <p:nvSpPr>
          <p:cNvPr id="55" name="Rectangle 18"/>
          <p:cNvSpPr>
            <a:spLocks noChangeArrowheads="1"/>
          </p:cNvSpPr>
          <p:nvPr/>
        </p:nvSpPr>
        <p:spPr bwMode="auto">
          <a:xfrm>
            <a:off x="6100690" y="4915085"/>
            <a:ext cx="10620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Blocks</a:t>
            </a:r>
          </a:p>
        </p:txBody>
      </p:sp>
      <p:sp>
        <p:nvSpPr>
          <p:cNvPr id="56" name="Rectangle 19"/>
          <p:cNvSpPr>
            <a:spLocks noChangeArrowheads="1"/>
          </p:cNvSpPr>
          <p:nvPr/>
        </p:nvSpPr>
        <p:spPr bwMode="auto">
          <a:xfrm>
            <a:off x="4351265" y="4915085"/>
            <a:ext cx="1149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Extent</a:t>
            </a:r>
          </a:p>
        </p:txBody>
      </p:sp>
      <p:sp>
        <p:nvSpPr>
          <p:cNvPr id="57" name="AutoShape 20"/>
          <p:cNvSpPr>
            <a:spLocks noChangeArrowheads="1"/>
          </p:cNvSpPr>
          <p:nvPr/>
        </p:nvSpPr>
        <p:spPr bwMode="blackWhite">
          <a:xfrm>
            <a:off x="6011790" y="3510148"/>
            <a:ext cx="1960563" cy="1454150"/>
          </a:xfrm>
          <a:prstGeom prst="cube">
            <a:avLst>
              <a:gd name="adj" fmla="val 24995"/>
            </a:avLst>
          </a:prstGeom>
          <a:solidFill>
            <a:srgbClr val="CCCCCC"/>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8" name="AutoShape 21"/>
          <p:cNvSpPr>
            <a:spLocks noChangeArrowheads="1"/>
          </p:cNvSpPr>
          <p:nvPr/>
        </p:nvSpPr>
        <p:spPr bwMode="blackWhite">
          <a:xfrm>
            <a:off x="6140378" y="4562660"/>
            <a:ext cx="1258887" cy="382588"/>
          </a:xfrm>
          <a:prstGeom prst="cube">
            <a:avLst>
              <a:gd name="adj" fmla="val 24995"/>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9" name="AutoShape 22"/>
          <p:cNvSpPr>
            <a:spLocks noChangeArrowheads="1"/>
          </p:cNvSpPr>
          <p:nvPr/>
        </p:nvSpPr>
        <p:spPr bwMode="blackWhite">
          <a:xfrm>
            <a:off x="6140378" y="4265798"/>
            <a:ext cx="1258887" cy="384175"/>
          </a:xfrm>
          <a:prstGeom prst="cube">
            <a:avLst>
              <a:gd name="adj" fmla="val 24995"/>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0" name="AutoShape 23"/>
          <p:cNvSpPr>
            <a:spLocks noChangeArrowheads="1"/>
          </p:cNvSpPr>
          <p:nvPr/>
        </p:nvSpPr>
        <p:spPr bwMode="blackWhite">
          <a:xfrm>
            <a:off x="6140378" y="3970523"/>
            <a:ext cx="1258887" cy="384175"/>
          </a:xfrm>
          <a:prstGeom prst="cube">
            <a:avLst>
              <a:gd name="adj" fmla="val 24995"/>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1" name="AutoShape 24"/>
          <p:cNvSpPr>
            <a:spLocks noChangeArrowheads="1"/>
          </p:cNvSpPr>
          <p:nvPr/>
        </p:nvSpPr>
        <p:spPr bwMode="auto">
          <a:xfrm>
            <a:off x="6202290" y="4102285"/>
            <a:ext cx="369888" cy="219075"/>
          </a:xfrm>
          <a:prstGeom prst="cube">
            <a:avLst>
              <a:gd name="adj" fmla="val 24995"/>
            </a:avLst>
          </a:prstGeom>
          <a:solidFill>
            <a:srgbClr val="CCCCCC"/>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2" name="AutoShape 25"/>
          <p:cNvSpPr>
            <a:spLocks noChangeArrowheads="1"/>
          </p:cNvSpPr>
          <p:nvPr/>
        </p:nvSpPr>
        <p:spPr bwMode="auto">
          <a:xfrm>
            <a:off x="6648378" y="4102285"/>
            <a:ext cx="369887" cy="219075"/>
          </a:xfrm>
          <a:prstGeom prst="cube">
            <a:avLst>
              <a:gd name="adj" fmla="val 24995"/>
            </a:avLst>
          </a:prstGeom>
          <a:solidFill>
            <a:srgbClr val="CCCCCC"/>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3" name="AutoShape 26"/>
          <p:cNvSpPr>
            <a:spLocks noChangeArrowheads="1"/>
          </p:cNvSpPr>
          <p:nvPr/>
        </p:nvSpPr>
        <p:spPr bwMode="auto">
          <a:xfrm>
            <a:off x="6202290" y="4399148"/>
            <a:ext cx="369888" cy="217487"/>
          </a:xfrm>
          <a:prstGeom prst="cube">
            <a:avLst>
              <a:gd name="adj" fmla="val 24995"/>
            </a:avLst>
          </a:prstGeom>
          <a:solidFill>
            <a:srgbClr val="CCCCCC"/>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4" name="AutoShape 27"/>
          <p:cNvSpPr>
            <a:spLocks noChangeArrowheads="1"/>
          </p:cNvSpPr>
          <p:nvPr/>
        </p:nvSpPr>
        <p:spPr bwMode="auto">
          <a:xfrm>
            <a:off x="6648378" y="4399148"/>
            <a:ext cx="369887" cy="217487"/>
          </a:xfrm>
          <a:prstGeom prst="cube">
            <a:avLst>
              <a:gd name="adj" fmla="val 24995"/>
            </a:avLst>
          </a:prstGeom>
          <a:solidFill>
            <a:srgbClr val="CCCCCC"/>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5" name="AutoShape 28"/>
          <p:cNvSpPr>
            <a:spLocks noChangeArrowheads="1"/>
          </p:cNvSpPr>
          <p:nvPr/>
        </p:nvSpPr>
        <p:spPr bwMode="auto">
          <a:xfrm>
            <a:off x="6202290" y="4692835"/>
            <a:ext cx="369888" cy="220663"/>
          </a:xfrm>
          <a:prstGeom prst="cube">
            <a:avLst>
              <a:gd name="adj" fmla="val 24995"/>
            </a:avLst>
          </a:prstGeom>
          <a:solidFill>
            <a:srgbClr val="CCCCCC"/>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6" name="AutoShape 29"/>
          <p:cNvSpPr>
            <a:spLocks noChangeArrowheads="1"/>
          </p:cNvSpPr>
          <p:nvPr/>
        </p:nvSpPr>
        <p:spPr bwMode="auto">
          <a:xfrm>
            <a:off x="6648378" y="4692835"/>
            <a:ext cx="369887" cy="220663"/>
          </a:xfrm>
          <a:prstGeom prst="cube">
            <a:avLst>
              <a:gd name="adj" fmla="val 24995"/>
            </a:avLst>
          </a:prstGeom>
          <a:solidFill>
            <a:srgbClr val="CCCCCC"/>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7" name="Rectangle 30"/>
          <p:cNvSpPr>
            <a:spLocks noChangeArrowheads="1"/>
          </p:cNvSpPr>
          <p:nvPr/>
        </p:nvSpPr>
        <p:spPr bwMode="auto">
          <a:xfrm>
            <a:off x="6329290" y="3502210"/>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l" defTabSz="914400" eaLnBrk="0" fontAlgn="base" latinLnBrk="0" hangingPunct="0">
              <a:lnSpc>
                <a:spcPct val="100000"/>
              </a:lnSpc>
              <a:spcBef>
                <a:spcPct val="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Segment</a:t>
            </a:r>
          </a:p>
        </p:txBody>
      </p:sp>
      <p:sp>
        <p:nvSpPr>
          <p:cNvPr id="68" name="Line 31"/>
          <p:cNvSpPr>
            <a:spLocks noChangeShapeType="1"/>
          </p:cNvSpPr>
          <p:nvPr/>
        </p:nvSpPr>
        <p:spPr bwMode="auto">
          <a:xfrm>
            <a:off x="6381678" y="4572185"/>
            <a:ext cx="0" cy="406400"/>
          </a:xfrm>
          <a:prstGeom prst="line">
            <a:avLst/>
          </a:prstGeom>
          <a:noFill/>
          <a:ln w="25400">
            <a:solidFill>
              <a:srgbClr val="000000"/>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9" name="Line 32"/>
          <p:cNvSpPr>
            <a:spLocks noChangeShapeType="1"/>
          </p:cNvSpPr>
          <p:nvPr/>
        </p:nvSpPr>
        <p:spPr bwMode="auto">
          <a:xfrm>
            <a:off x="6800778" y="4572185"/>
            <a:ext cx="0" cy="406400"/>
          </a:xfrm>
          <a:prstGeom prst="line">
            <a:avLst/>
          </a:prstGeom>
          <a:noFill/>
          <a:ln w="25400">
            <a:solidFill>
              <a:srgbClr val="000000"/>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0" name="Line 33"/>
          <p:cNvSpPr>
            <a:spLocks noChangeShapeType="1"/>
          </p:cNvSpPr>
          <p:nvPr/>
        </p:nvSpPr>
        <p:spPr bwMode="auto">
          <a:xfrm>
            <a:off x="4783065" y="4578535"/>
            <a:ext cx="0" cy="406400"/>
          </a:xfrm>
          <a:prstGeom prst="line">
            <a:avLst/>
          </a:prstGeom>
          <a:noFill/>
          <a:ln w="25400">
            <a:solidFill>
              <a:srgbClr val="000000"/>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71" name="Group 34"/>
          <p:cNvGrpSpPr>
            <a:grpSpLocks/>
          </p:cNvGrpSpPr>
          <p:nvPr/>
        </p:nvGrpSpPr>
        <p:grpSpPr bwMode="auto">
          <a:xfrm>
            <a:off x="3346378" y="3257735"/>
            <a:ext cx="4899025" cy="1638300"/>
            <a:chOff x="1329" y="2464"/>
            <a:chExt cx="3086" cy="989"/>
          </a:xfrm>
        </p:grpSpPr>
        <p:sp>
          <p:nvSpPr>
            <p:cNvPr id="72" name="Line 35"/>
            <p:cNvSpPr>
              <a:spLocks noChangeShapeType="1"/>
            </p:cNvSpPr>
            <p:nvPr/>
          </p:nvSpPr>
          <p:spPr bwMode="auto">
            <a:xfrm>
              <a:off x="1329" y="2647"/>
              <a:ext cx="0" cy="806"/>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3" name="Line 36"/>
            <p:cNvSpPr>
              <a:spLocks noChangeShapeType="1"/>
            </p:cNvSpPr>
            <p:nvPr/>
          </p:nvSpPr>
          <p:spPr bwMode="auto">
            <a:xfrm>
              <a:off x="4415" y="2647"/>
              <a:ext cx="0" cy="806"/>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4" name="Oval 37"/>
            <p:cNvSpPr>
              <a:spLocks noChangeArrowheads="1"/>
            </p:cNvSpPr>
            <p:nvPr/>
          </p:nvSpPr>
          <p:spPr bwMode="auto">
            <a:xfrm>
              <a:off x="1333" y="2464"/>
              <a:ext cx="3078" cy="366"/>
            </a:xfrm>
            <a:prstGeom prst="ellipse">
              <a:avLst/>
            </a:prstGeom>
            <a:noFill/>
            <a:ln w="28575">
              <a:solidFill>
                <a:srgbClr val="000000"/>
              </a:solidFill>
              <a:prstDash val="lg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75" name="Rectangle 74"/>
          <p:cNvSpPr/>
          <p:nvPr/>
        </p:nvSpPr>
        <p:spPr>
          <a:xfrm>
            <a:off x="4714622" y="956546"/>
            <a:ext cx="2448106" cy="523220"/>
          </a:xfrm>
          <a:prstGeom prst="rect">
            <a:avLst/>
          </a:prstGeom>
        </p:spPr>
        <p:txBody>
          <a:bodyPr wrap="none">
            <a:spAutoFit/>
          </a:bodyPr>
          <a:lstStyle/>
          <a:p>
            <a:r>
              <a:rPr lang="en-US" altLang="en-US" sz="2800" b="1">
                <a:latin typeface="Times New Roman" panose="02020603050405020304" pitchFamily="18" charset="0"/>
                <a:cs typeface="Times New Roman" panose="02020603050405020304" pitchFamily="18" charset="0"/>
              </a:rPr>
              <a:t>Cấu trúc logic </a:t>
            </a:r>
            <a:endParaRPr lang="vi-VN" sz="28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2155935"/>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defTabSz="685983" fontAlgn="base">
              <a:spcAft>
                <a:spcPct val="0"/>
              </a:spcAft>
              <a:defRPr/>
            </a:pPr>
            <a:r>
              <a:rPr lang="en-US"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III. CẤU TRÚC BỘ NHỚ</a:t>
            </a:r>
          </a:p>
        </p:txBody>
      </p:sp>
      <p:sp>
        <p:nvSpPr>
          <p:cNvPr id="4" name="Rectangle 3"/>
          <p:cNvSpPr txBox="1">
            <a:spLocks noChangeArrowheads="1"/>
          </p:cNvSpPr>
          <p:nvPr/>
        </p:nvSpPr>
        <p:spPr>
          <a:xfrm>
            <a:off x="173360" y="1057414"/>
            <a:ext cx="3484240" cy="5502412"/>
          </a:xfrm>
          <a:prstGeom prst="rect">
            <a:avLst/>
          </a:prstGeom>
        </p:spPr>
        <p:txBody>
          <a:bodyPr/>
          <a:lstStyle>
            <a:lvl1pPr marL="228600" indent="-228600" algn="l" defTabSz="914400" rtl="0" eaLnBrk="1" latinLnBrk="0" hangingPunct="1">
              <a:lnSpc>
                <a:spcPct val="90000"/>
              </a:lnSpc>
              <a:spcBef>
                <a:spcPct val="30000"/>
              </a:spcBef>
              <a:buClr>
                <a:srgbClr val="FF0000"/>
              </a:buClr>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ct val="30000"/>
              </a:spcBef>
              <a:buClr>
                <a:srgbClr val="FF0000"/>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ct val="30000"/>
              </a:spcBef>
              <a:buClr>
                <a:srgbClr val="FF0000"/>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ct val="30000"/>
              </a:spcBef>
              <a:buClr>
                <a:srgbClr val="FF0000"/>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ct val="30000"/>
              </a:spcBef>
              <a:buClr>
                <a:srgbClr val="FF0000"/>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a:latin typeface="Times New Roman" panose="02020603050405020304" pitchFamily="18" charset="0"/>
                <a:cs typeface="Times New Roman" panose="02020603050405020304" pitchFamily="18" charset="0"/>
              </a:rPr>
              <a:t>Cấu trúc bộ nhớ của Oracle bao gồm hai vùng bộ nhớ đó là:</a:t>
            </a:r>
          </a:p>
          <a:p>
            <a:pPr marL="228600" lvl="1" algn="just"/>
            <a:r>
              <a:rPr lang="en-US" altLang="en-US">
                <a:latin typeface="Times New Roman" panose="02020603050405020304" pitchFamily="18" charset="0"/>
                <a:cs typeface="Times New Roman" panose="02020603050405020304" pitchFamily="18" charset="0"/>
              </a:rPr>
              <a:t>Vùng nhớ hệ thống (System Global Area - SGA) được cấp phát khi instance khởi tạo, và đây là một thành phần cơ bản của một  Oracle instance</a:t>
            </a:r>
          </a:p>
          <a:p>
            <a:pPr marL="228600" lvl="1" algn="just"/>
            <a:r>
              <a:rPr lang="en-US" altLang="en-US">
                <a:latin typeface="Times New Roman" panose="02020603050405020304" pitchFamily="18" charset="0"/>
                <a:cs typeface="Times New Roman" panose="02020603050405020304" pitchFamily="18" charset="0"/>
              </a:rPr>
              <a:t>Vùng nhớ chương trình (Program Global Area-PGA): được cấp phát khi server process khởi tạo</a:t>
            </a:r>
          </a:p>
        </p:txBody>
      </p:sp>
      <p:pic>
        <p:nvPicPr>
          <p:cNvPr id="1026" name="Picture 2" descr="sga_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8924" y="1354137"/>
            <a:ext cx="7445605" cy="4789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52760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1. System Global Area - SGA</a:t>
            </a:r>
            <a:endParaRPr lang="vi-VN"/>
          </a:p>
        </p:txBody>
      </p:sp>
      <p:sp>
        <p:nvSpPr>
          <p:cNvPr id="3" name="Rectangle 2"/>
          <p:cNvSpPr/>
          <p:nvPr/>
        </p:nvSpPr>
        <p:spPr>
          <a:xfrm>
            <a:off x="827949" y="996651"/>
            <a:ext cx="10522227" cy="3354765"/>
          </a:xfrm>
          <a:prstGeom prst="rect">
            <a:avLst/>
          </a:prstGeom>
        </p:spPr>
        <p:txBody>
          <a:bodyPr wrap="square">
            <a:spAutoFit/>
          </a:bodyPr>
          <a:lstStyle/>
          <a:p>
            <a:pPr marL="457200" indent="-457200" algn="just">
              <a:spcBef>
                <a:spcPts val="600"/>
              </a:spcBef>
              <a:spcAft>
                <a:spcPts val="600"/>
              </a:spcAft>
              <a:buClr>
                <a:srgbClr val="FF0000"/>
              </a:buClr>
              <a:buFont typeface="Arial" panose="020B0604020202020204" pitchFamily="34" charset="0"/>
              <a:buChar char="•"/>
            </a:pPr>
            <a:r>
              <a:rPr lang="en-US" sz="2400">
                <a:latin typeface="Times New Roman" panose="02020603050405020304" pitchFamily="18" charset="0"/>
                <a:ea typeface="Batang" panose="02030600000101010101" pitchFamily="18" charset="-127"/>
                <a:cs typeface="Times New Roman" panose="02020603050405020304" pitchFamily="18" charset="0"/>
              </a:rPr>
              <a:t>SGA là vùng bộ nhớ chia sẻ chứa dữ dữ liệu và các thông tin điều khiển của Oracle server. </a:t>
            </a:r>
          </a:p>
          <a:p>
            <a:pPr marL="457200" indent="-457200" algn="just">
              <a:spcBef>
                <a:spcPts val="600"/>
              </a:spcBef>
              <a:spcAft>
                <a:spcPts val="600"/>
              </a:spcAft>
              <a:buClr>
                <a:srgbClr val="FF0000"/>
              </a:buClr>
              <a:buFont typeface="Arial" panose="020B0604020202020204" pitchFamily="34" charset="0"/>
              <a:buChar char="•"/>
            </a:pPr>
            <a:r>
              <a:rPr lang="en-US" sz="2400">
                <a:latin typeface="Times New Roman" panose="02020603050405020304" pitchFamily="18" charset="0"/>
                <a:ea typeface="Batang" panose="02030600000101010101" pitchFamily="18" charset="-127"/>
                <a:cs typeface="Times New Roman" panose="02020603050405020304" pitchFamily="18" charset="0"/>
              </a:rPr>
              <a:t>SGA được cấp phát (allocated) trong bộ nhớ của máy tính mà Oracle server đang hoạt động trên đó. </a:t>
            </a:r>
          </a:p>
          <a:p>
            <a:pPr marL="457200" indent="-457200" algn="just">
              <a:spcBef>
                <a:spcPts val="600"/>
              </a:spcBef>
              <a:spcAft>
                <a:spcPts val="600"/>
              </a:spcAft>
              <a:buClr>
                <a:srgbClr val="FF0000"/>
              </a:buClr>
              <a:buFont typeface="Arial" panose="020B0604020202020204" pitchFamily="34" charset="0"/>
              <a:buChar char="•"/>
            </a:pPr>
            <a:r>
              <a:rPr lang="en-US" sz="2400">
                <a:latin typeface="Times New Roman" panose="02020603050405020304" pitchFamily="18" charset="0"/>
                <a:ea typeface="Batang" panose="02030600000101010101" pitchFamily="18" charset="-127"/>
                <a:cs typeface="Times New Roman" panose="02020603050405020304" pitchFamily="18" charset="0"/>
              </a:rPr>
              <a:t>Các User kết nối tới Oracle sẽ chia sẻ các dữ liệu có trong SGA, việc mở rộng không gian bộ nhớ cho SGA sẽ làm nâng cao hiệu suất của hệ thống, lưu trữ được nhiều dữ liệu trong hệ thống hơn đồng thời giảm thiểu các thao tác truy xuất đĩa (disk I/O).</a:t>
            </a:r>
            <a:endParaRPr lang="vi-VN" sz="2400">
              <a:effectLst/>
              <a:latin typeface="Times New Roman" panose="02020603050405020304" pitchFamily="18" charset="0"/>
              <a:ea typeface="Batang" panose="02030600000101010101" pitchFamily="18" charset="-127"/>
              <a:cs typeface="Times New Roman" panose="02020603050405020304" pitchFamily="18" charset="0"/>
            </a:endParaRPr>
          </a:p>
        </p:txBody>
      </p:sp>
    </p:spTree>
    <p:extLst>
      <p:ext uri="{BB962C8B-B14F-4D97-AF65-F5344CB8AC3E}">
        <p14:creationId xmlns:p14="http://schemas.microsoft.com/office/powerpoint/2010/main" val="425442834"/>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107675" y="-178766"/>
            <a:ext cx="7315200" cy="876300"/>
          </a:xfrm>
          <a:prstGeom prst="rect">
            <a:avLst/>
          </a:prstGeom>
        </p:spPr>
        <p:txBody>
          <a:bodyPr vert="horz" lIns="91440" tIns="45720" rIns="91440" bIns="45720" rtlCol="0" anchor="b">
            <a:normAutofit/>
          </a:bodyPr>
          <a:lstStyle>
            <a:lvl1pPr algn="l" defTabSz="914400" rtl="0" eaLnBrk="1" latinLnBrk="0" hangingPunct="1">
              <a:spcBef>
                <a:spcPct val="0"/>
              </a:spcBef>
              <a:buNone/>
              <a:defRPr sz="3600" b="1" kern="1200">
                <a:solidFill>
                  <a:schemeClr val="bg1"/>
                </a:solidFill>
                <a:latin typeface="Arial" panose="020B0604020202020204" pitchFamily="34" charset="0"/>
                <a:ea typeface="+mj-ea"/>
                <a:cs typeface="Arial" panose="020B0604020202020204" pitchFamily="34" charset="0"/>
              </a:defRPr>
            </a:lvl1pPr>
          </a:lstStyle>
          <a:p>
            <a:r>
              <a:rPr lang="en-US" altLang="en-US"/>
              <a:t>1.1. Shared Pool</a:t>
            </a:r>
          </a:p>
        </p:txBody>
      </p:sp>
      <p:sp>
        <p:nvSpPr>
          <p:cNvPr id="5" name="Rectangle 8"/>
          <p:cNvSpPr>
            <a:spLocks noChangeArrowheads="1"/>
          </p:cNvSpPr>
          <p:nvPr/>
        </p:nvSpPr>
        <p:spPr bwMode="blackGray">
          <a:xfrm>
            <a:off x="8540750" y="5728710"/>
            <a:ext cx="3460750" cy="669925"/>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lIns="92075" tIns="46038" rIns="92075" bIns="46038">
            <a:spAutoFit/>
          </a:bodyPr>
          <a:lstStyle>
            <a:lvl1pPr defTabSz="400050">
              <a:spcBef>
                <a:spcPct val="20000"/>
              </a:spcBef>
              <a:buClr>
                <a:srgbClr val="000000"/>
              </a:buClr>
              <a:buFont typeface="Arial" panose="020B0604020202020204" pitchFamily="34" charset="0"/>
              <a:tabLst>
                <a:tab pos="400050" algn="r"/>
                <a:tab pos="673100" algn="l"/>
              </a:tabLst>
              <a:defRPr sz="2200" b="1">
                <a:solidFill>
                  <a:schemeClr val="tx1"/>
                </a:solidFill>
                <a:latin typeface="Arial" panose="020B0604020202020204" pitchFamily="34" charset="0"/>
              </a:defRPr>
            </a:lvl1pPr>
            <a:lvl2pPr marL="342900" indent="-228600" defTabSz="400050">
              <a:spcBef>
                <a:spcPct val="20000"/>
              </a:spcBef>
              <a:buClr>
                <a:srgbClr val="FF0000"/>
              </a:buClr>
              <a:buFont typeface="Arial" panose="020B0604020202020204" pitchFamily="34" charset="0"/>
              <a:buChar char="•"/>
              <a:tabLst>
                <a:tab pos="400050" algn="r"/>
                <a:tab pos="673100" algn="l"/>
              </a:tabLst>
              <a:defRPr sz="2200" b="1">
                <a:solidFill>
                  <a:schemeClr val="tx1"/>
                </a:solidFill>
                <a:latin typeface="Arial" panose="020B0604020202020204" pitchFamily="34" charset="0"/>
              </a:defRPr>
            </a:lvl2pPr>
            <a:lvl3pPr marL="685800" indent="-228600" defTabSz="400050">
              <a:spcBef>
                <a:spcPct val="20000"/>
              </a:spcBef>
              <a:buClr>
                <a:srgbClr val="FF0000"/>
              </a:buClr>
              <a:buFont typeface="Arial" panose="020B0604020202020204" pitchFamily="34" charset="0"/>
              <a:buChar char="–"/>
              <a:tabLst>
                <a:tab pos="400050" algn="r"/>
                <a:tab pos="673100" algn="l"/>
              </a:tabLst>
              <a:defRPr sz="2000" b="1">
                <a:solidFill>
                  <a:schemeClr val="tx1"/>
                </a:solidFill>
                <a:latin typeface="Arial" panose="020B0604020202020204" pitchFamily="34" charset="0"/>
              </a:defRPr>
            </a:lvl3pPr>
            <a:lvl4pPr marL="1600200" indent="-228600" defTabSz="400050">
              <a:spcBef>
                <a:spcPct val="20000"/>
              </a:spcBef>
              <a:buClr>
                <a:srgbClr val="000000"/>
              </a:buClr>
              <a:buFont typeface="Arial" panose="020B0604020202020204" pitchFamily="34" charset="0"/>
              <a:tabLst>
                <a:tab pos="400050" algn="r"/>
                <a:tab pos="673100" algn="l"/>
              </a:tabLst>
              <a:defRPr sz="2000" b="1">
                <a:solidFill>
                  <a:srgbClr val="FF0000"/>
                </a:solidFill>
                <a:latin typeface="Arial" panose="020B0604020202020204" pitchFamily="34" charset="0"/>
              </a:defRPr>
            </a:lvl4pPr>
            <a:lvl5pPr marL="2057400" indent="-228600" defTabSz="400050">
              <a:spcBef>
                <a:spcPct val="20000"/>
              </a:spcBef>
              <a:buClr>
                <a:srgbClr val="000000"/>
              </a:buClr>
              <a:buFont typeface="Arial" panose="020B0604020202020204" pitchFamily="34" charset="0"/>
              <a:tabLst>
                <a:tab pos="400050" algn="r"/>
                <a:tab pos="673100" algn="l"/>
              </a:tabLst>
              <a:defRPr sz="2000" b="1">
                <a:solidFill>
                  <a:schemeClr val="tx1"/>
                </a:solidFill>
                <a:latin typeface="Arial" panose="020B0604020202020204" pitchFamily="34" charset="0"/>
              </a:defRPr>
            </a:lvl5pPr>
            <a:lvl6pPr marL="2514600" indent="-228600" defTabSz="400050" eaLnBrk="0" fontAlgn="base" hangingPunct="0">
              <a:spcBef>
                <a:spcPct val="20000"/>
              </a:spcBef>
              <a:spcAft>
                <a:spcPct val="0"/>
              </a:spcAft>
              <a:buClr>
                <a:srgbClr val="000000"/>
              </a:buClr>
              <a:buFont typeface="Arial" panose="020B0604020202020204" pitchFamily="34" charset="0"/>
              <a:tabLst>
                <a:tab pos="400050" algn="r"/>
                <a:tab pos="673100" algn="l"/>
              </a:tabLst>
              <a:defRPr sz="2000" b="1">
                <a:solidFill>
                  <a:schemeClr val="tx1"/>
                </a:solidFill>
                <a:latin typeface="Arial" panose="020B0604020202020204" pitchFamily="34" charset="0"/>
              </a:defRPr>
            </a:lvl6pPr>
            <a:lvl7pPr marL="2971800" indent="-228600" defTabSz="400050" eaLnBrk="0" fontAlgn="base" hangingPunct="0">
              <a:spcBef>
                <a:spcPct val="20000"/>
              </a:spcBef>
              <a:spcAft>
                <a:spcPct val="0"/>
              </a:spcAft>
              <a:buClr>
                <a:srgbClr val="000000"/>
              </a:buClr>
              <a:buFont typeface="Arial" panose="020B0604020202020204" pitchFamily="34" charset="0"/>
              <a:tabLst>
                <a:tab pos="400050" algn="r"/>
                <a:tab pos="673100" algn="l"/>
              </a:tabLst>
              <a:defRPr sz="2000" b="1">
                <a:solidFill>
                  <a:schemeClr val="tx1"/>
                </a:solidFill>
                <a:latin typeface="Arial" panose="020B0604020202020204" pitchFamily="34" charset="0"/>
              </a:defRPr>
            </a:lvl7pPr>
            <a:lvl8pPr marL="3429000" indent="-228600" defTabSz="400050" eaLnBrk="0" fontAlgn="base" hangingPunct="0">
              <a:spcBef>
                <a:spcPct val="20000"/>
              </a:spcBef>
              <a:spcAft>
                <a:spcPct val="0"/>
              </a:spcAft>
              <a:buClr>
                <a:srgbClr val="000000"/>
              </a:buClr>
              <a:buFont typeface="Arial" panose="020B0604020202020204" pitchFamily="34" charset="0"/>
              <a:tabLst>
                <a:tab pos="400050" algn="r"/>
                <a:tab pos="673100" algn="l"/>
              </a:tabLst>
              <a:defRPr sz="2000" b="1">
                <a:solidFill>
                  <a:schemeClr val="tx1"/>
                </a:solidFill>
                <a:latin typeface="Arial" panose="020B0604020202020204" pitchFamily="34" charset="0"/>
              </a:defRPr>
            </a:lvl8pPr>
            <a:lvl9pPr marL="3886200" indent="-228600" defTabSz="400050" eaLnBrk="0" fontAlgn="base" hangingPunct="0">
              <a:spcBef>
                <a:spcPct val="20000"/>
              </a:spcBef>
              <a:spcAft>
                <a:spcPct val="0"/>
              </a:spcAft>
              <a:buClr>
                <a:srgbClr val="000000"/>
              </a:buClr>
              <a:buFont typeface="Arial" panose="020B0604020202020204" pitchFamily="34" charset="0"/>
              <a:tabLst>
                <a:tab pos="400050" algn="r"/>
                <a:tab pos="673100" algn="l"/>
              </a:tabLst>
              <a:defRPr sz="2000" b="1">
                <a:solidFill>
                  <a:schemeClr val="tx1"/>
                </a:solidFill>
                <a:latin typeface="Arial" panose="020B0604020202020204" pitchFamily="34" charset="0"/>
              </a:defRPr>
            </a:lvl9pPr>
          </a:lstStyle>
          <a:p>
            <a:pPr>
              <a:spcBef>
                <a:spcPct val="0"/>
              </a:spcBef>
              <a:buClrTx/>
              <a:buFontTx/>
              <a:buNone/>
            </a:pPr>
            <a:r>
              <a:rPr lang="en-US" altLang="en-US" sz="1800">
                <a:latin typeface="Courier New" panose="02070309020205020404" pitchFamily="49" charset="0"/>
              </a:rPr>
              <a:t>ALTER SYSTEM SET </a:t>
            </a:r>
          </a:p>
          <a:p>
            <a:pPr>
              <a:spcBef>
                <a:spcPct val="0"/>
              </a:spcBef>
              <a:buClrTx/>
              <a:buFontTx/>
              <a:buNone/>
            </a:pPr>
            <a:r>
              <a:rPr lang="en-US" altLang="en-US" sz="1800">
                <a:latin typeface="Courier New" panose="02070309020205020404" pitchFamily="49" charset="0"/>
              </a:rPr>
              <a:t>SHARED_POOL_SIZE = 64M;</a:t>
            </a:r>
          </a:p>
        </p:txBody>
      </p:sp>
      <p:pic>
        <p:nvPicPr>
          <p:cNvPr id="2050" name="Picture 2" descr="Shared poo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8003" y="815658"/>
            <a:ext cx="5923497" cy="436110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txBox="1">
            <a:spLocks noChangeArrowheads="1"/>
          </p:cNvSpPr>
          <p:nvPr/>
        </p:nvSpPr>
        <p:spPr>
          <a:xfrm>
            <a:off x="-222916" y="815658"/>
            <a:ext cx="8209629" cy="4388765"/>
          </a:xfrm>
          <a:prstGeom prst="rect">
            <a:avLst/>
          </a:prstGeom>
        </p:spPr>
        <p:txBody>
          <a:bodyPr/>
          <a:lstStyle>
            <a:lvl1pPr marL="228600" indent="-228600" algn="l" defTabSz="914400" rtl="0" eaLnBrk="1" latinLnBrk="0" hangingPunct="1">
              <a:lnSpc>
                <a:spcPct val="90000"/>
              </a:lnSpc>
              <a:spcBef>
                <a:spcPct val="30000"/>
              </a:spcBef>
              <a:buClr>
                <a:srgbClr val="FF0000"/>
              </a:buClr>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ct val="30000"/>
              </a:spcBef>
              <a:buClr>
                <a:srgbClr val="FF0000"/>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ct val="30000"/>
              </a:spcBef>
              <a:buClr>
                <a:srgbClr val="FF0000"/>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ct val="30000"/>
              </a:spcBef>
              <a:buClr>
                <a:srgbClr val="FF0000"/>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ct val="30000"/>
              </a:spcBef>
              <a:buClr>
                <a:srgbClr val="FF0000"/>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lvl="1" algn="just"/>
            <a:r>
              <a:rPr lang="en-US" altLang="en-US">
                <a:latin typeface="Times New Roman" panose="02020603050405020304" pitchFamily="18" charset="0"/>
                <a:cs typeface="Times New Roman" panose="02020603050405020304" pitchFamily="18" charset="0"/>
              </a:rPr>
              <a:t>Được sử dụng để lưu trữ:</a:t>
            </a:r>
          </a:p>
          <a:p>
            <a:pPr lvl="2" algn="just"/>
            <a:r>
              <a:rPr lang="en-US" altLang="en-US" sz="2400">
                <a:latin typeface="Times New Roman" panose="02020603050405020304" pitchFamily="18" charset="0"/>
                <a:cs typeface="Times New Roman" panose="02020603050405020304" pitchFamily="18" charset="0"/>
              </a:rPr>
              <a:t>Các lệnh SQL thực hiện gần đây nhất </a:t>
            </a:r>
          </a:p>
          <a:p>
            <a:pPr lvl="2" algn="just"/>
            <a:r>
              <a:rPr lang="en-US" altLang="en-US" sz="2400">
                <a:latin typeface="Times New Roman" panose="02020603050405020304" pitchFamily="18" charset="0"/>
                <a:cs typeface="Times New Roman" panose="02020603050405020304" pitchFamily="18" charset="0"/>
              </a:rPr>
              <a:t>Những định nghĩa dữ liệu được sử dụng gần đây nhất </a:t>
            </a:r>
          </a:p>
          <a:p>
            <a:pPr lvl="1" algn="just"/>
            <a:r>
              <a:rPr lang="en-US" altLang="en-US">
                <a:latin typeface="Times New Roman" panose="02020603050405020304" pitchFamily="18" charset="0"/>
                <a:cs typeface="Times New Roman" panose="02020603050405020304" pitchFamily="18" charset="0"/>
              </a:rPr>
              <a:t>Bao gồm hai cấu trúc bộ nhớ liên quan tới hoạt động chính:</a:t>
            </a:r>
          </a:p>
          <a:p>
            <a:pPr lvl="2" algn="just"/>
            <a:r>
              <a:rPr lang="en-US" altLang="en-US" sz="2400" b="1">
                <a:latin typeface="Times New Roman" panose="02020603050405020304" pitchFamily="18" charset="0"/>
                <a:cs typeface="Times New Roman" panose="02020603050405020304" pitchFamily="18" charset="0"/>
              </a:rPr>
              <a:t>Library Cache: </a:t>
            </a:r>
            <a:r>
              <a:rPr lang="en-US" altLang="en-US" sz="2400">
                <a:latin typeface="Times New Roman" panose="02020603050405020304" pitchFamily="18" charset="0"/>
                <a:cs typeface="Times New Roman" panose="02020603050405020304" pitchFamily="18" charset="0"/>
              </a:rPr>
              <a:t>Lưu trữ thông tin về các</a:t>
            </a:r>
          </a:p>
          <a:p>
            <a:pPr marL="914400" lvl="2" indent="0" algn="just">
              <a:buNone/>
            </a:pPr>
            <a:r>
              <a:rPr lang="en-US" altLang="en-US" sz="2400">
                <a:latin typeface="Times New Roman" panose="02020603050405020304" pitchFamily="18" charset="0"/>
                <a:cs typeface="Times New Roman" panose="02020603050405020304" pitchFamily="18" charset="0"/>
              </a:rPr>
              <a:t> lệnh SQL và PL/SQL được sử dụng gần </a:t>
            </a:r>
          </a:p>
          <a:p>
            <a:pPr marL="914400" lvl="2" indent="0" algn="just">
              <a:buNone/>
            </a:pPr>
            <a:r>
              <a:rPr lang="en-US" altLang="en-US" sz="2400">
                <a:latin typeface="Times New Roman" panose="02020603050405020304" pitchFamily="18" charset="0"/>
                <a:cs typeface="Times New Roman" panose="02020603050405020304" pitchFamily="18" charset="0"/>
              </a:rPr>
              <a:t>đây nhất.</a:t>
            </a:r>
          </a:p>
          <a:p>
            <a:pPr lvl="2" algn="just"/>
            <a:r>
              <a:rPr lang="en-US" altLang="en-US" sz="2400" b="1">
                <a:latin typeface="Times New Roman" panose="02020603050405020304" pitchFamily="18" charset="0"/>
                <a:cs typeface="Times New Roman" panose="02020603050405020304" pitchFamily="18" charset="0"/>
              </a:rPr>
              <a:t>Data Dictionary Cache: </a:t>
            </a:r>
            <a:r>
              <a:rPr lang="en-US" sz="2400">
                <a:latin typeface="Times New Roman" panose="02020603050405020304" pitchFamily="18" charset="0"/>
                <a:cs typeface="Times New Roman" panose="02020603050405020304" pitchFamily="18" charset="0"/>
              </a:rPr>
              <a:t>chứa các</a:t>
            </a:r>
          </a:p>
          <a:p>
            <a:pPr marL="914400" lvl="2" indent="0" algn="just">
              <a:buNone/>
            </a:pPr>
            <a:r>
              <a:rPr lang="en-US" sz="2400">
                <a:latin typeface="Times New Roman" panose="02020603050405020304" pitchFamily="18" charset="0"/>
                <a:cs typeface="Times New Roman" panose="02020603050405020304" pitchFamily="18" charset="0"/>
              </a:rPr>
              <a:t>thông tin về database, cấu trúc database, </a:t>
            </a:r>
          </a:p>
          <a:p>
            <a:pPr marL="914400" lvl="2" indent="0" algn="just">
              <a:buNone/>
            </a:pPr>
            <a:r>
              <a:rPr lang="en-US" sz="2400">
                <a:latin typeface="Times New Roman" panose="02020603050405020304" pitchFamily="18" charset="0"/>
                <a:cs typeface="Times New Roman" panose="02020603050405020304" pitchFamily="18" charset="0"/>
              </a:rPr>
              <a:t>thông tin về user… để hỗ trợ trong việc </a:t>
            </a:r>
          </a:p>
          <a:p>
            <a:pPr marL="914400" lvl="2" indent="0" algn="just">
              <a:buNone/>
            </a:pPr>
            <a:r>
              <a:rPr lang="en-US" sz="2400">
                <a:latin typeface="Times New Roman" panose="02020603050405020304" pitchFamily="18" charset="0"/>
                <a:cs typeface="Times New Roman" panose="02020603050405020304" pitchFamily="18" charset="0"/>
              </a:rPr>
              <a:t>thực thi các câu lệnh.</a:t>
            </a:r>
          </a:p>
          <a:p>
            <a:pPr lvl="2" algn="just"/>
            <a:r>
              <a:rPr lang="en-US" sz="2400">
                <a:latin typeface="Times New Roman" panose="02020603050405020304" pitchFamily="18" charset="0"/>
                <a:cs typeface="Times New Roman" panose="02020603050405020304" pitchFamily="18" charset="0"/>
              </a:rPr>
              <a:t> </a:t>
            </a:r>
            <a:r>
              <a:rPr lang="en-US" altLang="en-US" sz="2400">
                <a:latin typeface="Times New Roman" panose="02020603050405020304" pitchFamily="18" charset="0"/>
                <a:cs typeface="Times New Roman" panose="02020603050405020304" pitchFamily="18" charset="0"/>
              </a:rPr>
              <a:t>Được xác định kích cỡ qua tham số </a:t>
            </a:r>
            <a:r>
              <a:rPr lang="en-US" altLang="en-US">
                <a:latin typeface="Times New Roman" panose="02020603050405020304" pitchFamily="18" charset="0"/>
                <a:cs typeface="Times New Roman" panose="02020603050405020304" pitchFamily="18" charset="0"/>
              </a:rPr>
              <a:t>SHARED_POOL_SIZE</a:t>
            </a:r>
          </a:p>
        </p:txBody>
      </p:sp>
    </p:spTree>
    <p:extLst>
      <p:ext uri="{BB962C8B-B14F-4D97-AF65-F5344CB8AC3E}">
        <p14:creationId xmlns:p14="http://schemas.microsoft.com/office/powerpoint/2010/main" val="4156710966"/>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ga_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5737" y="3280533"/>
            <a:ext cx="9393238" cy="3577467"/>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p:cNvSpPr txBox="1">
            <a:spLocks noChangeArrowheads="1"/>
          </p:cNvSpPr>
          <p:nvPr/>
        </p:nvSpPr>
        <p:spPr>
          <a:xfrm>
            <a:off x="0" y="-147430"/>
            <a:ext cx="7315200" cy="876300"/>
          </a:xfrm>
          <a:prstGeom prst="rect">
            <a:avLst/>
          </a:prstGeom>
        </p:spPr>
        <p:txBody>
          <a:bodyPr vert="horz" lIns="91440" tIns="45720" rIns="91440" bIns="45720" rtlCol="0" anchor="b">
            <a:normAutofit/>
          </a:bodyPr>
          <a:lstStyle>
            <a:lvl1pPr algn="l" defTabSz="914400" rtl="0" eaLnBrk="1" latinLnBrk="0" hangingPunct="1">
              <a:spcBef>
                <a:spcPct val="0"/>
              </a:spcBef>
              <a:buNone/>
              <a:defRPr sz="3600" b="1" kern="1200">
                <a:solidFill>
                  <a:schemeClr val="bg1"/>
                </a:solidFill>
                <a:latin typeface="Arial" panose="020B0604020202020204" pitchFamily="34" charset="0"/>
                <a:ea typeface="+mj-ea"/>
                <a:cs typeface="Arial" panose="020B0604020202020204" pitchFamily="34" charset="0"/>
              </a:defRPr>
            </a:lvl1pPr>
          </a:lstStyle>
          <a:p>
            <a:r>
              <a:rPr lang="en-US" altLang="en-US"/>
              <a:t>1.2. Database Buffer Cache</a:t>
            </a:r>
          </a:p>
        </p:txBody>
      </p:sp>
      <p:sp>
        <p:nvSpPr>
          <p:cNvPr id="20" name="Rectangle 19"/>
          <p:cNvSpPr txBox="1">
            <a:spLocks noChangeArrowheads="1"/>
          </p:cNvSpPr>
          <p:nvPr/>
        </p:nvSpPr>
        <p:spPr>
          <a:xfrm>
            <a:off x="735323" y="1069976"/>
            <a:ext cx="10405442" cy="2235200"/>
          </a:xfrm>
          <a:prstGeom prst="rect">
            <a:avLst/>
          </a:prstGeom>
        </p:spPr>
        <p:txBody>
          <a:bodyPr/>
          <a:lstStyle>
            <a:lvl1pPr marL="228600" indent="-228600" algn="l" defTabSz="914400" rtl="0" eaLnBrk="1" latinLnBrk="0" hangingPunct="1">
              <a:lnSpc>
                <a:spcPct val="90000"/>
              </a:lnSpc>
              <a:spcBef>
                <a:spcPct val="30000"/>
              </a:spcBef>
              <a:buClr>
                <a:srgbClr val="FF0000"/>
              </a:buClr>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ct val="30000"/>
              </a:spcBef>
              <a:buClr>
                <a:srgbClr val="FF0000"/>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ct val="30000"/>
              </a:spcBef>
              <a:buClr>
                <a:srgbClr val="FF0000"/>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ct val="30000"/>
              </a:spcBef>
              <a:buClr>
                <a:srgbClr val="FF0000"/>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ct val="30000"/>
              </a:spcBef>
              <a:buClr>
                <a:srgbClr val="FF0000"/>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lvl="1"/>
            <a:r>
              <a:rPr lang="en-US" altLang="en-US">
                <a:latin typeface="Times New Roman" panose="02020603050405020304" pitchFamily="18" charset="0"/>
                <a:cs typeface="Times New Roman" panose="02020603050405020304" pitchFamily="18" charset="0"/>
              </a:rPr>
              <a:t>Lưu trữ các bản sao của các khối dữ liệu lấy từ các data file. </a:t>
            </a:r>
          </a:p>
          <a:p>
            <a:pPr lvl="1"/>
            <a:r>
              <a:rPr lang="en-US" altLang="en-US">
                <a:latin typeface="Times New Roman" panose="02020603050405020304" pitchFamily="18" charset="0"/>
                <a:cs typeface="Times New Roman" panose="02020603050405020304" pitchFamily="18" charset="0"/>
              </a:rPr>
              <a:t>Cải thiện hoạt động khi truy vấn và cập nhật dữ liệu </a:t>
            </a:r>
          </a:p>
          <a:p>
            <a:pPr lvl="1"/>
            <a:r>
              <a:rPr lang="en-US" altLang="en-US">
                <a:latin typeface="Times New Roman" panose="02020603050405020304" pitchFamily="18" charset="0"/>
                <a:cs typeface="Times New Roman" panose="02020603050405020304" pitchFamily="18" charset="0"/>
              </a:rPr>
              <a:t>Được quản lý thông qua thuật toán </a:t>
            </a:r>
            <a:r>
              <a:rPr lang="en-US">
                <a:latin typeface="Times New Roman" panose="02020603050405020304" pitchFamily="18" charset="0"/>
                <a:cs typeface="Times New Roman" panose="02020603050405020304" pitchFamily="18" charset="0"/>
              </a:rPr>
              <a:t>least recently used (LRU)</a:t>
            </a:r>
          </a:p>
          <a:p>
            <a:pPr lvl="1"/>
            <a:r>
              <a:rPr lang="en-US" altLang="en-US">
                <a:latin typeface="Times New Roman" panose="02020603050405020304" pitchFamily="18" charset="0"/>
                <a:cs typeface="Times New Roman" panose="02020603050405020304" pitchFamily="18" charset="0"/>
              </a:rPr>
              <a:t>DB_BLOCK_SIZE xác định kích thước của 1 khối lưu trữ</a:t>
            </a:r>
          </a:p>
          <a:p>
            <a:pPr lvl="1"/>
            <a:r>
              <a:rPr lang="en-US">
                <a:latin typeface="Times New Roman" panose="02020603050405020304" pitchFamily="18" charset="0"/>
                <a:cs typeface="Times New Roman" panose="02020603050405020304" pitchFamily="18" charset="0"/>
              </a:rPr>
              <a:t>DB_BLOCK_BUFFERS xác định kích thước vùng đệm của db buffer cache</a:t>
            </a:r>
            <a:endParaRPr lang="en-US"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6923123"/>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8"/>
          <p:cNvSpPr txBox="1">
            <a:spLocks noChangeArrowheads="1"/>
          </p:cNvSpPr>
          <p:nvPr/>
        </p:nvSpPr>
        <p:spPr>
          <a:xfrm>
            <a:off x="201613" y="-146050"/>
            <a:ext cx="7315200" cy="876300"/>
          </a:xfrm>
          <a:prstGeom prst="rect">
            <a:avLst/>
          </a:prstGeom>
        </p:spPr>
        <p:txBody>
          <a:bodyPr vert="horz" lIns="91440" tIns="45720" rIns="91440" bIns="45720" rtlCol="0" anchor="b">
            <a:normAutofit/>
          </a:bodyPr>
          <a:lstStyle>
            <a:lvl1pPr algn="l" defTabSz="914400" rtl="0" eaLnBrk="1" latinLnBrk="0" hangingPunct="1">
              <a:spcBef>
                <a:spcPct val="0"/>
              </a:spcBef>
              <a:buNone/>
              <a:defRPr sz="3600" b="1" kern="1200">
                <a:solidFill>
                  <a:schemeClr val="bg1"/>
                </a:solidFill>
                <a:latin typeface="Arial" panose="020B0604020202020204" pitchFamily="34" charset="0"/>
                <a:ea typeface="+mj-ea"/>
                <a:cs typeface="Arial" panose="020B0604020202020204" pitchFamily="34" charset="0"/>
              </a:defRPr>
            </a:lvl1pPr>
          </a:lstStyle>
          <a:p>
            <a:r>
              <a:rPr lang="en-US" altLang="en-US"/>
              <a:t>1.3. Redo Log Buffer</a:t>
            </a:r>
          </a:p>
        </p:txBody>
      </p:sp>
      <p:sp>
        <p:nvSpPr>
          <p:cNvPr id="4" name="Rectangle 19"/>
          <p:cNvSpPr txBox="1">
            <a:spLocks noChangeArrowheads="1"/>
          </p:cNvSpPr>
          <p:nvPr/>
        </p:nvSpPr>
        <p:spPr>
          <a:xfrm>
            <a:off x="922028" y="2705100"/>
            <a:ext cx="10494134" cy="1402343"/>
          </a:xfrm>
          <a:prstGeom prst="rect">
            <a:avLst/>
          </a:prstGeom>
        </p:spPr>
        <p:txBody>
          <a:bodyPr/>
          <a:lstStyle>
            <a:lvl1pPr marL="228600" indent="-228600" algn="l" defTabSz="914400" rtl="0" eaLnBrk="1" latinLnBrk="0" hangingPunct="1">
              <a:lnSpc>
                <a:spcPct val="90000"/>
              </a:lnSpc>
              <a:spcBef>
                <a:spcPct val="30000"/>
              </a:spcBef>
              <a:buClr>
                <a:srgbClr val="FF0000"/>
              </a:buClr>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ct val="30000"/>
              </a:spcBef>
              <a:buClr>
                <a:srgbClr val="FF0000"/>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ct val="30000"/>
              </a:spcBef>
              <a:buClr>
                <a:srgbClr val="FF0000"/>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ct val="30000"/>
              </a:spcBef>
              <a:buClr>
                <a:srgbClr val="FF0000"/>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ct val="30000"/>
              </a:spcBef>
              <a:buClr>
                <a:srgbClr val="FF0000"/>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lvl="1" algn="just"/>
            <a:endParaRPr lang="en-US" altLang="en-US">
              <a:latin typeface="Times New Roman" panose="02020603050405020304" pitchFamily="18" charset="0"/>
              <a:cs typeface="Times New Roman" panose="02020603050405020304" pitchFamily="18" charset="0"/>
            </a:endParaRPr>
          </a:p>
        </p:txBody>
      </p:sp>
      <p:pic>
        <p:nvPicPr>
          <p:cNvPr id="4098" name="Picture 2" descr="Redo Log Buff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9442" y="3351311"/>
            <a:ext cx="9495257" cy="332422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433386" y="914916"/>
            <a:ext cx="11096625" cy="2308324"/>
          </a:xfrm>
          <a:prstGeom prst="rect">
            <a:avLst/>
          </a:prstGeom>
        </p:spPr>
        <p:txBody>
          <a:bodyPr wrap="square">
            <a:spAutoFit/>
          </a:bodyPr>
          <a:lstStyle/>
          <a:p>
            <a:pPr marL="342900" indent="-342900">
              <a:buFont typeface="Arial" panose="020B0604020202020204" pitchFamily="34" charset="0"/>
              <a:buChar char="•"/>
            </a:pPr>
            <a:r>
              <a:rPr lang="en-US" sz="2400">
                <a:solidFill>
                  <a:srgbClr val="333333"/>
                </a:solidFill>
                <a:latin typeface="Times New Roman" panose="02020603050405020304" pitchFamily="18" charset="0"/>
                <a:cs typeface="Times New Roman" panose="02020603050405020304" pitchFamily="18" charset="0"/>
              </a:rPr>
              <a:t>Redo log buffer là phần bộ nhớ chứa những thay đổi trên database, do các câu lệnh DML, DDL hay do các hoạt động nội bộ trong database. </a:t>
            </a:r>
          </a:p>
          <a:p>
            <a:pPr marL="342900" indent="-342900">
              <a:buFont typeface="Arial" panose="020B0604020202020204" pitchFamily="34" charset="0"/>
              <a:buChar char="•"/>
            </a:pPr>
            <a:r>
              <a:rPr lang="en-US" sz="2400">
                <a:solidFill>
                  <a:srgbClr val="333333"/>
                </a:solidFill>
                <a:latin typeface="Times New Roman" panose="02020603050405020304" pitchFamily="18" charset="0"/>
                <a:cs typeface="Times New Roman" panose="02020603050405020304" pitchFamily="18" charset="0"/>
              </a:rPr>
              <a:t>Khi Redo log buffer </a:t>
            </a:r>
            <a:r>
              <a:rPr lang="en-US" sz="2400" b="1">
                <a:solidFill>
                  <a:srgbClr val="333333"/>
                </a:solidFill>
                <a:latin typeface="Times New Roman" panose="02020603050405020304" pitchFamily="18" charset="0"/>
                <a:cs typeface="Times New Roman" panose="02020603050405020304" pitchFamily="18" charset="0"/>
              </a:rPr>
              <a:t>đầy 1/3</a:t>
            </a:r>
            <a:r>
              <a:rPr lang="en-US" sz="2400">
                <a:solidFill>
                  <a:srgbClr val="333333"/>
                </a:solidFill>
                <a:latin typeface="Times New Roman" panose="02020603050405020304" pitchFamily="18" charset="0"/>
                <a:cs typeface="Times New Roman" panose="02020603050405020304" pitchFamily="18" charset="0"/>
              </a:rPr>
              <a:t> hoặc cứ </a:t>
            </a:r>
            <a:r>
              <a:rPr lang="en-US" sz="2400" b="1">
                <a:solidFill>
                  <a:srgbClr val="333333"/>
                </a:solidFill>
                <a:latin typeface="Times New Roman" panose="02020603050405020304" pitchFamily="18" charset="0"/>
                <a:cs typeface="Times New Roman" panose="02020603050405020304" pitchFamily="18" charset="0"/>
              </a:rPr>
              <a:t>sau mỗi 3 giây</a:t>
            </a:r>
            <a:r>
              <a:rPr lang="en-US" sz="2400">
                <a:solidFill>
                  <a:srgbClr val="333333"/>
                </a:solidFill>
                <a:latin typeface="Times New Roman" panose="02020603050405020304" pitchFamily="18" charset="0"/>
                <a:cs typeface="Times New Roman" panose="02020603050405020304" pitchFamily="18" charset="0"/>
              </a:rPr>
              <a:t>, </a:t>
            </a:r>
            <a:r>
              <a:rPr lang="en-US" sz="2400" b="1">
                <a:solidFill>
                  <a:srgbClr val="333333"/>
                </a:solidFill>
                <a:latin typeface="Times New Roman" panose="02020603050405020304" pitchFamily="18" charset="0"/>
                <a:cs typeface="Times New Roman" panose="02020603050405020304" pitchFamily="18" charset="0"/>
              </a:rPr>
              <a:t>Log writer process</a:t>
            </a:r>
            <a:r>
              <a:rPr lang="en-US" sz="2400">
                <a:solidFill>
                  <a:srgbClr val="333333"/>
                </a:solidFill>
                <a:latin typeface="Times New Roman" panose="02020603050405020304" pitchFamily="18" charset="0"/>
                <a:cs typeface="Times New Roman" panose="02020603050405020304" pitchFamily="18" charset="0"/>
              </a:rPr>
              <a:t> sẽ ghi vào Redo log files, để lấy chỗ cho những nội dung thay đổi mới.</a:t>
            </a:r>
          </a:p>
          <a:p>
            <a:pPr marL="342900" indent="-342900">
              <a:buFont typeface="Arial" panose="020B0604020202020204" pitchFamily="34" charset="0"/>
              <a:buChar char="•"/>
            </a:pPr>
            <a:r>
              <a:rPr lang="en-US" altLang="en-US" sz="2400">
                <a:solidFill>
                  <a:srgbClr val="333333"/>
                </a:solidFill>
                <a:latin typeface="Times New Roman" panose="02020603050405020304" pitchFamily="18" charset="0"/>
                <a:cs typeface="Times New Roman" panose="02020603050405020304" pitchFamily="18" charset="0"/>
              </a:rPr>
              <a:t>Kích thước được xác định thông qua tham số LOG_BUFFER.</a:t>
            </a:r>
          </a:p>
          <a:p>
            <a:pPr marL="342900" indent="-342900">
              <a:buFont typeface="Arial" panose="020B0604020202020204" pitchFamily="34" charset="0"/>
              <a:buChar char="•"/>
            </a:pPr>
            <a:r>
              <a:rPr lang="en-US" sz="2400">
                <a:solidFill>
                  <a:srgbClr val="333333"/>
                </a:solidFill>
                <a:latin typeface="Times New Roman" panose="02020603050405020304" pitchFamily="18" charset="0"/>
                <a:cs typeface="Times New Roman" panose="02020603050405020304" pitchFamily="18" charset="0"/>
              </a:rPr>
              <a:t>Mục đích để khôi phục CSDL khi xảy ra lỗi.</a:t>
            </a: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4288245"/>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224160" y="-168965"/>
            <a:ext cx="7315200" cy="876300"/>
          </a:xfrm>
          <a:prstGeom prst="rect">
            <a:avLst/>
          </a:prstGeom>
        </p:spPr>
        <p:txBody>
          <a:bodyPr vert="horz" lIns="91440" tIns="45720" rIns="91440" bIns="45720" rtlCol="0" anchor="b">
            <a:normAutofit/>
          </a:bodyPr>
          <a:lstStyle>
            <a:lvl1pPr algn="l" defTabSz="914400" rtl="0" eaLnBrk="1" latinLnBrk="0" hangingPunct="1">
              <a:spcBef>
                <a:spcPct val="0"/>
              </a:spcBef>
              <a:buNone/>
              <a:defRPr sz="3600" b="1" kern="1200">
                <a:solidFill>
                  <a:schemeClr val="bg1"/>
                </a:solidFill>
                <a:latin typeface="Arial" panose="020B0604020202020204" pitchFamily="34" charset="0"/>
                <a:ea typeface="+mj-ea"/>
                <a:cs typeface="Arial" panose="020B0604020202020204" pitchFamily="34" charset="0"/>
              </a:defRPr>
            </a:lvl1pPr>
          </a:lstStyle>
          <a:p>
            <a:r>
              <a:rPr lang="en-US" altLang="en-US"/>
              <a:t>2. Program Global Area (PGA) </a:t>
            </a:r>
          </a:p>
        </p:txBody>
      </p:sp>
      <p:sp>
        <p:nvSpPr>
          <p:cNvPr id="4" name="Rectangle 3"/>
          <p:cNvSpPr txBox="1">
            <a:spLocks noChangeArrowheads="1"/>
          </p:cNvSpPr>
          <p:nvPr/>
        </p:nvSpPr>
        <p:spPr>
          <a:xfrm>
            <a:off x="645181" y="4346988"/>
            <a:ext cx="6235492" cy="4591948"/>
          </a:xfrm>
          <a:prstGeom prst="rect">
            <a:avLst/>
          </a:prstGeom>
        </p:spPr>
        <p:txBody>
          <a:bodyPr/>
          <a:lstStyle>
            <a:lvl1pPr marL="228600" indent="-228600" algn="l" defTabSz="914400" rtl="0" eaLnBrk="1" latinLnBrk="0" hangingPunct="1">
              <a:lnSpc>
                <a:spcPct val="90000"/>
              </a:lnSpc>
              <a:spcBef>
                <a:spcPct val="30000"/>
              </a:spcBef>
              <a:buClr>
                <a:srgbClr val="FF0000"/>
              </a:buClr>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ct val="30000"/>
              </a:spcBef>
              <a:buClr>
                <a:srgbClr val="FF0000"/>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ct val="30000"/>
              </a:spcBef>
              <a:buClr>
                <a:srgbClr val="FF0000"/>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ct val="30000"/>
              </a:spcBef>
              <a:buClr>
                <a:srgbClr val="FF0000"/>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ct val="30000"/>
              </a:spcBef>
              <a:buClr>
                <a:srgbClr val="FF0000"/>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lvl="1" algn="just"/>
            <a:endParaRPr lang="en-US" altLang="en-US">
              <a:latin typeface="Times New Roman" panose="02020603050405020304" pitchFamily="18" charset="0"/>
              <a:cs typeface="Times New Roman" panose="02020603050405020304" pitchFamily="18" charset="0"/>
            </a:endParaRPr>
          </a:p>
        </p:txBody>
      </p:sp>
      <p:sp>
        <p:nvSpPr>
          <p:cNvPr id="5" name="Oval 4"/>
          <p:cNvSpPr>
            <a:spLocks noChangeArrowheads="1"/>
          </p:cNvSpPr>
          <p:nvPr/>
        </p:nvSpPr>
        <p:spPr bwMode="blackWhite">
          <a:xfrm>
            <a:off x="9057010" y="3578638"/>
            <a:ext cx="1804988" cy="692150"/>
          </a:xfrm>
          <a:prstGeom prst="ellipse">
            <a:avLst/>
          </a:prstGeom>
          <a:solidFill>
            <a:srgbClr val="FFDC4F"/>
          </a:solidFill>
          <a:ln w="2857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spcBef>
                <a:spcPct val="50000"/>
              </a:spcBef>
              <a:buClrTx/>
              <a:buFontTx/>
              <a:buNone/>
            </a:pPr>
            <a:r>
              <a:rPr lang="en-US" altLang="en-US" sz="1800">
                <a:latin typeface="Times New Roman" panose="02020603050405020304" pitchFamily="18" charset="0"/>
                <a:cs typeface="Times New Roman" panose="02020603050405020304" pitchFamily="18" charset="0"/>
              </a:rPr>
              <a:t>User</a:t>
            </a:r>
            <a:br>
              <a:rPr lang="en-US" altLang="en-US" sz="1800">
                <a:latin typeface="Times New Roman" panose="02020603050405020304" pitchFamily="18" charset="0"/>
                <a:cs typeface="Times New Roman" panose="02020603050405020304" pitchFamily="18" charset="0"/>
              </a:rPr>
            </a:br>
            <a:r>
              <a:rPr lang="en-US" altLang="en-US" sz="1800">
                <a:latin typeface="Times New Roman" panose="02020603050405020304" pitchFamily="18" charset="0"/>
                <a:cs typeface="Times New Roman" panose="02020603050405020304" pitchFamily="18" charset="0"/>
              </a:rPr>
              <a:t>process</a:t>
            </a:r>
          </a:p>
        </p:txBody>
      </p:sp>
      <p:sp>
        <p:nvSpPr>
          <p:cNvPr id="6" name="AutoShape 5"/>
          <p:cNvSpPr>
            <a:spLocks noChangeArrowheads="1"/>
          </p:cNvSpPr>
          <p:nvPr/>
        </p:nvSpPr>
        <p:spPr bwMode="blackWhite">
          <a:xfrm>
            <a:off x="10366698" y="2008601"/>
            <a:ext cx="1077912" cy="533400"/>
          </a:xfrm>
          <a:prstGeom prst="roundRect">
            <a:avLst>
              <a:gd name="adj" fmla="val 12495"/>
            </a:avLst>
          </a:prstGeom>
          <a:solidFill>
            <a:srgbClr val="FF6699"/>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endParaRPr lang="en-US" altLang="en-US" sz="1800">
              <a:latin typeface="Times New Roman" panose="02020603050405020304" pitchFamily="18" charset="0"/>
              <a:cs typeface="Times New Roman" panose="02020603050405020304" pitchFamily="18" charset="0"/>
            </a:endParaRPr>
          </a:p>
        </p:txBody>
      </p:sp>
      <p:grpSp>
        <p:nvGrpSpPr>
          <p:cNvPr id="7" name="Group 6"/>
          <p:cNvGrpSpPr>
            <a:grpSpLocks/>
          </p:cNvGrpSpPr>
          <p:nvPr/>
        </p:nvGrpSpPr>
        <p:grpSpPr bwMode="auto">
          <a:xfrm>
            <a:off x="9482460" y="4346988"/>
            <a:ext cx="1100138" cy="1062038"/>
            <a:chOff x="1027" y="2544"/>
            <a:chExt cx="1066" cy="813"/>
          </a:xfrm>
        </p:grpSpPr>
        <p:sp>
          <p:nvSpPr>
            <p:cNvPr id="8" name="Freeform 7"/>
            <p:cNvSpPr>
              <a:spLocks/>
            </p:cNvSpPr>
            <p:nvPr/>
          </p:nvSpPr>
          <p:spPr bwMode="auto">
            <a:xfrm>
              <a:off x="1917" y="3160"/>
              <a:ext cx="174" cy="71"/>
            </a:xfrm>
            <a:custGeom>
              <a:avLst/>
              <a:gdLst>
                <a:gd name="T0" fmla="*/ 165 w 174"/>
                <a:gd name="T1" fmla="*/ 13 h 71"/>
                <a:gd name="T2" fmla="*/ 56 w 174"/>
                <a:gd name="T3" fmla="*/ 0 h 71"/>
                <a:gd name="T4" fmla="*/ 1 w 174"/>
                <a:gd name="T5" fmla="*/ 36 h 71"/>
                <a:gd name="T6" fmla="*/ 0 w 174"/>
                <a:gd name="T7" fmla="*/ 36 h 71"/>
                <a:gd name="T8" fmla="*/ 0 w 174"/>
                <a:gd name="T9" fmla="*/ 37 h 71"/>
                <a:gd name="T10" fmla="*/ 0 w 174"/>
                <a:gd name="T11" fmla="*/ 38 h 71"/>
                <a:gd name="T12" fmla="*/ 0 w 174"/>
                <a:gd name="T13" fmla="*/ 40 h 71"/>
                <a:gd name="T14" fmla="*/ 0 w 174"/>
                <a:gd name="T15" fmla="*/ 41 h 71"/>
                <a:gd name="T16" fmla="*/ 1 w 174"/>
                <a:gd name="T17" fmla="*/ 42 h 71"/>
                <a:gd name="T18" fmla="*/ 1 w 174"/>
                <a:gd name="T19" fmla="*/ 43 h 71"/>
                <a:gd name="T20" fmla="*/ 2 w 174"/>
                <a:gd name="T21" fmla="*/ 44 h 71"/>
                <a:gd name="T22" fmla="*/ 8 w 174"/>
                <a:gd name="T23" fmla="*/ 45 h 71"/>
                <a:gd name="T24" fmla="*/ 23 w 174"/>
                <a:gd name="T25" fmla="*/ 50 h 71"/>
                <a:gd name="T26" fmla="*/ 43 w 174"/>
                <a:gd name="T27" fmla="*/ 55 h 71"/>
                <a:gd name="T28" fmla="*/ 66 w 174"/>
                <a:gd name="T29" fmla="*/ 60 h 71"/>
                <a:gd name="T30" fmla="*/ 92 w 174"/>
                <a:gd name="T31" fmla="*/ 64 h 71"/>
                <a:gd name="T32" fmla="*/ 115 w 174"/>
                <a:gd name="T33" fmla="*/ 68 h 71"/>
                <a:gd name="T34" fmla="*/ 133 w 174"/>
                <a:gd name="T35" fmla="*/ 70 h 71"/>
                <a:gd name="T36" fmla="*/ 146 w 174"/>
                <a:gd name="T37" fmla="*/ 68 h 71"/>
                <a:gd name="T38" fmla="*/ 149 w 174"/>
                <a:gd name="T39" fmla="*/ 66 h 71"/>
                <a:gd name="T40" fmla="*/ 152 w 174"/>
                <a:gd name="T41" fmla="*/ 64 h 71"/>
                <a:gd name="T42" fmla="*/ 156 w 174"/>
                <a:gd name="T43" fmla="*/ 62 h 71"/>
                <a:gd name="T44" fmla="*/ 160 w 174"/>
                <a:gd name="T45" fmla="*/ 59 h 71"/>
                <a:gd name="T46" fmla="*/ 162 w 174"/>
                <a:gd name="T47" fmla="*/ 57 h 71"/>
                <a:gd name="T48" fmla="*/ 166 w 174"/>
                <a:gd name="T49" fmla="*/ 54 h 71"/>
                <a:gd name="T50" fmla="*/ 169 w 174"/>
                <a:gd name="T51" fmla="*/ 52 h 71"/>
                <a:gd name="T52" fmla="*/ 170 w 174"/>
                <a:gd name="T53" fmla="*/ 50 h 71"/>
                <a:gd name="T54" fmla="*/ 171 w 174"/>
                <a:gd name="T55" fmla="*/ 42 h 71"/>
                <a:gd name="T56" fmla="*/ 173 w 174"/>
                <a:gd name="T57" fmla="*/ 36 h 71"/>
                <a:gd name="T58" fmla="*/ 171 w 174"/>
                <a:gd name="T59" fmla="*/ 31 h 71"/>
                <a:gd name="T60" fmla="*/ 170 w 174"/>
                <a:gd name="T61" fmla="*/ 25 h 71"/>
                <a:gd name="T62" fmla="*/ 169 w 174"/>
                <a:gd name="T63" fmla="*/ 19 h 71"/>
                <a:gd name="T64" fmla="*/ 166 w 174"/>
                <a:gd name="T65" fmla="*/ 16 h 71"/>
                <a:gd name="T66" fmla="*/ 165 w 174"/>
                <a:gd name="T67" fmla="*/ 13 h 71"/>
                <a:gd name="T68" fmla="*/ 165 w 174"/>
                <a:gd name="T69" fmla="*/ 13 h 7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74" h="71">
                  <a:moveTo>
                    <a:pt x="165" y="13"/>
                  </a:moveTo>
                  <a:lnTo>
                    <a:pt x="56" y="0"/>
                  </a:lnTo>
                  <a:lnTo>
                    <a:pt x="1" y="36"/>
                  </a:lnTo>
                  <a:lnTo>
                    <a:pt x="0" y="36"/>
                  </a:lnTo>
                  <a:lnTo>
                    <a:pt x="0" y="37"/>
                  </a:lnTo>
                  <a:lnTo>
                    <a:pt x="0" y="38"/>
                  </a:lnTo>
                  <a:lnTo>
                    <a:pt x="0" y="40"/>
                  </a:lnTo>
                  <a:lnTo>
                    <a:pt x="0" y="41"/>
                  </a:lnTo>
                  <a:lnTo>
                    <a:pt x="1" y="42"/>
                  </a:lnTo>
                  <a:lnTo>
                    <a:pt x="1" y="43"/>
                  </a:lnTo>
                  <a:lnTo>
                    <a:pt x="2" y="44"/>
                  </a:lnTo>
                  <a:lnTo>
                    <a:pt x="8" y="45"/>
                  </a:lnTo>
                  <a:lnTo>
                    <a:pt x="23" y="50"/>
                  </a:lnTo>
                  <a:lnTo>
                    <a:pt x="43" y="55"/>
                  </a:lnTo>
                  <a:lnTo>
                    <a:pt x="66" y="60"/>
                  </a:lnTo>
                  <a:lnTo>
                    <a:pt x="92" y="64"/>
                  </a:lnTo>
                  <a:lnTo>
                    <a:pt x="115" y="68"/>
                  </a:lnTo>
                  <a:lnTo>
                    <a:pt x="133" y="70"/>
                  </a:lnTo>
                  <a:lnTo>
                    <a:pt x="146" y="68"/>
                  </a:lnTo>
                  <a:lnTo>
                    <a:pt x="149" y="66"/>
                  </a:lnTo>
                  <a:lnTo>
                    <a:pt x="152" y="64"/>
                  </a:lnTo>
                  <a:lnTo>
                    <a:pt x="156" y="62"/>
                  </a:lnTo>
                  <a:lnTo>
                    <a:pt x="160" y="59"/>
                  </a:lnTo>
                  <a:lnTo>
                    <a:pt x="162" y="57"/>
                  </a:lnTo>
                  <a:lnTo>
                    <a:pt x="166" y="54"/>
                  </a:lnTo>
                  <a:lnTo>
                    <a:pt x="169" y="52"/>
                  </a:lnTo>
                  <a:lnTo>
                    <a:pt x="170" y="50"/>
                  </a:lnTo>
                  <a:lnTo>
                    <a:pt x="171" y="42"/>
                  </a:lnTo>
                  <a:lnTo>
                    <a:pt x="173" y="36"/>
                  </a:lnTo>
                  <a:lnTo>
                    <a:pt x="171" y="31"/>
                  </a:lnTo>
                  <a:lnTo>
                    <a:pt x="170" y="25"/>
                  </a:lnTo>
                  <a:lnTo>
                    <a:pt x="169" y="19"/>
                  </a:lnTo>
                  <a:lnTo>
                    <a:pt x="166" y="16"/>
                  </a:lnTo>
                  <a:lnTo>
                    <a:pt x="165" y="13"/>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sp>
          <p:nvSpPr>
            <p:cNvPr id="9" name="Freeform 8"/>
            <p:cNvSpPr>
              <a:spLocks/>
            </p:cNvSpPr>
            <p:nvPr/>
          </p:nvSpPr>
          <p:spPr bwMode="auto">
            <a:xfrm>
              <a:off x="1928" y="3160"/>
              <a:ext cx="165" cy="65"/>
            </a:xfrm>
            <a:custGeom>
              <a:avLst/>
              <a:gdLst>
                <a:gd name="T0" fmla="*/ 157 w 165"/>
                <a:gd name="T1" fmla="*/ 11 h 65"/>
                <a:gd name="T2" fmla="*/ 53 w 165"/>
                <a:gd name="T3" fmla="*/ 0 h 65"/>
                <a:gd name="T4" fmla="*/ 0 w 165"/>
                <a:gd name="T5" fmla="*/ 33 h 65"/>
                <a:gd name="T6" fmla="*/ 0 w 165"/>
                <a:gd name="T7" fmla="*/ 33 h 65"/>
                <a:gd name="T8" fmla="*/ 0 w 165"/>
                <a:gd name="T9" fmla="*/ 34 h 65"/>
                <a:gd name="T10" fmla="*/ 0 w 165"/>
                <a:gd name="T11" fmla="*/ 35 h 65"/>
                <a:gd name="T12" fmla="*/ 0 w 165"/>
                <a:gd name="T13" fmla="*/ 36 h 65"/>
                <a:gd name="T14" fmla="*/ 0 w 165"/>
                <a:gd name="T15" fmla="*/ 37 h 65"/>
                <a:gd name="T16" fmla="*/ 0 w 165"/>
                <a:gd name="T17" fmla="*/ 38 h 65"/>
                <a:gd name="T18" fmla="*/ 1 w 165"/>
                <a:gd name="T19" fmla="*/ 39 h 65"/>
                <a:gd name="T20" fmla="*/ 2 w 165"/>
                <a:gd name="T21" fmla="*/ 39 h 65"/>
                <a:gd name="T22" fmla="*/ 7 w 165"/>
                <a:gd name="T23" fmla="*/ 41 h 65"/>
                <a:gd name="T24" fmla="*/ 21 w 165"/>
                <a:gd name="T25" fmla="*/ 45 h 65"/>
                <a:gd name="T26" fmla="*/ 41 w 165"/>
                <a:gd name="T27" fmla="*/ 49 h 65"/>
                <a:gd name="T28" fmla="*/ 63 w 165"/>
                <a:gd name="T29" fmla="*/ 54 h 65"/>
                <a:gd name="T30" fmla="*/ 87 w 165"/>
                <a:gd name="T31" fmla="*/ 58 h 65"/>
                <a:gd name="T32" fmla="*/ 109 w 165"/>
                <a:gd name="T33" fmla="*/ 61 h 65"/>
                <a:gd name="T34" fmla="*/ 127 w 165"/>
                <a:gd name="T35" fmla="*/ 64 h 65"/>
                <a:gd name="T36" fmla="*/ 138 w 165"/>
                <a:gd name="T37" fmla="*/ 61 h 65"/>
                <a:gd name="T38" fmla="*/ 142 w 165"/>
                <a:gd name="T39" fmla="*/ 60 h 65"/>
                <a:gd name="T40" fmla="*/ 146 w 165"/>
                <a:gd name="T41" fmla="*/ 58 h 65"/>
                <a:gd name="T42" fmla="*/ 148 w 165"/>
                <a:gd name="T43" fmla="*/ 56 h 65"/>
                <a:gd name="T44" fmla="*/ 152 w 165"/>
                <a:gd name="T45" fmla="*/ 54 h 65"/>
                <a:gd name="T46" fmla="*/ 155 w 165"/>
                <a:gd name="T47" fmla="*/ 51 h 65"/>
                <a:gd name="T48" fmla="*/ 158 w 165"/>
                <a:gd name="T49" fmla="*/ 49 h 65"/>
                <a:gd name="T50" fmla="*/ 160 w 165"/>
                <a:gd name="T51" fmla="*/ 47 h 65"/>
                <a:gd name="T52" fmla="*/ 161 w 165"/>
                <a:gd name="T53" fmla="*/ 45 h 65"/>
                <a:gd name="T54" fmla="*/ 164 w 165"/>
                <a:gd name="T55" fmla="*/ 38 h 65"/>
                <a:gd name="T56" fmla="*/ 164 w 165"/>
                <a:gd name="T57" fmla="*/ 33 h 65"/>
                <a:gd name="T58" fmla="*/ 164 w 165"/>
                <a:gd name="T59" fmla="*/ 27 h 65"/>
                <a:gd name="T60" fmla="*/ 162 w 165"/>
                <a:gd name="T61" fmla="*/ 23 h 65"/>
                <a:gd name="T62" fmla="*/ 160 w 165"/>
                <a:gd name="T63" fmla="*/ 17 h 65"/>
                <a:gd name="T64" fmla="*/ 158 w 165"/>
                <a:gd name="T65" fmla="*/ 14 h 65"/>
                <a:gd name="T66" fmla="*/ 157 w 165"/>
                <a:gd name="T67" fmla="*/ 12 h 65"/>
                <a:gd name="T68" fmla="*/ 157 w 165"/>
                <a:gd name="T69" fmla="*/ 11 h 6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65" h="65">
                  <a:moveTo>
                    <a:pt x="157" y="11"/>
                  </a:moveTo>
                  <a:lnTo>
                    <a:pt x="53" y="0"/>
                  </a:lnTo>
                  <a:lnTo>
                    <a:pt x="0" y="33"/>
                  </a:lnTo>
                  <a:lnTo>
                    <a:pt x="0" y="34"/>
                  </a:lnTo>
                  <a:lnTo>
                    <a:pt x="0" y="35"/>
                  </a:lnTo>
                  <a:lnTo>
                    <a:pt x="0" y="36"/>
                  </a:lnTo>
                  <a:lnTo>
                    <a:pt x="0" y="37"/>
                  </a:lnTo>
                  <a:lnTo>
                    <a:pt x="0" y="38"/>
                  </a:lnTo>
                  <a:lnTo>
                    <a:pt x="1" y="39"/>
                  </a:lnTo>
                  <a:lnTo>
                    <a:pt x="2" y="39"/>
                  </a:lnTo>
                  <a:lnTo>
                    <a:pt x="7" y="41"/>
                  </a:lnTo>
                  <a:lnTo>
                    <a:pt x="21" y="45"/>
                  </a:lnTo>
                  <a:lnTo>
                    <a:pt x="41" y="49"/>
                  </a:lnTo>
                  <a:lnTo>
                    <a:pt x="63" y="54"/>
                  </a:lnTo>
                  <a:lnTo>
                    <a:pt x="87" y="58"/>
                  </a:lnTo>
                  <a:lnTo>
                    <a:pt x="109" y="61"/>
                  </a:lnTo>
                  <a:lnTo>
                    <a:pt x="127" y="64"/>
                  </a:lnTo>
                  <a:lnTo>
                    <a:pt x="138" y="61"/>
                  </a:lnTo>
                  <a:lnTo>
                    <a:pt x="142" y="60"/>
                  </a:lnTo>
                  <a:lnTo>
                    <a:pt x="146" y="58"/>
                  </a:lnTo>
                  <a:lnTo>
                    <a:pt x="148" y="56"/>
                  </a:lnTo>
                  <a:lnTo>
                    <a:pt x="152" y="54"/>
                  </a:lnTo>
                  <a:lnTo>
                    <a:pt x="155" y="51"/>
                  </a:lnTo>
                  <a:lnTo>
                    <a:pt x="158" y="49"/>
                  </a:lnTo>
                  <a:lnTo>
                    <a:pt x="160" y="47"/>
                  </a:lnTo>
                  <a:lnTo>
                    <a:pt x="161" y="45"/>
                  </a:lnTo>
                  <a:lnTo>
                    <a:pt x="164" y="38"/>
                  </a:lnTo>
                  <a:lnTo>
                    <a:pt x="164" y="33"/>
                  </a:lnTo>
                  <a:lnTo>
                    <a:pt x="164" y="27"/>
                  </a:lnTo>
                  <a:lnTo>
                    <a:pt x="162" y="23"/>
                  </a:lnTo>
                  <a:lnTo>
                    <a:pt x="160" y="17"/>
                  </a:lnTo>
                  <a:lnTo>
                    <a:pt x="158" y="14"/>
                  </a:lnTo>
                  <a:lnTo>
                    <a:pt x="157" y="12"/>
                  </a:lnTo>
                  <a:lnTo>
                    <a:pt x="157" y="11"/>
                  </a:lnTo>
                </a:path>
              </a:pathLst>
            </a:custGeom>
            <a:solidFill>
              <a:srgbClr val="86868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sp>
          <p:nvSpPr>
            <p:cNvPr id="10" name="Freeform 9"/>
            <p:cNvSpPr>
              <a:spLocks/>
            </p:cNvSpPr>
            <p:nvPr/>
          </p:nvSpPr>
          <p:spPr bwMode="auto">
            <a:xfrm>
              <a:off x="1929" y="3146"/>
              <a:ext cx="162" cy="67"/>
            </a:xfrm>
            <a:custGeom>
              <a:avLst/>
              <a:gdLst>
                <a:gd name="T0" fmla="*/ 108 w 162"/>
                <a:gd name="T1" fmla="*/ 2 h 67"/>
                <a:gd name="T2" fmla="*/ 95 w 162"/>
                <a:gd name="T3" fmla="*/ 0 h 67"/>
                <a:gd name="T4" fmla="*/ 84 w 162"/>
                <a:gd name="T5" fmla="*/ 0 h 67"/>
                <a:gd name="T6" fmla="*/ 74 w 162"/>
                <a:gd name="T7" fmla="*/ 1 h 67"/>
                <a:gd name="T8" fmla="*/ 65 w 162"/>
                <a:gd name="T9" fmla="*/ 2 h 67"/>
                <a:gd name="T10" fmla="*/ 58 w 162"/>
                <a:gd name="T11" fmla="*/ 4 h 67"/>
                <a:gd name="T12" fmla="*/ 53 w 162"/>
                <a:gd name="T13" fmla="*/ 6 h 67"/>
                <a:gd name="T14" fmla="*/ 49 w 162"/>
                <a:gd name="T15" fmla="*/ 8 h 67"/>
                <a:gd name="T16" fmla="*/ 49 w 162"/>
                <a:gd name="T17" fmla="*/ 8 h 67"/>
                <a:gd name="T18" fmla="*/ 0 w 162"/>
                <a:gd name="T19" fmla="*/ 41 h 67"/>
                <a:gd name="T20" fmla="*/ 0 w 162"/>
                <a:gd name="T21" fmla="*/ 45 h 67"/>
                <a:gd name="T22" fmla="*/ 1 w 162"/>
                <a:gd name="T23" fmla="*/ 45 h 67"/>
                <a:gd name="T24" fmla="*/ 3 w 162"/>
                <a:gd name="T25" fmla="*/ 44 h 67"/>
                <a:gd name="T26" fmla="*/ 8 w 162"/>
                <a:gd name="T27" fmla="*/ 42 h 67"/>
                <a:gd name="T28" fmla="*/ 15 w 162"/>
                <a:gd name="T29" fmla="*/ 40 h 67"/>
                <a:gd name="T30" fmla="*/ 23 w 162"/>
                <a:gd name="T31" fmla="*/ 39 h 67"/>
                <a:gd name="T32" fmla="*/ 31 w 162"/>
                <a:gd name="T33" fmla="*/ 39 h 67"/>
                <a:gd name="T34" fmla="*/ 40 w 162"/>
                <a:gd name="T35" fmla="*/ 39 h 67"/>
                <a:gd name="T36" fmla="*/ 52 w 162"/>
                <a:gd name="T37" fmla="*/ 41 h 67"/>
                <a:gd name="T38" fmla="*/ 66 w 162"/>
                <a:gd name="T39" fmla="*/ 45 h 67"/>
                <a:gd name="T40" fmla="*/ 77 w 162"/>
                <a:gd name="T41" fmla="*/ 48 h 67"/>
                <a:gd name="T42" fmla="*/ 86 w 162"/>
                <a:gd name="T43" fmla="*/ 52 h 67"/>
                <a:gd name="T44" fmla="*/ 93 w 162"/>
                <a:gd name="T45" fmla="*/ 55 h 67"/>
                <a:gd name="T46" fmla="*/ 99 w 162"/>
                <a:gd name="T47" fmla="*/ 57 h 67"/>
                <a:gd name="T48" fmla="*/ 103 w 162"/>
                <a:gd name="T49" fmla="*/ 59 h 67"/>
                <a:gd name="T50" fmla="*/ 108 w 162"/>
                <a:gd name="T51" fmla="*/ 60 h 67"/>
                <a:gd name="T52" fmla="*/ 113 w 162"/>
                <a:gd name="T53" fmla="*/ 62 h 67"/>
                <a:gd name="T54" fmla="*/ 134 w 162"/>
                <a:gd name="T55" fmla="*/ 66 h 67"/>
                <a:gd name="T56" fmla="*/ 148 w 162"/>
                <a:gd name="T57" fmla="*/ 63 h 67"/>
                <a:gd name="T58" fmla="*/ 157 w 162"/>
                <a:gd name="T59" fmla="*/ 58 h 67"/>
                <a:gd name="T60" fmla="*/ 161 w 162"/>
                <a:gd name="T61" fmla="*/ 51 h 67"/>
                <a:gd name="T62" fmla="*/ 161 w 162"/>
                <a:gd name="T63" fmla="*/ 41 h 67"/>
                <a:gd name="T64" fmla="*/ 159 w 162"/>
                <a:gd name="T65" fmla="*/ 33 h 67"/>
                <a:gd name="T66" fmla="*/ 157 w 162"/>
                <a:gd name="T67" fmla="*/ 26 h 67"/>
                <a:gd name="T68" fmla="*/ 154 w 162"/>
                <a:gd name="T69" fmla="*/ 23 h 67"/>
                <a:gd name="T70" fmla="*/ 153 w 162"/>
                <a:gd name="T71" fmla="*/ 22 h 67"/>
                <a:gd name="T72" fmla="*/ 150 w 162"/>
                <a:gd name="T73" fmla="*/ 20 h 67"/>
                <a:gd name="T74" fmla="*/ 146 w 162"/>
                <a:gd name="T75" fmla="*/ 17 h 67"/>
                <a:gd name="T76" fmla="*/ 143 w 162"/>
                <a:gd name="T77" fmla="*/ 14 h 67"/>
                <a:gd name="T78" fmla="*/ 136 w 162"/>
                <a:gd name="T79" fmla="*/ 11 h 67"/>
                <a:gd name="T80" fmla="*/ 129 w 162"/>
                <a:gd name="T81" fmla="*/ 8 h 67"/>
                <a:gd name="T82" fmla="*/ 120 w 162"/>
                <a:gd name="T83" fmla="*/ 5 h 67"/>
                <a:gd name="T84" fmla="*/ 108 w 162"/>
                <a:gd name="T85" fmla="*/ 2 h 6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62" h="67">
                  <a:moveTo>
                    <a:pt x="108" y="2"/>
                  </a:moveTo>
                  <a:lnTo>
                    <a:pt x="95" y="0"/>
                  </a:lnTo>
                  <a:lnTo>
                    <a:pt x="84" y="0"/>
                  </a:lnTo>
                  <a:lnTo>
                    <a:pt x="74" y="1"/>
                  </a:lnTo>
                  <a:lnTo>
                    <a:pt x="65" y="2"/>
                  </a:lnTo>
                  <a:lnTo>
                    <a:pt x="58" y="4"/>
                  </a:lnTo>
                  <a:lnTo>
                    <a:pt x="53" y="6"/>
                  </a:lnTo>
                  <a:lnTo>
                    <a:pt x="49" y="8"/>
                  </a:lnTo>
                  <a:lnTo>
                    <a:pt x="0" y="41"/>
                  </a:lnTo>
                  <a:lnTo>
                    <a:pt x="0" y="45"/>
                  </a:lnTo>
                  <a:lnTo>
                    <a:pt x="1" y="45"/>
                  </a:lnTo>
                  <a:lnTo>
                    <a:pt x="3" y="44"/>
                  </a:lnTo>
                  <a:lnTo>
                    <a:pt x="8" y="42"/>
                  </a:lnTo>
                  <a:lnTo>
                    <a:pt x="15" y="40"/>
                  </a:lnTo>
                  <a:lnTo>
                    <a:pt x="23" y="39"/>
                  </a:lnTo>
                  <a:lnTo>
                    <a:pt x="31" y="39"/>
                  </a:lnTo>
                  <a:lnTo>
                    <a:pt x="40" y="39"/>
                  </a:lnTo>
                  <a:lnTo>
                    <a:pt x="52" y="41"/>
                  </a:lnTo>
                  <a:lnTo>
                    <a:pt x="66" y="45"/>
                  </a:lnTo>
                  <a:lnTo>
                    <a:pt x="77" y="48"/>
                  </a:lnTo>
                  <a:lnTo>
                    <a:pt x="86" y="52"/>
                  </a:lnTo>
                  <a:lnTo>
                    <a:pt x="93" y="55"/>
                  </a:lnTo>
                  <a:lnTo>
                    <a:pt x="99" y="57"/>
                  </a:lnTo>
                  <a:lnTo>
                    <a:pt x="103" y="59"/>
                  </a:lnTo>
                  <a:lnTo>
                    <a:pt x="108" y="60"/>
                  </a:lnTo>
                  <a:lnTo>
                    <a:pt x="113" y="62"/>
                  </a:lnTo>
                  <a:lnTo>
                    <a:pt x="134" y="66"/>
                  </a:lnTo>
                  <a:lnTo>
                    <a:pt x="148" y="63"/>
                  </a:lnTo>
                  <a:lnTo>
                    <a:pt x="157" y="58"/>
                  </a:lnTo>
                  <a:lnTo>
                    <a:pt x="161" y="51"/>
                  </a:lnTo>
                  <a:lnTo>
                    <a:pt x="161" y="41"/>
                  </a:lnTo>
                  <a:lnTo>
                    <a:pt x="159" y="33"/>
                  </a:lnTo>
                  <a:lnTo>
                    <a:pt x="157" y="26"/>
                  </a:lnTo>
                  <a:lnTo>
                    <a:pt x="154" y="23"/>
                  </a:lnTo>
                  <a:lnTo>
                    <a:pt x="153" y="22"/>
                  </a:lnTo>
                  <a:lnTo>
                    <a:pt x="150" y="20"/>
                  </a:lnTo>
                  <a:lnTo>
                    <a:pt x="146" y="17"/>
                  </a:lnTo>
                  <a:lnTo>
                    <a:pt x="143" y="14"/>
                  </a:lnTo>
                  <a:lnTo>
                    <a:pt x="136" y="11"/>
                  </a:lnTo>
                  <a:lnTo>
                    <a:pt x="129" y="8"/>
                  </a:lnTo>
                  <a:lnTo>
                    <a:pt x="120" y="5"/>
                  </a:lnTo>
                  <a:lnTo>
                    <a:pt x="108" y="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sp>
          <p:nvSpPr>
            <p:cNvPr id="11" name="Freeform 10"/>
            <p:cNvSpPr>
              <a:spLocks/>
            </p:cNvSpPr>
            <p:nvPr/>
          </p:nvSpPr>
          <p:spPr bwMode="auto">
            <a:xfrm>
              <a:off x="1722" y="3040"/>
              <a:ext cx="262" cy="150"/>
            </a:xfrm>
            <a:custGeom>
              <a:avLst/>
              <a:gdLst>
                <a:gd name="T0" fmla="*/ 230 w 262"/>
                <a:gd name="T1" fmla="*/ 142 h 150"/>
                <a:gd name="T2" fmla="*/ 213 w 262"/>
                <a:gd name="T3" fmla="*/ 136 h 150"/>
                <a:gd name="T4" fmla="*/ 193 w 262"/>
                <a:gd name="T5" fmla="*/ 124 h 150"/>
                <a:gd name="T6" fmla="*/ 183 w 262"/>
                <a:gd name="T7" fmla="*/ 112 h 150"/>
                <a:gd name="T8" fmla="*/ 196 w 262"/>
                <a:gd name="T9" fmla="*/ 100 h 150"/>
                <a:gd name="T10" fmla="*/ 222 w 262"/>
                <a:gd name="T11" fmla="*/ 95 h 150"/>
                <a:gd name="T12" fmla="*/ 248 w 262"/>
                <a:gd name="T13" fmla="*/ 90 h 150"/>
                <a:gd name="T14" fmla="*/ 261 w 262"/>
                <a:gd name="T15" fmla="*/ 80 h 150"/>
                <a:gd name="T16" fmla="*/ 250 w 262"/>
                <a:gd name="T17" fmla="*/ 62 h 150"/>
                <a:gd name="T18" fmla="*/ 231 w 262"/>
                <a:gd name="T19" fmla="*/ 48 h 150"/>
                <a:gd name="T20" fmla="*/ 208 w 262"/>
                <a:gd name="T21" fmla="*/ 39 h 150"/>
                <a:gd name="T22" fmla="*/ 185 w 262"/>
                <a:gd name="T23" fmla="*/ 35 h 150"/>
                <a:gd name="T24" fmla="*/ 155 w 262"/>
                <a:gd name="T25" fmla="*/ 35 h 150"/>
                <a:gd name="T26" fmla="*/ 120 w 262"/>
                <a:gd name="T27" fmla="*/ 37 h 150"/>
                <a:gd name="T28" fmla="*/ 94 w 262"/>
                <a:gd name="T29" fmla="*/ 37 h 150"/>
                <a:gd name="T30" fmla="*/ 67 w 262"/>
                <a:gd name="T31" fmla="*/ 30 h 150"/>
                <a:gd name="T32" fmla="*/ 36 w 262"/>
                <a:gd name="T33" fmla="*/ 15 h 150"/>
                <a:gd name="T34" fmla="*/ 17 w 262"/>
                <a:gd name="T35" fmla="*/ 5 h 150"/>
                <a:gd name="T36" fmla="*/ 8 w 262"/>
                <a:gd name="T37" fmla="*/ 1 h 150"/>
                <a:gd name="T38" fmla="*/ 7 w 262"/>
                <a:gd name="T39" fmla="*/ 0 h 150"/>
                <a:gd name="T40" fmla="*/ 0 w 262"/>
                <a:gd name="T41" fmla="*/ 4 h 150"/>
                <a:gd name="T42" fmla="*/ 57 w 262"/>
                <a:gd name="T43" fmla="*/ 32 h 150"/>
                <a:gd name="T44" fmla="*/ 78 w 262"/>
                <a:gd name="T45" fmla="*/ 39 h 150"/>
                <a:gd name="T46" fmla="*/ 99 w 262"/>
                <a:gd name="T47" fmla="*/ 43 h 150"/>
                <a:gd name="T48" fmla="*/ 120 w 262"/>
                <a:gd name="T49" fmla="*/ 43 h 150"/>
                <a:gd name="T50" fmla="*/ 136 w 262"/>
                <a:gd name="T51" fmla="*/ 41 h 150"/>
                <a:gd name="T52" fmla="*/ 143 w 262"/>
                <a:gd name="T53" fmla="*/ 40 h 150"/>
                <a:gd name="T54" fmla="*/ 151 w 262"/>
                <a:gd name="T55" fmla="*/ 40 h 150"/>
                <a:gd name="T56" fmla="*/ 161 w 262"/>
                <a:gd name="T57" fmla="*/ 39 h 150"/>
                <a:gd name="T58" fmla="*/ 174 w 262"/>
                <a:gd name="T59" fmla="*/ 39 h 150"/>
                <a:gd name="T60" fmla="*/ 193 w 262"/>
                <a:gd name="T61" fmla="*/ 41 h 150"/>
                <a:gd name="T62" fmla="*/ 216 w 262"/>
                <a:gd name="T63" fmla="*/ 48 h 150"/>
                <a:gd name="T64" fmla="*/ 238 w 262"/>
                <a:gd name="T65" fmla="*/ 59 h 150"/>
                <a:gd name="T66" fmla="*/ 248 w 262"/>
                <a:gd name="T67" fmla="*/ 73 h 150"/>
                <a:gd name="T68" fmla="*/ 250 w 262"/>
                <a:gd name="T69" fmla="*/ 79 h 150"/>
                <a:gd name="T70" fmla="*/ 246 w 262"/>
                <a:gd name="T71" fmla="*/ 82 h 150"/>
                <a:gd name="T72" fmla="*/ 238 w 262"/>
                <a:gd name="T73" fmla="*/ 86 h 150"/>
                <a:gd name="T74" fmla="*/ 221 w 262"/>
                <a:gd name="T75" fmla="*/ 89 h 150"/>
                <a:gd name="T76" fmla="*/ 210 w 262"/>
                <a:gd name="T77" fmla="*/ 91 h 150"/>
                <a:gd name="T78" fmla="*/ 197 w 262"/>
                <a:gd name="T79" fmla="*/ 93 h 150"/>
                <a:gd name="T80" fmla="*/ 185 w 262"/>
                <a:gd name="T81" fmla="*/ 96 h 150"/>
                <a:gd name="T82" fmla="*/ 178 w 262"/>
                <a:gd name="T83" fmla="*/ 101 h 150"/>
                <a:gd name="T84" fmla="*/ 174 w 262"/>
                <a:gd name="T85" fmla="*/ 105 h 150"/>
                <a:gd name="T86" fmla="*/ 173 w 262"/>
                <a:gd name="T87" fmla="*/ 109 h 150"/>
                <a:gd name="T88" fmla="*/ 173 w 262"/>
                <a:gd name="T89" fmla="*/ 113 h 150"/>
                <a:gd name="T90" fmla="*/ 174 w 262"/>
                <a:gd name="T91" fmla="*/ 116 h 150"/>
                <a:gd name="T92" fmla="*/ 184 w 262"/>
                <a:gd name="T93" fmla="*/ 128 h 150"/>
                <a:gd name="T94" fmla="*/ 202 w 262"/>
                <a:gd name="T95" fmla="*/ 138 h 150"/>
                <a:gd name="T96" fmla="*/ 218 w 262"/>
                <a:gd name="T97" fmla="*/ 145 h 150"/>
                <a:gd name="T98" fmla="*/ 227 w 262"/>
                <a:gd name="T99" fmla="*/ 149 h 15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62" h="150">
                  <a:moveTo>
                    <a:pt x="232" y="143"/>
                  </a:moveTo>
                  <a:lnTo>
                    <a:pt x="230" y="142"/>
                  </a:lnTo>
                  <a:lnTo>
                    <a:pt x="222" y="140"/>
                  </a:lnTo>
                  <a:lnTo>
                    <a:pt x="213" y="136"/>
                  </a:lnTo>
                  <a:lnTo>
                    <a:pt x="202" y="131"/>
                  </a:lnTo>
                  <a:lnTo>
                    <a:pt x="193" y="124"/>
                  </a:lnTo>
                  <a:lnTo>
                    <a:pt x="185" y="118"/>
                  </a:lnTo>
                  <a:lnTo>
                    <a:pt x="183" y="112"/>
                  </a:lnTo>
                  <a:lnTo>
                    <a:pt x="187" y="105"/>
                  </a:lnTo>
                  <a:lnTo>
                    <a:pt x="196" y="100"/>
                  </a:lnTo>
                  <a:lnTo>
                    <a:pt x="208" y="97"/>
                  </a:lnTo>
                  <a:lnTo>
                    <a:pt x="222" y="95"/>
                  </a:lnTo>
                  <a:lnTo>
                    <a:pt x="236" y="93"/>
                  </a:lnTo>
                  <a:lnTo>
                    <a:pt x="248" y="90"/>
                  </a:lnTo>
                  <a:lnTo>
                    <a:pt x="257" y="86"/>
                  </a:lnTo>
                  <a:lnTo>
                    <a:pt x="261" y="80"/>
                  </a:lnTo>
                  <a:lnTo>
                    <a:pt x="258" y="72"/>
                  </a:lnTo>
                  <a:lnTo>
                    <a:pt x="250" y="62"/>
                  </a:lnTo>
                  <a:lnTo>
                    <a:pt x="241" y="55"/>
                  </a:lnTo>
                  <a:lnTo>
                    <a:pt x="231" y="48"/>
                  </a:lnTo>
                  <a:lnTo>
                    <a:pt x="220" y="43"/>
                  </a:lnTo>
                  <a:lnTo>
                    <a:pt x="208" y="39"/>
                  </a:lnTo>
                  <a:lnTo>
                    <a:pt x="197" y="36"/>
                  </a:lnTo>
                  <a:lnTo>
                    <a:pt x="185" y="35"/>
                  </a:lnTo>
                  <a:lnTo>
                    <a:pt x="176" y="34"/>
                  </a:lnTo>
                  <a:lnTo>
                    <a:pt x="155" y="35"/>
                  </a:lnTo>
                  <a:lnTo>
                    <a:pt x="137" y="36"/>
                  </a:lnTo>
                  <a:lnTo>
                    <a:pt x="120" y="37"/>
                  </a:lnTo>
                  <a:lnTo>
                    <a:pt x="106" y="37"/>
                  </a:lnTo>
                  <a:lnTo>
                    <a:pt x="94" y="37"/>
                  </a:lnTo>
                  <a:lnTo>
                    <a:pt x="81" y="34"/>
                  </a:lnTo>
                  <a:lnTo>
                    <a:pt x="67" y="30"/>
                  </a:lnTo>
                  <a:lnTo>
                    <a:pt x="52" y="23"/>
                  </a:lnTo>
                  <a:lnTo>
                    <a:pt x="36" y="15"/>
                  </a:lnTo>
                  <a:lnTo>
                    <a:pt x="25" y="9"/>
                  </a:lnTo>
                  <a:lnTo>
                    <a:pt x="17" y="5"/>
                  </a:lnTo>
                  <a:lnTo>
                    <a:pt x="12" y="3"/>
                  </a:lnTo>
                  <a:lnTo>
                    <a:pt x="8" y="1"/>
                  </a:lnTo>
                  <a:lnTo>
                    <a:pt x="7" y="1"/>
                  </a:lnTo>
                  <a:lnTo>
                    <a:pt x="7" y="0"/>
                  </a:lnTo>
                  <a:lnTo>
                    <a:pt x="0" y="4"/>
                  </a:lnTo>
                  <a:lnTo>
                    <a:pt x="44" y="27"/>
                  </a:lnTo>
                  <a:lnTo>
                    <a:pt x="57" y="32"/>
                  </a:lnTo>
                  <a:lnTo>
                    <a:pt x="68" y="37"/>
                  </a:lnTo>
                  <a:lnTo>
                    <a:pt x="78" y="39"/>
                  </a:lnTo>
                  <a:lnTo>
                    <a:pt x="90" y="41"/>
                  </a:lnTo>
                  <a:lnTo>
                    <a:pt x="99" y="43"/>
                  </a:lnTo>
                  <a:lnTo>
                    <a:pt x="109" y="43"/>
                  </a:lnTo>
                  <a:lnTo>
                    <a:pt x="120" y="43"/>
                  </a:lnTo>
                  <a:lnTo>
                    <a:pt x="131" y="41"/>
                  </a:lnTo>
                  <a:lnTo>
                    <a:pt x="136" y="41"/>
                  </a:lnTo>
                  <a:lnTo>
                    <a:pt x="140" y="41"/>
                  </a:lnTo>
                  <a:lnTo>
                    <a:pt x="143" y="40"/>
                  </a:lnTo>
                  <a:lnTo>
                    <a:pt x="147" y="40"/>
                  </a:lnTo>
                  <a:lnTo>
                    <a:pt x="151" y="40"/>
                  </a:lnTo>
                  <a:lnTo>
                    <a:pt x="156" y="40"/>
                  </a:lnTo>
                  <a:lnTo>
                    <a:pt x="161" y="39"/>
                  </a:lnTo>
                  <a:lnTo>
                    <a:pt x="168" y="39"/>
                  </a:lnTo>
                  <a:lnTo>
                    <a:pt x="174" y="39"/>
                  </a:lnTo>
                  <a:lnTo>
                    <a:pt x="183" y="40"/>
                  </a:lnTo>
                  <a:lnTo>
                    <a:pt x="193" y="41"/>
                  </a:lnTo>
                  <a:lnTo>
                    <a:pt x="204" y="45"/>
                  </a:lnTo>
                  <a:lnTo>
                    <a:pt x="216" y="48"/>
                  </a:lnTo>
                  <a:lnTo>
                    <a:pt x="227" y="53"/>
                  </a:lnTo>
                  <a:lnTo>
                    <a:pt x="238" y="59"/>
                  </a:lnTo>
                  <a:lnTo>
                    <a:pt x="245" y="69"/>
                  </a:lnTo>
                  <a:lnTo>
                    <a:pt x="248" y="73"/>
                  </a:lnTo>
                  <a:lnTo>
                    <a:pt x="250" y="76"/>
                  </a:lnTo>
                  <a:lnTo>
                    <a:pt x="250" y="79"/>
                  </a:lnTo>
                  <a:lnTo>
                    <a:pt x="249" y="81"/>
                  </a:lnTo>
                  <a:lnTo>
                    <a:pt x="246" y="82"/>
                  </a:lnTo>
                  <a:lnTo>
                    <a:pt x="243" y="84"/>
                  </a:lnTo>
                  <a:lnTo>
                    <a:pt x="238" y="86"/>
                  </a:lnTo>
                  <a:lnTo>
                    <a:pt x="230" y="87"/>
                  </a:lnTo>
                  <a:lnTo>
                    <a:pt x="221" y="89"/>
                  </a:lnTo>
                  <a:lnTo>
                    <a:pt x="215" y="90"/>
                  </a:lnTo>
                  <a:lnTo>
                    <a:pt x="210" y="91"/>
                  </a:lnTo>
                  <a:lnTo>
                    <a:pt x="203" y="92"/>
                  </a:lnTo>
                  <a:lnTo>
                    <a:pt x="197" y="93"/>
                  </a:lnTo>
                  <a:lnTo>
                    <a:pt x="192" y="95"/>
                  </a:lnTo>
                  <a:lnTo>
                    <a:pt x="185" y="96"/>
                  </a:lnTo>
                  <a:lnTo>
                    <a:pt x="182" y="99"/>
                  </a:lnTo>
                  <a:lnTo>
                    <a:pt x="178" y="101"/>
                  </a:lnTo>
                  <a:lnTo>
                    <a:pt x="175" y="103"/>
                  </a:lnTo>
                  <a:lnTo>
                    <a:pt x="174" y="105"/>
                  </a:lnTo>
                  <a:lnTo>
                    <a:pt x="173" y="107"/>
                  </a:lnTo>
                  <a:lnTo>
                    <a:pt x="173" y="109"/>
                  </a:lnTo>
                  <a:lnTo>
                    <a:pt x="171" y="111"/>
                  </a:lnTo>
                  <a:lnTo>
                    <a:pt x="173" y="113"/>
                  </a:lnTo>
                  <a:lnTo>
                    <a:pt x="173" y="115"/>
                  </a:lnTo>
                  <a:lnTo>
                    <a:pt x="174" y="116"/>
                  </a:lnTo>
                  <a:lnTo>
                    <a:pt x="178" y="122"/>
                  </a:lnTo>
                  <a:lnTo>
                    <a:pt x="184" y="128"/>
                  </a:lnTo>
                  <a:lnTo>
                    <a:pt x="193" y="133"/>
                  </a:lnTo>
                  <a:lnTo>
                    <a:pt x="202" y="138"/>
                  </a:lnTo>
                  <a:lnTo>
                    <a:pt x="211" y="142"/>
                  </a:lnTo>
                  <a:lnTo>
                    <a:pt x="218" y="145"/>
                  </a:lnTo>
                  <a:lnTo>
                    <a:pt x="225" y="147"/>
                  </a:lnTo>
                  <a:lnTo>
                    <a:pt x="227" y="149"/>
                  </a:lnTo>
                  <a:lnTo>
                    <a:pt x="232" y="143"/>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sp>
          <p:nvSpPr>
            <p:cNvPr id="12" name="Freeform 11"/>
            <p:cNvSpPr>
              <a:spLocks/>
            </p:cNvSpPr>
            <p:nvPr/>
          </p:nvSpPr>
          <p:spPr bwMode="auto">
            <a:xfrm>
              <a:off x="1722" y="3040"/>
              <a:ext cx="263" cy="149"/>
            </a:xfrm>
            <a:custGeom>
              <a:avLst/>
              <a:gdLst>
                <a:gd name="T0" fmla="*/ 230 w 263"/>
                <a:gd name="T1" fmla="*/ 141 h 149"/>
                <a:gd name="T2" fmla="*/ 213 w 263"/>
                <a:gd name="T3" fmla="*/ 134 h 149"/>
                <a:gd name="T4" fmla="*/ 193 w 263"/>
                <a:gd name="T5" fmla="*/ 124 h 149"/>
                <a:gd name="T6" fmla="*/ 183 w 263"/>
                <a:gd name="T7" fmla="*/ 110 h 149"/>
                <a:gd name="T8" fmla="*/ 197 w 263"/>
                <a:gd name="T9" fmla="*/ 100 h 149"/>
                <a:gd name="T10" fmla="*/ 222 w 263"/>
                <a:gd name="T11" fmla="*/ 93 h 149"/>
                <a:gd name="T12" fmla="*/ 249 w 263"/>
                <a:gd name="T13" fmla="*/ 89 h 149"/>
                <a:gd name="T14" fmla="*/ 262 w 263"/>
                <a:gd name="T15" fmla="*/ 80 h 149"/>
                <a:gd name="T16" fmla="*/ 251 w 263"/>
                <a:gd name="T17" fmla="*/ 62 h 149"/>
                <a:gd name="T18" fmla="*/ 231 w 263"/>
                <a:gd name="T19" fmla="*/ 47 h 149"/>
                <a:gd name="T20" fmla="*/ 208 w 263"/>
                <a:gd name="T21" fmla="*/ 38 h 149"/>
                <a:gd name="T22" fmla="*/ 186 w 263"/>
                <a:gd name="T23" fmla="*/ 34 h 149"/>
                <a:gd name="T24" fmla="*/ 155 w 263"/>
                <a:gd name="T25" fmla="*/ 35 h 149"/>
                <a:gd name="T26" fmla="*/ 122 w 263"/>
                <a:gd name="T27" fmla="*/ 37 h 149"/>
                <a:gd name="T28" fmla="*/ 94 w 263"/>
                <a:gd name="T29" fmla="*/ 36 h 149"/>
                <a:gd name="T30" fmla="*/ 67 w 263"/>
                <a:gd name="T31" fmla="*/ 29 h 149"/>
                <a:gd name="T32" fmla="*/ 36 w 263"/>
                <a:gd name="T33" fmla="*/ 14 h 149"/>
                <a:gd name="T34" fmla="*/ 17 w 263"/>
                <a:gd name="T35" fmla="*/ 5 h 149"/>
                <a:gd name="T36" fmla="*/ 10 w 263"/>
                <a:gd name="T37" fmla="*/ 1 h 149"/>
                <a:gd name="T38" fmla="*/ 7 w 263"/>
                <a:gd name="T39" fmla="*/ 0 h 149"/>
                <a:gd name="T40" fmla="*/ 0 w 263"/>
                <a:gd name="T41" fmla="*/ 4 h 149"/>
                <a:gd name="T42" fmla="*/ 57 w 263"/>
                <a:gd name="T43" fmla="*/ 32 h 149"/>
                <a:gd name="T44" fmla="*/ 80 w 263"/>
                <a:gd name="T45" fmla="*/ 39 h 149"/>
                <a:gd name="T46" fmla="*/ 100 w 263"/>
                <a:gd name="T47" fmla="*/ 41 h 149"/>
                <a:gd name="T48" fmla="*/ 120 w 263"/>
                <a:gd name="T49" fmla="*/ 41 h 149"/>
                <a:gd name="T50" fmla="*/ 136 w 263"/>
                <a:gd name="T51" fmla="*/ 41 h 149"/>
                <a:gd name="T52" fmla="*/ 143 w 263"/>
                <a:gd name="T53" fmla="*/ 40 h 149"/>
                <a:gd name="T54" fmla="*/ 151 w 263"/>
                <a:gd name="T55" fmla="*/ 39 h 149"/>
                <a:gd name="T56" fmla="*/ 161 w 263"/>
                <a:gd name="T57" fmla="*/ 39 h 149"/>
                <a:gd name="T58" fmla="*/ 175 w 263"/>
                <a:gd name="T59" fmla="*/ 39 h 149"/>
                <a:gd name="T60" fmla="*/ 194 w 263"/>
                <a:gd name="T61" fmla="*/ 41 h 149"/>
                <a:gd name="T62" fmla="*/ 217 w 263"/>
                <a:gd name="T63" fmla="*/ 47 h 149"/>
                <a:gd name="T64" fmla="*/ 237 w 263"/>
                <a:gd name="T65" fmla="*/ 59 h 149"/>
                <a:gd name="T66" fmla="*/ 249 w 263"/>
                <a:gd name="T67" fmla="*/ 72 h 149"/>
                <a:gd name="T68" fmla="*/ 250 w 263"/>
                <a:gd name="T69" fmla="*/ 78 h 149"/>
                <a:gd name="T70" fmla="*/ 248 w 263"/>
                <a:gd name="T71" fmla="*/ 82 h 149"/>
                <a:gd name="T72" fmla="*/ 237 w 263"/>
                <a:gd name="T73" fmla="*/ 85 h 149"/>
                <a:gd name="T74" fmla="*/ 222 w 263"/>
                <a:gd name="T75" fmla="*/ 87 h 149"/>
                <a:gd name="T76" fmla="*/ 209 w 263"/>
                <a:gd name="T77" fmla="*/ 89 h 149"/>
                <a:gd name="T78" fmla="*/ 197 w 263"/>
                <a:gd name="T79" fmla="*/ 92 h 149"/>
                <a:gd name="T80" fmla="*/ 186 w 263"/>
                <a:gd name="T81" fmla="*/ 95 h 149"/>
                <a:gd name="T82" fmla="*/ 178 w 263"/>
                <a:gd name="T83" fmla="*/ 101 h 149"/>
                <a:gd name="T84" fmla="*/ 174 w 263"/>
                <a:gd name="T85" fmla="*/ 104 h 149"/>
                <a:gd name="T86" fmla="*/ 172 w 263"/>
                <a:gd name="T87" fmla="*/ 108 h 149"/>
                <a:gd name="T88" fmla="*/ 172 w 263"/>
                <a:gd name="T89" fmla="*/ 111 h 149"/>
                <a:gd name="T90" fmla="*/ 174 w 263"/>
                <a:gd name="T91" fmla="*/ 115 h 149"/>
                <a:gd name="T92" fmla="*/ 185 w 263"/>
                <a:gd name="T93" fmla="*/ 127 h 149"/>
                <a:gd name="T94" fmla="*/ 202 w 263"/>
                <a:gd name="T95" fmla="*/ 137 h 149"/>
                <a:gd name="T96" fmla="*/ 218 w 263"/>
                <a:gd name="T97" fmla="*/ 143 h 149"/>
                <a:gd name="T98" fmla="*/ 228 w 263"/>
                <a:gd name="T99" fmla="*/ 148 h 14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63" h="149">
                  <a:moveTo>
                    <a:pt x="234" y="142"/>
                  </a:moveTo>
                  <a:lnTo>
                    <a:pt x="230" y="141"/>
                  </a:lnTo>
                  <a:lnTo>
                    <a:pt x="223" y="138"/>
                  </a:lnTo>
                  <a:lnTo>
                    <a:pt x="213" y="134"/>
                  </a:lnTo>
                  <a:lnTo>
                    <a:pt x="203" y="129"/>
                  </a:lnTo>
                  <a:lnTo>
                    <a:pt x="193" y="124"/>
                  </a:lnTo>
                  <a:lnTo>
                    <a:pt x="186" y="117"/>
                  </a:lnTo>
                  <a:lnTo>
                    <a:pt x="183" y="110"/>
                  </a:lnTo>
                  <a:lnTo>
                    <a:pt x="186" y="104"/>
                  </a:lnTo>
                  <a:lnTo>
                    <a:pt x="197" y="100"/>
                  </a:lnTo>
                  <a:lnTo>
                    <a:pt x="208" y="96"/>
                  </a:lnTo>
                  <a:lnTo>
                    <a:pt x="222" y="93"/>
                  </a:lnTo>
                  <a:lnTo>
                    <a:pt x="236" y="91"/>
                  </a:lnTo>
                  <a:lnTo>
                    <a:pt x="249" y="89"/>
                  </a:lnTo>
                  <a:lnTo>
                    <a:pt x="258" y="85"/>
                  </a:lnTo>
                  <a:lnTo>
                    <a:pt x="262" y="80"/>
                  </a:lnTo>
                  <a:lnTo>
                    <a:pt x="259" y="71"/>
                  </a:lnTo>
                  <a:lnTo>
                    <a:pt x="251" y="62"/>
                  </a:lnTo>
                  <a:lnTo>
                    <a:pt x="241" y="54"/>
                  </a:lnTo>
                  <a:lnTo>
                    <a:pt x="231" y="47"/>
                  </a:lnTo>
                  <a:lnTo>
                    <a:pt x="220" y="42"/>
                  </a:lnTo>
                  <a:lnTo>
                    <a:pt x="208" y="38"/>
                  </a:lnTo>
                  <a:lnTo>
                    <a:pt x="197" y="36"/>
                  </a:lnTo>
                  <a:lnTo>
                    <a:pt x="186" y="34"/>
                  </a:lnTo>
                  <a:lnTo>
                    <a:pt x="176" y="34"/>
                  </a:lnTo>
                  <a:lnTo>
                    <a:pt x="155" y="35"/>
                  </a:lnTo>
                  <a:lnTo>
                    <a:pt x="137" y="36"/>
                  </a:lnTo>
                  <a:lnTo>
                    <a:pt x="122" y="37"/>
                  </a:lnTo>
                  <a:lnTo>
                    <a:pt x="108" y="37"/>
                  </a:lnTo>
                  <a:lnTo>
                    <a:pt x="94" y="36"/>
                  </a:lnTo>
                  <a:lnTo>
                    <a:pt x="81" y="34"/>
                  </a:lnTo>
                  <a:lnTo>
                    <a:pt x="67" y="29"/>
                  </a:lnTo>
                  <a:lnTo>
                    <a:pt x="52" y="22"/>
                  </a:lnTo>
                  <a:lnTo>
                    <a:pt x="36" y="14"/>
                  </a:lnTo>
                  <a:lnTo>
                    <a:pt x="26" y="9"/>
                  </a:lnTo>
                  <a:lnTo>
                    <a:pt x="17" y="5"/>
                  </a:lnTo>
                  <a:lnTo>
                    <a:pt x="12" y="3"/>
                  </a:lnTo>
                  <a:lnTo>
                    <a:pt x="10" y="1"/>
                  </a:lnTo>
                  <a:lnTo>
                    <a:pt x="8" y="0"/>
                  </a:lnTo>
                  <a:lnTo>
                    <a:pt x="7" y="0"/>
                  </a:lnTo>
                  <a:lnTo>
                    <a:pt x="0" y="4"/>
                  </a:lnTo>
                  <a:lnTo>
                    <a:pt x="44" y="27"/>
                  </a:lnTo>
                  <a:lnTo>
                    <a:pt x="57" y="32"/>
                  </a:lnTo>
                  <a:lnTo>
                    <a:pt x="68" y="36"/>
                  </a:lnTo>
                  <a:lnTo>
                    <a:pt x="80" y="39"/>
                  </a:lnTo>
                  <a:lnTo>
                    <a:pt x="90" y="41"/>
                  </a:lnTo>
                  <a:lnTo>
                    <a:pt x="100" y="41"/>
                  </a:lnTo>
                  <a:lnTo>
                    <a:pt x="110" y="42"/>
                  </a:lnTo>
                  <a:lnTo>
                    <a:pt x="120" y="41"/>
                  </a:lnTo>
                  <a:lnTo>
                    <a:pt x="131" y="41"/>
                  </a:lnTo>
                  <a:lnTo>
                    <a:pt x="136" y="41"/>
                  </a:lnTo>
                  <a:lnTo>
                    <a:pt x="139" y="40"/>
                  </a:lnTo>
                  <a:lnTo>
                    <a:pt x="143" y="40"/>
                  </a:lnTo>
                  <a:lnTo>
                    <a:pt x="147" y="40"/>
                  </a:lnTo>
                  <a:lnTo>
                    <a:pt x="151" y="39"/>
                  </a:lnTo>
                  <a:lnTo>
                    <a:pt x="156" y="39"/>
                  </a:lnTo>
                  <a:lnTo>
                    <a:pt x="161" y="39"/>
                  </a:lnTo>
                  <a:lnTo>
                    <a:pt x="167" y="39"/>
                  </a:lnTo>
                  <a:lnTo>
                    <a:pt x="175" y="39"/>
                  </a:lnTo>
                  <a:lnTo>
                    <a:pt x="184" y="40"/>
                  </a:lnTo>
                  <a:lnTo>
                    <a:pt x="194" y="41"/>
                  </a:lnTo>
                  <a:lnTo>
                    <a:pt x="206" y="43"/>
                  </a:lnTo>
                  <a:lnTo>
                    <a:pt x="217" y="47"/>
                  </a:lnTo>
                  <a:lnTo>
                    <a:pt x="227" y="53"/>
                  </a:lnTo>
                  <a:lnTo>
                    <a:pt x="237" y="59"/>
                  </a:lnTo>
                  <a:lnTo>
                    <a:pt x="245" y="67"/>
                  </a:lnTo>
                  <a:lnTo>
                    <a:pt x="249" y="72"/>
                  </a:lnTo>
                  <a:lnTo>
                    <a:pt x="250" y="76"/>
                  </a:lnTo>
                  <a:lnTo>
                    <a:pt x="250" y="78"/>
                  </a:lnTo>
                  <a:lnTo>
                    <a:pt x="249" y="80"/>
                  </a:lnTo>
                  <a:lnTo>
                    <a:pt x="248" y="82"/>
                  </a:lnTo>
                  <a:lnTo>
                    <a:pt x="244" y="83"/>
                  </a:lnTo>
                  <a:lnTo>
                    <a:pt x="237" y="85"/>
                  </a:lnTo>
                  <a:lnTo>
                    <a:pt x="231" y="86"/>
                  </a:lnTo>
                  <a:lnTo>
                    <a:pt x="222" y="87"/>
                  </a:lnTo>
                  <a:lnTo>
                    <a:pt x="216" y="88"/>
                  </a:lnTo>
                  <a:lnTo>
                    <a:pt x="209" y="89"/>
                  </a:lnTo>
                  <a:lnTo>
                    <a:pt x="203" y="90"/>
                  </a:lnTo>
                  <a:lnTo>
                    <a:pt x="197" y="92"/>
                  </a:lnTo>
                  <a:lnTo>
                    <a:pt x="192" y="93"/>
                  </a:lnTo>
                  <a:lnTo>
                    <a:pt x="186" y="95"/>
                  </a:lnTo>
                  <a:lnTo>
                    <a:pt x="181" y="97"/>
                  </a:lnTo>
                  <a:lnTo>
                    <a:pt x="178" y="101"/>
                  </a:lnTo>
                  <a:lnTo>
                    <a:pt x="176" y="103"/>
                  </a:lnTo>
                  <a:lnTo>
                    <a:pt x="174" y="104"/>
                  </a:lnTo>
                  <a:lnTo>
                    <a:pt x="174" y="106"/>
                  </a:lnTo>
                  <a:lnTo>
                    <a:pt x="172" y="108"/>
                  </a:lnTo>
                  <a:lnTo>
                    <a:pt x="172" y="109"/>
                  </a:lnTo>
                  <a:lnTo>
                    <a:pt x="172" y="111"/>
                  </a:lnTo>
                  <a:lnTo>
                    <a:pt x="172" y="113"/>
                  </a:lnTo>
                  <a:lnTo>
                    <a:pt x="174" y="115"/>
                  </a:lnTo>
                  <a:lnTo>
                    <a:pt x="178" y="121"/>
                  </a:lnTo>
                  <a:lnTo>
                    <a:pt x="185" y="127"/>
                  </a:lnTo>
                  <a:lnTo>
                    <a:pt x="193" y="132"/>
                  </a:lnTo>
                  <a:lnTo>
                    <a:pt x="202" y="137"/>
                  </a:lnTo>
                  <a:lnTo>
                    <a:pt x="211" y="140"/>
                  </a:lnTo>
                  <a:lnTo>
                    <a:pt x="218" y="143"/>
                  </a:lnTo>
                  <a:lnTo>
                    <a:pt x="225" y="146"/>
                  </a:lnTo>
                  <a:lnTo>
                    <a:pt x="228" y="148"/>
                  </a:lnTo>
                  <a:lnTo>
                    <a:pt x="234" y="142"/>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sp>
          <p:nvSpPr>
            <p:cNvPr id="13" name="Freeform 12"/>
            <p:cNvSpPr>
              <a:spLocks/>
            </p:cNvSpPr>
            <p:nvPr/>
          </p:nvSpPr>
          <p:spPr bwMode="auto">
            <a:xfrm>
              <a:off x="1928" y="3146"/>
              <a:ext cx="164" cy="65"/>
            </a:xfrm>
            <a:custGeom>
              <a:avLst/>
              <a:gdLst>
                <a:gd name="T0" fmla="*/ 109 w 164"/>
                <a:gd name="T1" fmla="*/ 2 h 65"/>
                <a:gd name="T2" fmla="*/ 96 w 164"/>
                <a:gd name="T3" fmla="*/ 0 h 65"/>
                <a:gd name="T4" fmla="*/ 85 w 164"/>
                <a:gd name="T5" fmla="*/ 0 h 65"/>
                <a:gd name="T6" fmla="*/ 75 w 164"/>
                <a:gd name="T7" fmla="*/ 1 h 65"/>
                <a:gd name="T8" fmla="*/ 66 w 164"/>
                <a:gd name="T9" fmla="*/ 2 h 65"/>
                <a:gd name="T10" fmla="*/ 59 w 164"/>
                <a:gd name="T11" fmla="*/ 4 h 65"/>
                <a:gd name="T12" fmla="*/ 54 w 164"/>
                <a:gd name="T13" fmla="*/ 6 h 65"/>
                <a:gd name="T14" fmla="*/ 50 w 164"/>
                <a:gd name="T15" fmla="*/ 8 h 65"/>
                <a:gd name="T16" fmla="*/ 49 w 164"/>
                <a:gd name="T17" fmla="*/ 8 h 65"/>
                <a:gd name="T18" fmla="*/ 0 w 164"/>
                <a:gd name="T19" fmla="*/ 41 h 65"/>
                <a:gd name="T20" fmla="*/ 0 w 164"/>
                <a:gd name="T21" fmla="*/ 45 h 65"/>
                <a:gd name="T22" fmla="*/ 1 w 164"/>
                <a:gd name="T23" fmla="*/ 44 h 65"/>
                <a:gd name="T24" fmla="*/ 5 w 164"/>
                <a:gd name="T25" fmla="*/ 43 h 65"/>
                <a:gd name="T26" fmla="*/ 8 w 164"/>
                <a:gd name="T27" fmla="*/ 42 h 65"/>
                <a:gd name="T28" fmla="*/ 15 w 164"/>
                <a:gd name="T29" fmla="*/ 40 h 65"/>
                <a:gd name="T30" fmla="*/ 22 w 164"/>
                <a:gd name="T31" fmla="*/ 39 h 65"/>
                <a:gd name="T32" fmla="*/ 31 w 164"/>
                <a:gd name="T33" fmla="*/ 38 h 65"/>
                <a:gd name="T34" fmla="*/ 42 w 164"/>
                <a:gd name="T35" fmla="*/ 38 h 65"/>
                <a:gd name="T36" fmla="*/ 52 w 164"/>
                <a:gd name="T37" fmla="*/ 40 h 65"/>
                <a:gd name="T38" fmla="*/ 67 w 164"/>
                <a:gd name="T39" fmla="*/ 44 h 65"/>
                <a:gd name="T40" fmla="*/ 78 w 164"/>
                <a:gd name="T41" fmla="*/ 48 h 65"/>
                <a:gd name="T42" fmla="*/ 87 w 164"/>
                <a:gd name="T43" fmla="*/ 51 h 65"/>
                <a:gd name="T44" fmla="*/ 94 w 164"/>
                <a:gd name="T45" fmla="*/ 53 h 65"/>
                <a:gd name="T46" fmla="*/ 100 w 164"/>
                <a:gd name="T47" fmla="*/ 55 h 65"/>
                <a:gd name="T48" fmla="*/ 104 w 164"/>
                <a:gd name="T49" fmla="*/ 57 h 65"/>
                <a:gd name="T50" fmla="*/ 109 w 164"/>
                <a:gd name="T51" fmla="*/ 59 h 65"/>
                <a:gd name="T52" fmla="*/ 114 w 164"/>
                <a:gd name="T53" fmla="*/ 60 h 65"/>
                <a:gd name="T54" fmla="*/ 136 w 164"/>
                <a:gd name="T55" fmla="*/ 64 h 65"/>
                <a:gd name="T56" fmla="*/ 150 w 164"/>
                <a:gd name="T57" fmla="*/ 62 h 65"/>
                <a:gd name="T58" fmla="*/ 159 w 164"/>
                <a:gd name="T59" fmla="*/ 56 h 65"/>
                <a:gd name="T60" fmla="*/ 163 w 164"/>
                <a:gd name="T61" fmla="*/ 49 h 65"/>
                <a:gd name="T62" fmla="*/ 163 w 164"/>
                <a:gd name="T63" fmla="*/ 41 h 65"/>
                <a:gd name="T64" fmla="*/ 161 w 164"/>
                <a:gd name="T65" fmla="*/ 33 h 65"/>
                <a:gd name="T66" fmla="*/ 159 w 164"/>
                <a:gd name="T67" fmla="*/ 25 h 65"/>
                <a:gd name="T68" fmla="*/ 156 w 164"/>
                <a:gd name="T69" fmla="*/ 22 h 65"/>
                <a:gd name="T70" fmla="*/ 154 w 164"/>
                <a:gd name="T71" fmla="*/ 21 h 65"/>
                <a:gd name="T72" fmla="*/ 152 w 164"/>
                <a:gd name="T73" fmla="*/ 19 h 65"/>
                <a:gd name="T74" fmla="*/ 148 w 164"/>
                <a:gd name="T75" fmla="*/ 17 h 65"/>
                <a:gd name="T76" fmla="*/ 143 w 164"/>
                <a:gd name="T77" fmla="*/ 14 h 65"/>
                <a:gd name="T78" fmla="*/ 137 w 164"/>
                <a:gd name="T79" fmla="*/ 11 h 65"/>
                <a:gd name="T80" fmla="*/ 129 w 164"/>
                <a:gd name="T81" fmla="*/ 8 h 65"/>
                <a:gd name="T82" fmla="*/ 120 w 164"/>
                <a:gd name="T83" fmla="*/ 5 h 65"/>
                <a:gd name="T84" fmla="*/ 109 w 164"/>
                <a:gd name="T85" fmla="*/ 2 h 6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64" h="65">
                  <a:moveTo>
                    <a:pt x="109" y="2"/>
                  </a:moveTo>
                  <a:lnTo>
                    <a:pt x="96" y="0"/>
                  </a:lnTo>
                  <a:lnTo>
                    <a:pt x="85" y="0"/>
                  </a:lnTo>
                  <a:lnTo>
                    <a:pt x="75" y="1"/>
                  </a:lnTo>
                  <a:lnTo>
                    <a:pt x="66" y="2"/>
                  </a:lnTo>
                  <a:lnTo>
                    <a:pt x="59" y="4"/>
                  </a:lnTo>
                  <a:lnTo>
                    <a:pt x="54" y="6"/>
                  </a:lnTo>
                  <a:lnTo>
                    <a:pt x="50" y="8"/>
                  </a:lnTo>
                  <a:lnTo>
                    <a:pt x="49" y="8"/>
                  </a:lnTo>
                  <a:lnTo>
                    <a:pt x="0" y="41"/>
                  </a:lnTo>
                  <a:lnTo>
                    <a:pt x="0" y="45"/>
                  </a:lnTo>
                  <a:lnTo>
                    <a:pt x="1" y="44"/>
                  </a:lnTo>
                  <a:lnTo>
                    <a:pt x="5" y="43"/>
                  </a:lnTo>
                  <a:lnTo>
                    <a:pt x="8" y="42"/>
                  </a:lnTo>
                  <a:lnTo>
                    <a:pt x="15" y="40"/>
                  </a:lnTo>
                  <a:lnTo>
                    <a:pt x="22" y="39"/>
                  </a:lnTo>
                  <a:lnTo>
                    <a:pt x="31" y="38"/>
                  </a:lnTo>
                  <a:lnTo>
                    <a:pt x="42" y="38"/>
                  </a:lnTo>
                  <a:lnTo>
                    <a:pt x="52" y="40"/>
                  </a:lnTo>
                  <a:lnTo>
                    <a:pt x="67" y="44"/>
                  </a:lnTo>
                  <a:lnTo>
                    <a:pt x="78" y="48"/>
                  </a:lnTo>
                  <a:lnTo>
                    <a:pt x="87" y="51"/>
                  </a:lnTo>
                  <a:lnTo>
                    <a:pt x="94" y="53"/>
                  </a:lnTo>
                  <a:lnTo>
                    <a:pt x="100" y="55"/>
                  </a:lnTo>
                  <a:lnTo>
                    <a:pt x="104" y="57"/>
                  </a:lnTo>
                  <a:lnTo>
                    <a:pt x="109" y="59"/>
                  </a:lnTo>
                  <a:lnTo>
                    <a:pt x="114" y="60"/>
                  </a:lnTo>
                  <a:lnTo>
                    <a:pt x="136" y="64"/>
                  </a:lnTo>
                  <a:lnTo>
                    <a:pt x="150" y="62"/>
                  </a:lnTo>
                  <a:lnTo>
                    <a:pt x="159" y="56"/>
                  </a:lnTo>
                  <a:lnTo>
                    <a:pt x="163" y="49"/>
                  </a:lnTo>
                  <a:lnTo>
                    <a:pt x="163" y="41"/>
                  </a:lnTo>
                  <a:lnTo>
                    <a:pt x="161" y="33"/>
                  </a:lnTo>
                  <a:lnTo>
                    <a:pt x="159" y="25"/>
                  </a:lnTo>
                  <a:lnTo>
                    <a:pt x="156" y="22"/>
                  </a:lnTo>
                  <a:lnTo>
                    <a:pt x="154" y="21"/>
                  </a:lnTo>
                  <a:lnTo>
                    <a:pt x="152" y="19"/>
                  </a:lnTo>
                  <a:lnTo>
                    <a:pt x="148" y="17"/>
                  </a:lnTo>
                  <a:lnTo>
                    <a:pt x="143" y="14"/>
                  </a:lnTo>
                  <a:lnTo>
                    <a:pt x="137" y="11"/>
                  </a:lnTo>
                  <a:lnTo>
                    <a:pt x="129" y="8"/>
                  </a:lnTo>
                  <a:lnTo>
                    <a:pt x="120" y="5"/>
                  </a:lnTo>
                  <a:lnTo>
                    <a:pt x="109" y="2"/>
                  </a:lnTo>
                </a:path>
              </a:pathLst>
            </a:custGeom>
            <a:solidFill>
              <a:srgbClr val="DDDDD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sp>
          <p:nvSpPr>
            <p:cNvPr id="14" name="Freeform 13"/>
            <p:cNvSpPr>
              <a:spLocks/>
            </p:cNvSpPr>
            <p:nvPr/>
          </p:nvSpPr>
          <p:spPr bwMode="auto">
            <a:xfrm>
              <a:off x="1955" y="3146"/>
              <a:ext cx="51" cy="39"/>
            </a:xfrm>
            <a:custGeom>
              <a:avLst/>
              <a:gdLst>
                <a:gd name="T0" fmla="*/ 0 w 51"/>
                <a:gd name="T1" fmla="*/ 38 h 39"/>
                <a:gd name="T2" fmla="*/ 0 w 51"/>
                <a:gd name="T3" fmla="*/ 38 h 39"/>
                <a:gd name="T4" fmla="*/ 0 w 51"/>
                <a:gd name="T5" fmla="*/ 38 h 39"/>
                <a:gd name="T6" fmla="*/ 0 w 51"/>
                <a:gd name="T7" fmla="*/ 38 h 39"/>
                <a:gd name="T8" fmla="*/ 0 w 51"/>
                <a:gd name="T9" fmla="*/ 36 h 39"/>
                <a:gd name="T10" fmla="*/ 0 w 51"/>
                <a:gd name="T11" fmla="*/ 35 h 39"/>
                <a:gd name="T12" fmla="*/ 0 w 51"/>
                <a:gd name="T13" fmla="*/ 35 h 39"/>
                <a:gd name="T14" fmla="*/ 0 w 51"/>
                <a:gd name="T15" fmla="*/ 34 h 39"/>
                <a:gd name="T16" fmla="*/ 0 w 51"/>
                <a:gd name="T17" fmla="*/ 33 h 39"/>
                <a:gd name="T18" fmla="*/ 2 w 51"/>
                <a:gd name="T19" fmla="*/ 32 h 39"/>
                <a:gd name="T20" fmla="*/ 8 w 51"/>
                <a:gd name="T21" fmla="*/ 28 h 39"/>
                <a:gd name="T22" fmla="*/ 15 w 51"/>
                <a:gd name="T23" fmla="*/ 23 h 39"/>
                <a:gd name="T24" fmla="*/ 23 w 51"/>
                <a:gd name="T25" fmla="*/ 16 h 39"/>
                <a:gd name="T26" fmla="*/ 32 w 51"/>
                <a:gd name="T27" fmla="*/ 10 h 39"/>
                <a:gd name="T28" fmla="*/ 40 w 51"/>
                <a:gd name="T29" fmla="*/ 5 h 39"/>
                <a:gd name="T30" fmla="*/ 45 w 51"/>
                <a:gd name="T31" fmla="*/ 1 h 39"/>
                <a:gd name="T32" fmla="*/ 48 w 51"/>
                <a:gd name="T33" fmla="*/ 0 h 39"/>
                <a:gd name="T34" fmla="*/ 48 w 51"/>
                <a:gd name="T35" fmla="*/ 0 h 39"/>
                <a:gd name="T36" fmla="*/ 48 w 51"/>
                <a:gd name="T37" fmla="*/ 0 h 39"/>
                <a:gd name="T38" fmla="*/ 48 w 51"/>
                <a:gd name="T39" fmla="*/ 0 h 39"/>
                <a:gd name="T40" fmla="*/ 50 w 51"/>
                <a:gd name="T41" fmla="*/ 0 h 39"/>
                <a:gd name="T42" fmla="*/ 48 w 51"/>
                <a:gd name="T43" fmla="*/ 0 h 39"/>
                <a:gd name="T44" fmla="*/ 48 w 51"/>
                <a:gd name="T45" fmla="*/ 0 h 39"/>
                <a:gd name="T46" fmla="*/ 48 w 51"/>
                <a:gd name="T47" fmla="*/ 0 h 39"/>
                <a:gd name="T48" fmla="*/ 47 w 51"/>
                <a:gd name="T49" fmla="*/ 1 h 39"/>
                <a:gd name="T50" fmla="*/ 41 w 51"/>
                <a:gd name="T51" fmla="*/ 5 h 39"/>
                <a:gd name="T52" fmla="*/ 33 w 51"/>
                <a:gd name="T53" fmla="*/ 10 h 39"/>
                <a:gd name="T54" fmla="*/ 26 w 51"/>
                <a:gd name="T55" fmla="*/ 16 h 39"/>
                <a:gd name="T56" fmla="*/ 17 w 51"/>
                <a:gd name="T57" fmla="*/ 23 h 39"/>
                <a:gd name="T58" fmla="*/ 10 w 51"/>
                <a:gd name="T59" fmla="*/ 28 h 39"/>
                <a:gd name="T60" fmla="*/ 3 w 51"/>
                <a:gd name="T61" fmla="*/ 32 h 39"/>
                <a:gd name="T62" fmla="*/ 1 w 51"/>
                <a:gd name="T63" fmla="*/ 33 h 39"/>
                <a:gd name="T64" fmla="*/ 1 w 51"/>
                <a:gd name="T65" fmla="*/ 34 h 39"/>
                <a:gd name="T66" fmla="*/ 1 w 51"/>
                <a:gd name="T67" fmla="*/ 35 h 39"/>
                <a:gd name="T68" fmla="*/ 1 w 51"/>
                <a:gd name="T69" fmla="*/ 35 h 39"/>
                <a:gd name="T70" fmla="*/ 1 w 51"/>
                <a:gd name="T71" fmla="*/ 36 h 39"/>
                <a:gd name="T72" fmla="*/ 1 w 51"/>
                <a:gd name="T73" fmla="*/ 36 h 39"/>
                <a:gd name="T74" fmla="*/ 1 w 51"/>
                <a:gd name="T75" fmla="*/ 38 h 39"/>
                <a:gd name="T76" fmla="*/ 1 w 51"/>
                <a:gd name="T77" fmla="*/ 38 h 39"/>
                <a:gd name="T78" fmla="*/ 1 w 51"/>
                <a:gd name="T79" fmla="*/ 38 h 39"/>
                <a:gd name="T80" fmla="*/ 0 w 51"/>
                <a:gd name="T81" fmla="*/ 38 h 3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51" h="39">
                  <a:moveTo>
                    <a:pt x="0" y="38"/>
                  </a:moveTo>
                  <a:lnTo>
                    <a:pt x="0" y="38"/>
                  </a:lnTo>
                  <a:lnTo>
                    <a:pt x="0" y="36"/>
                  </a:lnTo>
                  <a:lnTo>
                    <a:pt x="0" y="35"/>
                  </a:lnTo>
                  <a:lnTo>
                    <a:pt x="0" y="34"/>
                  </a:lnTo>
                  <a:lnTo>
                    <a:pt x="0" y="33"/>
                  </a:lnTo>
                  <a:lnTo>
                    <a:pt x="2" y="32"/>
                  </a:lnTo>
                  <a:lnTo>
                    <a:pt x="8" y="28"/>
                  </a:lnTo>
                  <a:lnTo>
                    <a:pt x="15" y="23"/>
                  </a:lnTo>
                  <a:lnTo>
                    <a:pt x="23" y="16"/>
                  </a:lnTo>
                  <a:lnTo>
                    <a:pt x="32" y="10"/>
                  </a:lnTo>
                  <a:lnTo>
                    <a:pt x="40" y="5"/>
                  </a:lnTo>
                  <a:lnTo>
                    <a:pt x="45" y="1"/>
                  </a:lnTo>
                  <a:lnTo>
                    <a:pt x="48" y="0"/>
                  </a:lnTo>
                  <a:lnTo>
                    <a:pt x="50" y="0"/>
                  </a:lnTo>
                  <a:lnTo>
                    <a:pt x="48" y="0"/>
                  </a:lnTo>
                  <a:lnTo>
                    <a:pt x="47" y="1"/>
                  </a:lnTo>
                  <a:lnTo>
                    <a:pt x="41" y="5"/>
                  </a:lnTo>
                  <a:lnTo>
                    <a:pt x="33" y="10"/>
                  </a:lnTo>
                  <a:lnTo>
                    <a:pt x="26" y="16"/>
                  </a:lnTo>
                  <a:lnTo>
                    <a:pt x="17" y="23"/>
                  </a:lnTo>
                  <a:lnTo>
                    <a:pt x="10" y="28"/>
                  </a:lnTo>
                  <a:lnTo>
                    <a:pt x="3" y="32"/>
                  </a:lnTo>
                  <a:lnTo>
                    <a:pt x="1" y="33"/>
                  </a:lnTo>
                  <a:lnTo>
                    <a:pt x="1" y="34"/>
                  </a:lnTo>
                  <a:lnTo>
                    <a:pt x="1" y="35"/>
                  </a:lnTo>
                  <a:lnTo>
                    <a:pt x="1" y="36"/>
                  </a:lnTo>
                  <a:lnTo>
                    <a:pt x="1" y="38"/>
                  </a:lnTo>
                  <a:lnTo>
                    <a:pt x="0" y="38"/>
                  </a:lnTo>
                </a:path>
              </a:pathLst>
            </a:custGeom>
            <a:solidFill>
              <a:srgbClr val="7F7F7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sp>
          <p:nvSpPr>
            <p:cNvPr id="15" name="Freeform 14"/>
            <p:cNvSpPr>
              <a:spLocks/>
            </p:cNvSpPr>
            <p:nvPr/>
          </p:nvSpPr>
          <p:spPr bwMode="auto">
            <a:xfrm>
              <a:off x="1960" y="3162"/>
              <a:ext cx="21" cy="18"/>
            </a:xfrm>
            <a:custGeom>
              <a:avLst/>
              <a:gdLst>
                <a:gd name="T0" fmla="*/ 1 w 21"/>
                <a:gd name="T1" fmla="*/ 12 h 18"/>
                <a:gd name="T2" fmla="*/ 1 w 21"/>
                <a:gd name="T3" fmla="*/ 12 h 18"/>
                <a:gd name="T4" fmla="*/ 2 w 21"/>
                <a:gd name="T5" fmla="*/ 12 h 18"/>
                <a:gd name="T6" fmla="*/ 5 w 21"/>
                <a:gd name="T7" fmla="*/ 8 h 18"/>
                <a:gd name="T8" fmla="*/ 7 w 21"/>
                <a:gd name="T9" fmla="*/ 8 h 18"/>
                <a:gd name="T10" fmla="*/ 10 w 21"/>
                <a:gd name="T11" fmla="*/ 4 h 18"/>
                <a:gd name="T12" fmla="*/ 12 w 21"/>
                <a:gd name="T13" fmla="*/ 0 h 18"/>
                <a:gd name="T14" fmla="*/ 15 w 21"/>
                <a:gd name="T15" fmla="*/ 0 h 18"/>
                <a:gd name="T16" fmla="*/ 16 w 21"/>
                <a:gd name="T17" fmla="*/ 0 h 18"/>
                <a:gd name="T18" fmla="*/ 17 w 21"/>
                <a:gd name="T19" fmla="*/ 0 h 18"/>
                <a:gd name="T20" fmla="*/ 18 w 21"/>
                <a:gd name="T21" fmla="*/ 0 h 18"/>
                <a:gd name="T22" fmla="*/ 20 w 21"/>
                <a:gd name="T23" fmla="*/ 0 h 18"/>
                <a:gd name="T24" fmla="*/ 20 w 21"/>
                <a:gd name="T25" fmla="*/ 0 h 18"/>
                <a:gd name="T26" fmla="*/ 20 w 21"/>
                <a:gd name="T27" fmla="*/ 0 h 18"/>
                <a:gd name="T28" fmla="*/ 20 w 21"/>
                <a:gd name="T29" fmla="*/ 0 h 18"/>
                <a:gd name="T30" fmla="*/ 20 w 21"/>
                <a:gd name="T31" fmla="*/ 0 h 18"/>
                <a:gd name="T32" fmla="*/ 20 w 21"/>
                <a:gd name="T33" fmla="*/ 0 h 18"/>
                <a:gd name="T34" fmla="*/ 18 w 21"/>
                <a:gd name="T35" fmla="*/ 4 h 18"/>
                <a:gd name="T36" fmla="*/ 18 w 21"/>
                <a:gd name="T37" fmla="*/ 4 h 18"/>
                <a:gd name="T38" fmla="*/ 18 w 21"/>
                <a:gd name="T39" fmla="*/ 4 h 18"/>
                <a:gd name="T40" fmla="*/ 18 w 21"/>
                <a:gd name="T41" fmla="*/ 4 h 18"/>
                <a:gd name="T42" fmla="*/ 17 w 21"/>
                <a:gd name="T43" fmla="*/ 4 h 18"/>
                <a:gd name="T44" fmla="*/ 16 w 21"/>
                <a:gd name="T45" fmla="*/ 4 h 18"/>
                <a:gd name="T46" fmla="*/ 15 w 21"/>
                <a:gd name="T47" fmla="*/ 4 h 18"/>
                <a:gd name="T48" fmla="*/ 13 w 21"/>
                <a:gd name="T49" fmla="*/ 4 h 18"/>
                <a:gd name="T50" fmla="*/ 12 w 21"/>
                <a:gd name="T51" fmla="*/ 4 h 18"/>
                <a:gd name="T52" fmla="*/ 10 w 21"/>
                <a:gd name="T53" fmla="*/ 8 h 18"/>
                <a:gd name="T54" fmla="*/ 7 w 21"/>
                <a:gd name="T55" fmla="*/ 8 h 18"/>
                <a:gd name="T56" fmla="*/ 5 w 21"/>
                <a:gd name="T57" fmla="*/ 12 h 18"/>
                <a:gd name="T58" fmla="*/ 3 w 21"/>
                <a:gd name="T59" fmla="*/ 12 h 18"/>
                <a:gd name="T60" fmla="*/ 1 w 21"/>
                <a:gd name="T61" fmla="*/ 17 h 18"/>
                <a:gd name="T62" fmla="*/ 0 w 21"/>
                <a:gd name="T63" fmla="*/ 17 h 18"/>
                <a:gd name="T64" fmla="*/ 0 w 21"/>
                <a:gd name="T65" fmla="*/ 17 h 18"/>
                <a:gd name="T66" fmla="*/ 1 w 21"/>
                <a:gd name="T67" fmla="*/ 12 h 1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1" h="18">
                  <a:moveTo>
                    <a:pt x="1" y="12"/>
                  </a:moveTo>
                  <a:lnTo>
                    <a:pt x="1" y="12"/>
                  </a:lnTo>
                  <a:lnTo>
                    <a:pt x="2" y="12"/>
                  </a:lnTo>
                  <a:lnTo>
                    <a:pt x="5" y="8"/>
                  </a:lnTo>
                  <a:lnTo>
                    <a:pt x="7" y="8"/>
                  </a:lnTo>
                  <a:lnTo>
                    <a:pt x="10" y="4"/>
                  </a:lnTo>
                  <a:lnTo>
                    <a:pt x="12" y="0"/>
                  </a:lnTo>
                  <a:lnTo>
                    <a:pt x="15" y="0"/>
                  </a:lnTo>
                  <a:lnTo>
                    <a:pt x="16" y="0"/>
                  </a:lnTo>
                  <a:lnTo>
                    <a:pt x="17" y="0"/>
                  </a:lnTo>
                  <a:lnTo>
                    <a:pt x="18" y="0"/>
                  </a:lnTo>
                  <a:lnTo>
                    <a:pt x="20" y="0"/>
                  </a:lnTo>
                  <a:lnTo>
                    <a:pt x="18" y="4"/>
                  </a:lnTo>
                  <a:lnTo>
                    <a:pt x="17" y="4"/>
                  </a:lnTo>
                  <a:lnTo>
                    <a:pt x="16" y="4"/>
                  </a:lnTo>
                  <a:lnTo>
                    <a:pt x="15" y="4"/>
                  </a:lnTo>
                  <a:lnTo>
                    <a:pt x="13" y="4"/>
                  </a:lnTo>
                  <a:lnTo>
                    <a:pt x="12" y="4"/>
                  </a:lnTo>
                  <a:lnTo>
                    <a:pt x="10" y="8"/>
                  </a:lnTo>
                  <a:lnTo>
                    <a:pt x="7" y="8"/>
                  </a:lnTo>
                  <a:lnTo>
                    <a:pt x="5" y="12"/>
                  </a:lnTo>
                  <a:lnTo>
                    <a:pt x="3" y="12"/>
                  </a:lnTo>
                  <a:lnTo>
                    <a:pt x="1" y="17"/>
                  </a:lnTo>
                  <a:lnTo>
                    <a:pt x="0" y="17"/>
                  </a:lnTo>
                  <a:lnTo>
                    <a:pt x="1" y="12"/>
                  </a:lnTo>
                </a:path>
              </a:pathLst>
            </a:custGeom>
            <a:solidFill>
              <a:srgbClr val="7F7F7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sp>
          <p:nvSpPr>
            <p:cNvPr id="16" name="Freeform 15"/>
            <p:cNvSpPr>
              <a:spLocks/>
            </p:cNvSpPr>
            <p:nvPr/>
          </p:nvSpPr>
          <p:spPr bwMode="auto">
            <a:xfrm>
              <a:off x="1039" y="2943"/>
              <a:ext cx="718" cy="329"/>
            </a:xfrm>
            <a:custGeom>
              <a:avLst/>
              <a:gdLst>
                <a:gd name="T0" fmla="*/ 232 w 718"/>
                <a:gd name="T1" fmla="*/ 328 h 329"/>
                <a:gd name="T2" fmla="*/ 717 w 718"/>
                <a:gd name="T3" fmla="*/ 215 h 329"/>
                <a:gd name="T4" fmla="*/ 717 w 718"/>
                <a:gd name="T5" fmla="*/ 162 h 329"/>
                <a:gd name="T6" fmla="*/ 385 w 718"/>
                <a:gd name="T7" fmla="*/ 0 h 329"/>
                <a:gd name="T8" fmla="*/ 0 w 718"/>
                <a:gd name="T9" fmla="*/ 192 h 329"/>
                <a:gd name="T10" fmla="*/ 0 w 718"/>
                <a:gd name="T11" fmla="*/ 217 h 329"/>
                <a:gd name="T12" fmla="*/ 232 w 718"/>
                <a:gd name="T13" fmla="*/ 328 h 32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18" h="329">
                  <a:moveTo>
                    <a:pt x="232" y="328"/>
                  </a:moveTo>
                  <a:lnTo>
                    <a:pt x="717" y="215"/>
                  </a:lnTo>
                  <a:lnTo>
                    <a:pt x="717" y="162"/>
                  </a:lnTo>
                  <a:lnTo>
                    <a:pt x="385" y="0"/>
                  </a:lnTo>
                  <a:lnTo>
                    <a:pt x="0" y="192"/>
                  </a:lnTo>
                  <a:lnTo>
                    <a:pt x="0" y="217"/>
                  </a:lnTo>
                  <a:lnTo>
                    <a:pt x="232" y="328"/>
                  </a:lnTo>
                </a:path>
              </a:pathLst>
            </a:custGeom>
            <a:solidFill>
              <a:srgbClr val="86868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sp>
          <p:nvSpPr>
            <p:cNvPr id="17" name="Freeform 16"/>
            <p:cNvSpPr>
              <a:spLocks/>
            </p:cNvSpPr>
            <p:nvPr/>
          </p:nvSpPr>
          <p:spPr bwMode="auto">
            <a:xfrm>
              <a:off x="1027" y="2885"/>
              <a:ext cx="737" cy="350"/>
            </a:xfrm>
            <a:custGeom>
              <a:avLst/>
              <a:gdLst>
                <a:gd name="T0" fmla="*/ 241 w 737"/>
                <a:gd name="T1" fmla="*/ 349 h 350"/>
                <a:gd name="T2" fmla="*/ 736 w 737"/>
                <a:gd name="T3" fmla="*/ 236 h 350"/>
                <a:gd name="T4" fmla="*/ 736 w 737"/>
                <a:gd name="T5" fmla="*/ 97 h 350"/>
                <a:gd name="T6" fmla="*/ 524 w 737"/>
                <a:gd name="T7" fmla="*/ 0 h 350"/>
                <a:gd name="T8" fmla="*/ 0 w 737"/>
                <a:gd name="T9" fmla="*/ 115 h 350"/>
                <a:gd name="T10" fmla="*/ 0 w 737"/>
                <a:gd name="T11" fmla="*/ 234 h 350"/>
                <a:gd name="T12" fmla="*/ 241 w 737"/>
                <a:gd name="T13" fmla="*/ 349 h 3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37" h="350">
                  <a:moveTo>
                    <a:pt x="241" y="349"/>
                  </a:moveTo>
                  <a:lnTo>
                    <a:pt x="736" y="236"/>
                  </a:lnTo>
                  <a:lnTo>
                    <a:pt x="736" y="97"/>
                  </a:lnTo>
                  <a:lnTo>
                    <a:pt x="524" y="0"/>
                  </a:lnTo>
                  <a:lnTo>
                    <a:pt x="0" y="115"/>
                  </a:lnTo>
                  <a:lnTo>
                    <a:pt x="0" y="234"/>
                  </a:lnTo>
                  <a:lnTo>
                    <a:pt x="241" y="349"/>
                  </a:lnTo>
                </a:path>
              </a:pathLst>
            </a:custGeom>
            <a:solidFill>
              <a:srgbClr val="DDDDD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sp>
          <p:nvSpPr>
            <p:cNvPr id="18" name="Freeform 17"/>
            <p:cNvSpPr>
              <a:spLocks/>
            </p:cNvSpPr>
            <p:nvPr/>
          </p:nvSpPr>
          <p:spPr bwMode="auto">
            <a:xfrm>
              <a:off x="1035" y="3013"/>
              <a:ext cx="235" cy="212"/>
            </a:xfrm>
            <a:custGeom>
              <a:avLst/>
              <a:gdLst>
                <a:gd name="T0" fmla="*/ 0 w 235"/>
                <a:gd name="T1" fmla="*/ 102 h 212"/>
                <a:gd name="T2" fmla="*/ 0 w 235"/>
                <a:gd name="T3" fmla="*/ 0 h 212"/>
                <a:gd name="T4" fmla="*/ 227 w 235"/>
                <a:gd name="T5" fmla="*/ 94 h 212"/>
                <a:gd name="T6" fmla="*/ 234 w 235"/>
                <a:gd name="T7" fmla="*/ 211 h 212"/>
                <a:gd name="T8" fmla="*/ 0 w 235"/>
                <a:gd name="T9" fmla="*/ 102 h 2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5" h="212">
                  <a:moveTo>
                    <a:pt x="0" y="102"/>
                  </a:moveTo>
                  <a:lnTo>
                    <a:pt x="0" y="0"/>
                  </a:lnTo>
                  <a:lnTo>
                    <a:pt x="227" y="94"/>
                  </a:lnTo>
                  <a:lnTo>
                    <a:pt x="234" y="211"/>
                  </a:lnTo>
                  <a:lnTo>
                    <a:pt x="0" y="102"/>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sp>
          <p:nvSpPr>
            <p:cNvPr id="19" name="Freeform 18"/>
            <p:cNvSpPr>
              <a:spLocks/>
            </p:cNvSpPr>
            <p:nvPr/>
          </p:nvSpPr>
          <p:spPr bwMode="auto">
            <a:xfrm>
              <a:off x="1292" y="3158"/>
              <a:ext cx="623" cy="199"/>
            </a:xfrm>
            <a:custGeom>
              <a:avLst/>
              <a:gdLst>
                <a:gd name="T0" fmla="*/ 111 w 623"/>
                <a:gd name="T1" fmla="*/ 198 h 199"/>
                <a:gd name="T2" fmla="*/ 622 w 623"/>
                <a:gd name="T3" fmla="*/ 83 h 199"/>
                <a:gd name="T4" fmla="*/ 446 w 623"/>
                <a:gd name="T5" fmla="*/ 0 h 199"/>
                <a:gd name="T6" fmla="*/ 0 w 623"/>
                <a:gd name="T7" fmla="*/ 92 h 199"/>
                <a:gd name="T8" fmla="*/ 111 w 623"/>
                <a:gd name="T9" fmla="*/ 198 h 1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3" h="199">
                  <a:moveTo>
                    <a:pt x="111" y="198"/>
                  </a:moveTo>
                  <a:lnTo>
                    <a:pt x="622" y="83"/>
                  </a:lnTo>
                  <a:lnTo>
                    <a:pt x="446" y="0"/>
                  </a:lnTo>
                  <a:lnTo>
                    <a:pt x="0" y="92"/>
                  </a:lnTo>
                  <a:lnTo>
                    <a:pt x="111" y="198"/>
                  </a:lnTo>
                </a:path>
              </a:pathLst>
            </a:custGeom>
            <a:solidFill>
              <a:srgbClr val="86868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sp>
          <p:nvSpPr>
            <p:cNvPr id="20" name="Freeform 19"/>
            <p:cNvSpPr>
              <a:spLocks/>
            </p:cNvSpPr>
            <p:nvPr/>
          </p:nvSpPr>
          <p:spPr bwMode="auto">
            <a:xfrm>
              <a:off x="1297" y="3146"/>
              <a:ext cx="621" cy="200"/>
            </a:xfrm>
            <a:custGeom>
              <a:avLst/>
              <a:gdLst>
                <a:gd name="T0" fmla="*/ 110 w 621"/>
                <a:gd name="T1" fmla="*/ 199 h 200"/>
                <a:gd name="T2" fmla="*/ 620 w 621"/>
                <a:gd name="T3" fmla="*/ 83 h 200"/>
                <a:gd name="T4" fmla="*/ 444 w 621"/>
                <a:gd name="T5" fmla="*/ 0 h 200"/>
                <a:gd name="T6" fmla="*/ 0 w 621"/>
                <a:gd name="T7" fmla="*/ 96 h 200"/>
                <a:gd name="T8" fmla="*/ 110 w 621"/>
                <a:gd name="T9" fmla="*/ 199 h 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1" h="200">
                  <a:moveTo>
                    <a:pt x="110" y="199"/>
                  </a:moveTo>
                  <a:lnTo>
                    <a:pt x="620" y="83"/>
                  </a:lnTo>
                  <a:lnTo>
                    <a:pt x="444" y="0"/>
                  </a:lnTo>
                  <a:lnTo>
                    <a:pt x="0" y="96"/>
                  </a:lnTo>
                  <a:lnTo>
                    <a:pt x="110" y="199"/>
                  </a:lnTo>
                </a:path>
              </a:pathLst>
            </a:custGeom>
            <a:solidFill>
              <a:srgbClr val="DDDDD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sp>
          <p:nvSpPr>
            <p:cNvPr id="21" name="Line 20"/>
            <p:cNvSpPr>
              <a:spLocks noChangeShapeType="1"/>
            </p:cNvSpPr>
            <p:nvPr/>
          </p:nvSpPr>
          <p:spPr bwMode="auto">
            <a:xfrm flipV="1">
              <a:off x="1312" y="3026"/>
              <a:ext cx="399" cy="91"/>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sp>
          <p:nvSpPr>
            <p:cNvPr id="22" name="Freeform 21"/>
            <p:cNvSpPr>
              <a:spLocks/>
            </p:cNvSpPr>
            <p:nvPr/>
          </p:nvSpPr>
          <p:spPr bwMode="auto">
            <a:xfrm>
              <a:off x="1312" y="3026"/>
              <a:ext cx="400" cy="92"/>
            </a:xfrm>
            <a:custGeom>
              <a:avLst/>
              <a:gdLst>
                <a:gd name="T0" fmla="*/ 0 w 400"/>
                <a:gd name="T1" fmla="*/ 91 h 92"/>
                <a:gd name="T2" fmla="*/ 399 w 400"/>
                <a:gd name="T3" fmla="*/ 0 h 92"/>
                <a:gd name="T4" fmla="*/ 0 w 400"/>
                <a:gd name="T5" fmla="*/ 91 h 92"/>
                <a:gd name="T6" fmla="*/ 0 60000 65536"/>
                <a:gd name="T7" fmla="*/ 0 60000 65536"/>
                <a:gd name="T8" fmla="*/ 0 60000 65536"/>
              </a:gdLst>
              <a:ahLst/>
              <a:cxnLst>
                <a:cxn ang="T6">
                  <a:pos x="T0" y="T1"/>
                </a:cxn>
                <a:cxn ang="T7">
                  <a:pos x="T2" y="T3"/>
                </a:cxn>
                <a:cxn ang="T8">
                  <a:pos x="T4" y="T5"/>
                </a:cxn>
              </a:cxnLst>
              <a:rect l="0" t="0" r="r" b="b"/>
              <a:pathLst>
                <a:path w="400" h="92">
                  <a:moveTo>
                    <a:pt x="0" y="91"/>
                  </a:moveTo>
                  <a:lnTo>
                    <a:pt x="399" y="0"/>
                  </a:lnTo>
                  <a:lnTo>
                    <a:pt x="0" y="91"/>
                  </a:lnTo>
                </a:path>
              </a:pathLst>
            </a:custGeom>
            <a:noFill/>
            <a:ln w="12700" cap="rnd" cmpd="sng">
              <a:solidFill>
                <a:srgbClr val="B2B2B2"/>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sp>
          <p:nvSpPr>
            <p:cNvPr id="23" name="Freeform 22"/>
            <p:cNvSpPr>
              <a:spLocks/>
            </p:cNvSpPr>
            <p:nvPr/>
          </p:nvSpPr>
          <p:spPr bwMode="auto">
            <a:xfrm>
              <a:off x="1335" y="3095"/>
              <a:ext cx="84" cy="27"/>
            </a:xfrm>
            <a:custGeom>
              <a:avLst/>
              <a:gdLst>
                <a:gd name="T0" fmla="*/ 0 w 84"/>
                <a:gd name="T1" fmla="*/ 17 h 27"/>
                <a:gd name="T2" fmla="*/ 81 w 84"/>
                <a:gd name="T3" fmla="*/ 0 h 27"/>
                <a:gd name="T4" fmla="*/ 83 w 84"/>
                <a:gd name="T5" fmla="*/ 8 h 27"/>
                <a:gd name="T6" fmla="*/ 1 w 84"/>
                <a:gd name="T7" fmla="*/ 26 h 27"/>
                <a:gd name="T8" fmla="*/ 0 w 84"/>
                <a:gd name="T9" fmla="*/ 17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 h="27">
                  <a:moveTo>
                    <a:pt x="0" y="17"/>
                  </a:moveTo>
                  <a:lnTo>
                    <a:pt x="81" y="0"/>
                  </a:lnTo>
                  <a:lnTo>
                    <a:pt x="83" y="8"/>
                  </a:lnTo>
                  <a:lnTo>
                    <a:pt x="1" y="26"/>
                  </a:lnTo>
                  <a:lnTo>
                    <a:pt x="0" y="17"/>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sp>
          <p:nvSpPr>
            <p:cNvPr id="24" name="Freeform 23"/>
            <p:cNvSpPr>
              <a:spLocks/>
            </p:cNvSpPr>
            <p:nvPr/>
          </p:nvSpPr>
          <p:spPr bwMode="auto">
            <a:xfrm>
              <a:off x="1335" y="3095"/>
              <a:ext cx="84" cy="27"/>
            </a:xfrm>
            <a:custGeom>
              <a:avLst/>
              <a:gdLst>
                <a:gd name="T0" fmla="*/ 0 w 84"/>
                <a:gd name="T1" fmla="*/ 17 h 27"/>
                <a:gd name="T2" fmla="*/ 81 w 84"/>
                <a:gd name="T3" fmla="*/ 0 h 27"/>
                <a:gd name="T4" fmla="*/ 83 w 84"/>
                <a:gd name="T5" fmla="*/ 8 h 27"/>
                <a:gd name="T6" fmla="*/ 1 w 84"/>
                <a:gd name="T7" fmla="*/ 26 h 27"/>
                <a:gd name="T8" fmla="*/ 0 w 84"/>
                <a:gd name="T9" fmla="*/ 17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 h="27">
                  <a:moveTo>
                    <a:pt x="0" y="17"/>
                  </a:moveTo>
                  <a:lnTo>
                    <a:pt x="81" y="0"/>
                  </a:lnTo>
                  <a:lnTo>
                    <a:pt x="83" y="8"/>
                  </a:lnTo>
                  <a:lnTo>
                    <a:pt x="1" y="26"/>
                  </a:lnTo>
                  <a:lnTo>
                    <a:pt x="0" y="1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sp>
          <p:nvSpPr>
            <p:cNvPr id="25" name="Freeform 24"/>
            <p:cNvSpPr>
              <a:spLocks/>
            </p:cNvSpPr>
            <p:nvPr/>
          </p:nvSpPr>
          <p:spPr bwMode="auto">
            <a:xfrm>
              <a:off x="1448" y="3069"/>
              <a:ext cx="87" cy="29"/>
            </a:xfrm>
            <a:custGeom>
              <a:avLst/>
              <a:gdLst>
                <a:gd name="T0" fmla="*/ 0 w 87"/>
                <a:gd name="T1" fmla="*/ 19 h 29"/>
                <a:gd name="T2" fmla="*/ 84 w 87"/>
                <a:gd name="T3" fmla="*/ 0 h 29"/>
                <a:gd name="T4" fmla="*/ 86 w 87"/>
                <a:gd name="T5" fmla="*/ 8 h 29"/>
                <a:gd name="T6" fmla="*/ 2 w 87"/>
                <a:gd name="T7" fmla="*/ 28 h 29"/>
                <a:gd name="T8" fmla="*/ 0 w 87"/>
                <a:gd name="T9" fmla="*/ 1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7" h="29">
                  <a:moveTo>
                    <a:pt x="0" y="19"/>
                  </a:moveTo>
                  <a:lnTo>
                    <a:pt x="84" y="0"/>
                  </a:lnTo>
                  <a:lnTo>
                    <a:pt x="86" y="8"/>
                  </a:lnTo>
                  <a:lnTo>
                    <a:pt x="2" y="28"/>
                  </a:lnTo>
                  <a:lnTo>
                    <a:pt x="0" y="19"/>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sp>
          <p:nvSpPr>
            <p:cNvPr id="26" name="Freeform 25"/>
            <p:cNvSpPr>
              <a:spLocks/>
            </p:cNvSpPr>
            <p:nvPr/>
          </p:nvSpPr>
          <p:spPr bwMode="auto">
            <a:xfrm>
              <a:off x="1448" y="3069"/>
              <a:ext cx="87" cy="29"/>
            </a:xfrm>
            <a:custGeom>
              <a:avLst/>
              <a:gdLst>
                <a:gd name="T0" fmla="*/ 0 w 87"/>
                <a:gd name="T1" fmla="*/ 19 h 29"/>
                <a:gd name="T2" fmla="*/ 84 w 87"/>
                <a:gd name="T3" fmla="*/ 0 h 29"/>
                <a:gd name="T4" fmla="*/ 86 w 87"/>
                <a:gd name="T5" fmla="*/ 8 h 29"/>
                <a:gd name="T6" fmla="*/ 2 w 87"/>
                <a:gd name="T7" fmla="*/ 28 h 29"/>
                <a:gd name="T8" fmla="*/ 0 w 87"/>
                <a:gd name="T9" fmla="*/ 1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7" h="29">
                  <a:moveTo>
                    <a:pt x="0" y="19"/>
                  </a:moveTo>
                  <a:lnTo>
                    <a:pt x="84" y="0"/>
                  </a:lnTo>
                  <a:lnTo>
                    <a:pt x="86" y="8"/>
                  </a:lnTo>
                  <a:lnTo>
                    <a:pt x="2" y="28"/>
                  </a:lnTo>
                  <a:lnTo>
                    <a:pt x="0" y="19"/>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sp>
          <p:nvSpPr>
            <p:cNvPr id="27" name="Freeform 26"/>
            <p:cNvSpPr>
              <a:spLocks/>
            </p:cNvSpPr>
            <p:nvPr/>
          </p:nvSpPr>
          <p:spPr bwMode="auto">
            <a:xfrm>
              <a:off x="1061" y="2606"/>
              <a:ext cx="680" cy="482"/>
            </a:xfrm>
            <a:custGeom>
              <a:avLst/>
              <a:gdLst>
                <a:gd name="T0" fmla="*/ 195 w 680"/>
                <a:gd name="T1" fmla="*/ 481 h 482"/>
                <a:gd name="T2" fmla="*/ 679 w 680"/>
                <a:gd name="T3" fmla="*/ 375 h 482"/>
                <a:gd name="T4" fmla="*/ 663 w 680"/>
                <a:gd name="T5" fmla="*/ 21 h 482"/>
                <a:gd name="T6" fmla="*/ 634 w 680"/>
                <a:gd name="T7" fmla="*/ 0 h 482"/>
                <a:gd name="T8" fmla="*/ 197 w 680"/>
                <a:gd name="T9" fmla="*/ 97 h 482"/>
                <a:gd name="T10" fmla="*/ 94 w 680"/>
                <a:gd name="T11" fmla="*/ 51 h 482"/>
                <a:gd name="T12" fmla="*/ 0 w 680"/>
                <a:gd name="T13" fmla="*/ 99 h 482"/>
                <a:gd name="T14" fmla="*/ 41 w 680"/>
                <a:gd name="T15" fmla="*/ 382 h 482"/>
                <a:gd name="T16" fmla="*/ 195 w 680"/>
                <a:gd name="T17" fmla="*/ 481 h 4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80" h="482">
                  <a:moveTo>
                    <a:pt x="195" y="481"/>
                  </a:moveTo>
                  <a:lnTo>
                    <a:pt x="679" y="375"/>
                  </a:lnTo>
                  <a:lnTo>
                    <a:pt x="663" y="21"/>
                  </a:lnTo>
                  <a:lnTo>
                    <a:pt x="634" y="0"/>
                  </a:lnTo>
                  <a:lnTo>
                    <a:pt x="197" y="97"/>
                  </a:lnTo>
                  <a:lnTo>
                    <a:pt x="94" y="51"/>
                  </a:lnTo>
                  <a:lnTo>
                    <a:pt x="0" y="99"/>
                  </a:lnTo>
                  <a:lnTo>
                    <a:pt x="41" y="382"/>
                  </a:lnTo>
                  <a:lnTo>
                    <a:pt x="195" y="48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sp>
          <p:nvSpPr>
            <p:cNvPr id="28" name="Freeform 27"/>
            <p:cNvSpPr>
              <a:spLocks/>
            </p:cNvSpPr>
            <p:nvPr/>
          </p:nvSpPr>
          <p:spPr bwMode="auto">
            <a:xfrm>
              <a:off x="1051" y="2588"/>
              <a:ext cx="699" cy="488"/>
            </a:xfrm>
            <a:custGeom>
              <a:avLst/>
              <a:gdLst>
                <a:gd name="T0" fmla="*/ 119 w 699"/>
                <a:gd name="T1" fmla="*/ 435 h 488"/>
                <a:gd name="T2" fmla="*/ 217 w 699"/>
                <a:gd name="T3" fmla="*/ 487 h 488"/>
                <a:gd name="T4" fmla="*/ 698 w 699"/>
                <a:gd name="T5" fmla="*/ 375 h 488"/>
                <a:gd name="T6" fmla="*/ 682 w 699"/>
                <a:gd name="T7" fmla="*/ 21 h 488"/>
                <a:gd name="T8" fmla="*/ 653 w 699"/>
                <a:gd name="T9" fmla="*/ 0 h 488"/>
                <a:gd name="T10" fmla="*/ 215 w 699"/>
                <a:gd name="T11" fmla="*/ 96 h 488"/>
                <a:gd name="T12" fmla="*/ 112 w 699"/>
                <a:gd name="T13" fmla="*/ 52 h 488"/>
                <a:gd name="T14" fmla="*/ 14 w 699"/>
                <a:gd name="T15" fmla="*/ 85 h 488"/>
                <a:gd name="T16" fmla="*/ 0 w 699"/>
                <a:gd name="T17" fmla="*/ 96 h 488"/>
                <a:gd name="T18" fmla="*/ 0 w 699"/>
                <a:gd name="T19" fmla="*/ 338 h 488"/>
                <a:gd name="T20" fmla="*/ 119 w 699"/>
                <a:gd name="T21" fmla="*/ 435 h 48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9" h="488">
                  <a:moveTo>
                    <a:pt x="119" y="435"/>
                  </a:moveTo>
                  <a:lnTo>
                    <a:pt x="217" y="487"/>
                  </a:lnTo>
                  <a:lnTo>
                    <a:pt x="698" y="375"/>
                  </a:lnTo>
                  <a:lnTo>
                    <a:pt x="682" y="21"/>
                  </a:lnTo>
                  <a:lnTo>
                    <a:pt x="653" y="0"/>
                  </a:lnTo>
                  <a:lnTo>
                    <a:pt x="215" y="96"/>
                  </a:lnTo>
                  <a:lnTo>
                    <a:pt x="112" y="52"/>
                  </a:lnTo>
                  <a:lnTo>
                    <a:pt x="14" y="85"/>
                  </a:lnTo>
                  <a:lnTo>
                    <a:pt x="0" y="96"/>
                  </a:lnTo>
                  <a:lnTo>
                    <a:pt x="0" y="338"/>
                  </a:lnTo>
                  <a:lnTo>
                    <a:pt x="119" y="435"/>
                  </a:lnTo>
                </a:path>
              </a:pathLst>
            </a:custGeom>
            <a:solidFill>
              <a:srgbClr val="DDDDD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sp>
          <p:nvSpPr>
            <p:cNvPr id="29" name="Freeform 28"/>
            <p:cNvSpPr>
              <a:spLocks/>
            </p:cNvSpPr>
            <p:nvPr/>
          </p:nvSpPr>
          <p:spPr bwMode="auto">
            <a:xfrm>
              <a:off x="1061" y="2656"/>
              <a:ext cx="91" cy="332"/>
            </a:xfrm>
            <a:custGeom>
              <a:avLst/>
              <a:gdLst>
                <a:gd name="T0" fmla="*/ 0 w 91"/>
                <a:gd name="T1" fmla="*/ 258 h 332"/>
                <a:gd name="T2" fmla="*/ 3 w 91"/>
                <a:gd name="T3" fmla="*/ 32 h 332"/>
                <a:gd name="T4" fmla="*/ 90 w 91"/>
                <a:gd name="T5" fmla="*/ 0 h 332"/>
                <a:gd name="T6" fmla="*/ 88 w 91"/>
                <a:gd name="T7" fmla="*/ 331 h 332"/>
                <a:gd name="T8" fmla="*/ 0 w 91"/>
                <a:gd name="T9" fmla="*/ 258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 h="332">
                  <a:moveTo>
                    <a:pt x="0" y="258"/>
                  </a:moveTo>
                  <a:lnTo>
                    <a:pt x="3" y="32"/>
                  </a:lnTo>
                  <a:lnTo>
                    <a:pt x="90" y="0"/>
                  </a:lnTo>
                  <a:lnTo>
                    <a:pt x="88" y="331"/>
                  </a:lnTo>
                  <a:lnTo>
                    <a:pt x="0" y="258"/>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sp>
          <p:nvSpPr>
            <p:cNvPr id="30" name="Freeform 29"/>
            <p:cNvSpPr>
              <a:spLocks/>
            </p:cNvSpPr>
            <p:nvPr/>
          </p:nvSpPr>
          <p:spPr bwMode="auto">
            <a:xfrm>
              <a:off x="1177" y="2665"/>
              <a:ext cx="81" cy="386"/>
            </a:xfrm>
            <a:custGeom>
              <a:avLst/>
              <a:gdLst>
                <a:gd name="T0" fmla="*/ 0 w 81"/>
                <a:gd name="T1" fmla="*/ 346 h 386"/>
                <a:gd name="T2" fmla="*/ 80 w 81"/>
                <a:gd name="T3" fmla="*/ 385 h 386"/>
                <a:gd name="T4" fmla="*/ 80 w 81"/>
                <a:gd name="T5" fmla="*/ 34 h 386"/>
                <a:gd name="T6" fmla="*/ 5 w 81"/>
                <a:gd name="T7" fmla="*/ 0 h 386"/>
                <a:gd name="T8" fmla="*/ 0 w 81"/>
                <a:gd name="T9" fmla="*/ 346 h 3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 h="386">
                  <a:moveTo>
                    <a:pt x="0" y="346"/>
                  </a:moveTo>
                  <a:lnTo>
                    <a:pt x="80" y="385"/>
                  </a:lnTo>
                  <a:lnTo>
                    <a:pt x="80" y="34"/>
                  </a:lnTo>
                  <a:lnTo>
                    <a:pt x="5" y="0"/>
                  </a:lnTo>
                  <a:lnTo>
                    <a:pt x="0" y="34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sp>
          <p:nvSpPr>
            <p:cNvPr id="31" name="Freeform 30"/>
            <p:cNvSpPr>
              <a:spLocks/>
            </p:cNvSpPr>
            <p:nvPr/>
          </p:nvSpPr>
          <p:spPr bwMode="auto">
            <a:xfrm>
              <a:off x="1339" y="2647"/>
              <a:ext cx="348" cy="364"/>
            </a:xfrm>
            <a:custGeom>
              <a:avLst/>
              <a:gdLst>
                <a:gd name="T0" fmla="*/ 347 w 348"/>
                <a:gd name="T1" fmla="*/ 285 h 364"/>
                <a:gd name="T2" fmla="*/ 0 w 348"/>
                <a:gd name="T3" fmla="*/ 363 h 364"/>
                <a:gd name="T4" fmla="*/ 1 w 348"/>
                <a:gd name="T5" fmla="*/ 78 h 364"/>
                <a:gd name="T6" fmla="*/ 336 w 348"/>
                <a:gd name="T7" fmla="*/ 0 h 364"/>
                <a:gd name="T8" fmla="*/ 347 w 348"/>
                <a:gd name="T9" fmla="*/ 285 h 3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364">
                  <a:moveTo>
                    <a:pt x="347" y="285"/>
                  </a:moveTo>
                  <a:lnTo>
                    <a:pt x="0" y="363"/>
                  </a:lnTo>
                  <a:lnTo>
                    <a:pt x="1" y="78"/>
                  </a:lnTo>
                  <a:lnTo>
                    <a:pt x="336" y="0"/>
                  </a:lnTo>
                  <a:lnTo>
                    <a:pt x="347" y="285"/>
                  </a:lnTo>
                </a:path>
              </a:pathLst>
            </a:custGeom>
            <a:solidFill>
              <a:srgbClr val="03289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sp>
          <p:nvSpPr>
            <p:cNvPr id="32" name="Freeform 31"/>
            <p:cNvSpPr>
              <a:spLocks/>
            </p:cNvSpPr>
            <p:nvPr/>
          </p:nvSpPr>
          <p:spPr bwMode="auto">
            <a:xfrm>
              <a:off x="1163" y="2544"/>
              <a:ext cx="542" cy="141"/>
            </a:xfrm>
            <a:custGeom>
              <a:avLst/>
              <a:gdLst>
                <a:gd name="T0" fmla="*/ 439 w 542"/>
                <a:gd name="T1" fmla="*/ 0 h 141"/>
                <a:gd name="T2" fmla="*/ 541 w 542"/>
                <a:gd name="T3" fmla="*/ 43 h 141"/>
                <a:gd name="T4" fmla="*/ 103 w 542"/>
                <a:gd name="T5" fmla="*/ 140 h 141"/>
                <a:gd name="T6" fmla="*/ 0 w 542"/>
                <a:gd name="T7" fmla="*/ 97 h 141"/>
                <a:gd name="T8" fmla="*/ 439 w 542"/>
                <a:gd name="T9" fmla="*/ 0 h 1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2" h="141">
                  <a:moveTo>
                    <a:pt x="439" y="0"/>
                  </a:moveTo>
                  <a:lnTo>
                    <a:pt x="541" y="43"/>
                  </a:lnTo>
                  <a:lnTo>
                    <a:pt x="103" y="140"/>
                  </a:lnTo>
                  <a:lnTo>
                    <a:pt x="0" y="97"/>
                  </a:lnTo>
                  <a:lnTo>
                    <a:pt x="439" y="0"/>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grpSp>
      <p:sp>
        <p:nvSpPr>
          <p:cNvPr id="33" name="Rectangle 32"/>
          <p:cNvSpPr>
            <a:spLocks noChangeArrowheads="1"/>
          </p:cNvSpPr>
          <p:nvPr/>
        </p:nvSpPr>
        <p:spPr bwMode="blackWhite">
          <a:xfrm>
            <a:off x="10442898" y="2046701"/>
            <a:ext cx="765175" cy="457200"/>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28575">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spcBef>
                <a:spcPct val="50000"/>
              </a:spcBef>
              <a:buClrTx/>
              <a:buFontTx/>
              <a:buNone/>
            </a:pPr>
            <a:r>
              <a:rPr lang="en-US" altLang="en-US" sz="1800">
                <a:latin typeface="Times New Roman" panose="02020603050405020304" pitchFamily="18" charset="0"/>
                <a:cs typeface="Times New Roman" panose="02020603050405020304" pitchFamily="18" charset="0"/>
              </a:rPr>
              <a:t>PGA</a:t>
            </a:r>
          </a:p>
        </p:txBody>
      </p:sp>
      <p:sp>
        <p:nvSpPr>
          <p:cNvPr id="34" name="Line 33"/>
          <p:cNvSpPr>
            <a:spLocks noChangeShapeType="1"/>
          </p:cNvSpPr>
          <p:nvPr/>
        </p:nvSpPr>
        <p:spPr bwMode="auto">
          <a:xfrm>
            <a:off x="9933310" y="2802351"/>
            <a:ext cx="0" cy="787400"/>
          </a:xfrm>
          <a:prstGeom prst="line">
            <a:avLst/>
          </a:prstGeom>
          <a:noFill/>
          <a:ln w="28575">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latin typeface="Times New Roman" panose="02020603050405020304" pitchFamily="18" charset="0"/>
              <a:cs typeface="Times New Roman" panose="02020603050405020304" pitchFamily="18" charset="0"/>
            </a:endParaRPr>
          </a:p>
        </p:txBody>
      </p:sp>
      <p:sp>
        <p:nvSpPr>
          <p:cNvPr id="35" name="Oval 34"/>
          <p:cNvSpPr>
            <a:spLocks noChangeArrowheads="1"/>
          </p:cNvSpPr>
          <p:nvPr/>
        </p:nvSpPr>
        <p:spPr bwMode="blackWhite">
          <a:xfrm>
            <a:off x="9020498" y="2321338"/>
            <a:ext cx="1804987" cy="692150"/>
          </a:xfrm>
          <a:prstGeom prst="ellipse">
            <a:avLst/>
          </a:prstGeom>
          <a:solidFill>
            <a:srgbClr val="95CAFF"/>
          </a:solidFill>
          <a:ln w="2857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spcBef>
                <a:spcPct val="50000"/>
              </a:spcBef>
              <a:buClrTx/>
              <a:buFontTx/>
              <a:buNone/>
            </a:pPr>
            <a:r>
              <a:rPr lang="en-US" altLang="en-US" sz="1800">
                <a:latin typeface="Times New Roman" panose="02020603050405020304" pitchFamily="18" charset="0"/>
                <a:cs typeface="Times New Roman" panose="02020603050405020304" pitchFamily="18" charset="0"/>
              </a:rPr>
              <a:t>Server</a:t>
            </a:r>
            <a:br>
              <a:rPr lang="en-US" altLang="en-US" sz="1800">
                <a:latin typeface="Times New Roman" panose="02020603050405020304" pitchFamily="18" charset="0"/>
                <a:cs typeface="Times New Roman" panose="02020603050405020304" pitchFamily="18" charset="0"/>
              </a:rPr>
            </a:br>
            <a:r>
              <a:rPr lang="en-US" altLang="en-US" sz="1800">
                <a:latin typeface="Times New Roman" panose="02020603050405020304" pitchFamily="18" charset="0"/>
                <a:cs typeface="Times New Roman" panose="02020603050405020304" pitchFamily="18" charset="0"/>
              </a:rPr>
              <a:t>process</a:t>
            </a:r>
          </a:p>
        </p:txBody>
      </p:sp>
      <p:sp>
        <p:nvSpPr>
          <p:cNvPr id="2" name="Rectangle 1"/>
          <p:cNvSpPr/>
          <p:nvPr/>
        </p:nvSpPr>
        <p:spPr>
          <a:xfrm>
            <a:off x="202729" y="1006867"/>
            <a:ext cx="8198644" cy="5262979"/>
          </a:xfrm>
          <a:prstGeom prst="rect">
            <a:avLst/>
          </a:prstGeom>
        </p:spPr>
        <p:txBody>
          <a:bodyPr wrap="square">
            <a:spAutoFit/>
          </a:bodyPr>
          <a:lstStyle/>
          <a:p>
            <a:pPr marL="285750" indent="-285750" algn="just">
              <a:buFont typeface="Arial" panose="020B0604020202020204" pitchFamily="34" charset="0"/>
              <a:buChar char="•"/>
            </a:pPr>
            <a:r>
              <a:rPr lang="vi-VN" sz="2800" b="1">
                <a:solidFill>
                  <a:srgbClr val="333333"/>
                </a:solidFill>
                <a:latin typeface="Times New Roman" panose="02020603050405020304" pitchFamily="18" charset="0"/>
                <a:cs typeface="Times New Roman" panose="02020603050405020304" pitchFamily="18" charset="0"/>
              </a:rPr>
              <a:t>PGA</a:t>
            </a:r>
            <a:r>
              <a:rPr lang="vi-VN" sz="2800">
                <a:solidFill>
                  <a:srgbClr val="333333"/>
                </a:solidFill>
                <a:latin typeface="Times New Roman" panose="02020603050405020304" pitchFamily="18" charset="0"/>
                <a:cs typeface="Times New Roman" panose="02020603050405020304" pitchFamily="18" charset="0"/>
              </a:rPr>
              <a:t> là phần bộ nhớ riêng cho mỗi server process</a:t>
            </a:r>
            <a:r>
              <a:rPr lang="en-US" sz="2800">
                <a:solidFill>
                  <a:srgbClr val="333333"/>
                </a:solidFill>
                <a:latin typeface="Times New Roman" panose="02020603050405020304" pitchFamily="18" charset="0"/>
                <a:cs typeface="Times New Roman" panose="02020603050405020304" pitchFamily="18" charset="0"/>
              </a:rPr>
              <a:t>, lưu thông tin về phiên làm việc</a:t>
            </a:r>
            <a:r>
              <a:rPr lang="vi-VN" sz="2800">
                <a:solidFill>
                  <a:srgbClr val="333333"/>
                </a:solidFill>
                <a:latin typeface="Times New Roman" panose="02020603050405020304" pitchFamily="18" charset="0"/>
                <a:cs typeface="Times New Roman" panose="02020603050405020304" pitchFamily="18" charset="0"/>
              </a:rPr>
              <a:t>.</a:t>
            </a:r>
          </a:p>
          <a:p>
            <a:pPr algn="just"/>
            <a:r>
              <a:rPr lang="en-US" sz="2800">
                <a:solidFill>
                  <a:srgbClr val="333333"/>
                </a:solidFill>
                <a:latin typeface="Times New Roman" panose="02020603050405020304" pitchFamily="18" charset="0"/>
                <a:cs typeface="Times New Roman" panose="02020603050405020304" pitchFamily="18" charset="0"/>
              </a:rPr>
              <a:t>	</a:t>
            </a:r>
            <a:r>
              <a:rPr lang="vi-VN" sz="2800">
                <a:solidFill>
                  <a:srgbClr val="333333"/>
                </a:solidFill>
                <a:latin typeface="Times New Roman" panose="02020603050405020304" pitchFamily="18" charset="0"/>
                <a:cs typeface="Times New Roman" panose="02020603050405020304" pitchFamily="18" charset="0"/>
              </a:rPr>
              <a:t>– </a:t>
            </a:r>
            <a:r>
              <a:rPr lang="vi-VN" sz="2800" b="1">
                <a:solidFill>
                  <a:srgbClr val="333333"/>
                </a:solidFill>
                <a:latin typeface="Times New Roman" panose="02020603050405020304" pitchFamily="18" charset="0"/>
                <a:cs typeface="Times New Roman" panose="02020603050405020304" pitchFamily="18" charset="0"/>
              </a:rPr>
              <a:t>Private SQL Area</a:t>
            </a:r>
            <a:r>
              <a:rPr lang="vi-VN" sz="2800">
                <a:solidFill>
                  <a:srgbClr val="333333"/>
                </a:solidFill>
                <a:latin typeface="Times New Roman" panose="02020603050405020304" pitchFamily="18" charset="0"/>
                <a:cs typeface="Times New Roman" panose="02020603050405020304" pitchFamily="18" charset="0"/>
              </a:rPr>
              <a:t>: chứa các bind variables, thông tin về câu query (ví dụ như số dòng khi thực hiện </a:t>
            </a:r>
            <a:r>
              <a:rPr lang="en-US" sz="2800">
                <a:solidFill>
                  <a:srgbClr val="333333"/>
                </a:solidFill>
                <a:latin typeface="Times New Roman" panose="02020603050405020304" pitchFamily="18" charset="0"/>
                <a:cs typeface="Times New Roman" panose="02020603050405020304" pitchFamily="18" charset="0"/>
              </a:rPr>
              <a:t>truy vấn…).</a:t>
            </a:r>
            <a:endParaRPr lang="vi-VN" sz="2800">
              <a:solidFill>
                <a:srgbClr val="333333"/>
              </a:solidFill>
              <a:latin typeface="Times New Roman" panose="02020603050405020304" pitchFamily="18" charset="0"/>
              <a:cs typeface="Times New Roman" panose="02020603050405020304" pitchFamily="18" charset="0"/>
            </a:endParaRPr>
          </a:p>
          <a:p>
            <a:pPr algn="just"/>
            <a:r>
              <a:rPr lang="en-US" sz="2800">
                <a:solidFill>
                  <a:srgbClr val="333333"/>
                </a:solidFill>
                <a:latin typeface="Times New Roman" panose="02020603050405020304" pitchFamily="18" charset="0"/>
                <a:cs typeface="Times New Roman" panose="02020603050405020304" pitchFamily="18" charset="0"/>
              </a:rPr>
              <a:t>	</a:t>
            </a:r>
            <a:r>
              <a:rPr lang="vi-VN" sz="2800">
                <a:solidFill>
                  <a:srgbClr val="333333"/>
                </a:solidFill>
                <a:latin typeface="Times New Roman" panose="02020603050405020304" pitchFamily="18" charset="0"/>
                <a:cs typeface="Times New Roman" panose="02020603050405020304" pitchFamily="18" charset="0"/>
              </a:rPr>
              <a:t>– </a:t>
            </a:r>
            <a:r>
              <a:rPr lang="vi-VN" sz="2800" b="1">
                <a:solidFill>
                  <a:srgbClr val="333333"/>
                </a:solidFill>
                <a:latin typeface="Times New Roman" panose="02020603050405020304" pitchFamily="18" charset="0"/>
                <a:cs typeface="Times New Roman" panose="02020603050405020304" pitchFamily="18" charset="0"/>
              </a:rPr>
              <a:t>SQL Work Areas</a:t>
            </a:r>
            <a:r>
              <a:rPr lang="vi-VN" sz="2800">
                <a:solidFill>
                  <a:srgbClr val="333333"/>
                </a:solidFill>
                <a:latin typeface="Times New Roman" panose="02020603050405020304" pitchFamily="18" charset="0"/>
                <a:cs typeface="Times New Roman" panose="02020603050405020304" pitchFamily="18" charset="0"/>
              </a:rPr>
              <a:t>: vùng bộ nhớ này dùng cho các hoạt động khác liên quan đến câu query </a:t>
            </a:r>
            <a:r>
              <a:rPr lang="en-US" sz="2800">
                <a:solidFill>
                  <a:srgbClr val="333333"/>
                </a:solidFill>
                <a:latin typeface="Times New Roman" panose="02020603050405020304" pitchFamily="18" charset="0"/>
                <a:cs typeface="Times New Roman" panose="02020603050405020304" pitchFamily="18" charset="0"/>
              </a:rPr>
              <a:t> như </a:t>
            </a:r>
            <a:r>
              <a:rPr lang="vi-VN" sz="2800">
                <a:solidFill>
                  <a:srgbClr val="333333"/>
                </a:solidFill>
                <a:latin typeface="Times New Roman" panose="02020603050405020304" pitchFamily="18" charset="0"/>
                <a:cs typeface="Times New Roman" panose="02020603050405020304" pitchFamily="18" charset="0"/>
              </a:rPr>
              <a:t>sắp xếp</a:t>
            </a:r>
            <a:r>
              <a:rPr lang="en-US" sz="2800">
                <a:solidFill>
                  <a:srgbClr val="333333"/>
                </a:solidFill>
                <a:latin typeface="Times New Roman" panose="02020603050405020304" pitchFamily="18" charset="0"/>
                <a:cs typeface="Times New Roman" panose="02020603050405020304" pitchFamily="18" charset="0"/>
              </a:rPr>
              <a:t>, lọc,..</a:t>
            </a:r>
          </a:p>
          <a:p>
            <a:pPr marL="285750" indent="-285750" algn="just">
              <a:buFont typeface="Arial" panose="020B0604020202020204" pitchFamily="34" charset="0"/>
              <a:buChar char="•"/>
            </a:pPr>
            <a:r>
              <a:rPr lang="en-US" altLang="en-US" sz="2800">
                <a:solidFill>
                  <a:srgbClr val="333333"/>
                </a:solidFill>
                <a:latin typeface="Times New Roman" panose="02020603050405020304" pitchFamily="18" charset="0"/>
                <a:cs typeface="Times New Roman" panose="02020603050405020304" pitchFamily="18" charset="0"/>
              </a:rPr>
              <a:t>Được giải phóng khi server process đó chấm dứt hoạt động </a:t>
            </a:r>
          </a:p>
          <a:p>
            <a:pPr marL="285750" indent="-285750" algn="just">
              <a:buFont typeface="Arial" panose="020B0604020202020204" pitchFamily="34" charset="0"/>
              <a:buChar char="•"/>
            </a:pPr>
            <a:r>
              <a:rPr lang="en-US" altLang="en-US" sz="2800">
                <a:solidFill>
                  <a:srgbClr val="333333"/>
                </a:solidFill>
                <a:latin typeface="Times New Roman" panose="02020603050405020304" pitchFamily="18" charset="0"/>
                <a:cs typeface="Times New Roman" panose="02020603050405020304" pitchFamily="18" charset="0"/>
              </a:rPr>
              <a:t>Chỉ được sử dụng bởi một server process</a:t>
            </a:r>
          </a:p>
          <a:p>
            <a:pPr algn="just"/>
            <a:endParaRPr lang="vi-VN" sz="2800" b="0" i="0">
              <a:solidFill>
                <a:srgbClr val="333333"/>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0865353"/>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p:txBody>
          <a:bodyPr/>
          <a:lstStyle/>
          <a:p>
            <a:pPr defTabSz="685983" fontAlgn="base">
              <a:spcAft>
                <a:spcPct val="0"/>
              </a:spcAft>
              <a:defRPr/>
            </a:pPr>
            <a:r>
              <a:rPr lang="en-US" ker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IV. PHÂN LOẠI PROCESS</a:t>
            </a:r>
          </a:p>
        </p:txBody>
      </p:sp>
      <p:sp>
        <p:nvSpPr>
          <p:cNvPr id="4" name="Rectangle 3"/>
          <p:cNvSpPr txBox="1">
            <a:spLocks noChangeArrowheads="1"/>
          </p:cNvSpPr>
          <p:nvPr/>
        </p:nvSpPr>
        <p:spPr>
          <a:xfrm>
            <a:off x="674818" y="1628124"/>
            <a:ext cx="10340184" cy="2905125"/>
          </a:xfrm>
          <a:prstGeom prst="rect">
            <a:avLst/>
          </a:prstGeom>
        </p:spPr>
        <p:txBody>
          <a:bodyPr/>
          <a:lstStyle>
            <a:lvl1pPr marL="228600" indent="-228600" algn="l" defTabSz="914400" rtl="0" eaLnBrk="1" latinLnBrk="0" hangingPunct="1">
              <a:lnSpc>
                <a:spcPct val="90000"/>
              </a:lnSpc>
              <a:spcBef>
                <a:spcPct val="30000"/>
              </a:spcBef>
              <a:buClr>
                <a:srgbClr val="FF0000"/>
              </a:buClr>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ct val="30000"/>
              </a:spcBef>
              <a:buClr>
                <a:srgbClr val="FF0000"/>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ct val="30000"/>
              </a:spcBef>
              <a:buClr>
                <a:srgbClr val="FF0000"/>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ct val="30000"/>
              </a:spcBef>
              <a:buClr>
                <a:srgbClr val="FF0000"/>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ct val="30000"/>
              </a:spcBef>
              <a:buClr>
                <a:srgbClr val="FF0000"/>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lvl="1" algn="just"/>
            <a:r>
              <a:rPr lang="en-US" altLang="en-US" b="1">
                <a:latin typeface="Times New Roman" panose="02020603050405020304" pitchFamily="18" charset="0"/>
                <a:cs typeface="Times New Roman" panose="02020603050405020304" pitchFamily="18" charset="0"/>
              </a:rPr>
              <a:t>User process: </a:t>
            </a:r>
            <a:r>
              <a:rPr lang="en-US" altLang="en-US">
                <a:latin typeface="Times New Roman" panose="02020603050405020304" pitchFamily="18" charset="0"/>
                <a:cs typeface="Times New Roman" panose="02020603050405020304" pitchFamily="18" charset="0"/>
              </a:rPr>
              <a:t>Khởi động vào thời điểm một CSDL người sử dụng yêu cầu kết nối với Oracle Server.</a:t>
            </a:r>
          </a:p>
          <a:p>
            <a:pPr lvl="1" algn="just"/>
            <a:r>
              <a:rPr lang="en-US" altLang="en-US" b="1">
                <a:latin typeface="Times New Roman" panose="02020603050405020304" pitchFamily="18" charset="0"/>
                <a:cs typeface="Times New Roman" panose="02020603050405020304" pitchFamily="18" charset="0"/>
              </a:rPr>
              <a:t>Server process: </a:t>
            </a:r>
            <a:r>
              <a:rPr lang="en-US" altLang="en-US">
                <a:latin typeface="Times New Roman" panose="02020603050405020304" pitchFamily="18" charset="0"/>
                <a:cs typeface="Times New Roman" panose="02020603050405020304" pitchFamily="18" charset="0"/>
              </a:rPr>
              <a:t>Kết nối với Oracle instance và được khởi động khi người sử dụng thiết lập một session, </a:t>
            </a:r>
            <a:r>
              <a:rPr lang="vi-VN">
                <a:latin typeface="Times New Roman" panose="02020603050405020304" pitchFamily="18" charset="0"/>
                <a:cs typeface="Times New Roman" panose="02020603050405020304" pitchFamily="18" charset="0"/>
              </a:rPr>
              <a:t>được sinh ra để phục vụ </a:t>
            </a:r>
            <a:r>
              <a:rPr lang="en-US">
                <a:latin typeface="Times New Roman" panose="02020603050405020304" pitchFamily="18" charset="0"/>
                <a:cs typeface="Times New Roman" panose="02020603050405020304" pitchFamily="18" charset="0"/>
              </a:rPr>
              <a:t>yêu cầu </a:t>
            </a:r>
            <a:r>
              <a:rPr lang="vi-VN">
                <a:latin typeface="Times New Roman" panose="02020603050405020304" pitchFamily="18" charset="0"/>
                <a:cs typeface="Times New Roman" panose="02020603050405020304" pitchFamily="18" charset="0"/>
              </a:rPr>
              <a:t>từ user process. </a:t>
            </a:r>
            <a:endParaRPr lang="en-US" altLang="en-US">
              <a:latin typeface="Times New Roman" panose="02020603050405020304" pitchFamily="18" charset="0"/>
              <a:cs typeface="Times New Roman" panose="02020603050405020304" pitchFamily="18" charset="0"/>
            </a:endParaRPr>
          </a:p>
          <a:p>
            <a:pPr lvl="1" algn="just"/>
            <a:r>
              <a:rPr lang="en-US" altLang="en-US" b="1">
                <a:latin typeface="Times New Roman" panose="02020603050405020304" pitchFamily="18" charset="0"/>
                <a:cs typeface="Times New Roman" panose="02020603050405020304" pitchFamily="18" charset="0"/>
              </a:rPr>
              <a:t>Background processes: </a:t>
            </a:r>
            <a:r>
              <a:rPr lang="en-US" altLang="en-US">
                <a:latin typeface="Times New Roman" panose="02020603050405020304" pitchFamily="18" charset="0"/>
                <a:cs typeface="Times New Roman" panose="02020603050405020304" pitchFamily="18" charset="0"/>
              </a:rPr>
              <a:t>Khởi động khi một Oracle instance khởi động.</a:t>
            </a:r>
          </a:p>
        </p:txBody>
      </p:sp>
    </p:spTree>
    <p:extLst>
      <p:ext uri="{BB962C8B-B14F-4D97-AF65-F5344CB8AC3E}">
        <p14:creationId xmlns:p14="http://schemas.microsoft.com/office/powerpoint/2010/main" val="42062980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142366" y="-192806"/>
            <a:ext cx="7315200" cy="876300"/>
          </a:xfrm>
          <a:prstGeom prst="rect">
            <a:avLst/>
          </a:prstGeom>
        </p:spPr>
        <p:txBody>
          <a:bodyPr vert="horz" lIns="91440" tIns="45720" rIns="91440" bIns="45720" rtlCol="0" anchor="b">
            <a:normAutofit/>
          </a:bodyPr>
          <a:lstStyle>
            <a:lvl1pPr algn="l" defTabSz="914400" rtl="0" eaLnBrk="1" latinLnBrk="0" hangingPunct="1">
              <a:spcBef>
                <a:spcPct val="0"/>
              </a:spcBef>
              <a:buNone/>
              <a:defRPr sz="3600" b="1" kern="1200">
                <a:solidFill>
                  <a:schemeClr val="bg1"/>
                </a:solidFill>
                <a:latin typeface="Arial" panose="020B0604020202020204" pitchFamily="34" charset="0"/>
                <a:ea typeface="+mj-ea"/>
                <a:cs typeface="Arial" panose="020B0604020202020204" pitchFamily="34" charset="0"/>
              </a:defRPr>
            </a:lvl1pPr>
          </a:lstStyle>
          <a:p>
            <a:r>
              <a:rPr lang="en-US" altLang="en-US"/>
              <a:t>1. User Process</a:t>
            </a:r>
          </a:p>
        </p:txBody>
      </p:sp>
      <p:sp>
        <p:nvSpPr>
          <p:cNvPr id="4" name="Rectangle 3"/>
          <p:cNvSpPr txBox="1">
            <a:spLocks noChangeArrowheads="1"/>
          </p:cNvSpPr>
          <p:nvPr/>
        </p:nvSpPr>
        <p:spPr>
          <a:xfrm>
            <a:off x="863600" y="1354749"/>
            <a:ext cx="9512852" cy="1689709"/>
          </a:xfrm>
          <a:prstGeom prst="rect">
            <a:avLst/>
          </a:prstGeom>
        </p:spPr>
        <p:txBody>
          <a:bodyPr/>
          <a:lstStyle>
            <a:lvl1pPr marL="228600" indent="-228600" algn="l" defTabSz="914400" rtl="0" eaLnBrk="1" latinLnBrk="0" hangingPunct="1">
              <a:lnSpc>
                <a:spcPct val="90000"/>
              </a:lnSpc>
              <a:spcBef>
                <a:spcPct val="30000"/>
              </a:spcBef>
              <a:buClr>
                <a:srgbClr val="FF0000"/>
              </a:buClr>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ct val="30000"/>
              </a:spcBef>
              <a:buClr>
                <a:srgbClr val="FF0000"/>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ct val="30000"/>
              </a:spcBef>
              <a:buClr>
                <a:srgbClr val="FF0000"/>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ct val="30000"/>
              </a:spcBef>
              <a:buClr>
                <a:srgbClr val="FF0000"/>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ct val="30000"/>
              </a:spcBef>
              <a:buClr>
                <a:srgbClr val="FF0000"/>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lvl="1" algn="just"/>
            <a:r>
              <a:rPr lang="en-US" altLang="en-US">
                <a:latin typeface="Times New Roman" panose="02020603050405020304" pitchFamily="18" charset="0"/>
                <a:cs typeface="Times New Roman" panose="02020603050405020304" pitchFamily="18" charset="0"/>
              </a:rPr>
              <a:t>Là tiến trình ở máy client thực hiện gửi các yêu cầu của người dùng đến Oracle Server</a:t>
            </a:r>
          </a:p>
          <a:p>
            <a:pPr lvl="1" algn="just"/>
            <a:r>
              <a:rPr lang="en-US" altLang="en-US">
                <a:latin typeface="Times New Roman" panose="02020603050405020304" pitchFamily="18" charset="0"/>
                <a:cs typeface="Times New Roman" panose="02020603050405020304" pitchFamily="18" charset="0"/>
              </a:rPr>
              <a:t>Trước tiên phải thiết lập một kết nối.</a:t>
            </a:r>
          </a:p>
          <a:p>
            <a:pPr lvl="1" algn="just"/>
            <a:r>
              <a:rPr lang="en-US" altLang="en-US">
                <a:latin typeface="Times New Roman" panose="02020603050405020304" pitchFamily="18" charset="0"/>
                <a:cs typeface="Times New Roman" panose="02020603050405020304" pitchFamily="18" charset="0"/>
              </a:rPr>
              <a:t>Không tương tác trực tiếp với Oracle Server. </a:t>
            </a:r>
          </a:p>
        </p:txBody>
      </p:sp>
      <p:sp>
        <p:nvSpPr>
          <p:cNvPr id="5" name="Rectangle 4"/>
          <p:cNvSpPr>
            <a:spLocks noChangeArrowheads="1"/>
          </p:cNvSpPr>
          <p:nvPr/>
        </p:nvSpPr>
        <p:spPr bwMode="auto">
          <a:xfrm>
            <a:off x="2837139" y="5234344"/>
            <a:ext cx="26638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a:spcBef>
                <a:spcPct val="50000"/>
              </a:spcBef>
              <a:buClrTx/>
              <a:buFontTx/>
              <a:buNone/>
            </a:pPr>
            <a:r>
              <a:rPr lang="en-US" altLang="en-US"/>
              <a:t>Database user</a:t>
            </a:r>
          </a:p>
        </p:txBody>
      </p:sp>
      <p:sp>
        <p:nvSpPr>
          <p:cNvPr id="6" name="Oval 5"/>
          <p:cNvSpPr>
            <a:spLocks noChangeArrowheads="1"/>
          </p:cNvSpPr>
          <p:nvPr/>
        </p:nvSpPr>
        <p:spPr bwMode="blackWhite">
          <a:xfrm>
            <a:off x="6839226" y="3207106"/>
            <a:ext cx="1138238" cy="608013"/>
          </a:xfrm>
          <a:prstGeom prst="ellipse">
            <a:avLst/>
          </a:prstGeom>
          <a:solidFill>
            <a:srgbClr val="99CCFF"/>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75000"/>
              </a:lnSpc>
              <a:spcBef>
                <a:spcPct val="0"/>
              </a:spcBef>
              <a:buClrTx/>
              <a:buFontTx/>
              <a:buNone/>
            </a:pPr>
            <a:r>
              <a:rPr lang="en-US" altLang="en-US" sz="1800"/>
              <a:t>Server</a:t>
            </a:r>
            <a:br>
              <a:rPr lang="en-US" altLang="en-US" sz="1800"/>
            </a:br>
            <a:r>
              <a:rPr lang="en-US" altLang="en-US" sz="1800"/>
              <a:t>process</a:t>
            </a:r>
          </a:p>
        </p:txBody>
      </p:sp>
      <p:grpSp>
        <p:nvGrpSpPr>
          <p:cNvPr id="7" name="Group 6"/>
          <p:cNvGrpSpPr>
            <a:grpSpLocks noChangeAspect="1"/>
          </p:cNvGrpSpPr>
          <p:nvPr/>
        </p:nvGrpSpPr>
        <p:grpSpPr bwMode="auto">
          <a:xfrm>
            <a:off x="3670576" y="4092931"/>
            <a:ext cx="1265238" cy="965200"/>
            <a:chOff x="1027" y="2544"/>
            <a:chExt cx="1066" cy="813"/>
          </a:xfrm>
        </p:grpSpPr>
        <p:sp>
          <p:nvSpPr>
            <p:cNvPr id="8" name="Freeform 7"/>
            <p:cNvSpPr>
              <a:spLocks noChangeAspect="1"/>
            </p:cNvSpPr>
            <p:nvPr/>
          </p:nvSpPr>
          <p:spPr bwMode="auto">
            <a:xfrm>
              <a:off x="1917" y="3160"/>
              <a:ext cx="174" cy="71"/>
            </a:xfrm>
            <a:custGeom>
              <a:avLst/>
              <a:gdLst>
                <a:gd name="T0" fmla="*/ 165 w 174"/>
                <a:gd name="T1" fmla="*/ 13 h 71"/>
                <a:gd name="T2" fmla="*/ 56 w 174"/>
                <a:gd name="T3" fmla="*/ 0 h 71"/>
                <a:gd name="T4" fmla="*/ 1 w 174"/>
                <a:gd name="T5" fmla="*/ 36 h 71"/>
                <a:gd name="T6" fmla="*/ 0 w 174"/>
                <a:gd name="T7" fmla="*/ 36 h 71"/>
                <a:gd name="T8" fmla="*/ 0 w 174"/>
                <a:gd name="T9" fmla="*/ 37 h 71"/>
                <a:gd name="T10" fmla="*/ 0 w 174"/>
                <a:gd name="T11" fmla="*/ 38 h 71"/>
                <a:gd name="T12" fmla="*/ 0 w 174"/>
                <a:gd name="T13" fmla="*/ 40 h 71"/>
                <a:gd name="T14" fmla="*/ 0 w 174"/>
                <a:gd name="T15" fmla="*/ 41 h 71"/>
                <a:gd name="T16" fmla="*/ 1 w 174"/>
                <a:gd name="T17" fmla="*/ 42 h 71"/>
                <a:gd name="T18" fmla="*/ 1 w 174"/>
                <a:gd name="T19" fmla="*/ 43 h 71"/>
                <a:gd name="T20" fmla="*/ 2 w 174"/>
                <a:gd name="T21" fmla="*/ 44 h 71"/>
                <a:gd name="T22" fmla="*/ 8 w 174"/>
                <a:gd name="T23" fmla="*/ 45 h 71"/>
                <a:gd name="T24" fmla="*/ 23 w 174"/>
                <a:gd name="T25" fmla="*/ 50 h 71"/>
                <a:gd name="T26" fmla="*/ 43 w 174"/>
                <a:gd name="T27" fmla="*/ 55 h 71"/>
                <a:gd name="T28" fmla="*/ 66 w 174"/>
                <a:gd name="T29" fmla="*/ 60 h 71"/>
                <a:gd name="T30" fmla="*/ 92 w 174"/>
                <a:gd name="T31" fmla="*/ 64 h 71"/>
                <a:gd name="T32" fmla="*/ 115 w 174"/>
                <a:gd name="T33" fmla="*/ 68 h 71"/>
                <a:gd name="T34" fmla="*/ 133 w 174"/>
                <a:gd name="T35" fmla="*/ 70 h 71"/>
                <a:gd name="T36" fmla="*/ 146 w 174"/>
                <a:gd name="T37" fmla="*/ 68 h 71"/>
                <a:gd name="T38" fmla="*/ 149 w 174"/>
                <a:gd name="T39" fmla="*/ 66 h 71"/>
                <a:gd name="T40" fmla="*/ 152 w 174"/>
                <a:gd name="T41" fmla="*/ 64 h 71"/>
                <a:gd name="T42" fmla="*/ 156 w 174"/>
                <a:gd name="T43" fmla="*/ 62 h 71"/>
                <a:gd name="T44" fmla="*/ 160 w 174"/>
                <a:gd name="T45" fmla="*/ 59 h 71"/>
                <a:gd name="T46" fmla="*/ 162 w 174"/>
                <a:gd name="T47" fmla="*/ 57 h 71"/>
                <a:gd name="T48" fmla="*/ 166 w 174"/>
                <a:gd name="T49" fmla="*/ 54 h 71"/>
                <a:gd name="T50" fmla="*/ 169 w 174"/>
                <a:gd name="T51" fmla="*/ 52 h 71"/>
                <a:gd name="T52" fmla="*/ 170 w 174"/>
                <a:gd name="T53" fmla="*/ 50 h 71"/>
                <a:gd name="T54" fmla="*/ 171 w 174"/>
                <a:gd name="T55" fmla="*/ 42 h 71"/>
                <a:gd name="T56" fmla="*/ 173 w 174"/>
                <a:gd name="T57" fmla="*/ 36 h 71"/>
                <a:gd name="T58" fmla="*/ 171 w 174"/>
                <a:gd name="T59" fmla="*/ 31 h 71"/>
                <a:gd name="T60" fmla="*/ 170 w 174"/>
                <a:gd name="T61" fmla="*/ 25 h 71"/>
                <a:gd name="T62" fmla="*/ 169 w 174"/>
                <a:gd name="T63" fmla="*/ 19 h 71"/>
                <a:gd name="T64" fmla="*/ 166 w 174"/>
                <a:gd name="T65" fmla="*/ 16 h 71"/>
                <a:gd name="T66" fmla="*/ 165 w 174"/>
                <a:gd name="T67" fmla="*/ 13 h 71"/>
                <a:gd name="T68" fmla="*/ 165 w 174"/>
                <a:gd name="T69" fmla="*/ 13 h 7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74" h="71">
                  <a:moveTo>
                    <a:pt x="165" y="13"/>
                  </a:moveTo>
                  <a:lnTo>
                    <a:pt x="56" y="0"/>
                  </a:lnTo>
                  <a:lnTo>
                    <a:pt x="1" y="36"/>
                  </a:lnTo>
                  <a:lnTo>
                    <a:pt x="0" y="36"/>
                  </a:lnTo>
                  <a:lnTo>
                    <a:pt x="0" y="37"/>
                  </a:lnTo>
                  <a:lnTo>
                    <a:pt x="0" y="38"/>
                  </a:lnTo>
                  <a:lnTo>
                    <a:pt x="0" y="40"/>
                  </a:lnTo>
                  <a:lnTo>
                    <a:pt x="0" y="41"/>
                  </a:lnTo>
                  <a:lnTo>
                    <a:pt x="1" y="42"/>
                  </a:lnTo>
                  <a:lnTo>
                    <a:pt x="1" y="43"/>
                  </a:lnTo>
                  <a:lnTo>
                    <a:pt x="2" y="44"/>
                  </a:lnTo>
                  <a:lnTo>
                    <a:pt x="8" y="45"/>
                  </a:lnTo>
                  <a:lnTo>
                    <a:pt x="23" y="50"/>
                  </a:lnTo>
                  <a:lnTo>
                    <a:pt x="43" y="55"/>
                  </a:lnTo>
                  <a:lnTo>
                    <a:pt x="66" y="60"/>
                  </a:lnTo>
                  <a:lnTo>
                    <a:pt x="92" y="64"/>
                  </a:lnTo>
                  <a:lnTo>
                    <a:pt x="115" y="68"/>
                  </a:lnTo>
                  <a:lnTo>
                    <a:pt x="133" y="70"/>
                  </a:lnTo>
                  <a:lnTo>
                    <a:pt x="146" y="68"/>
                  </a:lnTo>
                  <a:lnTo>
                    <a:pt x="149" y="66"/>
                  </a:lnTo>
                  <a:lnTo>
                    <a:pt x="152" y="64"/>
                  </a:lnTo>
                  <a:lnTo>
                    <a:pt x="156" y="62"/>
                  </a:lnTo>
                  <a:lnTo>
                    <a:pt x="160" y="59"/>
                  </a:lnTo>
                  <a:lnTo>
                    <a:pt x="162" y="57"/>
                  </a:lnTo>
                  <a:lnTo>
                    <a:pt x="166" y="54"/>
                  </a:lnTo>
                  <a:lnTo>
                    <a:pt x="169" y="52"/>
                  </a:lnTo>
                  <a:lnTo>
                    <a:pt x="170" y="50"/>
                  </a:lnTo>
                  <a:lnTo>
                    <a:pt x="171" y="42"/>
                  </a:lnTo>
                  <a:lnTo>
                    <a:pt x="173" y="36"/>
                  </a:lnTo>
                  <a:lnTo>
                    <a:pt x="171" y="31"/>
                  </a:lnTo>
                  <a:lnTo>
                    <a:pt x="170" y="25"/>
                  </a:lnTo>
                  <a:lnTo>
                    <a:pt x="169" y="19"/>
                  </a:lnTo>
                  <a:lnTo>
                    <a:pt x="166" y="16"/>
                  </a:lnTo>
                  <a:lnTo>
                    <a:pt x="165" y="13"/>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9" name="Freeform 8"/>
            <p:cNvSpPr>
              <a:spLocks noChangeAspect="1"/>
            </p:cNvSpPr>
            <p:nvPr/>
          </p:nvSpPr>
          <p:spPr bwMode="auto">
            <a:xfrm>
              <a:off x="1928" y="3160"/>
              <a:ext cx="165" cy="65"/>
            </a:xfrm>
            <a:custGeom>
              <a:avLst/>
              <a:gdLst>
                <a:gd name="T0" fmla="*/ 157 w 165"/>
                <a:gd name="T1" fmla="*/ 11 h 65"/>
                <a:gd name="T2" fmla="*/ 53 w 165"/>
                <a:gd name="T3" fmla="*/ 0 h 65"/>
                <a:gd name="T4" fmla="*/ 0 w 165"/>
                <a:gd name="T5" fmla="*/ 33 h 65"/>
                <a:gd name="T6" fmla="*/ 0 w 165"/>
                <a:gd name="T7" fmla="*/ 33 h 65"/>
                <a:gd name="T8" fmla="*/ 0 w 165"/>
                <a:gd name="T9" fmla="*/ 34 h 65"/>
                <a:gd name="T10" fmla="*/ 0 w 165"/>
                <a:gd name="T11" fmla="*/ 35 h 65"/>
                <a:gd name="T12" fmla="*/ 0 w 165"/>
                <a:gd name="T13" fmla="*/ 36 h 65"/>
                <a:gd name="T14" fmla="*/ 0 w 165"/>
                <a:gd name="T15" fmla="*/ 37 h 65"/>
                <a:gd name="T16" fmla="*/ 0 w 165"/>
                <a:gd name="T17" fmla="*/ 38 h 65"/>
                <a:gd name="T18" fmla="*/ 1 w 165"/>
                <a:gd name="T19" fmla="*/ 39 h 65"/>
                <a:gd name="T20" fmla="*/ 2 w 165"/>
                <a:gd name="T21" fmla="*/ 39 h 65"/>
                <a:gd name="T22" fmla="*/ 7 w 165"/>
                <a:gd name="T23" fmla="*/ 41 h 65"/>
                <a:gd name="T24" fmla="*/ 21 w 165"/>
                <a:gd name="T25" fmla="*/ 45 h 65"/>
                <a:gd name="T26" fmla="*/ 41 w 165"/>
                <a:gd name="T27" fmla="*/ 49 h 65"/>
                <a:gd name="T28" fmla="*/ 63 w 165"/>
                <a:gd name="T29" fmla="*/ 54 h 65"/>
                <a:gd name="T30" fmla="*/ 87 w 165"/>
                <a:gd name="T31" fmla="*/ 58 h 65"/>
                <a:gd name="T32" fmla="*/ 109 w 165"/>
                <a:gd name="T33" fmla="*/ 61 h 65"/>
                <a:gd name="T34" fmla="*/ 127 w 165"/>
                <a:gd name="T35" fmla="*/ 64 h 65"/>
                <a:gd name="T36" fmla="*/ 138 w 165"/>
                <a:gd name="T37" fmla="*/ 61 h 65"/>
                <a:gd name="T38" fmla="*/ 142 w 165"/>
                <a:gd name="T39" fmla="*/ 60 h 65"/>
                <a:gd name="T40" fmla="*/ 146 w 165"/>
                <a:gd name="T41" fmla="*/ 58 h 65"/>
                <a:gd name="T42" fmla="*/ 148 w 165"/>
                <a:gd name="T43" fmla="*/ 56 h 65"/>
                <a:gd name="T44" fmla="*/ 152 w 165"/>
                <a:gd name="T45" fmla="*/ 54 h 65"/>
                <a:gd name="T46" fmla="*/ 155 w 165"/>
                <a:gd name="T47" fmla="*/ 51 h 65"/>
                <a:gd name="T48" fmla="*/ 158 w 165"/>
                <a:gd name="T49" fmla="*/ 49 h 65"/>
                <a:gd name="T50" fmla="*/ 160 w 165"/>
                <a:gd name="T51" fmla="*/ 47 h 65"/>
                <a:gd name="T52" fmla="*/ 161 w 165"/>
                <a:gd name="T53" fmla="*/ 45 h 65"/>
                <a:gd name="T54" fmla="*/ 164 w 165"/>
                <a:gd name="T55" fmla="*/ 38 h 65"/>
                <a:gd name="T56" fmla="*/ 164 w 165"/>
                <a:gd name="T57" fmla="*/ 33 h 65"/>
                <a:gd name="T58" fmla="*/ 164 w 165"/>
                <a:gd name="T59" fmla="*/ 27 h 65"/>
                <a:gd name="T60" fmla="*/ 162 w 165"/>
                <a:gd name="T61" fmla="*/ 23 h 65"/>
                <a:gd name="T62" fmla="*/ 160 w 165"/>
                <a:gd name="T63" fmla="*/ 17 h 65"/>
                <a:gd name="T64" fmla="*/ 158 w 165"/>
                <a:gd name="T65" fmla="*/ 14 h 65"/>
                <a:gd name="T66" fmla="*/ 157 w 165"/>
                <a:gd name="T67" fmla="*/ 12 h 65"/>
                <a:gd name="T68" fmla="*/ 157 w 165"/>
                <a:gd name="T69" fmla="*/ 11 h 6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65" h="65">
                  <a:moveTo>
                    <a:pt x="157" y="11"/>
                  </a:moveTo>
                  <a:lnTo>
                    <a:pt x="53" y="0"/>
                  </a:lnTo>
                  <a:lnTo>
                    <a:pt x="0" y="33"/>
                  </a:lnTo>
                  <a:lnTo>
                    <a:pt x="0" y="34"/>
                  </a:lnTo>
                  <a:lnTo>
                    <a:pt x="0" y="35"/>
                  </a:lnTo>
                  <a:lnTo>
                    <a:pt x="0" y="36"/>
                  </a:lnTo>
                  <a:lnTo>
                    <a:pt x="0" y="37"/>
                  </a:lnTo>
                  <a:lnTo>
                    <a:pt x="0" y="38"/>
                  </a:lnTo>
                  <a:lnTo>
                    <a:pt x="1" y="39"/>
                  </a:lnTo>
                  <a:lnTo>
                    <a:pt x="2" y="39"/>
                  </a:lnTo>
                  <a:lnTo>
                    <a:pt x="7" y="41"/>
                  </a:lnTo>
                  <a:lnTo>
                    <a:pt x="21" y="45"/>
                  </a:lnTo>
                  <a:lnTo>
                    <a:pt x="41" y="49"/>
                  </a:lnTo>
                  <a:lnTo>
                    <a:pt x="63" y="54"/>
                  </a:lnTo>
                  <a:lnTo>
                    <a:pt x="87" y="58"/>
                  </a:lnTo>
                  <a:lnTo>
                    <a:pt x="109" y="61"/>
                  </a:lnTo>
                  <a:lnTo>
                    <a:pt x="127" y="64"/>
                  </a:lnTo>
                  <a:lnTo>
                    <a:pt x="138" y="61"/>
                  </a:lnTo>
                  <a:lnTo>
                    <a:pt x="142" y="60"/>
                  </a:lnTo>
                  <a:lnTo>
                    <a:pt x="146" y="58"/>
                  </a:lnTo>
                  <a:lnTo>
                    <a:pt x="148" y="56"/>
                  </a:lnTo>
                  <a:lnTo>
                    <a:pt x="152" y="54"/>
                  </a:lnTo>
                  <a:lnTo>
                    <a:pt x="155" y="51"/>
                  </a:lnTo>
                  <a:lnTo>
                    <a:pt x="158" y="49"/>
                  </a:lnTo>
                  <a:lnTo>
                    <a:pt x="160" y="47"/>
                  </a:lnTo>
                  <a:lnTo>
                    <a:pt x="161" y="45"/>
                  </a:lnTo>
                  <a:lnTo>
                    <a:pt x="164" y="38"/>
                  </a:lnTo>
                  <a:lnTo>
                    <a:pt x="164" y="33"/>
                  </a:lnTo>
                  <a:lnTo>
                    <a:pt x="164" y="27"/>
                  </a:lnTo>
                  <a:lnTo>
                    <a:pt x="162" y="23"/>
                  </a:lnTo>
                  <a:lnTo>
                    <a:pt x="160" y="17"/>
                  </a:lnTo>
                  <a:lnTo>
                    <a:pt x="158" y="14"/>
                  </a:lnTo>
                  <a:lnTo>
                    <a:pt x="157" y="12"/>
                  </a:lnTo>
                  <a:lnTo>
                    <a:pt x="157" y="11"/>
                  </a:lnTo>
                </a:path>
              </a:pathLst>
            </a:custGeom>
            <a:solidFill>
              <a:srgbClr val="86868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0" name="Freeform 9"/>
            <p:cNvSpPr>
              <a:spLocks noChangeAspect="1"/>
            </p:cNvSpPr>
            <p:nvPr/>
          </p:nvSpPr>
          <p:spPr bwMode="auto">
            <a:xfrm>
              <a:off x="1929" y="3146"/>
              <a:ext cx="162" cy="67"/>
            </a:xfrm>
            <a:custGeom>
              <a:avLst/>
              <a:gdLst>
                <a:gd name="T0" fmla="*/ 108 w 162"/>
                <a:gd name="T1" fmla="*/ 2 h 67"/>
                <a:gd name="T2" fmla="*/ 95 w 162"/>
                <a:gd name="T3" fmla="*/ 0 h 67"/>
                <a:gd name="T4" fmla="*/ 84 w 162"/>
                <a:gd name="T5" fmla="*/ 0 h 67"/>
                <a:gd name="T6" fmla="*/ 74 w 162"/>
                <a:gd name="T7" fmla="*/ 1 h 67"/>
                <a:gd name="T8" fmla="*/ 65 w 162"/>
                <a:gd name="T9" fmla="*/ 2 h 67"/>
                <a:gd name="T10" fmla="*/ 58 w 162"/>
                <a:gd name="T11" fmla="*/ 4 h 67"/>
                <a:gd name="T12" fmla="*/ 53 w 162"/>
                <a:gd name="T13" fmla="*/ 6 h 67"/>
                <a:gd name="T14" fmla="*/ 49 w 162"/>
                <a:gd name="T15" fmla="*/ 8 h 67"/>
                <a:gd name="T16" fmla="*/ 49 w 162"/>
                <a:gd name="T17" fmla="*/ 8 h 67"/>
                <a:gd name="T18" fmla="*/ 0 w 162"/>
                <a:gd name="T19" fmla="*/ 41 h 67"/>
                <a:gd name="T20" fmla="*/ 0 w 162"/>
                <a:gd name="T21" fmla="*/ 45 h 67"/>
                <a:gd name="T22" fmla="*/ 1 w 162"/>
                <a:gd name="T23" fmla="*/ 45 h 67"/>
                <a:gd name="T24" fmla="*/ 3 w 162"/>
                <a:gd name="T25" fmla="*/ 44 h 67"/>
                <a:gd name="T26" fmla="*/ 8 w 162"/>
                <a:gd name="T27" fmla="*/ 42 h 67"/>
                <a:gd name="T28" fmla="*/ 15 w 162"/>
                <a:gd name="T29" fmla="*/ 40 h 67"/>
                <a:gd name="T30" fmla="*/ 23 w 162"/>
                <a:gd name="T31" fmla="*/ 39 h 67"/>
                <a:gd name="T32" fmla="*/ 31 w 162"/>
                <a:gd name="T33" fmla="*/ 39 h 67"/>
                <a:gd name="T34" fmla="*/ 40 w 162"/>
                <a:gd name="T35" fmla="*/ 39 h 67"/>
                <a:gd name="T36" fmla="*/ 52 w 162"/>
                <a:gd name="T37" fmla="*/ 41 h 67"/>
                <a:gd name="T38" fmla="*/ 66 w 162"/>
                <a:gd name="T39" fmla="*/ 45 h 67"/>
                <a:gd name="T40" fmla="*/ 77 w 162"/>
                <a:gd name="T41" fmla="*/ 48 h 67"/>
                <a:gd name="T42" fmla="*/ 86 w 162"/>
                <a:gd name="T43" fmla="*/ 52 h 67"/>
                <a:gd name="T44" fmla="*/ 93 w 162"/>
                <a:gd name="T45" fmla="*/ 55 h 67"/>
                <a:gd name="T46" fmla="*/ 99 w 162"/>
                <a:gd name="T47" fmla="*/ 57 h 67"/>
                <a:gd name="T48" fmla="*/ 103 w 162"/>
                <a:gd name="T49" fmla="*/ 59 h 67"/>
                <a:gd name="T50" fmla="*/ 108 w 162"/>
                <a:gd name="T51" fmla="*/ 60 h 67"/>
                <a:gd name="T52" fmla="*/ 113 w 162"/>
                <a:gd name="T53" fmla="*/ 62 h 67"/>
                <a:gd name="T54" fmla="*/ 134 w 162"/>
                <a:gd name="T55" fmla="*/ 66 h 67"/>
                <a:gd name="T56" fmla="*/ 148 w 162"/>
                <a:gd name="T57" fmla="*/ 63 h 67"/>
                <a:gd name="T58" fmla="*/ 157 w 162"/>
                <a:gd name="T59" fmla="*/ 58 h 67"/>
                <a:gd name="T60" fmla="*/ 161 w 162"/>
                <a:gd name="T61" fmla="*/ 51 h 67"/>
                <a:gd name="T62" fmla="*/ 161 w 162"/>
                <a:gd name="T63" fmla="*/ 41 h 67"/>
                <a:gd name="T64" fmla="*/ 159 w 162"/>
                <a:gd name="T65" fmla="*/ 33 h 67"/>
                <a:gd name="T66" fmla="*/ 157 w 162"/>
                <a:gd name="T67" fmla="*/ 26 h 67"/>
                <a:gd name="T68" fmla="*/ 154 w 162"/>
                <a:gd name="T69" fmla="*/ 23 h 67"/>
                <a:gd name="T70" fmla="*/ 153 w 162"/>
                <a:gd name="T71" fmla="*/ 22 h 67"/>
                <a:gd name="T72" fmla="*/ 150 w 162"/>
                <a:gd name="T73" fmla="*/ 20 h 67"/>
                <a:gd name="T74" fmla="*/ 146 w 162"/>
                <a:gd name="T75" fmla="*/ 17 h 67"/>
                <a:gd name="T76" fmla="*/ 143 w 162"/>
                <a:gd name="T77" fmla="*/ 14 h 67"/>
                <a:gd name="T78" fmla="*/ 136 w 162"/>
                <a:gd name="T79" fmla="*/ 11 h 67"/>
                <a:gd name="T80" fmla="*/ 129 w 162"/>
                <a:gd name="T81" fmla="*/ 8 h 67"/>
                <a:gd name="T82" fmla="*/ 120 w 162"/>
                <a:gd name="T83" fmla="*/ 5 h 67"/>
                <a:gd name="T84" fmla="*/ 108 w 162"/>
                <a:gd name="T85" fmla="*/ 2 h 6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62" h="67">
                  <a:moveTo>
                    <a:pt x="108" y="2"/>
                  </a:moveTo>
                  <a:lnTo>
                    <a:pt x="95" y="0"/>
                  </a:lnTo>
                  <a:lnTo>
                    <a:pt x="84" y="0"/>
                  </a:lnTo>
                  <a:lnTo>
                    <a:pt x="74" y="1"/>
                  </a:lnTo>
                  <a:lnTo>
                    <a:pt x="65" y="2"/>
                  </a:lnTo>
                  <a:lnTo>
                    <a:pt x="58" y="4"/>
                  </a:lnTo>
                  <a:lnTo>
                    <a:pt x="53" y="6"/>
                  </a:lnTo>
                  <a:lnTo>
                    <a:pt x="49" y="8"/>
                  </a:lnTo>
                  <a:lnTo>
                    <a:pt x="0" y="41"/>
                  </a:lnTo>
                  <a:lnTo>
                    <a:pt x="0" y="45"/>
                  </a:lnTo>
                  <a:lnTo>
                    <a:pt x="1" y="45"/>
                  </a:lnTo>
                  <a:lnTo>
                    <a:pt x="3" y="44"/>
                  </a:lnTo>
                  <a:lnTo>
                    <a:pt x="8" y="42"/>
                  </a:lnTo>
                  <a:lnTo>
                    <a:pt x="15" y="40"/>
                  </a:lnTo>
                  <a:lnTo>
                    <a:pt x="23" y="39"/>
                  </a:lnTo>
                  <a:lnTo>
                    <a:pt x="31" y="39"/>
                  </a:lnTo>
                  <a:lnTo>
                    <a:pt x="40" y="39"/>
                  </a:lnTo>
                  <a:lnTo>
                    <a:pt x="52" y="41"/>
                  </a:lnTo>
                  <a:lnTo>
                    <a:pt x="66" y="45"/>
                  </a:lnTo>
                  <a:lnTo>
                    <a:pt x="77" y="48"/>
                  </a:lnTo>
                  <a:lnTo>
                    <a:pt x="86" y="52"/>
                  </a:lnTo>
                  <a:lnTo>
                    <a:pt x="93" y="55"/>
                  </a:lnTo>
                  <a:lnTo>
                    <a:pt x="99" y="57"/>
                  </a:lnTo>
                  <a:lnTo>
                    <a:pt x="103" y="59"/>
                  </a:lnTo>
                  <a:lnTo>
                    <a:pt x="108" y="60"/>
                  </a:lnTo>
                  <a:lnTo>
                    <a:pt x="113" y="62"/>
                  </a:lnTo>
                  <a:lnTo>
                    <a:pt x="134" y="66"/>
                  </a:lnTo>
                  <a:lnTo>
                    <a:pt x="148" y="63"/>
                  </a:lnTo>
                  <a:lnTo>
                    <a:pt x="157" y="58"/>
                  </a:lnTo>
                  <a:lnTo>
                    <a:pt x="161" y="51"/>
                  </a:lnTo>
                  <a:lnTo>
                    <a:pt x="161" y="41"/>
                  </a:lnTo>
                  <a:lnTo>
                    <a:pt x="159" y="33"/>
                  </a:lnTo>
                  <a:lnTo>
                    <a:pt x="157" y="26"/>
                  </a:lnTo>
                  <a:lnTo>
                    <a:pt x="154" y="23"/>
                  </a:lnTo>
                  <a:lnTo>
                    <a:pt x="153" y="22"/>
                  </a:lnTo>
                  <a:lnTo>
                    <a:pt x="150" y="20"/>
                  </a:lnTo>
                  <a:lnTo>
                    <a:pt x="146" y="17"/>
                  </a:lnTo>
                  <a:lnTo>
                    <a:pt x="143" y="14"/>
                  </a:lnTo>
                  <a:lnTo>
                    <a:pt x="136" y="11"/>
                  </a:lnTo>
                  <a:lnTo>
                    <a:pt x="129" y="8"/>
                  </a:lnTo>
                  <a:lnTo>
                    <a:pt x="120" y="5"/>
                  </a:lnTo>
                  <a:lnTo>
                    <a:pt x="108" y="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1" name="Freeform 10"/>
            <p:cNvSpPr>
              <a:spLocks noChangeAspect="1"/>
            </p:cNvSpPr>
            <p:nvPr/>
          </p:nvSpPr>
          <p:spPr bwMode="auto">
            <a:xfrm>
              <a:off x="1722" y="3040"/>
              <a:ext cx="262" cy="150"/>
            </a:xfrm>
            <a:custGeom>
              <a:avLst/>
              <a:gdLst>
                <a:gd name="T0" fmla="*/ 230 w 262"/>
                <a:gd name="T1" fmla="*/ 142 h 150"/>
                <a:gd name="T2" fmla="*/ 213 w 262"/>
                <a:gd name="T3" fmla="*/ 136 h 150"/>
                <a:gd name="T4" fmla="*/ 193 w 262"/>
                <a:gd name="T5" fmla="*/ 124 h 150"/>
                <a:gd name="T6" fmla="*/ 183 w 262"/>
                <a:gd name="T7" fmla="*/ 112 h 150"/>
                <a:gd name="T8" fmla="*/ 196 w 262"/>
                <a:gd name="T9" fmla="*/ 100 h 150"/>
                <a:gd name="T10" fmla="*/ 222 w 262"/>
                <a:gd name="T11" fmla="*/ 95 h 150"/>
                <a:gd name="T12" fmla="*/ 248 w 262"/>
                <a:gd name="T13" fmla="*/ 90 h 150"/>
                <a:gd name="T14" fmla="*/ 261 w 262"/>
                <a:gd name="T15" fmla="*/ 80 h 150"/>
                <a:gd name="T16" fmla="*/ 250 w 262"/>
                <a:gd name="T17" fmla="*/ 62 h 150"/>
                <a:gd name="T18" fmla="*/ 231 w 262"/>
                <a:gd name="T19" fmla="*/ 48 h 150"/>
                <a:gd name="T20" fmla="*/ 208 w 262"/>
                <a:gd name="T21" fmla="*/ 39 h 150"/>
                <a:gd name="T22" fmla="*/ 185 w 262"/>
                <a:gd name="T23" fmla="*/ 35 h 150"/>
                <a:gd name="T24" fmla="*/ 155 w 262"/>
                <a:gd name="T25" fmla="*/ 35 h 150"/>
                <a:gd name="T26" fmla="*/ 120 w 262"/>
                <a:gd name="T27" fmla="*/ 37 h 150"/>
                <a:gd name="T28" fmla="*/ 94 w 262"/>
                <a:gd name="T29" fmla="*/ 37 h 150"/>
                <a:gd name="T30" fmla="*/ 67 w 262"/>
                <a:gd name="T31" fmla="*/ 30 h 150"/>
                <a:gd name="T32" fmla="*/ 36 w 262"/>
                <a:gd name="T33" fmla="*/ 15 h 150"/>
                <a:gd name="T34" fmla="*/ 17 w 262"/>
                <a:gd name="T35" fmla="*/ 5 h 150"/>
                <a:gd name="T36" fmla="*/ 8 w 262"/>
                <a:gd name="T37" fmla="*/ 1 h 150"/>
                <a:gd name="T38" fmla="*/ 7 w 262"/>
                <a:gd name="T39" fmla="*/ 0 h 150"/>
                <a:gd name="T40" fmla="*/ 0 w 262"/>
                <a:gd name="T41" fmla="*/ 4 h 150"/>
                <a:gd name="T42" fmla="*/ 57 w 262"/>
                <a:gd name="T43" fmla="*/ 32 h 150"/>
                <a:gd name="T44" fmla="*/ 78 w 262"/>
                <a:gd name="T45" fmla="*/ 39 h 150"/>
                <a:gd name="T46" fmla="*/ 99 w 262"/>
                <a:gd name="T47" fmla="*/ 43 h 150"/>
                <a:gd name="T48" fmla="*/ 120 w 262"/>
                <a:gd name="T49" fmla="*/ 43 h 150"/>
                <a:gd name="T50" fmla="*/ 136 w 262"/>
                <a:gd name="T51" fmla="*/ 41 h 150"/>
                <a:gd name="T52" fmla="*/ 143 w 262"/>
                <a:gd name="T53" fmla="*/ 40 h 150"/>
                <a:gd name="T54" fmla="*/ 151 w 262"/>
                <a:gd name="T55" fmla="*/ 40 h 150"/>
                <a:gd name="T56" fmla="*/ 161 w 262"/>
                <a:gd name="T57" fmla="*/ 39 h 150"/>
                <a:gd name="T58" fmla="*/ 174 w 262"/>
                <a:gd name="T59" fmla="*/ 39 h 150"/>
                <a:gd name="T60" fmla="*/ 193 w 262"/>
                <a:gd name="T61" fmla="*/ 41 h 150"/>
                <a:gd name="T62" fmla="*/ 216 w 262"/>
                <a:gd name="T63" fmla="*/ 48 h 150"/>
                <a:gd name="T64" fmla="*/ 238 w 262"/>
                <a:gd name="T65" fmla="*/ 59 h 150"/>
                <a:gd name="T66" fmla="*/ 248 w 262"/>
                <a:gd name="T67" fmla="*/ 73 h 150"/>
                <a:gd name="T68" fmla="*/ 250 w 262"/>
                <a:gd name="T69" fmla="*/ 79 h 150"/>
                <a:gd name="T70" fmla="*/ 246 w 262"/>
                <a:gd name="T71" fmla="*/ 82 h 150"/>
                <a:gd name="T72" fmla="*/ 238 w 262"/>
                <a:gd name="T73" fmla="*/ 86 h 150"/>
                <a:gd name="T74" fmla="*/ 221 w 262"/>
                <a:gd name="T75" fmla="*/ 89 h 150"/>
                <a:gd name="T76" fmla="*/ 210 w 262"/>
                <a:gd name="T77" fmla="*/ 91 h 150"/>
                <a:gd name="T78" fmla="*/ 197 w 262"/>
                <a:gd name="T79" fmla="*/ 93 h 150"/>
                <a:gd name="T80" fmla="*/ 185 w 262"/>
                <a:gd name="T81" fmla="*/ 96 h 150"/>
                <a:gd name="T82" fmla="*/ 178 w 262"/>
                <a:gd name="T83" fmla="*/ 101 h 150"/>
                <a:gd name="T84" fmla="*/ 174 w 262"/>
                <a:gd name="T85" fmla="*/ 105 h 150"/>
                <a:gd name="T86" fmla="*/ 173 w 262"/>
                <a:gd name="T87" fmla="*/ 109 h 150"/>
                <a:gd name="T88" fmla="*/ 173 w 262"/>
                <a:gd name="T89" fmla="*/ 113 h 150"/>
                <a:gd name="T90" fmla="*/ 174 w 262"/>
                <a:gd name="T91" fmla="*/ 116 h 150"/>
                <a:gd name="T92" fmla="*/ 184 w 262"/>
                <a:gd name="T93" fmla="*/ 128 h 150"/>
                <a:gd name="T94" fmla="*/ 202 w 262"/>
                <a:gd name="T95" fmla="*/ 138 h 150"/>
                <a:gd name="T96" fmla="*/ 218 w 262"/>
                <a:gd name="T97" fmla="*/ 145 h 150"/>
                <a:gd name="T98" fmla="*/ 227 w 262"/>
                <a:gd name="T99" fmla="*/ 149 h 15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62" h="150">
                  <a:moveTo>
                    <a:pt x="232" y="143"/>
                  </a:moveTo>
                  <a:lnTo>
                    <a:pt x="230" y="142"/>
                  </a:lnTo>
                  <a:lnTo>
                    <a:pt x="222" y="140"/>
                  </a:lnTo>
                  <a:lnTo>
                    <a:pt x="213" y="136"/>
                  </a:lnTo>
                  <a:lnTo>
                    <a:pt x="202" y="131"/>
                  </a:lnTo>
                  <a:lnTo>
                    <a:pt x="193" y="124"/>
                  </a:lnTo>
                  <a:lnTo>
                    <a:pt x="185" y="118"/>
                  </a:lnTo>
                  <a:lnTo>
                    <a:pt x="183" y="112"/>
                  </a:lnTo>
                  <a:lnTo>
                    <a:pt x="187" y="105"/>
                  </a:lnTo>
                  <a:lnTo>
                    <a:pt x="196" y="100"/>
                  </a:lnTo>
                  <a:lnTo>
                    <a:pt x="208" y="97"/>
                  </a:lnTo>
                  <a:lnTo>
                    <a:pt x="222" y="95"/>
                  </a:lnTo>
                  <a:lnTo>
                    <a:pt x="236" y="93"/>
                  </a:lnTo>
                  <a:lnTo>
                    <a:pt x="248" y="90"/>
                  </a:lnTo>
                  <a:lnTo>
                    <a:pt x="257" y="86"/>
                  </a:lnTo>
                  <a:lnTo>
                    <a:pt x="261" y="80"/>
                  </a:lnTo>
                  <a:lnTo>
                    <a:pt x="258" y="72"/>
                  </a:lnTo>
                  <a:lnTo>
                    <a:pt x="250" y="62"/>
                  </a:lnTo>
                  <a:lnTo>
                    <a:pt x="241" y="55"/>
                  </a:lnTo>
                  <a:lnTo>
                    <a:pt x="231" y="48"/>
                  </a:lnTo>
                  <a:lnTo>
                    <a:pt x="220" y="43"/>
                  </a:lnTo>
                  <a:lnTo>
                    <a:pt x="208" y="39"/>
                  </a:lnTo>
                  <a:lnTo>
                    <a:pt x="197" y="36"/>
                  </a:lnTo>
                  <a:lnTo>
                    <a:pt x="185" y="35"/>
                  </a:lnTo>
                  <a:lnTo>
                    <a:pt x="176" y="34"/>
                  </a:lnTo>
                  <a:lnTo>
                    <a:pt x="155" y="35"/>
                  </a:lnTo>
                  <a:lnTo>
                    <a:pt x="137" y="36"/>
                  </a:lnTo>
                  <a:lnTo>
                    <a:pt x="120" y="37"/>
                  </a:lnTo>
                  <a:lnTo>
                    <a:pt x="106" y="37"/>
                  </a:lnTo>
                  <a:lnTo>
                    <a:pt x="94" y="37"/>
                  </a:lnTo>
                  <a:lnTo>
                    <a:pt x="81" y="34"/>
                  </a:lnTo>
                  <a:lnTo>
                    <a:pt x="67" y="30"/>
                  </a:lnTo>
                  <a:lnTo>
                    <a:pt x="52" y="23"/>
                  </a:lnTo>
                  <a:lnTo>
                    <a:pt x="36" y="15"/>
                  </a:lnTo>
                  <a:lnTo>
                    <a:pt x="25" y="9"/>
                  </a:lnTo>
                  <a:lnTo>
                    <a:pt x="17" y="5"/>
                  </a:lnTo>
                  <a:lnTo>
                    <a:pt x="12" y="3"/>
                  </a:lnTo>
                  <a:lnTo>
                    <a:pt x="8" y="1"/>
                  </a:lnTo>
                  <a:lnTo>
                    <a:pt x="7" y="1"/>
                  </a:lnTo>
                  <a:lnTo>
                    <a:pt x="7" y="0"/>
                  </a:lnTo>
                  <a:lnTo>
                    <a:pt x="0" y="4"/>
                  </a:lnTo>
                  <a:lnTo>
                    <a:pt x="44" y="27"/>
                  </a:lnTo>
                  <a:lnTo>
                    <a:pt x="57" y="32"/>
                  </a:lnTo>
                  <a:lnTo>
                    <a:pt x="68" y="37"/>
                  </a:lnTo>
                  <a:lnTo>
                    <a:pt x="78" y="39"/>
                  </a:lnTo>
                  <a:lnTo>
                    <a:pt x="90" y="41"/>
                  </a:lnTo>
                  <a:lnTo>
                    <a:pt x="99" y="43"/>
                  </a:lnTo>
                  <a:lnTo>
                    <a:pt x="109" y="43"/>
                  </a:lnTo>
                  <a:lnTo>
                    <a:pt x="120" y="43"/>
                  </a:lnTo>
                  <a:lnTo>
                    <a:pt x="131" y="41"/>
                  </a:lnTo>
                  <a:lnTo>
                    <a:pt x="136" y="41"/>
                  </a:lnTo>
                  <a:lnTo>
                    <a:pt x="140" y="41"/>
                  </a:lnTo>
                  <a:lnTo>
                    <a:pt x="143" y="40"/>
                  </a:lnTo>
                  <a:lnTo>
                    <a:pt x="147" y="40"/>
                  </a:lnTo>
                  <a:lnTo>
                    <a:pt x="151" y="40"/>
                  </a:lnTo>
                  <a:lnTo>
                    <a:pt x="156" y="40"/>
                  </a:lnTo>
                  <a:lnTo>
                    <a:pt x="161" y="39"/>
                  </a:lnTo>
                  <a:lnTo>
                    <a:pt x="168" y="39"/>
                  </a:lnTo>
                  <a:lnTo>
                    <a:pt x="174" y="39"/>
                  </a:lnTo>
                  <a:lnTo>
                    <a:pt x="183" y="40"/>
                  </a:lnTo>
                  <a:lnTo>
                    <a:pt x="193" y="41"/>
                  </a:lnTo>
                  <a:lnTo>
                    <a:pt x="204" y="45"/>
                  </a:lnTo>
                  <a:lnTo>
                    <a:pt x="216" y="48"/>
                  </a:lnTo>
                  <a:lnTo>
                    <a:pt x="227" y="53"/>
                  </a:lnTo>
                  <a:lnTo>
                    <a:pt x="238" y="59"/>
                  </a:lnTo>
                  <a:lnTo>
                    <a:pt x="245" y="69"/>
                  </a:lnTo>
                  <a:lnTo>
                    <a:pt x="248" y="73"/>
                  </a:lnTo>
                  <a:lnTo>
                    <a:pt x="250" y="76"/>
                  </a:lnTo>
                  <a:lnTo>
                    <a:pt x="250" y="79"/>
                  </a:lnTo>
                  <a:lnTo>
                    <a:pt x="249" y="81"/>
                  </a:lnTo>
                  <a:lnTo>
                    <a:pt x="246" y="82"/>
                  </a:lnTo>
                  <a:lnTo>
                    <a:pt x="243" y="84"/>
                  </a:lnTo>
                  <a:lnTo>
                    <a:pt x="238" y="86"/>
                  </a:lnTo>
                  <a:lnTo>
                    <a:pt x="230" y="87"/>
                  </a:lnTo>
                  <a:lnTo>
                    <a:pt x="221" y="89"/>
                  </a:lnTo>
                  <a:lnTo>
                    <a:pt x="215" y="90"/>
                  </a:lnTo>
                  <a:lnTo>
                    <a:pt x="210" y="91"/>
                  </a:lnTo>
                  <a:lnTo>
                    <a:pt x="203" y="92"/>
                  </a:lnTo>
                  <a:lnTo>
                    <a:pt x="197" y="93"/>
                  </a:lnTo>
                  <a:lnTo>
                    <a:pt x="192" y="95"/>
                  </a:lnTo>
                  <a:lnTo>
                    <a:pt x="185" y="96"/>
                  </a:lnTo>
                  <a:lnTo>
                    <a:pt x="182" y="99"/>
                  </a:lnTo>
                  <a:lnTo>
                    <a:pt x="178" y="101"/>
                  </a:lnTo>
                  <a:lnTo>
                    <a:pt x="175" y="103"/>
                  </a:lnTo>
                  <a:lnTo>
                    <a:pt x="174" y="105"/>
                  </a:lnTo>
                  <a:lnTo>
                    <a:pt x="173" y="107"/>
                  </a:lnTo>
                  <a:lnTo>
                    <a:pt x="173" y="109"/>
                  </a:lnTo>
                  <a:lnTo>
                    <a:pt x="171" y="111"/>
                  </a:lnTo>
                  <a:lnTo>
                    <a:pt x="173" y="113"/>
                  </a:lnTo>
                  <a:lnTo>
                    <a:pt x="173" y="115"/>
                  </a:lnTo>
                  <a:lnTo>
                    <a:pt x="174" y="116"/>
                  </a:lnTo>
                  <a:lnTo>
                    <a:pt x="178" y="122"/>
                  </a:lnTo>
                  <a:lnTo>
                    <a:pt x="184" y="128"/>
                  </a:lnTo>
                  <a:lnTo>
                    <a:pt x="193" y="133"/>
                  </a:lnTo>
                  <a:lnTo>
                    <a:pt x="202" y="138"/>
                  </a:lnTo>
                  <a:lnTo>
                    <a:pt x="211" y="142"/>
                  </a:lnTo>
                  <a:lnTo>
                    <a:pt x="218" y="145"/>
                  </a:lnTo>
                  <a:lnTo>
                    <a:pt x="225" y="147"/>
                  </a:lnTo>
                  <a:lnTo>
                    <a:pt x="227" y="149"/>
                  </a:lnTo>
                  <a:lnTo>
                    <a:pt x="232" y="143"/>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2" name="Freeform 11"/>
            <p:cNvSpPr>
              <a:spLocks noChangeAspect="1"/>
            </p:cNvSpPr>
            <p:nvPr/>
          </p:nvSpPr>
          <p:spPr bwMode="auto">
            <a:xfrm>
              <a:off x="1722" y="3040"/>
              <a:ext cx="263" cy="149"/>
            </a:xfrm>
            <a:custGeom>
              <a:avLst/>
              <a:gdLst>
                <a:gd name="T0" fmla="*/ 230 w 263"/>
                <a:gd name="T1" fmla="*/ 141 h 149"/>
                <a:gd name="T2" fmla="*/ 213 w 263"/>
                <a:gd name="T3" fmla="*/ 134 h 149"/>
                <a:gd name="T4" fmla="*/ 193 w 263"/>
                <a:gd name="T5" fmla="*/ 124 h 149"/>
                <a:gd name="T6" fmla="*/ 183 w 263"/>
                <a:gd name="T7" fmla="*/ 110 h 149"/>
                <a:gd name="T8" fmla="*/ 197 w 263"/>
                <a:gd name="T9" fmla="*/ 100 h 149"/>
                <a:gd name="T10" fmla="*/ 222 w 263"/>
                <a:gd name="T11" fmla="*/ 93 h 149"/>
                <a:gd name="T12" fmla="*/ 249 w 263"/>
                <a:gd name="T13" fmla="*/ 89 h 149"/>
                <a:gd name="T14" fmla="*/ 262 w 263"/>
                <a:gd name="T15" fmla="*/ 80 h 149"/>
                <a:gd name="T16" fmla="*/ 251 w 263"/>
                <a:gd name="T17" fmla="*/ 62 h 149"/>
                <a:gd name="T18" fmla="*/ 231 w 263"/>
                <a:gd name="T19" fmla="*/ 47 h 149"/>
                <a:gd name="T20" fmla="*/ 208 w 263"/>
                <a:gd name="T21" fmla="*/ 38 h 149"/>
                <a:gd name="T22" fmla="*/ 186 w 263"/>
                <a:gd name="T23" fmla="*/ 34 h 149"/>
                <a:gd name="T24" fmla="*/ 155 w 263"/>
                <a:gd name="T25" fmla="*/ 35 h 149"/>
                <a:gd name="T26" fmla="*/ 122 w 263"/>
                <a:gd name="T27" fmla="*/ 37 h 149"/>
                <a:gd name="T28" fmla="*/ 94 w 263"/>
                <a:gd name="T29" fmla="*/ 36 h 149"/>
                <a:gd name="T30" fmla="*/ 67 w 263"/>
                <a:gd name="T31" fmla="*/ 29 h 149"/>
                <a:gd name="T32" fmla="*/ 36 w 263"/>
                <a:gd name="T33" fmla="*/ 14 h 149"/>
                <a:gd name="T34" fmla="*/ 17 w 263"/>
                <a:gd name="T35" fmla="*/ 5 h 149"/>
                <a:gd name="T36" fmla="*/ 10 w 263"/>
                <a:gd name="T37" fmla="*/ 1 h 149"/>
                <a:gd name="T38" fmla="*/ 7 w 263"/>
                <a:gd name="T39" fmla="*/ 0 h 149"/>
                <a:gd name="T40" fmla="*/ 0 w 263"/>
                <a:gd name="T41" fmla="*/ 4 h 149"/>
                <a:gd name="T42" fmla="*/ 57 w 263"/>
                <a:gd name="T43" fmla="*/ 32 h 149"/>
                <a:gd name="T44" fmla="*/ 80 w 263"/>
                <a:gd name="T45" fmla="*/ 39 h 149"/>
                <a:gd name="T46" fmla="*/ 100 w 263"/>
                <a:gd name="T47" fmla="*/ 41 h 149"/>
                <a:gd name="T48" fmla="*/ 120 w 263"/>
                <a:gd name="T49" fmla="*/ 41 h 149"/>
                <a:gd name="T50" fmla="*/ 136 w 263"/>
                <a:gd name="T51" fmla="*/ 41 h 149"/>
                <a:gd name="T52" fmla="*/ 143 w 263"/>
                <a:gd name="T53" fmla="*/ 40 h 149"/>
                <a:gd name="T54" fmla="*/ 151 w 263"/>
                <a:gd name="T55" fmla="*/ 39 h 149"/>
                <a:gd name="T56" fmla="*/ 161 w 263"/>
                <a:gd name="T57" fmla="*/ 39 h 149"/>
                <a:gd name="T58" fmla="*/ 175 w 263"/>
                <a:gd name="T59" fmla="*/ 39 h 149"/>
                <a:gd name="T60" fmla="*/ 194 w 263"/>
                <a:gd name="T61" fmla="*/ 41 h 149"/>
                <a:gd name="T62" fmla="*/ 217 w 263"/>
                <a:gd name="T63" fmla="*/ 47 h 149"/>
                <a:gd name="T64" fmla="*/ 237 w 263"/>
                <a:gd name="T65" fmla="*/ 59 h 149"/>
                <a:gd name="T66" fmla="*/ 249 w 263"/>
                <a:gd name="T67" fmla="*/ 72 h 149"/>
                <a:gd name="T68" fmla="*/ 250 w 263"/>
                <a:gd name="T69" fmla="*/ 78 h 149"/>
                <a:gd name="T70" fmla="*/ 248 w 263"/>
                <a:gd name="T71" fmla="*/ 82 h 149"/>
                <a:gd name="T72" fmla="*/ 237 w 263"/>
                <a:gd name="T73" fmla="*/ 85 h 149"/>
                <a:gd name="T74" fmla="*/ 222 w 263"/>
                <a:gd name="T75" fmla="*/ 87 h 149"/>
                <a:gd name="T76" fmla="*/ 209 w 263"/>
                <a:gd name="T77" fmla="*/ 89 h 149"/>
                <a:gd name="T78" fmla="*/ 197 w 263"/>
                <a:gd name="T79" fmla="*/ 92 h 149"/>
                <a:gd name="T80" fmla="*/ 186 w 263"/>
                <a:gd name="T81" fmla="*/ 95 h 149"/>
                <a:gd name="T82" fmla="*/ 178 w 263"/>
                <a:gd name="T83" fmla="*/ 101 h 149"/>
                <a:gd name="T84" fmla="*/ 174 w 263"/>
                <a:gd name="T85" fmla="*/ 104 h 149"/>
                <a:gd name="T86" fmla="*/ 172 w 263"/>
                <a:gd name="T87" fmla="*/ 108 h 149"/>
                <a:gd name="T88" fmla="*/ 172 w 263"/>
                <a:gd name="T89" fmla="*/ 111 h 149"/>
                <a:gd name="T90" fmla="*/ 174 w 263"/>
                <a:gd name="T91" fmla="*/ 115 h 149"/>
                <a:gd name="T92" fmla="*/ 185 w 263"/>
                <a:gd name="T93" fmla="*/ 127 h 149"/>
                <a:gd name="T94" fmla="*/ 202 w 263"/>
                <a:gd name="T95" fmla="*/ 137 h 149"/>
                <a:gd name="T96" fmla="*/ 218 w 263"/>
                <a:gd name="T97" fmla="*/ 143 h 149"/>
                <a:gd name="T98" fmla="*/ 228 w 263"/>
                <a:gd name="T99" fmla="*/ 148 h 14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63" h="149">
                  <a:moveTo>
                    <a:pt x="234" y="142"/>
                  </a:moveTo>
                  <a:lnTo>
                    <a:pt x="230" y="141"/>
                  </a:lnTo>
                  <a:lnTo>
                    <a:pt x="223" y="138"/>
                  </a:lnTo>
                  <a:lnTo>
                    <a:pt x="213" y="134"/>
                  </a:lnTo>
                  <a:lnTo>
                    <a:pt x="203" y="129"/>
                  </a:lnTo>
                  <a:lnTo>
                    <a:pt x="193" y="124"/>
                  </a:lnTo>
                  <a:lnTo>
                    <a:pt x="186" y="117"/>
                  </a:lnTo>
                  <a:lnTo>
                    <a:pt x="183" y="110"/>
                  </a:lnTo>
                  <a:lnTo>
                    <a:pt x="186" y="104"/>
                  </a:lnTo>
                  <a:lnTo>
                    <a:pt x="197" y="100"/>
                  </a:lnTo>
                  <a:lnTo>
                    <a:pt x="208" y="96"/>
                  </a:lnTo>
                  <a:lnTo>
                    <a:pt x="222" y="93"/>
                  </a:lnTo>
                  <a:lnTo>
                    <a:pt x="236" y="91"/>
                  </a:lnTo>
                  <a:lnTo>
                    <a:pt x="249" y="89"/>
                  </a:lnTo>
                  <a:lnTo>
                    <a:pt x="258" y="85"/>
                  </a:lnTo>
                  <a:lnTo>
                    <a:pt x="262" y="80"/>
                  </a:lnTo>
                  <a:lnTo>
                    <a:pt x="259" y="71"/>
                  </a:lnTo>
                  <a:lnTo>
                    <a:pt x="251" y="62"/>
                  </a:lnTo>
                  <a:lnTo>
                    <a:pt x="241" y="54"/>
                  </a:lnTo>
                  <a:lnTo>
                    <a:pt x="231" y="47"/>
                  </a:lnTo>
                  <a:lnTo>
                    <a:pt x="220" y="42"/>
                  </a:lnTo>
                  <a:lnTo>
                    <a:pt x="208" y="38"/>
                  </a:lnTo>
                  <a:lnTo>
                    <a:pt x="197" y="36"/>
                  </a:lnTo>
                  <a:lnTo>
                    <a:pt x="186" y="34"/>
                  </a:lnTo>
                  <a:lnTo>
                    <a:pt x="176" y="34"/>
                  </a:lnTo>
                  <a:lnTo>
                    <a:pt x="155" y="35"/>
                  </a:lnTo>
                  <a:lnTo>
                    <a:pt x="137" y="36"/>
                  </a:lnTo>
                  <a:lnTo>
                    <a:pt x="122" y="37"/>
                  </a:lnTo>
                  <a:lnTo>
                    <a:pt x="108" y="37"/>
                  </a:lnTo>
                  <a:lnTo>
                    <a:pt x="94" y="36"/>
                  </a:lnTo>
                  <a:lnTo>
                    <a:pt x="81" y="34"/>
                  </a:lnTo>
                  <a:lnTo>
                    <a:pt x="67" y="29"/>
                  </a:lnTo>
                  <a:lnTo>
                    <a:pt x="52" y="22"/>
                  </a:lnTo>
                  <a:lnTo>
                    <a:pt x="36" y="14"/>
                  </a:lnTo>
                  <a:lnTo>
                    <a:pt x="26" y="9"/>
                  </a:lnTo>
                  <a:lnTo>
                    <a:pt x="17" y="5"/>
                  </a:lnTo>
                  <a:lnTo>
                    <a:pt x="12" y="3"/>
                  </a:lnTo>
                  <a:lnTo>
                    <a:pt x="10" y="1"/>
                  </a:lnTo>
                  <a:lnTo>
                    <a:pt x="8" y="0"/>
                  </a:lnTo>
                  <a:lnTo>
                    <a:pt x="7" y="0"/>
                  </a:lnTo>
                  <a:lnTo>
                    <a:pt x="0" y="4"/>
                  </a:lnTo>
                  <a:lnTo>
                    <a:pt x="44" y="27"/>
                  </a:lnTo>
                  <a:lnTo>
                    <a:pt x="57" y="32"/>
                  </a:lnTo>
                  <a:lnTo>
                    <a:pt x="68" y="36"/>
                  </a:lnTo>
                  <a:lnTo>
                    <a:pt x="80" y="39"/>
                  </a:lnTo>
                  <a:lnTo>
                    <a:pt x="90" y="41"/>
                  </a:lnTo>
                  <a:lnTo>
                    <a:pt x="100" y="41"/>
                  </a:lnTo>
                  <a:lnTo>
                    <a:pt x="110" y="42"/>
                  </a:lnTo>
                  <a:lnTo>
                    <a:pt x="120" y="41"/>
                  </a:lnTo>
                  <a:lnTo>
                    <a:pt x="131" y="41"/>
                  </a:lnTo>
                  <a:lnTo>
                    <a:pt x="136" y="41"/>
                  </a:lnTo>
                  <a:lnTo>
                    <a:pt x="139" y="40"/>
                  </a:lnTo>
                  <a:lnTo>
                    <a:pt x="143" y="40"/>
                  </a:lnTo>
                  <a:lnTo>
                    <a:pt x="147" y="40"/>
                  </a:lnTo>
                  <a:lnTo>
                    <a:pt x="151" y="39"/>
                  </a:lnTo>
                  <a:lnTo>
                    <a:pt x="156" y="39"/>
                  </a:lnTo>
                  <a:lnTo>
                    <a:pt x="161" y="39"/>
                  </a:lnTo>
                  <a:lnTo>
                    <a:pt x="167" y="39"/>
                  </a:lnTo>
                  <a:lnTo>
                    <a:pt x="175" y="39"/>
                  </a:lnTo>
                  <a:lnTo>
                    <a:pt x="184" y="40"/>
                  </a:lnTo>
                  <a:lnTo>
                    <a:pt x="194" y="41"/>
                  </a:lnTo>
                  <a:lnTo>
                    <a:pt x="206" y="43"/>
                  </a:lnTo>
                  <a:lnTo>
                    <a:pt x="217" y="47"/>
                  </a:lnTo>
                  <a:lnTo>
                    <a:pt x="227" y="53"/>
                  </a:lnTo>
                  <a:lnTo>
                    <a:pt x="237" y="59"/>
                  </a:lnTo>
                  <a:lnTo>
                    <a:pt x="245" y="67"/>
                  </a:lnTo>
                  <a:lnTo>
                    <a:pt x="249" y="72"/>
                  </a:lnTo>
                  <a:lnTo>
                    <a:pt x="250" y="76"/>
                  </a:lnTo>
                  <a:lnTo>
                    <a:pt x="250" y="78"/>
                  </a:lnTo>
                  <a:lnTo>
                    <a:pt x="249" y="80"/>
                  </a:lnTo>
                  <a:lnTo>
                    <a:pt x="248" y="82"/>
                  </a:lnTo>
                  <a:lnTo>
                    <a:pt x="244" y="83"/>
                  </a:lnTo>
                  <a:lnTo>
                    <a:pt x="237" y="85"/>
                  </a:lnTo>
                  <a:lnTo>
                    <a:pt x="231" y="86"/>
                  </a:lnTo>
                  <a:lnTo>
                    <a:pt x="222" y="87"/>
                  </a:lnTo>
                  <a:lnTo>
                    <a:pt x="216" y="88"/>
                  </a:lnTo>
                  <a:lnTo>
                    <a:pt x="209" y="89"/>
                  </a:lnTo>
                  <a:lnTo>
                    <a:pt x="203" y="90"/>
                  </a:lnTo>
                  <a:lnTo>
                    <a:pt x="197" y="92"/>
                  </a:lnTo>
                  <a:lnTo>
                    <a:pt x="192" y="93"/>
                  </a:lnTo>
                  <a:lnTo>
                    <a:pt x="186" y="95"/>
                  </a:lnTo>
                  <a:lnTo>
                    <a:pt x="181" y="97"/>
                  </a:lnTo>
                  <a:lnTo>
                    <a:pt x="178" y="101"/>
                  </a:lnTo>
                  <a:lnTo>
                    <a:pt x="176" y="103"/>
                  </a:lnTo>
                  <a:lnTo>
                    <a:pt x="174" y="104"/>
                  </a:lnTo>
                  <a:lnTo>
                    <a:pt x="174" y="106"/>
                  </a:lnTo>
                  <a:lnTo>
                    <a:pt x="172" y="108"/>
                  </a:lnTo>
                  <a:lnTo>
                    <a:pt x="172" y="109"/>
                  </a:lnTo>
                  <a:lnTo>
                    <a:pt x="172" y="111"/>
                  </a:lnTo>
                  <a:lnTo>
                    <a:pt x="172" y="113"/>
                  </a:lnTo>
                  <a:lnTo>
                    <a:pt x="174" y="115"/>
                  </a:lnTo>
                  <a:lnTo>
                    <a:pt x="178" y="121"/>
                  </a:lnTo>
                  <a:lnTo>
                    <a:pt x="185" y="127"/>
                  </a:lnTo>
                  <a:lnTo>
                    <a:pt x="193" y="132"/>
                  </a:lnTo>
                  <a:lnTo>
                    <a:pt x="202" y="137"/>
                  </a:lnTo>
                  <a:lnTo>
                    <a:pt x="211" y="140"/>
                  </a:lnTo>
                  <a:lnTo>
                    <a:pt x="218" y="143"/>
                  </a:lnTo>
                  <a:lnTo>
                    <a:pt x="225" y="146"/>
                  </a:lnTo>
                  <a:lnTo>
                    <a:pt x="228" y="148"/>
                  </a:lnTo>
                  <a:lnTo>
                    <a:pt x="234" y="142"/>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3" name="Freeform 12"/>
            <p:cNvSpPr>
              <a:spLocks noChangeAspect="1"/>
            </p:cNvSpPr>
            <p:nvPr/>
          </p:nvSpPr>
          <p:spPr bwMode="auto">
            <a:xfrm>
              <a:off x="1928" y="3146"/>
              <a:ext cx="164" cy="65"/>
            </a:xfrm>
            <a:custGeom>
              <a:avLst/>
              <a:gdLst>
                <a:gd name="T0" fmla="*/ 109 w 164"/>
                <a:gd name="T1" fmla="*/ 2 h 65"/>
                <a:gd name="T2" fmla="*/ 96 w 164"/>
                <a:gd name="T3" fmla="*/ 0 h 65"/>
                <a:gd name="T4" fmla="*/ 85 w 164"/>
                <a:gd name="T5" fmla="*/ 0 h 65"/>
                <a:gd name="T6" fmla="*/ 75 w 164"/>
                <a:gd name="T7" fmla="*/ 1 h 65"/>
                <a:gd name="T8" fmla="*/ 66 w 164"/>
                <a:gd name="T9" fmla="*/ 2 h 65"/>
                <a:gd name="T10" fmla="*/ 59 w 164"/>
                <a:gd name="T11" fmla="*/ 4 h 65"/>
                <a:gd name="T12" fmla="*/ 54 w 164"/>
                <a:gd name="T13" fmla="*/ 6 h 65"/>
                <a:gd name="T14" fmla="*/ 50 w 164"/>
                <a:gd name="T15" fmla="*/ 8 h 65"/>
                <a:gd name="T16" fmla="*/ 49 w 164"/>
                <a:gd name="T17" fmla="*/ 8 h 65"/>
                <a:gd name="T18" fmla="*/ 0 w 164"/>
                <a:gd name="T19" fmla="*/ 41 h 65"/>
                <a:gd name="T20" fmla="*/ 0 w 164"/>
                <a:gd name="T21" fmla="*/ 45 h 65"/>
                <a:gd name="T22" fmla="*/ 1 w 164"/>
                <a:gd name="T23" fmla="*/ 44 h 65"/>
                <a:gd name="T24" fmla="*/ 5 w 164"/>
                <a:gd name="T25" fmla="*/ 43 h 65"/>
                <a:gd name="T26" fmla="*/ 8 w 164"/>
                <a:gd name="T27" fmla="*/ 42 h 65"/>
                <a:gd name="T28" fmla="*/ 15 w 164"/>
                <a:gd name="T29" fmla="*/ 40 h 65"/>
                <a:gd name="T30" fmla="*/ 22 w 164"/>
                <a:gd name="T31" fmla="*/ 39 h 65"/>
                <a:gd name="T32" fmla="*/ 31 w 164"/>
                <a:gd name="T33" fmla="*/ 38 h 65"/>
                <a:gd name="T34" fmla="*/ 42 w 164"/>
                <a:gd name="T35" fmla="*/ 38 h 65"/>
                <a:gd name="T36" fmla="*/ 52 w 164"/>
                <a:gd name="T37" fmla="*/ 40 h 65"/>
                <a:gd name="T38" fmla="*/ 67 w 164"/>
                <a:gd name="T39" fmla="*/ 44 h 65"/>
                <a:gd name="T40" fmla="*/ 78 w 164"/>
                <a:gd name="T41" fmla="*/ 48 h 65"/>
                <a:gd name="T42" fmla="*/ 87 w 164"/>
                <a:gd name="T43" fmla="*/ 51 h 65"/>
                <a:gd name="T44" fmla="*/ 94 w 164"/>
                <a:gd name="T45" fmla="*/ 53 h 65"/>
                <a:gd name="T46" fmla="*/ 100 w 164"/>
                <a:gd name="T47" fmla="*/ 55 h 65"/>
                <a:gd name="T48" fmla="*/ 104 w 164"/>
                <a:gd name="T49" fmla="*/ 57 h 65"/>
                <a:gd name="T50" fmla="*/ 109 w 164"/>
                <a:gd name="T51" fmla="*/ 59 h 65"/>
                <a:gd name="T52" fmla="*/ 114 w 164"/>
                <a:gd name="T53" fmla="*/ 60 h 65"/>
                <a:gd name="T54" fmla="*/ 136 w 164"/>
                <a:gd name="T55" fmla="*/ 64 h 65"/>
                <a:gd name="T56" fmla="*/ 150 w 164"/>
                <a:gd name="T57" fmla="*/ 62 h 65"/>
                <a:gd name="T58" fmla="*/ 159 w 164"/>
                <a:gd name="T59" fmla="*/ 56 h 65"/>
                <a:gd name="T60" fmla="*/ 163 w 164"/>
                <a:gd name="T61" fmla="*/ 49 h 65"/>
                <a:gd name="T62" fmla="*/ 163 w 164"/>
                <a:gd name="T63" fmla="*/ 41 h 65"/>
                <a:gd name="T64" fmla="*/ 161 w 164"/>
                <a:gd name="T65" fmla="*/ 33 h 65"/>
                <a:gd name="T66" fmla="*/ 159 w 164"/>
                <a:gd name="T67" fmla="*/ 25 h 65"/>
                <a:gd name="T68" fmla="*/ 156 w 164"/>
                <a:gd name="T69" fmla="*/ 22 h 65"/>
                <a:gd name="T70" fmla="*/ 154 w 164"/>
                <a:gd name="T71" fmla="*/ 21 h 65"/>
                <a:gd name="T72" fmla="*/ 152 w 164"/>
                <a:gd name="T73" fmla="*/ 19 h 65"/>
                <a:gd name="T74" fmla="*/ 148 w 164"/>
                <a:gd name="T75" fmla="*/ 17 h 65"/>
                <a:gd name="T76" fmla="*/ 143 w 164"/>
                <a:gd name="T77" fmla="*/ 14 h 65"/>
                <a:gd name="T78" fmla="*/ 137 w 164"/>
                <a:gd name="T79" fmla="*/ 11 h 65"/>
                <a:gd name="T80" fmla="*/ 129 w 164"/>
                <a:gd name="T81" fmla="*/ 8 h 65"/>
                <a:gd name="T82" fmla="*/ 120 w 164"/>
                <a:gd name="T83" fmla="*/ 5 h 65"/>
                <a:gd name="T84" fmla="*/ 109 w 164"/>
                <a:gd name="T85" fmla="*/ 2 h 6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64" h="65">
                  <a:moveTo>
                    <a:pt x="109" y="2"/>
                  </a:moveTo>
                  <a:lnTo>
                    <a:pt x="96" y="0"/>
                  </a:lnTo>
                  <a:lnTo>
                    <a:pt x="85" y="0"/>
                  </a:lnTo>
                  <a:lnTo>
                    <a:pt x="75" y="1"/>
                  </a:lnTo>
                  <a:lnTo>
                    <a:pt x="66" y="2"/>
                  </a:lnTo>
                  <a:lnTo>
                    <a:pt x="59" y="4"/>
                  </a:lnTo>
                  <a:lnTo>
                    <a:pt x="54" y="6"/>
                  </a:lnTo>
                  <a:lnTo>
                    <a:pt x="50" y="8"/>
                  </a:lnTo>
                  <a:lnTo>
                    <a:pt x="49" y="8"/>
                  </a:lnTo>
                  <a:lnTo>
                    <a:pt x="0" y="41"/>
                  </a:lnTo>
                  <a:lnTo>
                    <a:pt x="0" y="45"/>
                  </a:lnTo>
                  <a:lnTo>
                    <a:pt x="1" y="44"/>
                  </a:lnTo>
                  <a:lnTo>
                    <a:pt x="5" y="43"/>
                  </a:lnTo>
                  <a:lnTo>
                    <a:pt x="8" y="42"/>
                  </a:lnTo>
                  <a:lnTo>
                    <a:pt x="15" y="40"/>
                  </a:lnTo>
                  <a:lnTo>
                    <a:pt x="22" y="39"/>
                  </a:lnTo>
                  <a:lnTo>
                    <a:pt x="31" y="38"/>
                  </a:lnTo>
                  <a:lnTo>
                    <a:pt x="42" y="38"/>
                  </a:lnTo>
                  <a:lnTo>
                    <a:pt x="52" y="40"/>
                  </a:lnTo>
                  <a:lnTo>
                    <a:pt x="67" y="44"/>
                  </a:lnTo>
                  <a:lnTo>
                    <a:pt x="78" y="48"/>
                  </a:lnTo>
                  <a:lnTo>
                    <a:pt x="87" y="51"/>
                  </a:lnTo>
                  <a:lnTo>
                    <a:pt x="94" y="53"/>
                  </a:lnTo>
                  <a:lnTo>
                    <a:pt x="100" y="55"/>
                  </a:lnTo>
                  <a:lnTo>
                    <a:pt x="104" y="57"/>
                  </a:lnTo>
                  <a:lnTo>
                    <a:pt x="109" y="59"/>
                  </a:lnTo>
                  <a:lnTo>
                    <a:pt x="114" y="60"/>
                  </a:lnTo>
                  <a:lnTo>
                    <a:pt x="136" y="64"/>
                  </a:lnTo>
                  <a:lnTo>
                    <a:pt x="150" y="62"/>
                  </a:lnTo>
                  <a:lnTo>
                    <a:pt x="159" y="56"/>
                  </a:lnTo>
                  <a:lnTo>
                    <a:pt x="163" y="49"/>
                  </a:lnTo>
                  <a:lnTo>
                    <a:pt x="163" y="41"/>
                  </a:lnTo>
                  <a:lnTo>
                    <a:pt x="161" y="33"/>
                  </a:lnTo>
                  <a:lnTo>
                    <a:pt x="159" y="25"/>
                  </a:lnTo>
                  <a:lnTo>
                    <a:pt x="156" y="22"/>
                  </a:lnTo>
                  <a:lnTo>
                    <a:pt x="154" y="21"/>
                  </a:lnTo>
                  <a:lnTo>
                    <a:pt x="152" y="19"/>
                  </a:lnTo>
                  <a:lnTo>
                    <a:pt x="148" y="17"/>
                  </a:lnTo>
                  <a:lnTo>
                    <a:pt x="143" y="14"/>
                  </a:lnTo>
                  <a:lnTo>
                    <a:pt x="137" y="11"/>
                  </a:lnTo>
                  <a:lnTo>
                    <a:pt x="129" y="8"/>
                  </a:lnTo>
                  <a:lnTo>
                    <a:pt x="120" y="5"/>
                  </a:lnTo>
                  <a:lnTo>
                    <a:pt x="109" y="2"/>
                  </a:lnTo>
                </a:path>
              </a:pathLst>
            </a:custGeom>
            <a:solidFill>
              <a:srgbClr val="DDDDD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4" name="Freeform 13"/>
            <p:cNvSpPr>
              <a:spLocks noChangeAspect="1"/>
            </p:cNvSpPr>
            <p:nvPr/>
          </p:nvSpPr>
          <p:spPr bwMode="auto">
            <a:xfrm>
              <a:off x="1955" y="3146"/>
              <a:ext cx="51" cy="39"/>
            </a:xfrm>
            <a:custGeom>
              <a:avLst/>
              <a:gdLst>
                <a:gd name="T0" fmla="*/ 0 w 51"/>
                <a:gd name="T1" fmla="*/ 38 h 39"/>
                <a:gd name="T2" fmla="*/ 0 w 51"/>
                <a:gd name="T3" fmla="*/ 38 h 39"/>
                <a:gd name="T4" fmla="*/ 0 w 51"/>
                <a:gd name="T5" fmla="*/ 38 h 39"/>
                <a:gd name="T6" fmla="*/ 0 w 51"/>
                <a:gd name="T7" fmla="*/ 38 h 39"/>
                <a:gd name="T8" fmla="*/ 0 w 51"/>
                <a:gd name="T9" fmla="*/ 36 h 39"/>
                <a:gd name="T10" fmla="*/ 0 w 51"/>
                <a:gd name="T11" fmla="*/ 35 h 39"/>
                <a:gd name="T12" fmla="*/ 0 w 51"/>
                <a:gd name="T13" fmla="*/ 35 h 39"/>
                <a:gd name="T14" fmla="*/ 0 w 51"/>
                <a:gd name="T15" fmla="*/ 34 h 39"/>
                <a:gd name="T16" fmla="*/ 0 w 51"/>
                <a:gd name="T17" fmla="*/ 33 h 39"/>
                <a:gd name="T18" fmla="*/ 2 w 51"/>
                <a:gd name="T19" fmla="*/ 32 h 39"/>
                <a:gd name="T20" fmla="*/ 8 w 51"/>
                <a:gd name="T21" fmla="*/ 28 h 39"/>
                <a:gd name="T22" fmla="*/ 15 w 51"/>
                <a:gd name="T23" fmla="*/ 23 h 39"/>
                <a:gd name="T24" fmla="*/ 23 w 51"/>
                <a:gd name="T25" fmla="*/ 16 h 39"/>
                <a:gd name="T26" fmla="*/ 32 w 51"/>
                <a:gd name="T27" fmla="*/ 10 h 39"/>
                <a:gd name="T28" fmla="*/ 40 w 51"/>
                <a:gd name="T29" fmla="*/ 5 h 39"/>
                <a:gd name="T30" fmla="*/ 45 w 51"/>
                <a:gd name="T31" fmla="*/ 1 h 39"/>
                <a:gd name="T32" fmla="*/ 48 w 51"/>
                <a:gd name="T33" fmla="*/ 0 h 39"/>
                <a:gd name="T34" fmla="*/ 48 w 51"/>
                <a:gd name="T35" fmla="*/ 0 h 39"/>
                <a:gd name="T36" fmla="*/ 48 w 51"/>
                <a:gd name="T37" fmla="*/ 0 h 39"/>
                <a:gd name="T38" fmla="*/ 48 w 51"/>
                <a:gd name="T39" fmla="*/ 0 h 39"/>
                <a:gd name="T40" fmla="*/ 50 w 51"/>
                <a:gd name="T41" fmla="*/ 0 h 39"/>
                <a:gd name="T42" fmla="*/ 48 w 51"/>
                <a:gd name="T43" fmla="*/ 0 h 39"/>
                <a:gd name="T44" fmla="*/ 48 w 51"/>
                <a:gd name="T45" fmla="*/ 0 h 39"/>
                <a:gd name="T46" fmla="*/ 48 w 51"/>
                <a:gd name="T47" fmla="*/ 0 h 39"/>
                <a:gd name="T48" fmla="*/ 47 w 51"/>
                <a:gd name="T49" fmla="*/ 1 h 39"/>
                <a:gd name="T50" fmla="*/ 41 w 51"/>
                <a:gd name="T51" fmla="*/ 5 h 39"/>
                <a:gd name="T52" fmla="*/ 33 w 51"/>
                <a:gd name="T53" fmla="*/ 10 h 39"/>
                <a:gd name="T54" fmla="*/ 26 w 51"/>
                <a:gd name="T55" fmla="*/ 16 h 39"/>
                <a:gd name="T56" fmla="*/ 17 w 51"/>
                <a:gd name="T57" fmla="*/ 23 h 39"/>
                <a:gd name="T58" fmla="*/ 10 w 51"/>
                <a:gd name="T59" fmla="*/ 28 h 39"/>
                <a:gd name="T60" fmla="*/ 3 w 51"/>
                <a:gd name="T61" fmla="*/ 32 h 39"/>
                <a:gd name="T62" fmla="*/ 1 w 51"/>
                <a:gd name="T63" fmla="*/ 33 h 39"/>
                <a:gd name="T64" fmla="*/ 1 w 51"/>
                <a:gd name="T65" fmla="*/ 34 h 39"/>
                <a:gd name="T66" fmla="*/ 1 w 51"/>
                <a:gd name="T67" fmla="*/ 35 h 39"/>
                <a:gd name="T68" fmla="*/ 1 w 51"/>
                <a:gd name="T69" fmla="*/ 35 h 39"/>
                <a:gd name="T70" fmla="*/ 1 w 51"/>
                <a:gd name="T71" fmla="*/ 36 h 39"/>
                <a:gd name="T72" fmla="*/ 1 w 51"/>
                <a:gd name="T73" fmla="*/ 36 h 39"/>
                <a:gd name="T74" fmla="*/ 1 w 51"/>
                <a:gd name="T75" fmla="*/ 38 h 39"/>
                <a:gd name="T76" fmla="*/ 1 w 51"/>
                <a:gd name="T77" fmla="*/ 38 h 39"/>
                <a:gd name="T78" fmla="*/ 1 w 51"/>
                <a:gd name="T79" fmla="*/ 38 h 39"/>
                <a:gd name="T80" fmla="*/ 0 w 51"/>
                <a:gd name="T81" fmla="*/ 38 h 3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51" h="39">
                  <a:moveTo>
                    <a:pt x="0" y="38"/>
                  </a:moveTo>
                  <a:lnTo>
                    <a:pt x="0" y="38"/>
                  </a:lnTo>
                  <a:lnTo>
                    <a:pt x="0" y="36"/>
                  </a:lnTo>
                  <a:lnTo>
                    <a:pt x="0" y="35"/>
                  </a:lnTo>
                  <a:lnTo>
                    <a:pt x="0" y="34"/>
                  </a:lnTo>
                  <a:lnTo>
                    <a:pt x="0" y="33"/>
                  </a:lnTo>
                  <a:lnTo>
                    <a:pt x="2" y="32"/>
                  </a:lnTo>
                  <a:lnTo>
                    <a:pt x="8" y="28"/>
                  </a:lnTo>
                  <a:lnTo>
                    <a:pt x="15" y="23"/>
                  </a:lnTo>
                  <a:lnTo>
                    <a:pt x="23" y="16"/>
                  </a:lnTo>
                  <a:lnTo>
                    <a:pt x="32" y="10"/>
                  </a:lnTo>
                  <a:lnTo>
                    <a:pt x="40" y="5"/>
                  </a:lnTo>
                  <a:lnTo>
                    <a:pt x="45" y="1"/>
                  </a:lnTo>
                  <a:lnTo>
                    <a:pt x="48" y="0"/>
                  </a:lnTo>
                  <a:lnTo>
                    <a:pt x="50" y="0"/>
                  </a:lnTo>
                  <a:lnTo>
                    <a:pt x="48" y="0"/>
                  </a:lnTo>
                  <a:lnTo>
                    <a:pt x="47" y="1"/>
                  </a:lnTo>
                  <a:lnTo>
                    <a:pt x="41" y="5"/>
                  </a:lnTo>
                  <a:lnTo>
                    <a:pt x="33" y="10"/>
                  </a:lnTo>
                  <a:lnTo>
                    <a:pt x="26" y="16"/>
                  </a:lnTo>
                  <a:lnTo>
                    <a:pt x="17" y="23"/>
                  </a:lnTo>
                  <a:lnTo>
                    <a:pt x="10" y="28"/>
                  </a:lnTo>
                  <a:lnTo>
                    <a:pt x="3" y="32"/>
                  </a:lnTo>
                  <a:lnTo>
                    <a:pt x="1" y="33"/>
                  </a:lnTo>
                  <a:lnTo>
                    <a:pt x="1" y="34"/>
                  </a:lnTo>
                  <a:lnTo>
                    <a:pt x="1" y="35"/>
                  </a:lnTo>
                  <a:lnTo>
                    <a:pt x="1" y="36"/>
                  </a:lnTo>
                  <a:lnTo>
                    <a:pt x="1" y="38"/>
                  </a:lnTo>
                  <a:lnTo>
                    <a:pt x="0" y="38"/>
                  </a:lnTo>
                </a:path>
              </a:pathLst>
            </a:custGeom>
            <a:solidFill>
              <a:srgbClr val="7F7F7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5" name="Freeform 14"/>
            <p:cNvSpPr>
              <a:spLocks noChangeAspect="1"/>
            </p:cNvSpPr>
            <p:nvPr/>
          </p:nvSpPr>
          <p:spPr bwMode="auto">
            <a:xfrm>
              <a:off x="1960" y="3162"/>
              <a:ext cx="21" cy="18"/>
            </a:xfrm>
            <a:custGeom>
              <a:avLst/>
              <a:gdLst>
                <a:gd name="T0" fmla="*/ 1 w 21"/>
                <a:gd name="T1" fmla="*/ 12 h 18"/>
                <a:gd name="T2" fmla="*/ 1 w 21"/>
                <a:gd name="T3" fmla="*/ 12 h 18"/>
                <a:gd name="T4" fmla="*/ 2 w 21"/>
                <a:gd name="T5" fmla="*/ 12 h 18"/>
                <a:gd name="T6" fmla="*/ 5 w 21"/>
                <a:gd name="T7" fmla="*/ 8 h 18"/>
                <a:gd name="T8" fmla="*/ 7 w 21"/>
                <a:gd name="T9" fmla="*/ 8 h 18"/>
                <a:gd name="T10" fmla="*/ 10 w 21"/>
                <a:gd name="T11" fmla="*/ 4 h 18"/>
                <a:gd name="T12" fmla="*/ 12 w 21"/>
                <a:gd name="T13" fmla="*/ 0 h 18"/>
                <a:gd name="T14" fmla="*/ 15 w 21"/>
                <a:gd name="T15" fmla="*/ 0 h 18"/>
                <a:gd name="T16" fmla="*/ 16 w 21"/>
                <a:gd name="T17" fmla="*/ 0 h 18"/>
                <a:gd name="T18" fmla="*/ 17 w 21"/>
                <a:gd name="T19" fmla="*/ 0 h 18"/>
                <a:gd name="T20" fmla="*/ 18 w 21"/>
                <a:gd name="T21" fmla="*/ 0 h 18"/>
                <a:gd name="T22" fmla="*/ 20 w 21"/>
                <a:gd name="T23" fmla="*/ 0 h 18"/>
                <a:gd name="T24" fmla="*/ 20 w 21"/>
                <a:gd name="T25" fmla="*/ 0 h 18"/>
                <a:gd name="T26" fmla="*/ 20 w 21"/>
                <a:gd name="T27" fmla="*/ 0 h 18"/>
                <a:gd name="T28" fmla="*/ 20 w 21"/>
                <a:gd name="T29" fmla="*/ 0 h 18"/>
                <a:gd name="T30" fmla="*/ 20 w 21"/>
                <a:gd name="T31" fmla="*/ 0 h 18"/>
                <a:gd name="T32" fmla="*/ 20 w 21"/>
                <a:gd name="T33" fmla="*/ 0 h 18"/>
                <a:gd name="T34" fmla="*/ 18 w 21"/>
                <a:gd name="T35" fmla="*/ 4 h 18"/>
                <a:gd name="T36" fmla="*/ 18 w 21"/>
                <a:gd name="T37" fmla="*/ 4 h 18"/>
                <a:gd name="T38" fmla="*/ 18 w 21"/>
                <a:gd name="T39" fmla="*/ 4 h 18"/>
                <a:gd name="T40" fmla="*/ 18 w 21"/>
                <a:gd name="T41" fmla="*/ 4 h 18"/>
                <a:gd name="T42" fmla="*/ 17 w 21"/>
                <a:gd name="T43" fmla="*/ 4 h 18"/>
                <a:gd name="T44" fmla="*/ 16 w 21"/>
                <a:gd name="T45" fmla="*/ 4 h 18"/>
                <a:gd name="T46" fmla="*/ 15 w 21"/>
                <a:gd name="T47" fmla="*/ 4 h 18"/>
                <a:gd name="T48" fmla="*/ 13 w 21"/>
                <a:gd name="T49" fmla="*/ 4 h 18"/>
                <a:gd name="T50" fmla="*/ 12 w 21"/>
                <a:gd name="T51" fmla="*/ 4 h 18"/>
                <a:gd name="T52" fmla="*/ 10 w 21"/>
                <a:gd name="T53" fmla="*/ 8 h 18"/>
                <a:gd name="T54" fmla="*/ 7 w 21"/>
                <a:gd name="T55" fmla="*/ 8 h 18"/>
                <a:gd name="T56" fmla="*/ 5 w 21"/>
                <a:gd name="T57" fmla="*/ 12 h 18"/>
                <a:gd name="T58" fmla="*/ 3 w 21"/>
                <a:gd name="T59" fmla="*/ 12 h 18"/>
                <a:gd name="T60" fmla="*/ 1 w 21"/>
                <a:gd name="T61" fmla="*/ 17 h 18"/>
                <a:gd name="T62" fmla="*/ 0 w 21"/>
                <a:gd name="T63" fmla="*/ 17 h 18"/>
                <a:gd name="T64" fmla="*/ 0 w 21"/>
                <a:gd name="T65" fmla="*/ 17 h 18"/>
                <a:gd name="T66" fmla="*/ 1 w 21"/>
                <a:gd name="T67" fmla="*/ 12 h 1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1" h="18">
                  <a:moveTo>
                    <a:pt x="1" y="12"/>
                  </a:moveTo>
                  <a:lnTo>
                    <a:pt x="1" y="12"/>
                  </a:lnTo>
                  <a:lnTo>
                    <a:pt x="2" y="12"/>
                  </a:lnTo>
                  <a:lnTo>
                    <a:pt x="5" y="8"/>
                  </a:lnTo>
                  <a:lnTo>
                    <a:pt x="7" y="8"/>
                  </a:lnTo>
                  <a:lnTo>
                    <a:pt x="10" y="4"/>
                  </a:lnTo>
                  <a:lnTo>
                    <a:pt x="12" y="0"/>
                  </a:lnTo>
                  <a:lnTo>
                    <a:pt x="15" y="0"/>
                  </a:lnTo>
                  <a:lnTo>
                    <a:pt x="16" y="0"/>
                  </a:lnTo>
                  <a:lnTo>
                    <a:pt x="17" y="0"/>
                  </a:lnTo>
                  <a:lnTo>
                    <a:pt x="18" y="0"/>
                  </a:lnTo>
                  <a:lnTo>
                    <a:pt x="20" y="0"/>
                  </a:lnTo>
                  <a:lnTo>
                    <a:pt x="18" y="4"/>
                  </a:lnTo>
                  <a:lnTo>
                    <a:pt x="17" y="4"/>
                  </a:lnTo>
                  <a:lnTo>
                    <a:pt x="16" y="4"/>
                  </a:lnTo>
                  <a:lnTo>
                    <a:pt x="15" y="4"/>
                  </a:lnTo>
                  <a:lnTo>
                    <a:pt x="13" y="4"/>
                  </a:lnTo>
                  <a:lnTo>
                    <a:pt x="12" y="4"/>
                  </a:lnTo>
                  <a:lnTo>
                    <a:pt x="10" y="8"/>
                  </a:lnTo>
                  <a:lnTo>
                    <a:pt x="7" y="8"/>
                  </a:lnTo>
                  <a:lnTo>
                    <a:pt x="5" y="12"/>
                  </a:lnTo>
                  <a:lnTo>
                    <a:pt x="3" y="12"/>
                  </a:lnTo>
                  <a:lnTo>
                    <a:pt x="1" y="17"/>
                  </a:lnTo>
                  <a:lnTo>
                    <a:pt x="0" y="17"/>
                  </a:lnTo>
                  <a:lnTo>
                    <a:pt x="1" y="12"/>
                  </a:lnTo>
                </a:path>
              </a:pathLst>
            </a:custGeom>
            <a:solidFill>
              <a:srgbClr val="7F7F7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6" name="Freeform 15"/>
            <p:cNvSpPr>
              <a:spLocks noChangeAspect="1"/>
            </p:cNvSpPr>
            <p:nvPr/>
          </p:nvSpPr>
          <p:spPr bwMode="auto">
            <a:xfrm>
              <a:off x="1039" y="2943"/>
              <a:ext cx="718" cy="329"/>
            </a:xfrm>
            <a:custGeom>
              <a:avLst/>
              <a:gdLst>
                <a:gd name="T0" fmla="*/ 232 w 718"/>
                <a:gd name="T1" fmla="*/ 328 h 329"/>
                <a:gd name="T2" fmla="*/ 717 w 718"/>
                <a:gd name="T3" fmla="*/ 215 h 329"/>
                <a:gd name="T4" fmla="*/ 717 w 718"/>
                <a:gd name="T5" fmla="*/ 162 h 329"/>
                <a:gd name="T6" fmla="*/ 385 w 718"/>
                <a:gd name="T7" fmla="*/ 0 h 329"/>
                <a:gd name="T8" fmla="*/ 0 w 718"/>
                <a:gd name="T9" fmla="*/ 192 h 329"/>
                <a:gd name="T10" fmla="*/ 0 w 718"/>
                <a:gd name="T11" fmla="*/ 217 h 329"/>
                <a:gd name="T12" fmla="*/ 232 w 718"/>
                <a:gd name="T13" fmla="*/ 328 h 32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18" h="329">
                  <a:moveTo>
                    <a:pt x="232" y="328"/>
                  </a:moveTo>
                  <a:lnTo>
                    <a:pt x="717" y="215"/>
                  </a:lnTo>
                  <a:lnTo>
                    <a:pt x="717" y="162"/>
                  </a:lnTo>
                  <a:lnTo>
                    <a:pt x="385" y="0"/>
                  </a:lnTo>
                  <a:lnTo>
                    <a:pt x="0" y="192"/>
                  </a:lnTo>
                  <a:lnTo>
                    <a:pt x="0" y="217"/>
                  </a:lnTo>
                  <a:lnTo>
                    <a:pt x="232" y="328"/>
                  </a:lnTo>
                </a:path>
              </a:pathLst>
            </a:custGeom>
            <a:solidFill>
              <a:srgbClr val="86868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7" name="Freeform 16"/>
            <p:cNvSpPr>
              <a:spLocks noChangeAspect="1"/>
            </p:cNvSpPr>
            <p:nvPr/>
          </p:nvSpPr>
          <p:spPr bwMode="auto">
            <a:xfrm>
              <a:off x="1027" y="2885"/>
              <a:ext cx="737" cy="350"/>
            </a:xfrm>
            <a:custGeom>
              <a:avLst/>
              <a:gdLst>
                <a:gd name="T0" fmla="*/ 241 w 737"/>
                <a:gd name="T1" fmla="*/ 349 h 350"/>
                <a:gd name="T2" fmla="*/ 736 w 737"/>
                <a:gd name="T3" fmla="*/ 236 h 350"/>
                <a:gd name="T4" fmla="*/ 736 w 737"/>
                <a:gd name="T5" fmla="*/ 97 h 350"/>
                <a:gd name="T6" fmla="*/ 524 w 737"/>
                <a:gd name="T7" fmla="*/ 0 h 350"/>
                <a:gd name="T8" fmla="*/ 0 w 737"/>
                <a:gd name="T9" fmla="*/ 115 h 350"/>
                <a:gd name="T10" fmla="*/ 0 w 737"/>
                <a:gd name="T11" fmla="*/ 234 h 350"/>
                <a:gd name="T12" fmla="*/ 241 w 737"/>
                <a:gd name="T13" fmla="*/ 349 h 3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37" h="350">
                  <a:moveTo>
                    <a:pt x="241" y="349"/>
                  </a:moveTo>
                  <a:lnTo>
                    <a:pt x="736" y="236"/>
                  </a:lnTo>
                  <a:lnTo>
                    <a:pt x="736" y="97"/>
                  </a:lnTo>
                  <a:lnTo>
                    <a:pt x="524" y="0"/>
                  </a:lnTo>
                  <a:lnTo>
                    <a:pt x="0" y="115"/>
                  </a:lnTo>
                  <a:lnTo>
                    <a:pt x="0" y="234"/>
                  </a:lnTo>
                  <a:lnTo>
                    <a:pt x="241" y="349"/>
                  </a:lnTo>
                </a:path>
              </a:pathLst>
            </a:custGeom>
            <a:solidFill>
              <a:srgbClr val="DDDDD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8" name="Freeform 17"/>
            <p:cNvSpPr>
              <a:spLocks noChangeAspect="1"/>
            </p:cNvSpPr>
            <p:nvPr/>
          </p:nvSpPr>
          <p:spPr bwMode="auto">
            <a:xfrm>
              <a:off x="1035" y="3013"/>
              <a:ext cx="235" cy="212"/>
            </a:xfrm>
            <a:custGeom>
              <a:avLst/>
              <a:gdLst>
                <a:gd name="T0" fmla="*/ 0 w 235"/>
                <a:gd name="T1" fmla="*/ 102 h 212"/>
                <a:gd name="T2" fmla="*/ 0 w 235"/>
                <a:gd name="T3" fmla="*/ 0 h 212"/>
                <a:gd name="T4" fmla="*/ 227 w 235"/>
                <a:gd name="T5" fmla="*/ 94 h 212"/>
                <a:gd name="T6" fmla="*/ 234 w 235"/>
                <a:gd name="T7" fmla="*/ 211 h 212"/>
                <a:gd name="T8" fmla="*/ 0 w 235"/>
                <a:gd name="T9" fmla="*/ 102 h 2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5" h="212">
                  <a:moveTo>
                    <a:pt x="0" y="102"/>
                  </a:moveTo>
                  <a:lnTo>
                    <a:pt x="0" y="0"/>
                  </a:lnTo>
                  <a:lnTo>
                    <a:pt x="227" y="94"/>
                  </a:lnTo>
                  <a:lnTo>
                    <a:pt x="234" y="211"/>
                  </a:lnTo>
                  <a:lnTo>
                    <a:pt x="0" y="102"/>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19" name="Freeform 18"/>
            <p:cNvSpPr>
              <a:spLocks noChangeAspect="1"/>
            </p:cNvSpPr>
            <p:nvPr/>
          </p:nvSpPr>
          <p:spPr bwMode="auto">
            <a:xfrm>
              <a:off x="1292" y="3158"/>
              <a:ext cx="623" cy="199"/>
            </a:xfrm>
            <a:custGeom>
              <a:avLst/>
              <a:gdLst>
                <a:gd name="T0" fmla="*/ 111 w 623"/>
                <a:gd name="T1" fmla="*/ 198 h 199"/>
                <a:gd name="T2" fmla="*/ 622 w 623"/>
                <a:gd name="T3" fmla="*/ 83 h 199"/>
                <a:gd name="T4" fmla="*/ 446 w 623"/>
                <a:gd name="T5" fmla="*/ 0 h 199"/>
                <a:gd name="T6" fmla="*/ 0 w 623"/>
                <a:gd name="T7" fmla="*/ 92 h 199"/>
                <a:gd name="T8" fmla="*/ 111 w 623"/>
                <a:gd name="T9" fmla="*/ 198 h 1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3" h="199">
                  <a:moveTo>
                    <a:pt x="111" y="198"/>
                  </a:moveTo>
                  <a:lnTo>
                    <a:pt x="622" y="83"/>
                  </a:lnTo>
                  <a:lnTo>
                    <a:pt x="446" y="0"/>
                  </a:lnTo>
                  <a:lnTo>
                    <a:pt x="0" y="92"/>
                  </a:lnTo>
                  <a:lnTo>
                    <a:pt x="111" y="198"/>
                  </a:lnTo>
                </a:path>
              </a:pathLst>
            </a:custGeom>
            <a:solidFill>
              <a:srgbClr val="86868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0" name="Freeform 19"/>
            <p:cNvSpPr>
              <a:spLocks noChangeAspect="1"/>
            </p:cNvSpPr>
            <p:nvPr/>
          </p:nvSpPr>
          <p:spPr bwMode="auto">
            <a:xfrm>
              <a:off x="1297" y="3146"/>
              <a:ext cx="621" cy="200"/>
            </a:xfrm>
            <a:custGeom>
              <a:avLst/>
              <a:gdLst>
                <a:gd name="T0" fmla="*/ 110 w 621"/>
                <a:gd name="T1" fmla="*/ 199 h 200"/>
                <a:gd name="T2" fmla="*/ 620 w 621"/>
                <a:gd name="T3" fmla="*/ 83 h 200"/>
                <a:gd name="T4" fmla="*/ 444 w 621"/>
                <a:gd name="T5" fmla="*/ 0 h 200"/>
                <a:gd name="T6" fmla="*/ 0 w 621"/>
                <a:gd name="T7" fmla="*/ 96 h 200"/>
                <a:gd name="T8" fmla="*/ 110 w 621"/>
                <a:gd name="T9" fmla="*/ 199 h 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1" h="200">
                  <a:moveTo>
                    <a:pt x="110" y="199"/>
                  </a:moveTo>
                  <a:lnTo>
                    <a:pt x="620" y="83"/>
                  </a:lnTo>
                  <a:lnTo>
                    <a:pt x="444" y="0"/>
                  </a:lnTo>
                  <a:lnTo>
                    <a:pt x="0" y="96"/>
                  </a:lnTo>
                  <a:lnTo>
                    <a:pt x="110" y="199"/>
                  </a:lnTo>
                </a:path>
              </a:pathLst>
            </a:custGeom>
            <a:solidFill>
              <a:srgbClr val="DDDDD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1" name="Line 20"/>
            <p:cNvSpPr>
              <a:spLocks noChangeAspect="1" noChangeShapeType="1"/>
            </p:cNvSpPr>
            <p:nvPr/>
          </p:nvSpPr>
          <p:spPr bwMode="auto">
            <a:xfrm flipV="1">
              <a:off x="1312" y="3026"/>
              <a:ext cx="399" cy="91"/>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2" name="Freeform 21"/>
            <p:cNvSpPr>
              <a:spLocks noChangeAspect="1"/>
            </p:cNvSpPr>
            <p:nvPr/>
          </p:nvSpPr>
          <p:spPr bwMode="auto">
            <a:xfrm>
              <a:off x="1312" y="3026"/>
              <a:ext cx="400" cy="92"/>
            </a:xfrm>
            <a:custGeom>
              <a:avLst/>
              <a:gdLst>
                <a:gd name="T0" fmla="*/ 0 w 400"/>
                <a:gd name="T1" fmla="*/ 91 h 92"/>
                <a:gd name="T2" fmla="*/ 399 w 400"/>
                <a:gd name="T3" fmla="*/ 0 h 92"/>
                <a:gd name="T4" fmla="*/ 0 w 400"/>
                <a:gd name="T5" fmla="*/ 91 h 92"/>
                <a:gd name="T6" fmla="*/ 0 60000 65536"/>
                <a:gd name="T7" fmla="*/ 0 60000 65536"/>
                <a:gd name="T8" fmla="*/ 0 60000 65536"/>
              </a:gdLst>
              <a:ahLst/>
              <a:cxnLst>
                <a:cxn ang="T6">
                  <a:pos x="T0" y="T1"/>
                </a:cxn>
                <a:cxn ang="T7">
                  <a:pos x="T2" y="T3"/>
                </a:cxn>
                <a:cxn ang="T8">
                  <a:pos x="T4" y="T5"/>
                </a:cxn>
              </a:cxnLst>
              <a:rect l="0" t="0" r="r" b="b"/>
              <a:pathLst>
                <a:path w="400" h="92">
                  <a:moveTo>
                    <a:pt x="0" y="91"/>
                  </a:moveTo>
                  <a:lnTo>
                    <a:pt x="399" y="0"/>
                  </a:lnTo>
                  <a:lnTo>
                    <a:pt x="0" y="91"/>
                  </a:lnTo>
                </a:path>
              </a:pathLst>
            </a:custGeom>
            <a:noFill/>
            <a:ln w="12700" cap="rnd" cmpd="sng">
              <a:solidFill>
                <a:srgbClr val="B2B2B2"/>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3" name="Freeform 22"/>
            <p:cNvSpPr>
              <a:spLocks noChangeAspect="1"/>
            </p:cNvSpPr>
            <p:nvPr/>
          </p:nvSpPr>
          <p:spPr bwMode="auto">
            <a:xfrm>
              <a:off x="1335" y="3095"/>
              <a:ext cx="84" cy="27"/>
            </a:xfrm>
            <a:custGeom>
              <a:avLst/>
              <a:gdLst>
                <a:gd name="T0" fmla="*/ 0 w 84"/>
                <a:gd name="T1" fmla="*/ 17 h 27"/>
                <a:gd name="T2" fmla="*/ 81 w 84"/>
                <a:gd name="T3" fmla="*/ 0 h 27"/>
                <a:gd name="T4" fmla="*/ 83 w 84"/>
                <a:gd name="T5" fmla="*/ 8 h 27"/>
                <a:gd name="T6" fmla="*/ 1 w 84"/>
                <a:gd name="T7" fmla="*/ 26 h 27"/>
                <a:gd name="T8" fmla="*/ 0 w 84"/>
                <a:gd name="T9" fmla="*/ 17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 h="27">
                  <a:moveTo>
                    <a:pt x="0" y="17"/>
                  </a:moveTo>
                  <a:lnTo>
                    <a:pt x="81" y="0"/>
                  </a:lnTo>
                  <a:lnTo>
                    <a:pt x="83" y="8"/>
                  </a:lnTo>
                  <a:lnTo>
                    <a:pt x="1" y="26"/>
                  </a:lnTo>
                  <a:lnTo>
                    <a:pt x="0" y="17"/>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4" name="Freeform 23"/>
            <p:cNvSpPr>
              <a:spLocks noChangeAspect="1"/>
            </p:cNvSpPr>
            <p:nvPr/>
          </p:nvSpPr>
          <p:spPr bwMode="auto">
            <a:xfrm>
              <a:off x="1335" y="3095"/>
              <a:ext cx="84" cy="27"/>
            </a:xfrm>
            <a:custGeom>
              <a:avLst/>
              <a:gdLst>
                <a:gd name="T0" fmla="*/ 0 w 84"/>
                <a:gd name="T1" fmla="*/ 17 h 27"/>
                <a:gd name="T2" fmla="*/ 81 w 84"/>
                <a:gd name="T3" fmla="*/ 0 h 27"/>
                <a:gd name="T4" fmla="*/ 83 w 84"/>
                <a:gd name="T5" fmla="*/ 8 h 27"/>
                <a:gd name="T6" fmla="*/ 1 w 84"/>
                <a:gd name="T7" fmla="*/ 26 h 27"/>
                <a:gd name="T8" fmla="*/ 0 w 84"/>
                <a:gd name="T9" fmla="*/ 17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 h="27">
                  <a:moveTo>
                    <a:pt x="0" y="17"/>
                  </a:moveTo>
                  <a:lnTo>
                    <a:pt x="81" y="0"/>
                  </a:lnTo>
                  <a:lnTo>
                    <a:pt x="83" y="8"/>
                  </a:lnTo>
                  <a:lnTo>
                    <a:pt x="1" y="26"/>
                  </a:lnTo>
                  <a:lnTo>
                    <a:pt x="0" y="1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5" name="Freeform 24"/>
            <p:cNvSpPr>
              <a:spLocks noChangeAspect="1"/>
            </p:cNvSpPr>
            <p:nvPr/>
          </p:nvSpPr>
          <p:spPr bwMode="auto">
            <a:xfrm>
              <a:off x="1448" y="3069"/>
              <a:ext cx="87" cy="29"/>
            </a:xfrm>
            <a:custGeom>
              <a:avLst/>
              <a:gdLst>
                <a:gd name="T0" fmla="*/ 0 w 87"/>
                <a:gd name="T1" fmla="*/ 19 h 29"/>
                <a:gd name="T2" fmla="*/ 84 w 87"/>
                <a:gd name="T3" fmla="*/ 0 h 29"/>
                <a:gd name="T4" fmla="*/ 86 w 87"/>
                <a:gd name="T5" fmla="*/ 8 h 29"/>
                <a:gd name="T6" fmla="*/ 2 w 87"/>
                <a:gd name="T7" fmla="*/ 28 h 29"/>
                <a:gd name="T8" fmla="*/ 0 w 87"/>
                <a:gd name="T9" fmla="*/ 1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7" h="29">
                  <a:moveTo>
                    <a:pt x="0" y="19"/>
                  </a:moveTo>
                  <a:lnTo>
                    <a:pt x="84" y="0"/>
                  </a:lnTo>
                  <a:lnTo>
                    <a:pt x="86" y="8"/>
                  </a:lnTo>
                  <a:lnTo>
                    <a:pt x="2" y="28"/>
                  </a:lnTo>
                  <a:lnTo>
                    <a:pt x="0" y="19"/>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6" name="Freeform 25"/>
            <p:cNvSpPr>
              <a:spLocks noChangeAspect="1"/>
            </p:cNvSpPr>
            <p:nvPr/>
          </p:nvSpPr>
          <p:spPr bwMode="auto">
            <a:xfrm>
              <a:off x="1448" y="3069"/>
              <a:ext cx="87" cy="29"/>
            </a:xfrm>
            <a:custGeom>
              <a:avLst/>
              <a:gdLst>
                <a:gd name="T0" fmla="*/ 0 w 87"/>
                <a:gd name="T1" fmla="*/ 19 h 29"/>
                <a:gd name="T2" fmla="*/ 84 w 87"/>
                <a:gd name="T3" fmla="*/ 0 h 29"/>
                <a:gd name="T4" fmla="*/ 86 w 87"/>
                <a:gd name="T5" fmla="*/ 8 h 29"/>
                <a:gd name="T6" fmla="*/ 2 w 87"/>
                <a:gd name="T7" fmla="*/ 28 h 29"/>
                <a:gd name="T8" fmla="*/ 0 w 87"/>
                <a:gd name="T9" fmla="*/ 1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7" h="29">
                  <a:moveTo>
                    <a:pt x="0" y="19"/>
                  </a:moveTo>
                  <a:lnTo>
                    <a:pt x="84" y="0"/>
                  </a:lnTo>
                  <a:lnTo>
                    <a:pt x="86" y="8"/>
                  </a:lnTo>
                  <a:lnTo>
                    <a:pt x="2" y="28"/>
                  </a:lnTo>
                  <a:lnTo>
                    <a:pt x="0" y="19"/>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7" name="Freeform 26"/>
            <p:cNvSpPr>
              <a:spLocks noChangeAspect="1"/>
            </p:cNvSpPr>
            <p:nvPr/>
          </p:nvSpPr>
          <p:spPr bwMode="auto">
            <a:xfrm>
              <a:off x="1061" y="2606"/>
              <a:ext cx="680" cy="482"/>
            </a:xfrm>
            <a:custGeom>
              <a:avLst/>
              <a:gdLst>
                <a:gd name="T0" fmla="*/ 195 w 680"/>
                <a:gd name="T1" fmla="*/ 481 h 482"/>
                <a:gd name="T2" fmla="*/ 679 w 680"/>
                <a:gd name="T3" fmla="*/ 375 h 482"/>
                <a:gd name="T4" fmla="*/ 663 w 680"/>
                <a:gd name="T5" fmla="*/ 21 h 482"/>
                <a:gd name="T6" fmla="*/ 634 w 680"/>
                <a:gd name="T7" fmla="*/ 0 h 482"/>
                <a:gd name="T8" fmla="*/ 197 w 680"/>
                <a:gd name="T9" fmla="*/ 97 h 482"/>
                <a:gd name="T10" fmla="*/ 94 w 680"/>
                <a:gd name="T11" fmla="*/ 51 h 482"/>
                <a:gd name="T12" fmla="*/ 0 w 680"/>
                <a:gd name="T13" fmla="*/ 99 h 482"/>
                <a:gd name="T14" fmla="*/ 41 w 680"/>
                <a:gd name="T15" fmla="*/ 382 h 482"/>
                <a:gd name="T16" fmla="*/ 195 w 680"/>
                <a:gd name="T17" fmla="*/ 481 h 4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80" h="482">
                  <a:moveTo>
                    <a:pt x="195" y="481"/>
                  </a:moveTo>
                  <a:lnTo>
                    <a:pt x="679" y="375"/>
                  </a:lnTo>
                  <a:lnTo>
                    <a:pt x="663" y="21"/>
                  </a:lnTo>
                  <a:lnTo>
                    <a:pt x="634" y="0"/>
                  </a:lnTo>
                  <a:lnTo>
                    <a:pt x="197" y="97"/>
                  </a:lnTo>
                  <a:lnTo>
                    <a:pt x="94" y="51"/>
                  </a:lnTo>
                  <a:lnTo>
                    <a:pt x="0" y="99"/>
                  </a:lnTo>
                  <a:lnTo>
                    <a:pt x="41" y="382"/>
                  </a:lnTo>
                  <a:lnTo>
                    <a:pt x="195" y="48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8" name="Freeform 27"/>
            <p:cNvSpPr>
              <a:spLocks noChangeAspect="1"/>
            </p:cNvSpPr>
            <p:nvPr/>
          </p:nvSpPr>
          <p:spPr bwMode="auto">
            <a:xfrm>
              <a:off x="1051" y="2588"/>
              <a:ext cx="699" cy="488"/>
            </a:xfrm>
            <a:custGeom>
              <a:avLst/>
              <a:gdLst>
                <a:gd name="T0" fmla="*/ 119 w 699"/>
                <a:gd name="T1" fmla="*/ 435 h 488"/>
                <a:gd name="T2" fmla="*/ 217 w 699"/>
                <a:gd name="T3" fmla="*/ 487 h 488"/>
                <a:gd name="T4" fmla="*/ 698 w 699"/>
                <a:gd name="T5" fmla="*/ 375 h 488"/>
                <a:gd name="T6" fmla="*/ 682 w 699"/>
                <a:gd name="T7" fmla="*/ 21 h 488"/>
                <a:gd name="T8" fmla="*/ 653 w 699"/>
                <a:gd name="T9" fmla="*/ 0 h 488"/>
                <a:gd name="T10" fmla="*/ 215 w 699"/>
                <a:gd name="T11" fmla="*/ 96 h 488"/>
                <a:gd name="T12" fmla="*/ 112 w 699"/>
                <a:gd name="T13" fmla="*/ 52 h 488"/>
                <a:gd name="T14" fmla="*/ 14 w 699"/>
                <a:gd name="T15" fmla="*/ 85 h 488"/>
                <a:gd name="T16" fmla="*/ 0 w 699"/>
                <a:gd name="T17" fmla="*/ 96 h 488"/>
                <a:gd name="T18" fmla="*/ 0 w 699"/>
                <a:gd name="T19" fmla="*/ 338 h 488"/>
                <a:gd name="T20" fmla="*/ 119 w 699"/>
                <a:gd name="T21" fmla="*/ 435 h 48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9" h="488">
                  <a:moveTo>
                    <a:pt x="119" y="435"/>
                  </a:moveTo>
                  <a:lnTo>
                    <a:pt x="217" y="487"/>
                  </a:lnTo>
                  <a:lnTo>
                    <a:pt x="698" y="375"/>
                  </a:lnTo>
                  <a:lnTo>
                    <a:pt x="682" y="21"/>
                  </a:lnTo>
                  <a:lnTo>
                    <a:pt x="653" y="0"/>
                  </a:lnTo>
                  <a:lnTo>
                    <a:pt x="215" y="96"/>
                  </a:lnTo>
                  <a:lnTo>
                    <a:pt x="112" y="52"/>
                  </a:lnTo>
                  <a:lnTo>
                    <a:pt x="14" y="85"/>
                  </a:lnTo>
                  <a:lnTo>
                    <a:pt x="0" y="96"/>
                  </a:lnTo>
                  <a:lnTo>
                    <a:pt x="0" y="338"/>
                  </a:lnTo>
                  <a:lnTo>
                    <a:pt x="119" y="435"/>
                  </a:lnTo>
                </a:path>
              </a:pathLst>
            </a:custGeom>
            <a:solidFill>
              <a:srgbClr val="DDDDD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29" name="Freeform 28"/>
            <p:cNvSpPr>
              <a:spLocks noChangeAspect="1"/>
            </p:cNvSpPr>
            <p:nvPr/>
          </p:nvSpPr>
          <p:spPr bwMode="auto">
            <a:xfrm>
              <a:off x="1061" y="2656"/>
              <a:ext cx="91" cy="332"/>
            </a:xfrm>
            <a:custGeom>
              <a:avLst/>
              <a:gdLst>
                <a:gd name="T0" fmla="*/ 0 w 91"/>
                <a:gd name="T1" fmla="*/ 258 h 332"/>
                <a:gd name="T2" fmla="*/ 3 w 91"/>
                <a:gd name="T3" fmla="*/ 32 h 332"/>
                <a:gd name="T4" fmla="*/ 90 w 91"/>
                <a:gd name="T5" fmla="*/ 0 h 332"/>
                <a:gd name="T6" fmla="*/ 88 w 91"/>
                <a:gd name="T7" fmla="*/ 331 h 332"/>
                <a:gd name="T8" fmla="*/ 0 w 91"/>
                <a:gd name="T9" fmla="*/ 258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 h="332">
                  <a:moveTo>
                    <a:pt x="0" y="258"/>
                  </a:moveTo>
                  <a:lnTo>
                    <a:pt x="3" y="32"/>
                  </a:lnTo>
                  <a:lnTo>
                    <a:pt x="90" y="0"/>
                  </a:lnTo>
                  <a:lnTo>
                    <a:pt x="88" y="331"/>
                  </a:lnTo>
                  <a:lnTo>
                    <a:pt x="0" y="258"/>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0" name="Freeform 29"/>
            <p:cNvSpPr>
              <a:spLocks noChangeAspect="1"/>
            </p:cNvSpPr>
            <p:nvPr/>
          </p:nvSpPr>
          <p:spPr bwMode="auto">
            <a:xfrm>
              <a:off x="1177" y="2665"/>
              <a:ext cx="81" cy="386"/>
            </a:xfrm>
            <a:custGeom>
              <a:avLst/>
              <a:gdLst>
                <a:gd name="T0" fmla="*/ 0 w 81"/>
                <a:gd name="T1" fmla="*/ 346 h 386"/>
                <a:gd name="T2" fmla="*/ 80 w 81"/>
                <a:gd name="T3" fmla="*/ 385 h 386"/>
                <a:gd name="T4" fmla="*/ 80 w 81"/>
                <a:gd name="T5" fmla="*/ 34 h 386"/>
                <a:gd name="T6" fmla="*/ 5 w 81"/>
                <a:gd name="T7" fmla="*/ 0 h 386"/>
                <a:gd name="T8" fmla="*/ 0 w 81"/>
                <a:gd name="T9" fmla="*/ 346 h 3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 h="386">
                  <a:moveTo>
                    <a:pt x="0" y="346"/>
                  </a:moveTo>
                  <a:lnTo>
                    <a:pt x="80" y="385"/>
                  </a:lnTo>
                  <a:lnTo>
                    <a:pt x="80" y="34"/>
                  </a:lnTo>
                  <a:lnTo>
                    <a:pt x="5" y="0"/>
                  </a:lnTo>
                  <a:lnTo>
                    <a:pt x="0" y="34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1" name="Freeform 30"/>
            <p:cNvSpPr>
              <a:spLocks noChangeAspect="1"/>
            </p:cNvSpPr>
            <p:nvPr/>
          </p:nvSpPr>
          <p:spPr bwMode="auto">
            <a:xfrm>
              <a:off x="1339" y="2647"/>
              <a:ext cx="348" cy="364"/>
            </a:xfrm>
            <a:custGeom>
              <a:avLst/>
              <a:gdLst>
                <a:gd name="T0" fmla="*/ 347 w 348"/>
                <a:gd name="T1" fmla="*/ 285 h 364"/>
                <a:gd name="T2" fmla="*/ 0 w 348"/>
                <a:gd name="T3" fmla="*/ 363 h 364"/>
                <a:gd name="T4" fmla="*/ 1 w 348"/>
                <a:gd name="T5" fmla="*/ 78 h 364"/>
                <a:gd name="T6" fmla="*/ 336 w 348"/>
                <a:gd name="T7" fmla="*/ 0 h 364"/>
                <a:gd name="T8" fmla="*/ 347 w 348"/>
                <a:gd name="T9" fmla="*/ 285 h 3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364">
                  <a:moveTo>
                    <a:pt x="347" y="285"/>
                  </a:moveTo>
                  <a:lnTo>
                    <a:pt x="0" y="363"/>
                  </a:lnTo>
                  <a:lnTo>
                    <a:pt x="1" y="78"/>
                  </a:lnTo>
                  <a:lnTo>
                    <a:pt x="336" y="0"/>
                  </a:lnTo>
                  <a:lnTo>
                    <a:pt x="347" y="285"/>
                  </a:lnTo>
                </a:path>
              </a:pathLst>
            </a:custGeom>
            <a:solidFill>
              <a:srgbClr val="03289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32" name="Freeform 31"/>
            <p:cNvSpPr>
              <a:spLocks noChangeAspect="1"/>
            </p:cNvSpPr>
            <p:nvPr/>
          </p:nvSpPr>
          <p:spPr bwMode="auto">
            <a:xfrm>
              <a:off x="1163" y="2544"/>
              <a:ext cx="542" cy="141"/>
            </a:xfrm>
            <a:custGeom>
              <a:avLst/>
              <a:gdLst>
                <a:gd name="T0" fmla="*/ 439 w 542"/>
                <a:gd name="T1" fmla="*/ 0 h 141"/>
                <a:gd name="T2" fmla="*/ 541 w 542"/>
                <a:gd name="T3" fmla="*/ 43 h 141"/>
                <a:gd name="T4" fmla="*/ 103 w 542"/>
                <a:gd name="T5" fmla="*/ 140 h 141"/>
                <a:gd name="T6" fmla="*/ 0 w 542"/>
                <a:gd name="T7" fmla="*/ 97 h 141"/>
                <a:gd name="T8" fmla="*/ 439 w 542"/>
                <a:gd name="T9" fmla="*/ 0 h 1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2" h="141">
                  <a:moveTo>
                    <a:pt x="439" y="0"/>
                  </a:moveTo>
                  <a:lnTo>
                    <a:pt x="541" y="43"/>
                  </a:lnTo>
                  <a:lnTo>
                    <a:pt x="103" y="140"/>
                  </a:lnTo>
                  <a:lnTo>
                    <a:pt x="0" y="97"/>
                  </a:lnTo>
                  <a:lnTo>
                    <a:pt x="439" y="0"/>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grpSp>
      <p:sp>
        <p:nvSpPr>
          <p:cNvPr id="33" name="Oval 32"/>
          <p:cNvSpPr>
            <a:spLocks noChangeArrowheads="1"/>
          </p:cNvSpPr>
          <p:nvPr/>
        </p:nvSpPr>
        <p:spPr bwMode="blackWhite">
          <a:xfrm>
            <a:off x="4342089" y="3664306"/>
            <a:ext cx="1206500" cy="595313"/>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75000"/>
              </a:lnSpc>
              <a:spcBef>
                <a:spcPct val="0"/>
              </a:spcBef>
              <a:buClrTx/>
              <a:buFontTx/>
              <a:buNone/>
            </a:pPr>
            <a:r>
              <a:rPr lang="en-US" altLang="en-US" sz="1800"/>
              <a:t>User</a:t>
            </a:r>
            <a:br>
              <a:rPr lang="en-US" altLang="en-US" sz="1800"/>
            </a:br>
            <a:r>
              <a:rPr lang="en-US" altLang="en-US" sz="1800"/>
              <a:t>process</a:t>
            </a:r>
          </a:p>
        </p:txBody>
      </p:sp>
      <p:sp>
        <p:nvSpPr>
          <p:cNvPr id="34" name="Rectangle 33"/>
          <p:cNvSpPr>
            <a:spLocks noChangeArrowheads="1"/>
          </p:cNvSpPr>
          <p:nvPr/>
        </p:nvSpPr>
        <p:spPr bwMode="auto">
          <a:xfrm>
            <a:off x="5664476" y="4056419"/>
            <a:ext cx="20764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a:spcBef>
                <a:spcPct val="50000"/>
              </a:spcBef>
              <a:buClrTx/>
              <a:buFontTx/>
              <a:buNone/>
            </a:pPr>
            <a:r>
              <a:rPr lang="en-US" altLang="en-US"/>
              <a:t>Connection</a:t>
            </a:r>
            <a:br>
              <a:rPr lang="en-US" altLang="en-US"/>
            </a:br>
            <a:r>
              <a:rPr lang="en-US" altLang="en-US"/>
              <a:t>established</a:t>
            </a:r>
          </a:p>
        </p:txBody>
      </p:sp>
      <p:sp>
        <p:nvSpPr>
          <p:cNvPr id="35" name="Freeform 34"/>
          <p:cNvSpPr>
            <a:spLocks/>
          </p:cNvSpPr>
          <p:nvPr/>
        </p:nvSpPr>
        <p:spPr bwMode="auto">
          <a:xfrm>
            <a:off x="5620026" y="3524606"/>
            <a:ext cx="1216025" cy="488950"/>
          </a:xfrm>
          <a:custGeom>
            <a:avLst/>
            <a:gdLst>
              <a:gd name="T0" fmla="*/ 0 w 713"/>
              <a:gd name="T1" fmla="*/ 487417 h 319"/>
              <a:gd name="T2" fmla="*/ 460486 w 713"/>
              <a:gd name="T3" fmla="*/ 332609 h 319"/>
              <a:gd name="T4" fmla="*/ 375211 w 713"/>
              <a:gd name="T5" fmla="*/ 168603 h 319"/>
              <a:gd name="T6" fmla="*/ 847636 w 713"/>
              <a:gd name="T7" fmla="*/ 308084 h 319"/>
              <a:gd name="T8" fmla="*/ 776005 w 713"/>
              <a:gd name="T9" fmla="*/ 165538 h 319"/>
              <a:gd name="T10" fmla="*/ 1214319 w 713"/>
              <a:gd name="T11" fmla="*/ 0 h 3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13" h="319">
                <a:moveTo>
                  <a:pt x="0" y="318"/>
                </a:moveTo>
                <a:lnTo>
                  <a:pt x="270" y="217"/>
                </a:lnTo>
                <a:lnTo>
                  <a:pt x="220" y="110"/>
                </a:lnTo>
                <a:lnTo>
                  <a:pt x="497" y="201"/>
                </a:lnTo>
                <a:lnTo>
                  <a:pt x="455" y="108"/>
                </a:lnTo>
                <a:lnTo>
                  <a:pt x="712" y="0"/>
                </a:lnTo>
              </a:path>
            </a:pathLst>
          </a:custGeom>
          <a:noFill/>
          <a:ln w="25400" cap="rnd" cmpd="sng">
            <a:solidFill>
              <a:schemeClr val="tx1"/>
            </a:solidFill>
            <a:prstDash val="solid"/>
            <a:round/>
            <a:headEnd type="stealth"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Tree>
    <p:extLst>
      <p:ext uri="{BB962C8B-B14F-4D97-AF65-F5344CB8AC3E}">
        <p14:creationId xmlns:p14="http://schemas.microsoft.com/office/powerpoint/2010/main" val="501867951"/>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139148" y="25607"/>
            <a:ext cx="7315200" cy="692290"/>
          </a:xfrm>
          <a:prstGeom prst="rect">
            <a:avLst/>
          </a:prstGeom>
        </p:spPr>
        <p:txBody>
          <a:bodyPr vert="horz" lIns="91440" tIns="45720" rIns="91440" bIns="45720" rtlCol="0" anchor="b">
            <a:normAutofit/>
          </a:bodyPr>
          <a:lstStyle>
            <a:lvl1pPr algn="l" defTabSz="914400" rtl="0" eaLnBrk="1" latinLnBrk="0" hangingPunct="1">
              <a:spcBef>
                <a:spcPct val="0"/>
              </a:spcBef>
              <a:buNone/>
              <a:defRPr sz="3600" b="1" kern="1200">
                <a:solidFill>
                  <a:schemeClr val="bg1"/>
                </a:solidFill>
                <a:latin typeface="Arial" panose="020B0604020202020204" pitchFamily="34" charset="0"/>
                <a:ea typeface="+mj-ea"/>
                <a:cs typeface="Arial" panose="020B0604020202020204" pitchFamily="34" charset="0"/>
              </a:defRPr>
            </a:lvl1pPr>
          </a:lstStyle>
          <a:p>
            <a:r>
              <a:rPr lang="en-US" altLang="en-US"/>
              <a:t>2. Server Process</a:t>
            </a:r>
          </a:p>
        </p:txBody>
      </p:sp>
      <p:sp>
        <p:nvSpPr>
          <p:cNvPr id="4" name="Rectangle 3"/>
          <p:cNvSpPr txBox="1">
            <a:spLocks noChangeArrowheads="1"/>
          </p:cNvSpPr>
          <p:nvPr/>
        </p:nvSpPr>
        <p:spPr>
          <a:xfrm>
            <a:off x="558799" y="900975"/>
            <a:ext cx="10824817" cy="1833563"/>
          </a:xfrm>
          <a:prstGeom prst="rect">
            <a:avLst/>
          </a:prstGeom>
        </p:spPr>
        <p:txBody>
          <a:bodyPr/>
          <a:lstStyle>
            <a:lvl1pPr marL="228600" indent="-228600" algn="l" defTabSz="914400" rtl="0" eaLnBrk="1" latinLnBrk="0" hangingPunct="1">
              <a:lnSpc>
                <a:spcPct val="90000"/>
              </a:lnSpc>
              <a:spcBef>
                <a:spcPct val="30000"/>
              </a:spcBef>
              <a:buClr>
                <a:srgbClr val="FF0000"/>
              </a:buClr>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ct val="30000"/>
              </a:spcBef>
              <a:buClr>
                <a:srgbClr val="FF0000"/>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ct val="30000"/>
              </a:spcBef>
              <a:buClr>
                <a:srgbClr val="FF0000"/>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ct val="30000"/>
              </a:spcBef>
              <a:buClr>
                <a:srgbClr val="FF0000"/>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ct val="30000"/>
              </a:spcBef>
              <a:buClr>
                <a:srgbClr val="FF0000"/>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lvl="1"/>
            <a:r>
              <a:rPr lang="en-US" altLang="en-US" sz="3200"/>
              <a:t>Là một tiến trình tương tác trực tiếp với Oracle Server.</a:t>
            </a:r>
          </a:p>
          <a:p>
            <a:pPr lvl="1"/>
            <a:r>
              <a:rPr lang="en-US" altLang="en-US" sz="3200"/>
              <a:t>Thay mặt User process giao tiếp với Oracle Server và trả lại kết quả cho User process. </a:t>
            </a:r>
          </a:p>
        </p:txBody>
      </p:sp>
      <p:sp>
        <p:nvSpPr>
          <p:cNvPr id="247" name="Rectangle 4"/>
          <p:cNvSpPr>
            <a:spLocks noChangeArrowheads="1"/>
          </p:cNvSpPr>
          <p:nvPr/>
        </p:nvSpPr>
        <p:spPr bwMode="auto">
          <a:xfrm>
            <a:off x="3313044" y="3119506"/>
            <a:ext cx="1828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Connection established</a:t>
            </a:r>
          </a:p>
        </p:txBody>
      </p:sp>
      <p:sp>
        <p:nvSpPr>
          <p:cNvPr id="248" name="Rectangle 5"/>
          <p:cNvSpPr>
            <a:spLocks noChangeArrowheads="1"/>
          </p:cNvSpPr>
          <p:nvPr/>
        </p:nvSpPr>
        <p:spPr bwMode="auto">
          <a:xfrm>
            <a:off x="6651557" y="3348106"/>
            <a:ext cx="19843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Session created</a:t>
            </a:r>
          </a:p>
        </p:txBody>
      </p:sp>
      <p:sp>
        <p:nvSpPr>
          <p:cNvPr id="249" name="Rectangle 6"/>
          <p:cNvSpPr>
            <a:spLocks noChangeArrowheads="1"/>
          </p:cNvSpPr>
          <p:nvPr/>
        </p:nvSpPr>
        <p:spPr bwMode="auto">
          <a:xfrm>
            <a:off x="2685982" y="5241994"/>
            <a:ext cx="23923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Database user</a:t>
            </a:r>
          </a:p>
        </p:txBody>
      </p:sp>
      <p:grpSp>
        <p:nvGrpSpPr>
          <p:cNvPr id="250" name="Group 7"/>
          <p:cNvGrpSpPr>
            <a:grpSpLocks/>
          </p:cNvGrpSpPr>
          <p:nvPr/>
        </p:nvGrpSpPr>
        <p:grpSpPr bwMode="auto">
          <a:xfrm>
            <a:off x="3225732" y="4337119"/>
            <a:ext cx="1311275" cy="923925"/>
            <a:chOff x="1027" y="2544"/>
            <a:chExt cx="1066" cy="813"/>
          </a:xfrm>
        </p:grpSpPr>
        <p:sp>
          <p:nvSpPr>
            <p:cNvPr id="251" name="Freeform 8"/>
            <p:cNvSpPr>
              <a:spLocks/>
            </p:cNvSpPr>
            <p:nvPr/>
          </p:nvSpPr>
          <p:spPr bwMode="auto">
            <a:xfrm>
              <a:off x="1917" y="3160"/>
              <a:ext cx="174" cy="71"/>
            </a:xfrm>
            <a:custGeom>
              <a:avLst/>
              <a:gdLst>
                <a:gd name="T0" fmla="*/ 165 w 174"/>
                <a:gd name="T1" fmla="*/ 13 h 71"/>
                <a:gd name="T2" fmla="*/ 56 w 174"/>
                <a:gd name="T3" fmla="*/ 0 h 71"/>
                <a:gd name="T4" fmla="*/ 1 w 174"/>
                <a:gd name="T5" fmla="*/ 36 h 71"/>
                <a:gd name="T6" fmla="*/ 0 w 174"/>
                <a:gd name="T7" fmla="*/ 36 h 71"/>
                <a:gd name="T8" fmla="*/ 0 w 174"/>
                <a:gd name="T9" fmla="*/ 37 h 71"/>
                <a:gd name="T10" fmla="*/ 0 w 174"/>
                <a:gd name="T11" fmla="*/ 38 h 71"/>
                <a:gd name="T12" fmla="*/ 0 w 174"/>
                <a:gd name="T13" fmla="*/ 40 h 71"/>
                <a:gd name="T14" fmla="*/ 0 w 174"/>
                <a:gd name="T15" fmla="*/ 41 h 71"/>
                <a:gd name="T16" fmla="*/ 1 w 174"/>
                <a:gd name="T17" fmla="*/ 42 h 71"/>
                <a:gd name="T18" fmla="*/ 1 w 174"/>
                <a:gd name="T19" fmla="*/ 43 h 71"/>
                <a:gd name="T20" fmla="*/ 2 w 174"/>
                <a:gd name="T21" fmla="*/ 44 h 71"/>
                <a:gd name="T22" fmla="*/ 8 w 174"/>
                <a:gd name="T23" fmla="*/ 45 h 71"/>
                <a:gd name="T24" fmla="*/ 23 w 174"/>
                <a:gd name="T25" fmla="*/ 50 h 71"/>
                <a:gd name="T26" fmla="*/ 43 w 174"/>
                <a:gd name="T27" fmla="*/ 55 h 71"/>
                <a:gd name="T28" fmla="*/ 66 w 174"/>
                <a:gd name="T29" fmla="*/ 60 h 71"/>
                <a:gd name="T30" fmla="*/ 92 w 174"/>
                <a:gd name="T31" fmla="*/ 64 h 71"/>
                <a:gd name="T32" fmla="*/ 115 w 174"/>
                <a:gd name="T33" fmla="*/ 68 h 71"/>
                <a:gd name="T34" fmla="*/ 133 w 174"/>
                <a:gd name="T35" fmla="*/ 70 h 71"/>
                <a:gd name="T36" fmla="*/ 146 w 174"/>
                <a:gd name="T37" fmla="*/ 68 h 71"/>
                <a:gd name="T38" fmla="*/ 149 w 174"/>
                <a:gd name="T39" fmla="*/ 66 h 71"/>
                <a:gd name="T40" fmla="*/ 152 w 174"/>
                <a:gd name="T41" fmla="*/ 64 h 71"/>
                <a:gd name="T42" fmla="*/ 156 w 174"/>
                <a:gd name="T43" fmla="*/ 62 h 71"/>
                <a:gd name="T44" fmla="*/ 160 w 174"/>
                <a:gd name="T45" fmla="*/ 59 h 71"/>
                <a:gd name="T46" fmla="*/ 162 w 174"/>
                <a:gd name="T47" fmla="*/ 57 h 71"/>
                <a:gd name="T48" fmla="*/ 166 w 174"/>
                <a:gd name="T49" fmla="*/ 54 h 71"/>
                <a:gd name="T50" fmla="*/ 169 w 174"/>
                <a:gd name="T51" fmla="*/ 52 h 71"/>
                <a:gd name="T52" fmla="*/ 170 w 174"/>
                <a:gd name="T53" fmla="*/ 50 h 71"/>
                <a:gd name="T54" fmla="*/ 171 w 174"/>
                <a:gd name="T55" fmla="*/ 42 h 71"/>
                <a:gd name="T56" fmla="*/ 173 w 174"/>
                <a:gd name="T57" fmla="*/ 36 h 71"/>
                <a:gd name="T58" fmla="*/ 171 w 174"/>
                <a:gd name="T59" fmla="*/ 31 h 71"/>
                <a:gd name="T60" fmla="*/ 170 w 174"/>
                <a:gd name="T61" fmla="*/ 25 h 71"/>
                <a:gd name="T62" fmla="*/ 169 w 174"/>
                <a:gd name="T63" fmla="*/ 19 h 71"/>
                <a:gd name="T64" fmla="*/ 166 w 174"/>
                <a:gd name="T65" fmla="*/ 16 h 71"/>
                <a:gd name="T66" fmla="*/ 165 w 174"/>
                <a:gd name="T67" fmla="*/ 13 h 71"/>
                <a:gd name="T68" fmla="*/ 165 w 174"/>
                <a:gd name="T69" fmla="*/ 13 h 7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74" h="71">
                  <a:moveTo>
                    <a:pt x="165" y="13"/>
                  </a:moveTo>
                  <a:lnTo>
                    <a:pt x="56" y="0"/>
                  </a:lnTo>
                  <a:lnTo>
                    <a:pt x="1" y="36"/>
                  </a:lnTo>
                  <a:lnTo>
                    <a:pt x="0" y="36"/>
                  </a:lnTo>
                  <a:lnTo>
                    <a:pt x="0" y="37"/>
                  </a:lnTo>
                  <a:lnTo>
                    <a:pt x="0" y="38"/>
                  </a:lnTo>
                  <a:lnTo>
                    <a:pt x="0" y="40"/>
                  </a:lnTo>
                  <a:lnTo>
                    <a:pt x="0" y="41"/>
                  </a:lnTo>
                  <a:lnTo>
                    <a:pt x="1" y="42"/>
                  </a:lnTo>
                  <a:lnTo>
                    <a:pt x="1" y="43"/>
                  </a:lnTo>
                  <a:lnTo>
                    <a:pt x="2" y="44"/>
                  </a:lnTo>
                  <a:lnTo>
                    <a:pt x="8" y="45"/>
                  </a:lnTo>
                  <a:lnTo>
                    <a:pt x="23" y="50"/>
                  </a:lnTo>
                  <a:lnTo>
                    <a:pt x="43" y="55"/>
                  </a:lnTo>
                  <a:lnTo>
                    <a:pt x="66" y="60"/>
                  </a:lnTo>
                  <a:lnTo>
                    <a:pt x="92" y="64"/>
                  </a:lnTo>
                  <a:lnTo>
                    <a:pt x="115" y="68"/>
                  </a:lnTo>
                  <a:lnTo>
                    <a:pt x="133" y="70"/>
                  </a:lnTo>
                  <a:lnTo>
                    <a:pt x="146" y="68"/>
                  </a:lnTo>
                  <a:lnTo>
                    <a:pt x="149" y="66"/>
                  </a:lnTo>
                  <a:lnTo>
                    <a:pt x="152" y="64"/>
                  </a:lnTo>
                  <a:lnTo>
                    <a:pt x="156" y="62"/>
                  </a:lnTo>
                  <a:lnTo>
                    <a:pt x="160" y="59"/>
                  </a:lnTo>
                  <a:lnTo>
                    <a:pt x="162" y="57"/>
                  </a:lnTo>
                  <a:lnTo>
                    <a:pt x="166" y="54"/>
                  </a:lnTo>
                  <a:lnTo>
                    <a:pt x="169" y="52"/>
                  </a:lnTo>
                  <a:lnTo>
                    <a:pt x="170" y="50"/>
                  </a:lnTo>
                  <a:lnTo>
                    <a:pt x="171" y="42"/>
                  </a:lnTo>
                  <a:lnTo>
                    <a:pt x="173" y="36"/>
                  </a:lnTo>
                  <a:lnTo>
                    <a:pt x="171" y="31"/>
                  </a:lnTo>
                  <a:lnTo>
                    <a:pt x="170" y="25"/>
                  </a:lnTo>
                  <a:lnTo>
                    <a:pt x="169" y="19"/>
                  </a:lnTo>
                  <a:lnTo>
                    <a:pt x="166" y="16"/>
                  </a:lnTo>
                  <a:lnTo>
                    <a:pt x="165" y="13"/>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vi-VN" b="1">
                <a:solidFill>
                  <a:srgbClr val="000000"/>
                </a:solidFill>
                <a:latin typeface="Arial" panose="020B0604020202020204" pitchFamily="34" charset="0"/>
              </a:endParaRPr>
            </a:p>
          </p:txBody>
        </p:sp>
        <p:sp>
          <p:nvSpPr>
            <p:cNvPr id="252" name="Freeform 9"/>
            <p:cNvSpPr>
              <a:spLocks/>
            </p:cNvSpPr>
            <p:nvPr/>
          </p:nvSpPr>
          <p:spPr bwMode="auto">
            <a:xfrm>
              <a:off x="1928" y="3160"/>
              <a:ext cx="165" cy="65"/>
            </a:xfrm>
            <a:custGeom>
              <a:avLst/>
              <a:gdLst>
                <a:gd name="T0" fmla="*/ 157 w 165"/>
                <a:gd name="T1" fmla="*/ 11 h 65"/>
                <a:gd name="T2" fmla="*/ 53 w 165"/>
                <a:gd name="T3" fmla="*/ 0 h 65"/>
                <a:gd name="T4" fmla="*/ 0 w 165"/>
                <a:gd name="T5" fmla="*/ 33 h 65"/>
                <a:gd name="T6" fmla="*/ 0 w 165"/>
                <a:gd name="T7" fmla="*/ 33 h 65"/>
                <a:gd name="T8" fmla="*/ 0 w 165"/>
                <a:gd name="T9" fmla="*/ 34 h 65"/>
                <a:gd name="T10" fmla="*/ 0 w 165"/>
                <a:gd name="T11" fmla="*/ 35 h 65"/>
                <a:gd name="T12" fmla="*/ 0 w 165"/>
                <a:gd name="T13" fmla="*/ 36 h 65"/>
                <a:gd name="T14" fmla="*/ 0 w 165"/>
                <a:gd name="T15" fmla="*/ 37 h 65"/>
                <a:gd name="T16" fmla="*/ 0 w 165"/>
                <a:gd name="T17" fmla="*/ 38 h 65"/>
                <a:gd name="T18" fmla="*/ 1 w 165"/>
                <a:gd name="T19" fmla="*/ 39 h 65"/>
                <a:gd name="T20" fmla="*/ 2 w 165"/>
                <a:gd name="T21" fmla="*/ 39 h 65"/>
                <a:gd name="T22" fmla="*/ 7 w 165"/>
                <a:gd name="T23" fmla="*/ 41 h 65"/>
                <a:gd name="T24" fmla="*/ 21 w 165"/>
                <a:gd name="T25" fmla="*/ 45 h 65"/>
                <a:gd name="T26" fmla="*/ 41 w 165"/>
                <a:gd name="T27" fmla="*/ 49 h 65"/>
                <a:gd name="T28" fmla="*/ 63 w 165"/>
                <a:gd name="T29" fmla="*/ 54 h 65"/>
                <a:gd name="T30" fmla="*/ 87 w 165"/>
                <a:gd name="T31" fmla="*/ 58 h 65"/>
                <a:gd name="T32" fmla="*/ 109 w 165"/>
                <a:gd name="T33" fmla="*/ 61 h 65"/>
                <a:gd name="T34" fmla="*/ 127 w 165"/>
                <a:gd name="T35" fmla="*/ 64 h 65"/>
                <a:gd name="T36" fmla="*/ 138 w 165"/>
                <a:gd name="T37" fmla="*/ 61 h 65"/>
                <a:gd name="T38" fmla="*/ 142 w 165"/>
                <a:gd name="T39" fmla="*/ 60 h 65"/>
                <a:gd name="T40" fmla="*/ 146 w 165"/>
                <a:gd name="T41" fmla="*/ 58 h 65"/>
                <a:gd name="T42" fmla="*/ 148 w 165"/>
                <a:gd name="T43" fmla="*/ 56 h 65"/>
                <a:gd name="T44" fmla="*/ 152 w 165"/>
                <a:gd name="T45" fmla="*/ 54 h 65"/>
                <a:gd name="T46" fmla="*/ 155 w 165"/>
                <a:gd name="T47" fmla="*/ 51 h 65"/>
                <a:gd name="T48" fmla="*/ 158 w 165"/>
                <a:gd name="T49" fmla="*/ 49 h 65"/>
                <a:gd name="T50" fmla="*/ 160 w 165"/>
                <a:gd name="T51" fmla="*/ 47 h 65"/>
                <a:gd name="T52" fmla="*/ 161 w 165"/>
                <a:gd name="T53" fmla="*/ 45 h 65"/>
                <a:gd name="T54" fmla="*/ 164 w 165"/>
                <a:gd name="T55" fmla="*/ 38 h 65"/>
                <a:gd name="T56" fmla="*/ 164 w 165"/>
                <a:gd name="T57" fmla="*/ 33 h 65"/>
                <a:gd name="T58" fmla="*/ 164 w 165"/>
                <a:gd name="T59" fmla="*/ 27 h 65"/>
                <a:gd name="T60" fmla="*/ 162 w 165"/>
                <a:gd name="T61" fmla="*/ 23 h 65"/>
                <a:gd name="T62" fmla="*/ 160 w 165"/>
                <a:gd name="T63" fmla="*/ 17 h 65"/>
                <a:gd name="T64" fmla="*/ 158 w 165"/>
                <a:gd name="T65" fmla="*/ 14 h 65"/>
                <a:gd name="T66" fmla="*/ 157 w 165"/>
                <a:gd name="T67" fmla="*/ 12 h 65"/>
                <a:gd name="T68" fmla="*/ 157 w 165"/>
                <a:gd name="T69" fmla="*/ 11 h 6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65" h="65">
                  <a:moveTo>
                    <a:pt x="157" y="11"/>
                  </a:moveTo>
                  <a:lnTo>
                    <a:pt x="53" y="0"/>
                  </a:lnTo>
                  <a:lnTo>
                    <a:pt x="0" y="33"/>
                  </a:lnTo>
                  <a:lnTo>
                    <a:pt x="0" y="34"/>
                  </a:lnTo>
                  <a:lnTo>
                    <a:pt x="0" y="35"/>
                  </a:lnTo>
                  <a:lnTo>
                    <a:pt x="0" y="36"/>
                  </a:lnTo>
                  <a:lnTo>
                    <a:pt x="0" y="37"/>
                  </a:lnTo>
                  <a:lnTo>
                    <a:pt x="0" y="38"/>
                  </a:lnTo>
                  <a:lnTo>
                    <a:pt x="1" y="39"/>
                  </a:lnTo>
                  <a:lnTo>
                    <a:pt x="2" y="39"/>
                  </a:lnTo>
                  <a:lnTo>
                    <a:pt x="7" y="41"/>
                  </a:lnTo>
                  <a:lnTo>
                    <a:pt x="21" y="45"/>
                  </a:lnTo>
                  <a:lnTo>
                    <a:pt x="41" y="49"/>
                  </a:lnTo>
                  <a:lnTo>
                    <a:pt x="63" y="54"/>
                  </a:lnTo>
                  <a:lnTo>
                    <a:pt x="87" y="58"/>
                  </a:lnTo>
                  <a:lnTo>
                    <a:pt x="109" y="61"/>
                  </a:lnTo>
                  <a:lnTo>
                    <a:pt x="127" y="64"/>
                  </a:lnTo>
                  <a:lnTo>
                    <a:pt x="138" y="61"/>
                  </a:lnTo>
                  <a:lnTo>
                    <a:pt x="142" y="60"/>
                  </a:lnTo>
                  <a:lnTo>
                    <a:pt x="146" y="58"/>
                  </a:lnTo>
                  <a:lnTo>
                    <a:pt x="148" y="56"/>
                  </a:lnTo>
                  <a:lnTo>
                    <a:pt x="152" y="54"/>
                  </a:lnTo>
                  <a:lnTo>
                    <a:pt x="155" y="51"/>
                  </a:lnTo>
                  <a:lnTo>
                    <a:pt x="158" y="49"/>
                  </a:lnTo>
                  <a:lnTo>
                    <a:pt x="160" y="47"/>
                  </a:lnTo>
                  <a:lnTo>
                    <a:pt x="161" y="45"/>
                  </a:lnTo>
                  <a:lnTo>
                    <a:pt x="164" y="38"/>
                  </a:lnTo>
                  <a:lnTo>
                    <a:pt x="164" y="33"/>
                  </a:lnTo>
                  <a:lnTo>
                    <a:pt x="164" y="27"/>
                  </a:lnTo>
                  <a:lnTo>
                    <a:pt x="162" y="23"/>
                  </a:lnTo>
                  <a:lnTo>
                    <a:pt x="160" y="17"/>
                  </a:lnTo>
                  <a:lnTo>
                    <a:pt x="158" y="14"/>
                  </a:lnTo>
                  <a:lnTo>
                    <a:pt x="157" y="12"/>
                  </a:lnTo>
                  <a:lnTo>
                    <a:pt x="157" y="11"/>
                  </a:lnTo>
                </a:path>
              </a:pathLst>
            </a:custGeom>
            <a:solidFill>
              <a:srgbClr val="86868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vi-VN" b="1">
                <a:solidFill>
                  <a:srgbClr val="000000"/>
                </a:solidFill>
                <a:latin typeface="Arial" panose="020B0604020202020204" pitchFamily="34" charset="0"/>
              </a:endParaRPr>
            </a:p>
          </p:txBody>
        </p:sp>
        <p:sp>
          <p:nvSpPr>
            <p:cNvPr id="253" name="Freeform 10"/>
            <p:cNvSpPr>
              <a:spLocks/>
            </p:cNvSpPr>
            <p:nvPr/>
          </p:nvSpPr>
          <p:spPr bwMode="auto">
            <a:xfrm>
              <a:off x="1929" y="3146"/>
              <a:ext cx="162" cy="67"/>
            </a:xfrm>
            <a:custGeom>
              <a:avLst/>
              <a:gdLst>
                <a:gd name="T0" fmla="*/ 108 w 162"/>
                <a:gd name="T1" fmla="*/ 2 h 67"/>
                <a:gd name="T2" fmla="*/ 95 w 162"/>
                <a:gd name="T3" fmla="*/ 0 h 67"/>
                <a:gd name="T4" fmla="*/ 84 w 162"/>
                <a:gd name="T5" fmla="*/ 0 h 67"/>
                <a:gd name="T6" fmla="*/ 74 w 162"/>
                <a:gd name="T7" fmla="*/ 1 h 67"/>
                <a:gd name="T8" fmla="*/ 65 w 162"/>
                <a:gd name="T9" fmla="*/ 2 h 67"/>
                <a:gd name="T10" fmla="*/ 58 w 162"/>
                <a:gd name="T11" fmla="*/ 4 h 67"/>
                <a:gd name="T12" fmla="*/ 53 w 162"/>
                <a:gd name="T13" fmla="*/ 6 h 67"/>
                <a:gd name="T14" fmla="*/ 49 w 162"/>
                <a:gd name="T15" fmla="*/ 8 h 67"/>
                <a:gd name="T16" fmla="*/ 49 w 162"/>
                <a:gd name="T17" fmla="*/ 8 h 67"/>
                <a:gd name="T18" fmla="*/ 0 w 162"/>
                <a:gd name="T19" fmla="*/ 41 h 67"/>
                <a:gd name="T20" fmla="*/ 0 w 162"/>
                <a:gd name="T21" fmla="*/ 45 h 67"/>
                <a:gd name="T22" fmla="*/ 1 w 162"/>
                <a:gd name="T23" fmla="*/ 45 h 67"/>
                <a:gd name="T24" fmla="*/ 3 w 162"/>
                <a:gd name="T25" fmla="*/ 44 h 67"/>
                <a:gd name="T26" fmla="*/ 8 w 162"/>
                <a:gd name="T27" fmla="*/ 42 h 67"/>
                <a:gd name="T28" fmla="*/ 15 w 162"/>
                <a:gd name="T29" fmla="*/ 40 h 67"/>
                <a:gd name="T30" fmla="*/ 23 w 162"/>
                <a:gd name="T31" fmla="*/ 39 h 67"/>
                <a:gd name="T32" fmla="*/ 31 w 162"/>
                <a:gd name="T33" fmla="*/ 39 h 67"/>
                <a:gd name="T34" fmla="*/ 40 w 162"/>
                <a:gd name="T35" fmla="*/ 39 h 67"/>
                <a:gd name="T36" fmla="*/ 52 w 162"/>
                <a:gd name="T37" fmla="*/ 41 h 67"/>
                <a:gd name="T38" fmla="*/ 66 w 162"/>
                <a:gd name="T39" fmla="*/ 45 h 67"/>
                <a:gd name="T40" fmla="*/ 77 w 162"/>
                <a:gd name="T41" fmla="*/ 48 h 67"/>
                <a:gd name="T42" fmla="*/ 86 w 162"/>
                <a:gd name="T43" fmla="*/ 52 h 67"/>
                <a:gd name="T44" fmla="*/ 93 w 162"/>
                <a:gd name="T45" fmla="*/ 55 h 67"/>
                <a:gd name="T46" fmla="*/ 99 w 162"/>
                <a:gd name="T47" fmla="*/ 57 h 67"/>
                <a:gd name="T48" fmla="*/ 103 w 162"/>
                <a:gd name="T49" fmla="*/ 59 h 67"/>
                <a:gd name="T50" fmla="*/ 108 w 162"/>
                <a:gd name="T51" fmla="*/ 60 h 67"/>
                <a:gd name="T52" fmla="*/ 113 w 162"/>
                <a:gd name="T53" fmla="*/ 62 h 67"/>
                <a:gd name="T54" fmla="*/ 134 w 162"/>
                <a:gd name="T55" fmla="*/ 66 h 67"/>
                <a:gd name="T56" fmla="*/ 148 w 162"/>
                <a:gd name="T57" fmla="*/ 63 h 67"/>
                <a:gd name="T58" fmla="*/ 157 w 162"/>
                <a:gd name="T59" fmla="*/ 58 h 67"/>
                <a:gd name="T60" fmla="*/ 161 w 162"/>
                <a:gd name="T61" fmla="*/ 51 h 67"/>
                <a:gd name="T62" fmla="*/ 161 w 162"/>
                <a:gd name="T63" fmla="*/ 41 h 67"/>
                <a:gd name="T64" fmla="*/ 159 w 162"/>
                <a:gd name="T65" fmla="*/ 33 h 67"/>
                <a:gd name="T66" fmla="*/ 157 w 162"/>
                <a:gd name="T67" fmla="*/ 26 h 67"/>
                <a:gd name="T68" fmla="*/ 154 w 162"/>
                <a:gd name="T69" fmla="*/ 23 h 67"/>
                <a:gd name="T70" fmla="*/ 153 w 162"/>
                <a:gd name="T71" fmla="*/ 22 h 67"/>
                <a:gd name="T72" fmla="*/ 150 w 162"/>
                <a:gd name="T73" fmla="*/ 20 h 67"/>
                <a:gd name="T74" fmla="*/ 146 w 162"/>
                <a:gd name="T75" fmla="*/ 17 h 67"/>
                <a:gd name="T76" fmla="*/ 143 w 162"/>
                <a:gd name="T77" fmla="*/ 14 h 67"/>
                <a:gd name="T78" fmla="*/ 136 w 162"/>
                <a:gd name="T79" fmla="*/ 11 h 67"/>
                <a:gd name="T80" fmla="*/ 129 w 162"/>
                <a:gd name="T81" fmla="*/ 8 h 67"/>
                <a:gd name="T82" fmla="*/ 120 w 162"/>
                <a:gd name="T83" fmla="*/ 5 h 67"/>
                <a:gd name="T84" fmla="*/ 108 w 162"/>
                <a:gd name="T85" fmla="*/ 2 h 6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62" h="67">
                  <a:moveTo>
                    <a:pt x="108" y="2"/>
                  </a:moveTo>
                  <a:lnTo>
                    <a:pt x="95" y="0"/>
                  </a:lnTo>
                  <a:lnTo>
                    <a:pt x="84" y="0"/>
                  </a:lnTo>
                  <a:lnTo>
                    <a:pt x="74" y="1"/>
                  </a:lnTo>
                  <a:lnTo>
                    <a:pt x="65" y="2"/>
                  </a:lnTo>
                  <a:lnTo>
                    <a:pt x="58" y="4"/>
                  </a:lnTo>
                  <a:lnTo>
                    <a:pt x="53" y="6"/>
                  </a:lnTo>
                  <a:lnTo>
                    <a:pt x="49" y="8"/>
                  </a:lnTo>
                  <a:lnTo>
                    <a:pt x="0" y="41"/>
                  </a:lnTo>
                  <a:lnTo>
                    <a:pt x="0" y="45"/>
                  </a:lnTo>
                  <a:lnTo>
                    <a:pt x="1" y="45"/>
                  </a:lnTo>
                  <a:lnTo>
                    <a:pt x="3" y="44"/>
                  </a:lnTo>
                  <a:lnTo>
                    <a:pt x="8" y="42"/>
                  </a:lnTo>
                  <a:lnTo>
                    <a:pt x="15" y="40"/>
                  </a:lnTo>
                  <a:lnTo>
                    <a:pt x="23" y="39"/>
                  </a:lnTo>
                  <a:lnTo>
                    <a:pt x="31" y="39"/>
                  </a:lnTo>
                  <a:lnTo>
                    <a:pt x="40" y="39"/>
                  </a:lnTo>
                  <a:lnTo>
                    <a:pt x="52" y="41"/>
                  </a:lnTo>
                  <a:lnTo>
                    <a:pt x="66" y="45"/>
                  </a:lnTo>
                  <a:lnTo>
                    <a:pt x="77" y="48"/>
                  </a:lnTo>
                  <a:lnTo>
                    <a:pt x="86" y="52"/>
                  </a:lnTo>
                  <a:lnTo>
                    <a:pt x="93" y="55"/>
                  </a:lnTo>
                  <a:lnTo>
                    <a:pt x="99" y="57"/>
                  </a:lnTo>
                  <a:lnTo>
                    <a:pt x="103" y="59"/>
                  </a:lnTo>
                  <a:lnTo>
                    <a:pt x="108" y="60"/>
                  </a:lnTo>
                  <a:lnTo>
                    <a:pt x="113" y="62"/>
                  </a:lnTo>
                  <a:lnTo>
                    <a:pt x="134" y="66"/>
                  </a:lnTo>
                  <a:lnTo>
                    <a:pt x="148" y="63"/>
                  </a:lnTo>
                  <a:lnTo>
                    <a:pt x="157" y="58"/>
                  </a:lnTo>
                  <a:lnTo>
                    <a:pt x="161" y="51"/>
                  </a:lnTo>
                  <a:lnTo>
                    <a:pt x="161" y="41"/>
                  </a:lnTo>
                  <a:lnTo>
                    <a:pt x="159" y="33"/>
                  </a:lnTo>
                  <a:lnTo>
                    <a:pt x="157" y="26"/>
                  </a:lnTo>
                  <a:lnTo>
                    <a:pt x="154" y="23"/>
                  </a:lnTo>
                  <a:lnTo>
                    <a:pt x="153" y="22"/>
                  </a:lnTo>
                  <a:lnTo>
                    <a:pt x="150" y="20"/>
                  </a:lnTo>
                  <a:lnTo>
                    <a:pt x="146" y="17"/>
                  </a:lnTo>
                  <a:lnTo>
                    <a:pt x="143" y="14"/>
                  </a:lnTo>
                  <a:lnTo>
                    <a:pt x="136" y="11"/>
                  </a:lnTo>
                  <a:lnTo>
                    <a:pt x="129" y="8"/>
                  </a:lnTo>
                  <a:lnTo>
                    <a:pt x="120" y="5"/>
                  </a:lnTo>
                  <a:lnTo>
                    <a:pt x="108" y="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vi-VN" b="1">
                <a:solidFill>
                  <a:srgbClr val="000000"/>
                </a:solidFill>
                <a:latin typeface="Arial" panose="020B0604020202020204" pitchFamily="34" charset="0"/>
              </a:endParaRPr>
            </a:p>
          </p:txBody>
        </p:sp>
        <p:sp>
          <p:nvSpPr>
            <p:cNvPr id="254" name="Freeform 11"/>
            <p:cNvSpPr>
              <a:spLocks/>
            </p:cNvSpPr>
            <p:nvPr/>
          </p:nvSpPr>
          <p:spPr bwMode="auto">
            <a:xfrm>
              <a:off x="1722" y="3040"/>
              <a:ext cx="262" cy="150"/>
            </a:xfrm>
            <a:custGeom>
              <a:avLst/>
              <a:gdLst>
                <a:gd name="T0" fmla="*/ 230 w 262"/>
                <a:gd name="T1" fmla="*/ 142 h 150"/>
                <a:gd name="T2" fmla="*/ 213 w 262"/>
                <a:gd name="T3" fmla="*/ 136 h 150"/>
                <a:gd name="T4" fmla="*/ 193 w 262"/>
                <a:gd name="T5" fmla="*/ 124 h 150"/>
                <a:gd name="T6" fmla="*/ 183 w 262"/>
                <a:gd name="T7" fmla="*/ 112 h 150"/>
                <a:gd name="T8" fmla="*/ 196 w 262"/>
                <a:gd name="T9" fmla="*/ 100 h 150"/>
                <a:gd name="T10" fmla="*/ 222 w 262"/>
                <a:gd name="T11" fmla="*/ 95 h 150"/>
                <a:gd name="T12" fmla="*/ 248 w 262"/>
                <a:gd name="T13" fmla="*/ 90 h 150"/>
                <a:gd name="T14" fmla="*/ 261 w 262"/>
                <a:gd name="T15" fmla="*/ 80 h 150"/>
                <a:gd name="T16" fmla="*/ 250 w 262"/>
                <a:gd name="T17" fmla="*/ 62 h 150"/>
                <a:gd name="T18" fmla="*/ 231 w 262"/>
                <a:gd name="T19" fmla="*/ 48 h 150"/>
                <a:gd name="T20" fmla="*/ 208 w 262"/>
                <a:gd name="T21" fmla="*/ 39 h 150"/>
                <a:gd name="T22" fmla="*/ 185 w 262"/>
                <a:gd name="T23" fmla="*/ 35 h 150"/>
                <a:gd name="T24" fmla="*/ 155 w 262"/>
                <a:gd name="T25" fmla="*/ 35 h 150"/>
                <a:gd name="T26" fmla="*/ 120 w 262"/>
                <a:gd name="T27" fmla="*/ 37 h 150"/>
                <a:gd name="T28" fmla="*/ 94 w 262"/>
                <a:gd name="T29" fmla="*/ 37 h 150"/>
                <a:gd name="T30" fmla="*/ 67 w 262"/>
                <a:gd name="T31" fmla="*/ 30 h 150"/>
                <a:gd name="T32" fmla="*/ 36 w 262"/>
                <a:gd name="T33" fmla="*/ 15 h 150"/>
                <a:gd name="T34" fmla="*/ 17 w 262"/>
                <a:gd name="T35" fmla="*/ 5 h 150"/>
                <a:gd name="T36" fmla="*/ 8 w 262"/>
                <a:gd name="T37" fmla="*/ 1 h 150"/>
                <a:gd name="T38" fmla="*/ 7 w 262"/>
                <a:gd name="T39" fmla="*/ 0 h 150"/>
                <a:gd name="T40" fmla="*/ 0 w 262"/>
                <a:gd name="T41" fmla="*/ 4 h 150"/>
                <a:gd name="T42" fmla="*/ 57 w 262"/>
                <a:gd name="T43" fmla="*/ 32 h 150"/>
                <a:gd name="T44" fmla="*/ 78 w 262"/>
                <a:gd name="T45" fmla="*/ 39 h 150"/>
                <a:gd name="T46" fmla="*/ 99 w 262"/>
                <a:gd name="T47" fmla="*/ 43 h 150"/>
                <a:gd name="T48" fmla="*/ 120 w 262"/>
                <a:gd name="T49" fmla="*/ 43 h 150"/>
                <a:gd name="T50" fmla="*/ 136 w 262"/>
                <a:gd name="T51" fmla="*/ 41 h 150"/>
                <a:gd name="T52" fmla="*/ 143 w 262"/>
                <a:gd name="T53" fmla="*/ 40 h 150"/>
                <a:gd name="T54" fmla="*/ 151 w 262"/>
                <a:gd name="T55" fmla="*/ 40 h 150"/>
                <a:gd name="T56" fmla="*/ 161 w 262"/>
                <a:gd name="T57" fmla="*/ 39 h 150"/>
                <a:gd name="T58" fmla="*/ 174 w 262"/>
                <a:gd name="T59" fmla="*/ 39 h 150"/>
                <a:gd name="T60" fmla="*/ 193 w 262"/>
                <a:gd name="T61" fmla="*/ 41 h 150"/>
                <a:gd name="T62" fmla="*/ 216 w 262"/>
                <a:gd name="T63" fmla="*/ 48 h 150"/>
                <a:gd name="T64" fmla="*/ 238 w 262"/>
                <a:gd name="T65" fmla="*/ 59 h 150"/>
                <a:gd name="T66" fmla="*/ 248 w 262"/>
                <a:gd name="T67" fmla="*/ 73 h 150"/>
                <a:gd name="T68" fmla="*/ 250 w 262"/>
                <a:gd name="T69" fmla="*/ 79 h 150"/>
                <a:gd name="T70" fmla="*/ 246 w 262"/>
                <a:gd name="T71" fmla="*/ 82 h 150"/>
                <a:gd name="T72" fmla="*/ 238 w 262"/>
                <a:gd name="T73" fmla="*/ 86 h 150"/>
                <a:gd name="T74" fmla="*/ 221 w 262"/>
                <a:gd name="T75" fmla="*/ 89 h 150"/>
                <a:gd name="T76" fmla="*/ 210 w 262"/>
                <a:gd name="T77" fmla="*/ 91 h 150"/>
                <a:gd name="T78" fmla="*/ 197 w 262"/>
                <a:gd name="T79" fmla="*/ 93 h 150"/>
                <a:gd name="T80" fmla="*/ 185 w 262"/>
                <a:gd name="T81" fmla="*/ 96 h 150"/>
                <a:gd name="T82" fmla="*/ 178 w 262"/>
                <a:gd name="T83" fmla="*/ 101 h 150"/>
                <a:gd name="T84" fmla="*/ 174 w 262"/>
                <a:gd name="T85" fmla="*/ 105 h 150"/>
                <a:gd name="T86" fmla="*/ 173 w 262"/>
                <a:gd name="T87" fmla="*/ 109 h 150"/>
                <a:gd name="T88" fmla="*/ 173 w 262"/>
                <a:gd name="T89" fmla="*/ 113 h 150"/>
                <a:gd name="T90" fmla="*/ 174 w 262"/>
                <a:gd name="T91" fmla="*/ 116 h 150"/>
                <a:gd name="T92" fmla="*/ 184 w 262"/>
                <a:gd name="T93" fmla="*/ 128 h 150"/>
                <a:gd name="T94" fmla="*/ 202 w 262"/>
                <a:gd name="T95" fmla="*/ 138 h 150"/>
                <a:gd name="T96" fmla="*/ 218 w 262"/>
                <a:gd name="T97" fmla="*/ 145 h 150"/>
                <a:gd name="T98" fmla="*/ 227 w 262"/>
                <a:gd name="T99" fmla="*/ 149 h 15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62" h="150">
                  <a:moveTo>
                    <a:pt x="232" y="143"/>
                  </a:moveTo>
                  <a:lnTo>
                    <a:pt x="230" y="142"/>
                  </a:lnTo>
                  <a:lnTo>
                    <a:pt x="222" y="140"/>
                  </a:lnTo>
                  <a:lnTo>
                    <a:pt x="213" y="136"/>
                  </a:lnTo>
                  <a:lnTo>
                    <a:pt x="202" y="131"/>
                  </a:lnTo>
                  <a:lnTo>
                    <a:pt x="193" y="124"/>
                  </a:lnTo>
                  <a:lnTo>
                    <a:pt x="185" y="118"/>
                  </a:lnTo>
                  <a:lnTo>
                    <a:pt x="183" y="112"/>
                  </a:lnTo>
                  <a:lnTo>
                    <a:pt x="187" y="105"/>
                  </a:lnTo>
                  <a:lnTo>
                    <a:pt x="196" y="100"/>
                  </a:lnTo>
                  <a:lnTo>
                    <a:pt x="208" y="97"/>
                  </a:lnTo>
                  <a:lnTo>
                    <a:pt x="222" y="95"/>
                  </a:lnTo>
                  <a:lnTo>
                    <a:pt x="236" y="93"/>
                  </a:lnTo>
                  <a:lnTo>
                    <a:pt x="248" y="90"/>
                  </a:lnTo>
                  <a:lnTo>
                    <a:pt x="257" y="86"/>
                  </a:lnTo>
                  <a:lnTo>
                    <a:pt x="261" y="80"/>
                  </a:lnTo>
                  <a:lnTo>
                    <a:pt x="258" y="72"/>
                  </a:lnTo>
                  <a:lnTo>
                    <a:pt x="250" y="62"/>
                  </a:lnTo>
                  <a:lnTo>
                    <a:pt x="241" y="55"/>
                  </a:lnTo>
                  <a:lnTo>
                    <a:pt x="231" y="48"/>
                  </a:lnTo>
                  <a:lnTo>
                    <a:pt x="220" y="43"/>
                  </a:lnTo>
                  <a:lnTo>
                    <a:pt x="208" y="39"/>
                  </a:lnTo>
                  <a:lnTo>
                    <a:pt x="197" y="36"/>
                  </a:lnTo>
                  <a:lnTo>
                    <a:pt x="185" y="35"/>
                  </a:lnTo>
                  <a:lnTo>
                    <a:pt x="176" y="34"/>
                  </a:lnTo>
                  <a:lnTo>
                    <a:pt x="155" y="35"/>
                  </a:lnTo>
                  <a:lnTo>
                    <a:pt x="137" y="36"/>
                  </a:lnTo>
                  <a:lnTo>
                    <a:pt x="120" y="37"/>
                  </a:lnTo>
                  <a:lnTo>
                    <a:pt x="106" y="37"/>
                  </a:lnTo>
                  <a:lnTo>
                    <a:pt x="94" y="37"/>
                  </a:lnTo>
                  <a:lnTo>
                    <a:pt x="81" y="34"/>
                  </a:lnTo>
                  <a:lnTo>
                    <a:pt x="67" y="30"/>
                  </a:lnTo>
                  <a:lnTo>
                    <a:pt x="52" y="23"/>
                  </a:lnTo>
                  <a:lnTo>
                    <a:pt x="36" y="15"/>
                  </a:lnTo>
                  <a:lnTo>
                    <a:pt x="25" y="9"/>
                  </a:lnTo>
                  <a:lnTo>
                    <a:pt x="17" y="5"/>
                  </a:lnTo>
                  <a:lnTo>
                    <a:pt x="12" y="3"/>
                  </a:lnTo>
                  <a:lnTo>
                    <a:pt x="8" y="1"/>
                  </a:lnTo>
                  <a:lnTo>
                    <a:pt x="7" y="1"/>
                  </a:lnTo>
                  <a:lnTo>
                    <a:pt x="7" y="0"/>
                  </a:lnTo>
                  <a:lnTo>
                    <a:pt x="0" y="4"/>
                  </a:lnTo>
                  <a:lnTo>
                    <a:pt x="44" y="27"/>
                  </a:lnTo>
                  <a:lnTo>
                    <a:pt x="57" y="32"/>
                  </a:lnTo>
                  <a:lnTo>
                    <a:pt x="68" y="37"/>
                  </a:lnTo>
                  <a:lnTo>
                    <a:pt x="78" y="39"/>
                  </a:lnTo>
                  <a:lnTo>
                    <a:pt x="90" y="41"/>
                  </a:lnTo>
                  <a:lnTo>
                    <a:pt x="99" y="43"/>
                  </a:lnTo>
                  <a:lnTo>
                    <a:pt x="109" y="43"/>
                  </a:lnTo>
                  <a:lnTo>
                    <a:pt x="120" y="43"/>
                  </a:lnTo>
                  <a:lnTo>
                    <a:pt x="131" y="41"/>
                  </a:lnTo>
                  <a:lnTo>
                    <a:pt x="136" y="41"/>
                  </a:lnTo>
                  <a:lnTo>
                    <a:pt x="140" y="41"/>
                  </a:lnTo>
                  <a:lnTo>
                    <a:pt x="143" y="40"/>
                  </a:lnTo>
                  <a:lnTo>
                    <a:pt x="147" y="40"/>
                  </a:lnTo>
                  <a:lnTo>
                    <a:pt x="151" y="40"/>
                  </a:lnTo>
                  <a:lnTo>
                    <a:pt x="156" y="40"/>
                  </a:lnTo>
                  <a:lnTo>
                    <a:pt x="161" y="39"/>
                  </a:lnTo>
                  <a:lnTo>
                    <a:pt x="168" y="39"/>
                  </a:lnTo>
                  <a:lnTo>
                    <a:pt x="174" y="39"/>
                  </a:lnTo>
                  <a:lnTo>
                    <a:pt x="183" y="40"/>
                  </a:lnTo>
                  <a:lnTo>
                    <a:pt x="193" y="41"/>
                  </a:lnTo>
                  <a:lnTo>
                    <a:pt x="204" y="45"/>
                  </a:lnTo>
                  <a:lnTo>
                    <a:pt x="216" y="48"/>
                  </a:lnTo>
                  <a:lnTo>
                    <a:pt x="227" y="53"/>
                  </a:lnTo>
                  <a:lnTo>
                    <a:pt x="238" y="59"/>
                  </a:lnTo>
                  <a:lnTo>
                    <a:pt x="245" y="69"/>
                  </a:lnTo>
                  <a:lnTo>
                    <a:pt x="248" y="73"/>
                  </a:lnTo>
                  <a:lnTo>
                    <a:pt x="250" y="76"/>
                  </a:lnTo>
                  <a:lnTo>
                    <a:pt x="250" y="79"/>
                  </a:lnTo>
                  <a:lnTo>
                    <a:pt x="249" y="81"/>
                  </a:lnTo>
                  <a:lnTo>
                    <a:pt x="246" y="82"/>
                  </a:lnTo>
                  <a:lnTo>
                    <a:pt x="243" y="84"/>
                  </a:lnTo>
                  <a:lnTo>
                    <a:pt x="238" y="86"/>
                  </a:lnTo>
                  <a:lnTo>
                    <a:pt x="230" y="87"/>
                  </a:lnTo>
                  <a:lnTo>
                    <a:pt x="221" y="89"/>
                  </a:lnTo>
                  <a:lnTo>
                    <a:pt x="215" y="90"/>
                  </a:lnTo>
                  <a:lnTo>
                    <a:pt x="210" y="91"/>
                  </a:lnTo>
                  <a:lnTo>
                    <a:pt x="203" y="92"/>
                  </a:lnTo>
                  <a:lnTo>
                    <a:pt x="197" y="93"/>
                  </a:lnTo>
                  <a:lnTo>
                    <a:pt x="192" y="95"/>
                  </a:lnTo>
                  <a:lnTo>
                    <a:pt x="185" y="96"/>
                  </a:lnTo>
                  <a:lnTo>
                    <a:pt x="182" y="99"/>
                  </a:lnTo>
                  <a:lnTo>
                    <a:pt x="178" y="101"/>
                  </a:lnTo>
                  <a:lnTo>
                    <a:pt x="175" y="103"/>
                  </a:lnTo>
                  <a:lnTo>
                    <a:pt x="174" y="105"/>
                  </a:lnTo>
                  <a:lnTo>
                    <a:pt x="173" y="107"/>
                  </a:lnTo>
                  <a:lnTo>
                    <a:pt x="173" y="109"/>
                  </a:lnTo>
                  <a:lnTo>
                    <a:pt x="171" y="111"/>
                  </a:lnTo>
                  <a:lnTo>
                    <a:pt x="173" y="113"/>
                  </a:lnTo>
                  <a:lnTo>
                    <a:pt x="173" y="115"/>
                  </a:lnTo>
                  <a:lnTo>
                    <a:pt x="174" y="116"/>
                  </a:lnTo>
                  <a:lnTo>
                    <a:pt x="178" y="122"/>
                  </a:lnTo>
                  <a:lnTo>
                    <a:pt x="184" y="128"/>
                  </a:lnTo>
                  <a:lnTo>
                    <a:pt x="193" y="133"/>
                  </a:lnTo>
                  <a:lnTo>
                    <a:pt x="202" y="138"/>
                  </a:lnTo>
                  <a:lnTo>
                    <a:pt x="211" y="142"/>
                  </a:lnTo>
                  <a:lnTo>
                    <a:pt x="218" y="145"/>
                  </a:lnTo>
                  <a:lnTo>
                    <a:pt x="225" y="147"/>
                  </a:lnTo>
                  <a:lnTo>
                    <a:pt x="227" y="149"/>
                  </a:lnTo>
                  <a:lnTo>
                    <a:pt x="232" y="143"/>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vi-VN" b="1">
                <a:solidFill>
                  <a:srgbClr val="000000"/>
                </a:solidFill>
                <a:latin typeface="Arial" panose="020B0604020202020204" pitchFamily="34" charset="0"/>
              </a:endParaRPr>
            </a:p>
          </p:txBody>
        </p:sp>
        <p:sp>
          <p:nvSpPr>
            <p:cNvPr id="255" name="Freeform 12"/>
            <p:cNvSpPr>
              <a:spLocks/>
            </p:cNvSpPr>
            <p:nvPr/>
          </p:nvSpPr>
          <p:spPr bwMode="auto">
            <a:xfrm>
              <a:off x="1722" y="3040"/>
              <a:ext cx="263" cy="149"/>
            </a:xfrm>
            <a:custGeom>
              <a:avLst/>
              <a:gdLst>
                <a:gd name="T0" fmla="*/ 230 w 263"/>
                <a:gd name="T1" fmla="*/ 141 h 149"/>
                <a:gd name="T2" fmla="*/ 213 w 263"/>
                <a:gd name="T3" fmla="*/ 134 h 149"/>
                <a:gd name="T4" fmla="*/ 193 w 263"/>
                <a:gd name="T5" fmla="*/ 124 h 149"/>
                <a:gd name="T6" fmla="*/ 183 w 263"/>
                <a:gd name="T7" fmla="*/ 110 h 149"/>
                <a:gd name="T8" fmla="*/ 197 w 263"/>
                <a:gd name="T9" fmla="*/ 100 h 149"/>
                <a:gd name="T10" fmla="*/ 222 w 263"/>
                <a:gd name="T11" fmla="*/ 93 h 149"/>
                <a:gd name="T12" fmla="*/ 249 w 263"/>
                <a:gd name="T13" fmla="*/ 89 h 149"/>
                <a:gd name="T14" fmla="*/ 262 w 263"/>
                <a:gd name="T15" fmla="*/ 80 h 149"/>
                <a:gd name="T16" fmla="*/ 251 w 263"/>
                <a:gd name="T17" fmla="*/ 62 h 149"/>
                <a:gd name="T18" fmla="*/ 231 w 263"/>
                <a:gd name="T19" fmla="*/ 47 h 149"/>
                <a:gd name="T20" fmla="*/ 208 w 263"/>
                <a:gd name="T21" fmla="*/ 38 h 149"/>
                <a:gd name="T22" fmla="*/ 186 w 263"/>
                <a:gd name="T23" fmla="*/ 34 h 149"/>
                <a:gd name="T24" fmla="*/ 155 w 263"/>
                <a:gd name="T25" fmla="*/ 35 h 149"/>
                <a:gd name="T26" fmla="*/ 122 w 263"/>
                <a:gd name="T27" fmla="*/ 37 h 149"/>
                <a:gd name="T28" fmla="*/ 94 w 263"/>
                <a:gd name="T29" fmla="*/ 36 h 149"/>
                <a:gd name="T30" fmla="*/ 67 w 263"/>
                <a:gd name="T31" fmla="*/ 29 h 149"/>
                <a:gd name="T32" fmla="*/ 36 w 263"/>
                <a:gd name="T33" fmla="*/ 14 h 149"/>
                <a:gd name="T34" fmla="*/ 17 w 263"/>
                <a:gd name="T35" fmla="*/ 5 h 149"/>
                <a:gd name="T36" fmla="*/ 10 w 263"/>
                <a:gd name="T37" fmla="*/ 1 h 149"/>
                <a:gd name="T38" fmla="*/ 7 w 263"/>
                <a:gd name="T39" fmla="*/ 0 h 149"/>
                <a:gd name="T40" fmla="*/ 0 w 263"/>
                <a:gd name="T41" fmla="*/ 4 h 149"/>
                <a:gd name="T42" fmla="*/ 57 w 263"/>
                <a:gd name="T43" fmla="*/ 32 h 149"/>
                <a:gd name="T44" fmla="*/ 80 w 263"/>
                <a:gd name="T45" fmla="*/ 39 h 149"/>
                <a:gd name="T46" fmla="*/ 100 w 263"/>
                <a:gd name="T47" fmla="*/ 41 h 149"/>
                <a:gd name="T48" fmla="*/ 120 w 263"/>
                <a:gd name="T49" fmla="*/ 41 h 149"/>
                <a:gd name="T50" fmla="*/ 136 w 263"/>
                <a:gd name="T51" fmla="*/ 41 h 149"/>
                <a:gd name="T52" fmla="*/ 143 w 263"/>
                <a:gd name="T53" fmla="*/ 40 h 149"/>
                <a:gd name="T54" fmla="*/ 151 w 263"/>
                <a:gd name="T55" fmla="*/ 39 h 149"/>
                <a:gd name="T56" fmla="*/ 161 w 263"/>
                <a:gd name="T57" fmla="*/ 39 h 149"/>
                <a:gd name="T58" fmla="*/ 175 w 263"/>
                <a:gd name="T59" fmla="*/ 39 h 149"/>
                <a:gd name="T60" fmla="*/ 194 w 263"/>
                <a:gd name="T61" fmla="*/ 41 h 149"/>
                <a:gd name="T62" fmla="*/ 217 w 263"/>
                <a:gd name="T63" fmla="*/ 47 h 149"/>
                <a:gd name="T64" fmla="*/ 237 w 263"/>
                <a:gd name="T65" fmla="*/ 59 h 149"/>
                <a:gd name="T66" fmla="*/ 249 w 263"/>
                <a:gd name="T67" fmla="*/ 72 h 149"/>
                <a:gd name="T68" fmla="*/ 250 w 263"/>
                <a:gd name="T69" fmla="*/ 78 h 149"/>
                <a:gd name="T70" fmla="*/ 248 w 263"/>
                <a:gd name="T71" fmla="*/ 82 h 149"/>
                <a:gd name="T72" fmla="*/ 237 w 263"/>
                <a:gd name="T73" fmla="*/ 85 h 149"/>
                <a:gd name="T74" fmla="*/ 222 w 263"/>
                <a:gd name="T75" fmla="*/ 87 h 149"/>
                <a:gd name="T76" fmla="*/ 209 w 263"/>
                <a:gd name="T77" fmla="*/ 89 h 149"/>
                <a:gd name="T78" fmla="*/ 197 w 263"/>
                <a:gd name="T79" fmla="*/ 92 h 149"/>
                <a:gd name="T80" fmla="*/ 186 w 263"/>
                <a:gd name="T81" fmla="*/ 95 h 149"/>
                <a:gd name="T82" fmla="*/ 178 w 263"/>
                <a:gd name="T83" fmla="*/ 101 h 149"/>
                <a:gd name="T84" fmla="*/ 174 w 263"/>
                <a:gd name="T85" fmla="*/ 104 h 149"/>
                <a:gd name="T86" fmla="*/ 172 w 263"/>
                <a:gd name="T87" fmla="*/ 108 h 149"/>
                <a:gd name="T88" fmla="*/ 172 w 263"/>
                <a:gd name="T89" fmla="*/ 111 h 149"/>
                <a:gd name="T90" fmla="*/ 174 w 263"/>
                <a:gd name="T91" fmla="*/ 115 h 149"/>
                <a:gd name="T92" fmla="*/ 185 w 263"/>
                <a:gd name="T93" fmla="*/ 127 h 149"/>
                <a:gd name="T94" fmla="*/ 202 w 263"/>
                <a:gd name="T95" fmla="*/ 137 h 149"/>
                <a:gd name="T96" fmla="*/ 218 w 263"/>
                <a:gd name="T97" fmla="*/ 143 h 149"/>
                <a:gd name="T98" fmla="*/ 228 w 263"/>
                <a:gd name="T99" fmla="*/ 148 h 14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63" h="149">
                  <a:moveTo>
                    <a:pt x="234" y="142"/>
                  </a:moveTo>
                  <a:lnTo>
                    <a:pt x="230" y="141"/>
                  </a:lnTo>
                  <a:lnTo>
                    <a:pt x="223" y="138"/>
                  </a:lnTo>
                  <a:lnTo>
                    <a:pt x="213" y="134"/>
                  </a:lnTo>
                  <a:lnTo>
                    <a:pt x="203" y="129"/>
                  </a:lnTo>
                  <a:lnTo>
                    <a:pt x="193" y="124"/>
                  </a:lnTo>
                  <a:lnTo>
                    <a:pt x="186" y="117"/>
                  </a:lnTo>
                  <a:lnTo>
                    <a:pt x="183" y="110"/>
                  </a:lnTo>
                  <a:lnTo>
                    <a:pt x="186" y="104"/>
                  </a:lnTo>
                  <a:lnTo>
                    <a:pt x="197" y="100"/>
                  </a:lnTo>
                  <a:lnTo>
                    <a:pt x="208" y="96"/>
                  </a:lnTo>
                  <a:lnTo>
                    <a:pt x="222" y="93"/>
                  </a:lnTo>
                  <a:lnTo>
                    <a:pt x="236" y="91"/>
                  </a:lnTo>
                  <a:lnTo>
                    <a:pt x="249" y="89"/>
                  </a:lnTo>
                  <a:lnTo>
                    <a:pt x="258" y="85"/>
                  </a:lnTo>
                  <a:lnTo>
                    <a:pt x="262" y="80"/>
                  </a:lnTo>
                  <a:lnTo>
                    <a:pt x="259" y="71"/>
                  </a:lnTo>
                  <a:lnTo>
                    <a:pt x="251" y="62"/>
                  </a:lnTo>
                  <a:lnTo>
                    <a:pt x="241" y="54"/>
                  </a:lnTo>
                  <a:lnTo>
                    <a:pt x="231" y="47"/>
                  </a:lnTo>
                  <a:lnTo>
                    <a:pt x="220" y="42"/>
                  </a:lnTo>
                  <a:lnTo>
                    <a:pt x="208" y="38"/>
                  </a:lnTo>
                  <a:lnTo>
                    <a:pt x="197" y="36"/>
                  </a:lnTo>
                  <a:lnTo>
                    <a:pt x="186" y="34"/>
                  </a:lnTo>
                  <a:lnTo>
                    <a:pt x="176" y="34"/>
                  </a:lnTo>
                  <a:lnTo>
                    <a:pt x="155" y="35"/>
                  </a:lnTo>
                  <a:lnTo>
                    <a:pt x="137" y="36"/>
                  </a:lnTo>
                  <a:lnTo>
                    <a:pt x="122" y="37"/>
                  </a:lnTo>
                  <a:lnTo>
                    <a:pt x="108" y="37"/>
                  </a:lnTo>
                  <a:lnTo>
                    <a:pt x="94" y="36"/>
                  </a:lnTo>
                  <a:lnTo>
                    <a:pt x="81" y="34"/>
                  </a:lnTo>
                  <a:lnTo>
                    <a:pt x="67" y="29"/>
                  </a:lnTo>
                  <a:lnTo>
                    <a:pt x="52" y="22"/>
                  </a:lnTo>
                  <a:lnTo>
                    <a:pt x="36" y="14"/>
                  </a:lnTo>
                  <a:lnTo>
                    <a:pt x="26" y="9"/>
                  </a:lnTo>
                  <a:lnTo>
                    <a:pt x="17" y="5"/>
                  </a:lnTo>
                  <a:lnTo>
                    <a:pt x="12" y="3"/>
                  </a:lnTo>
                  <a:lnTo>
                    <a:pt x="10" y="1"/>
                  </a:lnTo>
                  <a:lnTo>
                    <a:pt x="8" y="0"/>
                  </a:lnTo>
                  <a:lnTo>
                    <a:pt x="7" y="0"/>
                  </a:lnTo>
                  <a:lnTo>
                    <a:pt x="0" y="4"/>
                  </a:lnTo>
                  <a:lnTo>
                    <a:pt x="44" y="27"/>
                  </a:lnTo>
                  <a:lnTo>
                    <a:pt x="57" y="32"/>
                  </a:lnTo>
                  <a:lnTo>
                    <a:pt x="68" y="36"/>
                  </a:lnTo>
                  <a:lnTo>
                    <a:pt x="80" y="39"/>
                  </a:lnTo>
                  <a:lnTo>
                    <a:pt x="90" y="41"/>
                  </a:lnTo>
                  <a:lnTo>
                    <a:pt x="100" y="41"/>
                  </a:lnTo>
                  <a:lnTo>
                    <a:pt x="110" y="42"/>
                  </a:lnTo>
                  <a:lnTo>
                    <a:pt x="120" y="41"/>
                  </a:lnTo>
                  <a:lnTo>
                    <a:pt x="131" y="41"/>
                  </a:lnTo>
                  <a:lnTo>
                    <a:pt x="136" y="41"/>
                  </a:lnTo>
                  <a:lnTo>
                    <a:pt x="139" y="40"/>
                  </a:lnTo>
                  <a:lnTo>
                    <a:pt x="143" y="40"/>
                  </a:lnTo>
                  <a:lnTo>
                    <a:pt x="147" y="40"/>
                  </a:lnTo>
                  <a:lnTo>
                    <a:pt x="151" y="39"/>
                  </a:lnTo>
                  <a:lnTo>
                    <a:pt x="156" y="39"/>
                  </a:lnTo>
                  <a:lnTo>
                    <a:pt x="161" y="39"/>
                  </a:lnTo>
                  <a:lnTo>
                    <a:pt x="167" y="39"/>
                  </a:lnTo>
                  <a:lnTo>
                    <a:pt x="175" y="39"/>
                  </a:lnTo>
                  <a:lnTo>
                    <a:pt x="184" y="40"/>
                  </a:lnTo>
                  <a:lnTo>
                    <a:pt x="194" y="41"/>
                  </a:lnTo>
                  <a:lnTo>
                    <a:pt x="206" y="43"/>
                  </a:lnTo>
                  <a:lnTo>
                    <a:pt x="217" y="47"/>
                  </a:lnTo>
                  <a:lnTo>
                    <a:pt x="227" y="53"/>
                  </a:lnTo>
                  <a:lnTo>
                    <a:pt x="237" y="59"/>
                  </a:lnTo>
                  <a:lnTo>
                    <a:pt x="245" y="67"/>
                  </a:lnTo>
                  <a:lnTo>
                    <a:pt x="249" y="72"/>
                  </a:lnTo>
                  <a:lnTo>
                    <a:pt x="250" y="76"/>
                  </a:lnTo>
                  <a:lnTo>
                    <a:pt x="250" y="78"/>
                  </a:lnTo>
                  <a:lnTo>
                    <a:pt x="249" y="80"/>
                  </a:lnTo>
                  <a:lnTo>
                    <a:pt x="248" y="82"/>
                  </a:lnTo>
                  <a:lnTo>
                    <a:pt x="244" y="83"/>
                  </a:lnTo>
                  <a:lnTo>
                    <a:pt x="237" y="85"/>
                  </a:lnTo>
                  <a:lnTo>
                    <a:pt x="231" y="86"/>
                  </a:lnTo>
                  <a:lnTo>
                    <a:pt x="222" y="87"/>
                  </a:lnTo>
                  <a:lnTo>
                    <a:pt x="216" y="88"/>
                  </a:lnTo>
                  <a:lnTo>
                    <a:pt x="209" y="89"/>
                  </a:lnTo>
                  <a:lnTo>
                    <a:pt x="203" y="90"/>
                  </a:lnTo>
                  <a:lnTo>
                    <a:pt x="197" y="92"/>
                  </a:lnTo>
                  <a:lnTo>
                    <a:pt x="192" y="93"/>
                  </a:lnTo>
                  <a:lnTo>
                    <a:pt x="186" y="95"/>
                  </a:lnTo>
                  <a:lnTo>
                    <a:pt x="181" y="97"/>
                  </a:lnTo>
                  <a:lnTo>
                    <a:pt x="178" y="101"/>
                  </a:lnTo>
                  <a:lnTo>
                    <a:pt x="176" y="103"/>
                  </a:lnTo>
                  <a:lnTo>
                    <a:pt x="174" y="104"/>
                  </a:lnTo>
                  <a:lnTo>
                    <a:pt x="174" y="106"/>
                  </a:lnTo>
                  <a:lnTo>
                    <a:pt x="172" y="108"/>
                  </a:lnTo>
                  <a:lnTo>
                    <a:pt x="172" y="109"/>
                  </a:lnTo>
                  <a:lnTo>
                    <a:pt x="172" y="111"/>
                  </a:lnTo>
                  <a:lnTo>
                    <a:pt x="172" y="113"/>
                  </a:lnTo>
                  <a:lnTo>
                    <a:pt x="174" y="115"/>
                  </a:lnTo>
                  <a:lnTo>
                    <a:pt x="178" y="121"/>
                  </a:lnTo>
                  <a:lnTo>
                    <a:pt x="185" y="127"/>
                  </a:lnTo>
                  <a:lnTo>
                    <a:pt x="193" y="132"/>
                  </a:lnTo>
                  <a:lnTo>
                    <a:pt x="202" y="137"/>
                  </a:lnTo>
                  <a:lnTo>
                    <a:pt x="211" y="140"/>
                  </a:lnTo>
                  <a:lnTo>
                    <a:pt x="218" y="143"/>
                  </a:lnTo>
                  <a:lnTo>
                    <a:pt x="225" y="146"/>
                  </a:lnTo>
                  <a:lnTo>
                    <a:pt x="228" y="148"/>
                  </a:lnTo>
                  <a:lnTo>
                    <a:pt x="234" y="142"/>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vi-VN" b="1">
                <a:solidFill>
                  <a:srgbClr val="000000"/>
                </a:solidFill>
                <a:latin typeface="Arial" panose="020B0604020202020204" pitchFamily="34" charset="0"/>
              </a:endParaRPr>
            </a:p>
          </p:txBody>
        </p:sp>
        <p:sp>
          <p:nvSpPr>
            <p:cNvPr id="256" name="Freeform 13"/>
            <p:cNvSpPr>
              <a:spLocks/>
            </p:cNvSpPr>
            <p:nvPr/>
          </p:nvSpPr>
          <p:spPr bwMode="auto">
            <a:xfrm>
              <a:off x="1928" y="3146"/>
              <a:ext cx="164" cy="65"/>
            </a:xfrm>
            <a:custGeom>
              <a:avLst/>
              <a:gdLst>
                <a:gd name="T0" fmla="*/ 109 w 164"/>
                <a:gd name="T1" fmla="*/ 2 h 65"/>
                <a:gd name="T2" fmla="*/ 96 w 164"/>
                <a:gd name="T3" fmla="*/ 0 h 65"/>
                <a:gd name="T4" fmla="*/ 85 w 164"/>
                <a:gd name="T5" fmla="*/ 0 h 65"/>
                <a:gd name="T6" fmla="*/ 75 w 164"/>
                <a:gd name="T7" fmla="*/ 1 h 65"/>
                <a:gd name="T8" fmla="*/ 66 w 164"/>
                <a:gd name="T9" fmla="*/ 2 h 65"/>
                <a:gd name="T10" fmla="*/ 59 w 164"/>
                <a:gd name="T11" fmla="*/ 4 h 65"/>
                <a:gd name="T12" fmla="*/ 54 w 164"/>
                <a:gd name="T13" fmla="*/ 6 h 65"/>
                <a:gd name="T14" fmla="*/ 50 w 164"/>
                <a:gd name="T15" fmla="*/ 8 h 65"/>
                <a:gd name="T16" fmla="*/ 49 w 164"/>
                <a:gd name="T17" fmla="*/ 8 h 65"/>
                <a:gd name="T18" fmla="*/ 0 w 164"/>
                <a:gd name="T19" fmla="*/ 41 h 65"/>
                <a:gd name="T20" fmla="*/ 0 w 164"/>
                <a:gd name="T21" fmla="*/ 45 h 65"/>
                <a:gd name="T22" fmla="*/ 1 w 164"/>
                <a:gd name="T23" fmla="*/ 44 h 65"/>
                <a:gd name="T24" fmla="*/ 5 w 164"/>
                <a:gd name="T25" fmla="*/ 43 h 65"/>
                <a:gd name="T26" fmla="*/ 8 w 164"/>
                <a:gd name="T27" fmla="*/ 42 h 65"/>
                <a:gd name="T28" fmla="*/ 15 w 164"/>
                <a:gd name="T29" fmla="*/ 40 h 65"/>
                <a:gd name="T30" fmla="*/ 22 w 164"/>
                <a:gd name="T31" fmla="*/ 39 h 65"/>
                <a:gd name="T32" fmla="*/ 31 w 164"/>
                <a:gd name="T33" fmla="*/ 38 h 65"/>
                <a:gd name="T34" fmla="*/ 42 w 164"/>
                <a:gd name="T35" fmla="*/ 38 h 65"/>
                <a:gd name="T36" fmla="*/ 52 w 164"/>
                <a:gd name="T37" fmla="*/ 40 h 65"/>
                <a:gd name="T38" fmla="*/ 67 w 164"/>
                <a:gd name="T39" fmla="*/ 44 h 65"/>
                <a:gd name="T40" fmla="*/ 78 w 164"/>
                <a:gd name="T41" fmla="*/ 48 h 65"/>
                <a:gd name="T42" fmla="*/ 87 w 164"/>
                <a:gd name="T43" fmla="*/ 51 h 65"/>
                <a:gd name="T44" fmla="*/ 94 w 164"/>
                <a:gd name="T45" fmla="*/ 53 h 65"/>
                <a:gd name="T46" fmla="*/ 100 w 164"/>
                <a:gd name="T47" fmla="*/ 55 h 65"/>
                <a:gd name="T48" fmla="*/ 104 w 164"/>
                <a:gd name="T49" fmla="*/ 57 h 65"/>
                <a:gd name="T50" fmla="*/ 109 w 164"/>
                <a:gd name="T51" fmla="*/ 59 h 65"/>
                <a:gd name="T52" fmla="*/ 114 w 164"/>
                <a:gd name="T53" fmla="*/ 60 h 65"/>
                <a:gd name="T54" fmla="*/ 136 w 164"/>
                <a:gd name="T55" fmla="*/ 64 h 65"/>
                <a:gd name="T56" fmla="*/ 150 w 164"/>
                <a:gd name="T57" fmla="*/ 62 h 65"/>
                <a:gd name="T58" fmla="*/ 159 w 164"/>
                <a:gd name="T59" fmla="*/ 56 h 65"/>
                <a:gd name="T60" fmla="*/ 163 w 164"/>
                <a:gd name="T61" fmla="*/ 49 h 65"/>
                <a:gd name="T62" fmla="*/ 163 w 164"/>
                <a:gd name="T63" fmla="*/ 41 h 65"/>
                <a:gd name="T64" fmla="*/ 161 w 164"/>
                <a:gd name="T65" fmla="*/ 33 h 65"/>
                <a:gd name="T66" fmla="*/ 159 w 164"/>
                <a:gd name="T67" fmla="*/ 25 h 65"/>
                <a:gd name="T68" fmla="*/ 156 w 164"/>
                <a:gd name="T69" fmla="*/ 22 h 65"/>
                <a:gd name="T70" fmla="*/ 154 w 164"/>
                <a:gd name="T71" fmla="*/ 21 h 65"/>
                <a:gd name="T72" fmla="*/ 152 w 164"/>
                <a:gd name="T73" fmla="*/ 19 h 65"/>
                <a:gd name="T74" fmla="*/ 148 w 164"/>
                <a:gd name="T75" fmla="*/ 17 h 65"/>
                <a:gd name="T76" fmla="*/ 143 w 164"/>
                <a:gd name="T77" fmla="*/ 14 h 65"/>
                <a:gd name="T78" fmla="*/ 137 w 164"/>
                <a:gd name="T79" fmla="*/ 11 h 65"/>
                <a:gd name="T80" fmla="*/ 129 w 164"/>
                <a:gd name="T81" fmla="*/ 8 h 65"/>
                <a:gd name="T82" fmla="*/ 120 w 164"/>
                <a:gd name="T83" fmla="*/ 5 h 65"/>
                <a:gd name="T84" fmla="*/ 109 w 164"/>
                <a:gd name="T85" fmla="*/ 2 h 6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64" h="65">
                  <a:moveTo>
                    <a:pt x="109" y="2"/>
                  </a:moveTo>
                  <a:lnTo>
                    <a:pt x="96" y="0"/>
                  </a:lnTo>
                  <a:lnTo>
                    <a:pt x="85" y="0"/>
                  </a:lnTo>
                  <a:lnTo>
                    <a:pt x="75" y="1"/>
                  </a:lnTo>
                  <a:lnTo>
                    <a:pt x="66" y="2"/>
                  </a:lnTo>
                  <a:lnTo>
                    <a:pt x="59" y="4"/>
                  </a:lnTo>
                  <a:lnTo>
                    <a:pt x="54" y="6"/>
                  </a:lnTo>
                  <a:lnTo>
                    <a:pt x="50" y="8"/>
                  </a:lnTo>
                  <a:lnTo>
                    <a:pt x="49" y="8"/>
                  </a:lnTo>
                  <a:lnTo>
                    <a:pt x="0" y="41"/>
                  </a:lnTo>
                  <a:lnTo>
                    <a:pt x="0" y="45"/>
                  </a:lnTo>
                  <a:lnTo>
                    <a:pt x="1" y="44"/>
                  </a:lnTo>
                  <a:lnTo>
                    <a:pt x="5" y="43"/>
                  </a:lnTo>
                  <a:lnTo>
                    <a:pt x="8" y="42"/>
                  </a:lnTo>
                  <a:lnTo>
                    <a:pt x="15" y="40"/>
                  </a:lnTo>
                  <a:lnTo>
                    <a:pt x="22" y="39"/>
                  </a:lnTo>
                  <a:lnTo>
                    <a:pt x="31" y="38"/>
                  </a:lnTo>
                  <a:lnTo>
                    <a:pt x="42" y="38"/>
                  </a:lnTo>
                  <a:lnTo>
                    <a:pt x="52" y="40"/>
                  </a:lnTo>
                  <a:lnTo>
                    <a:pt x="67" y="44"/>
                  </a:lnTo>
                  <a:lnTo>
                    <a:pt x="78" y="48"/>
                  </a:lnTo>
                  <a:lnTo>
                    <a:pt x="87" y="51"/>
                  </a:lnTo>
                  <a:lnTo>
                    <a:pt x="94" y="53"/>
                  </a:lnTo>
                  <a:lnTo>
                    <a:pt x="100" y="55"/>
                  </a:lnTo>
                  <a:lnTo>
                    <a:pt x="104" y="57"/>
                  </a:lnTo>
                  <a:lnTo>
                    <a:pt x="109" y="59"/>
                  </a:lnTo>
                  <a:lnTo>
                    <a:pt x="114" y="60"/>
                  </a:lnTo>
                  <a:lnTo>
                    <a:pt x="136" y="64"/>
                  </a:lnTo>
                  <a:lnTo>
                    <a:pt x="150" y="62"/>
                  </a:lnTo>
                  <a:lnTo>
                    <a:pt x="159" y="56"/>
                  </a:lnTo>
                  <a:lnTo>
                    <a:pt x="163" y="49"/>
                  </a:lnTo>
                  <a:lnTo>
                    <a:pt x="163" y="41"/>
                  </a:lnTo>
                  <a:lnTo>
                    <a:pt x="161" y="33"/>
                  </a:lnTo>
                  <a:lnTo>
                    <a:pt x="159" y="25"/>
                  </a:lnTo>
                  <a:lnTo>
                    <a:pt x="156" y="22"/>
                  </a:lnTo>
                  <a:lnTo>
                    <a:pt x="154" y="21"/>
                  </a:lnTo>
                  <a:lnTo>
                    <a:pt x="152" y="19"/>
                  </a:lnTo>
                  <a:lnTo>
                    <a:pt x="148" y="17"/>
                  </a:lnTo>
                  <a:lnTo>
                    <a:pt x="143" y="14"/>
                  </a:lnTo>
                  <a:lnTo>
                    <a:pt x="137" y="11"/>
                  </a:lnTo>
                  <a:lnTo>
                    <a:pt x="129" y="8"/>
                  </a:lnTo>
                  <a:lnTo>
                    <a:pt x="120" y="5"/>
                  </a:lnTo>
                  <a:lnTo>
                    <a:pt x="109" y="2"/>
                  </a:lnTo>
                </a:path>
              </a:pathLst>
            </a:custGeom>
            <a:solidFill>
              <a:srgbClr val="DDDDD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vi-VN" b="1">
                <a:solidFill>
                  <a:srgbClr val="000000"/>
                </a:solidFill>
                <a:latin typeface="Arial" panose="020B0604020202020204" pitchFamily="34" charset="0"/>
              </a:endParaRPr>
            </a:p>
          </p:txBody>
        </p:sp>
        <p:sp>
          <p:nvSpPr>
            <p:cNvPr id="257" name="Freeform 14"/>
            <p:cNvSpPr>
              <a:spLocks/>
            </p:cNvSpPr>
            <p:nvPr/>
          </p:nvSpPr>
          <p:spPr bwMode="auto">
            <a:xfrm>
              <a:off x="1955" y="3146"/>
              <a:ext cx="51" cy="39"/>
            </a:xfrm>
            <a:custGeom>
              <a:avLst/>
              <a:gdLst>
                <a:gd name="T0" fmla="*/ 0 w 51"/>
                <a:gd name="T1" fmla="*/ 38 h 39"/>
                <a:gd name="T2" fmla="*/ 0 w 51"/>
                <a:gd name="T3" fmla="*/ 38 h 39"/>
                <a:gd name="T4" fmla="*/ 0 w 51"/>
                <a:gd name="T5" fmla="*/ 38 h 39"/>
                <a:gd name="T6" fmla="*/ 0 w 51"/>
                <a:gd name="T7" fmla="*/ 38 h 39"/>
                <a:gd name="T8" fmla="*/ 0 w 51"/>
                <a:gd name="T9" fmla="*/ 36 h 39"/>
                <a:gd name="T10" fmla="*/ 0 w 51"/>
                <a:gd name="T11" fmla="*/ 35 h 39"/>
                <a:gd name="T12" fmla="*/ 0 w 51"/>
                <a:gd name="T13" fmla="*/ 35 h 39"/>
                <a:gd name="T14" fmla="*/ 0 w 51"/>
                <a:gd name="T15" fmla="*/ 34 h 39"/>
                <a:gd name="T16" fmla="*/ 0 w 51"/>
                <a:gd name="T17" fmla="*/ 33 h 39"/>
                <a:gd name="T18" fmla="*/ 2 w 51"/>
                <a:gd name="T19" fmla="*/ 32 h 39"/>
                <a:gd name="T20" fmla="*/ 8 w 51"/>
                <a:gd name="T21" fmla="*/ 28 h 39"/>
                <a:gd name="T22" fmla="*/ 15 w 51"/>
                <a:gd name="T23" fmla="*/ 23 h 39"/>
                <a:gd name="T24" fmla="*/ 23 w 51"/>
                <a:gd name="T25" fmla="*/ 16 h 39"/>
                <a:gd name="T26" fmla="*/ 32 w 51"/>
                <a:gd name="T27" fmla="*/ 10 h 39"/>
                <a:gd name="T28" fmla="*/ 40 w 51"/>
                <a:gd name="T29" fmla="*/ 5 h 39"/>
                <a:gd name="T30" fmla="*/ 45 w 51"/>
                <a:gd name="T31" fmla="*/ 1 h 39"/>
                <a:gd name="T32" fmla="*/ 48 w 51"/>
                <a:gd name="T33" fmla="*/ 0 h 39"/>
                <a:gd name="T34" fmla="*/ 48 w 51"/>
                <a:gd name="T35" fmla="*/ 0 h 39"/>
                <a:gd name="T36" fmla="*/ 48 w 51"/>
                <a:gd name="T37" fmla="*/ 0 h 39"/>
                <a:gd name="T38" fmla="*/ 48 w 51"/>
                <a:gd name="T39" fmla="*/ 0 h 39"/>
                <a:gd name="T40" fmla="*/ 50 w 51"/>
                <a:gd name="T41" fmla="*/ 0 h 39"/>
                <a:gd name="T42" fmla="*/ 48 w 51"/>
                <a:gd name="T43" fmla="*/ 0 h 39"/>
                <a:gd name="T44" fmla="*/ 48 w 51"/>
                <a:gd name="T45" fmla="*/ 0 h 39"/>
                <a:gd name="T46" fmla="*/ 48 w 51"/>
                <a:gd name="T47" fmla="*/ 0 h 39"/>
                <a:gd name="T48" fmla="*/ 47 w 51"/>
                <a:gd name="T49" fmla="*/ 1 h 39"/>
                <a:gd name="T50" fmla="*/ 41 w 51"/>
                <a:gd name="T51" fmla="*/ 5 h 39"/>
                <a:gd name="T52" fmla="*/ 33 w 51"/>
                <a:gd name="T53" fmla="*/ 10 h 39"/>
                <a:gd name="T54" fmla="*/ 26 w 51"/>
                <a:gd name="T55" fmla="*/ 16 h 39"/>
                <a:gd name="T56" fmla="*/ 17 w 51"/>
                <a:gd name="T57" fmla="*/ 23 h 39"/>
                <a:gd name="T58" fmla="*/ 10 w 51"/>
                <a:gd name="T59" fmla="*/ 28 h 39"/>
                <a:gd name="T60" fmla="*/ 3 w 51"/>
                <a:gd name="T61" fmla="*/ 32 h 39"/>
                <a:gd name="T62" fmla="*/ 1 w 51"/>
                <a:gd name="T63" fmla="*/ 33 h 39"/>
                <a:gd name="T64" fmla="*/ 1 w 51"/>
                <a:gd name="T65" fmla="*/ 34 h 39"/>
                <a:gd name="T66" fmla="*/ 1 w 51"/>
                <a:gd name="T67" fmla="*/ 35 h 39"/>
                <a:gd name="T68" fmla="*/ 1 w 51"/>
                <a:gd name="T69" fmla="*/ 35 h 39"/>
                <a:gd name="T70" fmla="*/ 1 w 51"/>
                <a:gd name="T71" fmla="*/ 36 h 39"/>
                <a:gd name="T72" fmla="*/ 1 w 51"/>
                <a:gd name="T73" fmla="*/ 36 h 39"/>
                <a:gd name="T74" fmla="*/ 1 w 51"/>
                <a:gd name="T75" fmla="*/ 38 h 39"/>
                <a:gd name="T76" fmla="*/ 1 w 51"/>
                <a:gd name="T77" fmla="*/ 38 h 39"/>
                <a:gd name="T78" fmla="*/ 1 w 51"/>
                <a:gd name="T79" fmla="*/ 38 h 39"/>
                <a:gd name="T80" fmla="*/ 0 w 51"/>
                <a:gd name="T81" fmla="*/ 38 h 3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51" h="39">
                  <a:moveTo>
                    <a:pt x="0" y="38"/>
                  </a:moveTo>
                  <a:lnTo>
                    <a:pt x="0" y="38"/>
                  </a:lnTo>
                  <a:lnTo>
                    <a:pt x="0" y="36"/>
                  </a:lnTo>
                  <a:lnTo>
                    <a:pt x="0" y="35"/>
                  </a:lnTo>
                  <a:lnTo>
                    <a:pt x="0" y="34"/>
                  </a:lnTo>
                  <a:lnTo>
                    <a:pt x="0" y="33"/>
                  </a:lnTo>
                  <a:lnTo>
                    <a:pt x="2" y="32"/>
                  </a:lnTo>
                  <a:lnTo>
                    <a:pt x="8" y="28"/>
                  </a:lnTo>
                  <a:lnTo>
                    <a:pt x="15" y="23"/>
                  </a:lnTo>
                  <a:lnTo>
                    <a:pt x="23" y="16"/>
                  </a:lnTo>
                  <a:lnTo>
                    <a:pt x="32" y="10"/>
                  </a:lnTo>
                  <a:lnTo>
                    <a:pt x="40" y="5"/>
                  </a:lnTo>
                  <a:lnTo>
                    <a:pt x="45" y="1"/>
                  </a:lnTo>
                  <a:lnTo>
                    <a:pt x="48" y="0"/>
                  </a:lnTo>
                  <a:lnTo>
                    <a:pt x="50" y="0"/>
                  </a:lnTo>
                  <a:lnTo>
                    <a:pt x="48" y="0"/>
                  </a:lnTo>
                  <a:lnTo>
                    <a:pt x="47" y="1"/>
                  </a:lnTo>
                  <a:lnTo>
                    <a:pt x="41" y="5"/>
                  </a:lnTo>
                  <a:lnTo>
                    <a:pt x="33" y="10"/>
                  </a:lnTo>
                  <a:lnTo>
                    <a:pt x="26" y="16"/>
                  </a:lnTo>
                  <a:lnTo>
                    <a:pt x="17" y="23"/>
                  </a:lnTo>
                  <a:lnTo>
                    <a:pt x="10" y="28"/>
                  </a:lnTo>
                  <a:lnTo>
                    <a:pt x="3" y="32"/>
                  </a:lnTo>
                  <a:lnTo>
                    <a:pt x="1" y="33"/>
                  </a:lnTo>
                  <a:lnTo>
                    <a:pt x="1" y="34"/>
                  </a:lnTo>
                  <a:lnTo>
                    <a:pt x="1" y="35"/>
                  </a:lnTo>
                  <a:lnTo>
                    <a:pt x="1" y="36"/>
                  </a:lnTo>
                  <a:lnTo>
                    <a:pt x="1" y="38"/>
                  </a:lnTo>
                  <a:lnTo>
                    <a:pt x="0" y="38"/>
                  </a:lnTo>
                </a:path>
              </a:pathLst>
            </a:custGeom>
            <a:solidFill>
              <a:srgbClr val="7F7F7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vi-VN" b="1">
                <a:solidFill>
                  <a:srgbClr val="000000"/>
                </a:solidFill>
                <a:latin typeface="Arial" panose="020B0604020202020204" pitchFamily="34" charset="0"/>
              </a:endParaRPr>
            </a:p>
          </p:txBody>
        </p:sp>
        <p:sp>
          <p:nvSpPr>
            <p:cNvPr id="258" name="Freeform 15"/>
            <p:cNvSpPr>
              <a:spLocks/>
            </p:cNvSpPr>
            <p:nvPr/>
          </p:nvSpPr>
          <p:spPr bwMode="auto">
            <a:xfrm>
              <a:off x="1960" y="3162"/>
              <a:ext cx="21" cy="18"/>
            </a:xfrm>
            <a:custGeom>
              <a:avLst/>
              <a:gdLst>
                <a:gd name="T0" fmla="*/ 1 w 21"/>
                <a:gd name="T1" fmla="*/ 12 h 18"/>
                <a:gd name="T2" fmla="*/ 1 w 21"/>
                <a:gd name="T3" fmla="*/ 12 h 18"/>
                <a:gd name="T4" fmla="*/ 2 w 21"/>
                <a:gd name="T5" fmla="*/ 12 h 18"/>
                <a:gd name="T6" fmla="*/ 5 w 21"/>
                <a:gd name="T7" fmla="*/ 8 h 18"/>
                <a:gd name="T8" fmla="*/ 7 w 21"/>
                <a:gd name="T9" fmla="*/ 8 h 18"/>
                <a:gd name="T10" fmla="*/ 10 w 21"/>
                <a:gd name="T11" fmla="*/ 4 h 18"/>
                <a:gd name="T12" fmla="*/ 12 w 21"/>
                <a:gd name="T13" fmla="*/ 0 h 18"/>
                <a:gd name="T14" fmla="*/ 15 w 21"/>
                <a:gd name="T15" fmla="*/ 0 h 18"/>
                <a:gd name="T16" fmla="*/ 16 w 21"/>
                <a:gd name="T17" fmla="*/ 0 h 18"/>
                <a:gd name="T18" fmla="*/ 17 w 21"/>
                <a:gd name="T19" fmla="*/ 0 h 18"/>
                <a:gd name="T20" fmla="*/ 18 w 21"/>
                <a:gd name="T21" fmla="*/ 0 h 18"/>
                <a:gd name="T22" fmla="*/ 20 w 21"/>
                <a:gd name="T23" fmla="*/ 0 h 18"/>
                <a:gd name="T24" fmla="*/ 20 w 21"/>
                <a:gd name="T25" fmla="*/ 0 h 18"/>
                <a:gd name="T26" fmla="*/ 20 w 21"/>
                <a:gd name="T27" fmla="*/ 0 h 18"/>
                <a:gd name="T28" fmla="*/ 20 w 21"/>
                <a:gd name="T29" fmla="*/ 0 h 18"/>
                <a:gd name="T30" fmla="*/ 20 w 21"/>
                <a:gd name="T31" fmla="*/ 0 h 18"/>
                <a:gd name="T32" fmla="*/ 20 w 21"/>
                <a:gd name="T33" fmla="*/ 0 h 18"/>
                <a:gd name="T34" fmla="*/ 18 w 21"/>
                <a:gd name="T35" fmla="*/ 4 h 18"/>
                <a:gd name="T36" fmla="*/ 18 w 21"/>
                <a:gd name="T37" fmla="*/ 4 h 18"/>
                <a:gd name="T38" fmla="*/ 18 w 21"/>
                <a:gd name="T39" fmla="*/ 4 h 18"/>
                <a:gd name="T40" fmla="*/ 18 w 21"/>
                <a:gd name="T41" fmla="*/ 4 h 18"/>
                <a:gd name="T42" fmla="*/ 17 w 21"/>
                <a:gd name="T43" fmla="*/ 4 h 18"/>
                <a:gd name="T44" fmla="*/ 16 w 21"/>
                <a:gd name="T45" fmla="*/ 4 h 18"/>
                <a:gd name="T46" fmla="*/ 15 w 21"/>
                <a:gd name="T47" fmla="*/ 4 h 18"/>
                <a:gd name="T48" fmla="*/ 13 w 21"/>
                <a:gd name="T49" fmla="*/ 4 h 18"/>
                <a:gd name="T50" fmla="*/ 12 w 21"/>
                <a:gd name="T51" fmla="*/ 4 h 18"/>
                <a:gd name="T52" fmla="*/ 10 w 21"/>
                <a:gd name="T53" fmla="*/ 8 h 18"/>
                <a:gd name="T54" fmla="*/ 7 w 21"/>
                <a:gd name="T55" fmla="*/ 8 h 18"/>
                <a:gd name="T56" fmla="*/ 5 w 21"/>
                <a:gd name="T57" fmla="*/ 12 h 18"/>
                <a:gd name="T58" fmla="*/ 3 w 21"/>
                <a:gd name="T59" fmla="*/ 12 h 18"/>
                <a:gd name="T60" fmla="*/ 1 w 21"/>
                <a:gd name="T61" fmla="*/ 17 h 18"/>
                <a:gd name="T62" fmla="*/ 0 w 21"/>
                <a:gd name="T63" fmla="*/ 17 h 18"/>
                <a:gd name="T64" fmla="*/ 0 w 21"/>
                <a:gd name="T65" fmla="*/ 17 h 18"/>
                <a:gd name="T66" fmla="*/ 1 w 21"/>
                <a:gd name="T67" fmla="*/ 12 h 1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1" h="18">
                  <a:moveTo>
                    <a:pt x="1" y="12"/>
                  </a:moveTo>
                  <a:lnTo>
                    <a:pt x="1" y="12"/>
                  </a:lnTo>
                  <a:lnTo>
                    <a:pt x="2" y="12"/>
                  </a:lnTo>
                  <a:lnTo>
                    <a:pt x="5" y="8"/>
                  </a:lnTo>
                  <a:lnTo>
                    <a:pt x="7" y="8"/>
                  </a:lnTo>
                  <a:lnTo>
                    <a:pt x="10" y="4"/>
                  </a:lnTo>
                  <a:lnTo>
                    <a:pt x="12" y="0"/>
                  </a:lnTo>
                  <a:lnTo>
                    <a:pt x="15" y="0"/>
                  </a:lnTo>
                  <a:lnTo>
                    <a:pt x="16" y="0"/>
                  </a:lnTo>
                  <a:lnTo>
                    <a:pt x="17" y="0"/>
                  </a:lnTo>
                  <a:lnTo>
                    <a:pt x="18" y="0"/>
                  </a:lnTo>
                  <a:lnTo>
                    <a:pt x="20" y="0"/>
                  </a:lnTo>
                  <a:lnTo>
                    <a:pt x="18" y="4"/>
                  </a:lnTo>
                  <a:lnTo>
                    <a:pt x="17" y="4"/>
                  </a:lnTo>
                  <a:lnTo>
                    <a:pt x="16" y="4"/>
                  </a:lnTo>
                  <a:lnTo>
                    <a:pt x="15" y="4"/>
                  </a:lnTo>
                  <a:lnTo>
                    <a:pt x="13" y="4"/>
                  </a:lnTo>
                  <a:lnTo>
                    <a:pt x="12" y="4"/>
                  </a:lnTo>
                  <a:lnTo>
                    <a:pt x="10" y="8"/>
                  </a:lnTo>
                  <a:lnTo>
                    <a:pt x="7" y="8"/>
                  </a:lnTo>
                  <a:lnTo>
                    <a:pt x="5" y="12"/>
                  </a:lnTo>
                  <a:lnTo>
                    <a:pt x="3" y="12"/>
                  </a:lnTo>
                  <a:lnTo>
                    <a:pt x="1" y="17"/>
                  </a:lnTo>
                  <a:lnTo>
                    <a:pt x="0" y="17"/>
                  </a:lnTo>
                  <a:lnTo>
                    <a:pt x="1" y="12"/>
                  </a:lnTo>
                </a:path>
              </a:pathLst>
            </a:custGeom>
            <a:solidFill>
              <a:srgbClr val="7F7F7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vi-VN" b="1">
                <a:solidFill>
                  <a:srgbClr val="000000"/>
                </a:solidFill>
                <a:latin typeface="Arial" panose="020B0604020202020204" pitchFamily="34" charset="0"/>
              </a:endParaRPr>
            </a:p>
          </p:txBody>
        </p:sp>
        <p:sp>
          <p:nvSpPr>
            <p:cNvPr id="259" name="Freeform 16"/>
            <p:cNvSpPr>
              <a:spLocks/>
            </p:cNvSpPr>
            <p:nvPr/>
          </p:nvSpPr>
          <p:spPr bwMode="auto">
            <a:xfrm>
              <a:off x="1039" y="2943"/>
              <a:ext cx="718" cy="329"/>
            </a:xfrm>
            <a:custGeom>
              <a:avLst/>
              <a:gdLst>
                <a:gd name="T0" fmla="*/ 232 w 718"/>
                <a:gd name="T1" fmla="*/ 328 h 329"/>
                <a:gd name="T2" fmla="*/ 717 w 718"/>
                <a:gd name="T3" fmla="*/ 215 h 329"/>
                <a:gd name="T4" fmla="*/ 717 w 718"/>
                <a:gd name="T5" fmla="*/ 162 h 329"/>
                <a:gd name="T6" fmla="*/ 385 w 718"/>
                <a:gd name="T7" fmla="*/ 0 h 329"/>
                <a:gd name="T8" fmla="*/ 0 w 718"/>
                <a:gd name="T9" fmla="*/ 192 h 329"/>
                <a:gd name="T10" fmla="*/ 0 w 718"/>
                <a:gd name="T11" fmla="*/ 217 h 329"/>
                <a:gd name="T12" fmla="*/ 232 w 718"/>
                <a:gd name="T13" fmla="*/ 328 h 32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18" h="329">
                  <a:moveTo>
                    <a:pt x="232" y="328"/>
                  </a:moveTo>
                  <a:lnTo>
                    <a:pt x="717" y="215"/>
                  </a:lnTo>
                  <a:lnTo>
                    <a:pt x="717" y="162"/>
                  </a:lnTo>
                  <a:lnTo>
                    <a:pt x="385" y="0"/>
                  </a:lnTo>
                  <a:lnTo>
                    <a:pt x="0" y="192"/>
                  </a:lnTo>
                  <a:lnTo>
                    <a:pt x="0" y="217"/>
                  </a:lnTo>
                  <a:lnTo>
                    <a:pt x="232" y="328"/>
                  </a:lnTo>
                </a:path>
              </a:pathLst>
            </a:custGeom>
            <a:solidFill>
              <a:srgbClr val="86868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vi-VN" b="1">
                <a:solidFill>
                  <a:srgbClr val="000000"/>
                </a:solidFill>
                <a:latin typeface="Arial" panose="020B0604020202020204" pitchFamily="34" charset="0"/>
              </a:endParaRPr>
            </a:p>
          </p:txBody>
        </p:sp>
        <p:sp>
          <p:nvSpPr>
            <p:cNvPr id="260" name="Freeform 17"/>
            <p:cNvSpPr>
              <a:spLocks/>
            </p:cNvSpPr>
            <p:nvPr/>
          </p:nvSpPr>
          <p:spPr bwMode="auto">
            <a:xfrm>
              <a:off x="1027" y="2885"/>
              <a:ext cx="737" cy="350"/>
            </a:xfrm>
            <a:custGeom>
              <a:avLst/>
              <a:gdLst>
                <a:gd name="T0" fmla="*/ 241 w 737"/>
                <a:gd name="T1" fmla="*/ 349 h 350"/>
                <a:gd name="T2" fmla="*/ 736 w 737"/>
                <a:gd name="T3" fmla="*/ 236 h 350"/>
                <a:gd name="T4" fmla="*/ 736 w 737"/>
                <a:gd name="T5" fmla="*/ 97 h 350"/>
                <a:gd name="T6" fmla="*/ 524 w 737"/>
                <a:gd name="T7" fmla="*/ 0 h 350"/>
                <a:gd name="T8" fmla="*/ 0 w 737"/>
                <a:gd name="T9" fmla="*/ 115 h 350"/>
                <a:gd name="T10" fmla="*/ 0 w 737"/>
                <a:gd name="T11" fmla="*/ 234 h 350"/>
                <a:gd name="T12" fmla="*/ 241 w 737"/>
                <a:gd name="T13" fmla="*/ 349 h 3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37" h="350">
                  <a:moveTo>
                    <a:pt x="241" y="349"/>
                  </a:moveTo>
                  <a:lnTo>
                    <a:pt x="736" y="236"/>
                  </a:lnTo>
                  <a:lnTo>
                    <a:pt x="736" y="97"/>
                  </a:lnTo>
                  <a:lnTo>
                    <a:pt x="524" y="0"/>
                  </a:lnTo>
                  <a:lnTo>
                    <a:pt x="0" y="115"/>
                  </a:lnTo>
                  <a:lnTo>
                    <a:pt x="0" y="234"/>
                  </a:lnTo>
                  <a:lnTo>
                    <a:pt x="241" y="349"/>
                  </a:lnTo>
                </a:path>
              </a:pathLst>
            </a:custGeom>
            <a:solidFill>
              <a:srgbClr val="DDDDD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vi-VN" b="1">
                <a:solidFill>
                  <a:srgbClr val="000000"/>
                </a:solidFill>
                <a:latin typeface="Arial" panose="020B0604020202020204" pitchFamily="34" charset="0"/>
              </a:endParaRPr>
            </a:p>
          </p:txBody>
        </p:sp>
        <p:sp>
          <p:nvSpPr>
            <p:cNvPr id="261" name="Freeform 18"/>
            <p:cNvSpPr>
              <a:spLocks/>
            </p:cNvSpPr>
            <p:nvPr/>
          </p:nvSpPr>
          <p:spPr bwMode="auto">
            <a:xfrm>
              <a:off x="1035" y="3013"/>
              <a:ext cx="235" cy="212"/>
            </a:xfrm>
            <a:custGeom>
              <a:avLst/>
              <a:gdLst>
                <a:gd name="T0" fmla="*/ 0 w 235"/>
                <a:gd name="T1" fmla="*/ 102 h 212"/>
                <a:gd name="T2" fmla="*/ 0 w 235"/>
                <a:gd name="T3" fmla="*/ 0 h 212"/>
                <a:gd name="T4" fmla="*/ 227 w 235"/>
                <a:gd name="T5" fmla="*/ 94 h 212"/>
                <a:gd name="T6" fmla="*/ 234 w 235"/>
                <a:gd name="T7" fmla="*/ 211 h 212"/>
                <a:gd name="T8" fmla="*/ 0 w 235"/>
                <a:gd name="T9" fmla="*/ 102 h 2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5" h="212">
                  <a:moveTo>
                    <a:pt x="0" y="102"/>
                  </a:moveTo>
                  <a:lnTo>
                    <a:pt x="0" y="0"/>
                  </a:lnTo>
                  <a:lnTo>
                    <a:pt x="227" y="94"/>
                  </a:lnTo>
                  <a:lnTo>
                    <a:pt x="234" y="211"/>
                  </a:lnTo>
                  <a:lnTo>
                    <a:pt x="0" y="102"/>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vi-VN" b="1">
                <a:solidFill>
                  <a:srgbClr val="000000"/>
                </a:solidFill>
                <a:latin typeface="Arial" panose="020B0604020202020204" pitchFamily="34" charset="0"/>
              </a:endParaRPr>
            </a:p>
          </p:txBody>
        </p:sp>
        <p:sp>
          <p:nvSpPr>
            <p:cNvPr id="262" name="Freeform 19"/>
            <p:cNvSpPr>
              <a:spLocks/>
            </p:cNvSpPr>
            <p:nvPr/>
          </p:nvSpPr>
          <p:spPr bwMode="auto">
            <a:xfrm>
              <a:off x="1292" y="3158"/>
              <a:ext cx="623" cy="199"/>
            </a:xfrm>
            <a:custGeom>
              <a:avLst/>
              <a:gdLst>
                <a:gd name="T0" fmla="*/ 111 w 623"/>
                <a:gd name="T1" fmla="*/ 198 h 199"/>
                <a:gd name="T2" fmla="*/ 622 w 623"/>
                <a:gd name="T3" fmla="*/ 83 h 199"/>
                <a:gd name="T4" fmla="*/ 446 w 623"/>
                <a:gd name="T5" fmla="*/ 0 h 199"/>
                <a:gd name="T6" fmla="*/ 0 w 623"/>
                <a:gd name="T7" fmla="*/ 92 h 199"/>
                <a:gd name="T8" fmla="*/ 111 w 623"/>
                <a:gd name="T9" fmla="*/ 198 h 1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3" h="199">
                  <a:moveTo>
                    <a:pt x="111" y="198"/>
                  </a:moveTo>
                  <a:lnTo>
                    <a:pt x="622" y="83"/>
                  </a:lnTo>
                  <a:lnTo>
                    <a:pt x="446" y="0"/>
                  </a:lnTo>
                  <a:lnTo>
                    <a:pt x="0" y="92"/>
                  </a:lnTo>
                  <a:lnTo>
                    <a:pt x="111" y="198"/>
                  </a:lnTo>
                </a:path>
              </a:pathLst>
            </a:custGeom>
            <a:solidFill>
              <a:srgbClr val="86868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vi-VN" b="1">
                <a:solidFill>
                  <a:srgbClr val="000000"/>
                </a:solidFill>
                <a:latin typeface="Arial" panose="020B0604020202020204" pitchFamily="34" charset="0"/>
              </a:endParaRPr>
            </a:p>
          </p:txBody>
        </p:sp>
        <p:sp>
          <p:nvSpPr>
            <p:cNvPr id="263" name="Freeform 20"/>
            <p:cNvSpPr>
              <a:spLocks/>
            </p:cNvSpPr>
            <p:nvPr/>
          </p:nvSpPr>
          <p:spPr bwMode="auto">
            <a:xfrm>
              <a:off x="1297" y="3146"/>
              <a:ext cx="621" cy="200"/>
            </a:xfrm>
            <a:custGeom>
              <a:avLst/>
              <a:gdLst>
                <a:gd name="T0" fmla="*/ 110 w 621"/>
                <a:gd name="T1" fmla="*/ 199 h 200"/>
                <a:gd name="T2" fmla="*/ 620 w 621"/>
                <a:gd name="T3" fmla="*/ 83 h 200"/>
                <a:gd name="T4" fmla="*/ 444 w 621"/>
                <a:gd name="T5" fmla="*/ 0 h 200"/>
                <a:gd name="T6" fmla="*/ 0 w 621"/>
                <a:gd name="T7" fmla="*/ 96 h 200"/>
                <a:gd name="T8" fmla="*/ 110 w 621"/>
                <a:gd name="T9" fmla="*/ 199 h 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1" h="200">
                  <a:moveTo>
                    <a:pt x="110" y="199"/>
                  </a:moveTo>
                  <a:lnTo>
                    <a:pt x="620" y="83"/>
                  </a:lnTo>
                  <a:lnTo>
                    <a:pt x="444" y="0"/>
                  </a:lnTo>
                  <a:lnTo>
                    <a:pt x="0" y="96"/>
                  </a:lnTo>
                  <a:lnTo>
                    <a:pt x="110" y="199"/>
                  </a:lnTo>
                </a:path>
              </a:pathLst>
            </a:custGeom>
            <a:solidFill>
              <a:srgbClr val="DDDDD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vi-VN" b="1">
                <a:solidFill>
                  <a:srgbClr val="000000"/>
                </a:solidFill>
                <a:latin typeface="Arial" panose="020B0604020202020204" pitchFamily="34" charset="0"/>
              </a:endParaRPr>
            </a:p>
          </p:txBody>
        </p:sp>
        <p:sp>
          <p:nvSpPr>
            <p:cNvPr id="264" name="Line 21"/>
            <p:cNvSpPr>
              <a:spLocks noChangeShapeType="1"/>
            </p:cNvSpPr>
            <p:nvPr/>
          </p:nvSpPr>
          <p:spPr bwMode="auto">
            <a:xfrm flipV="1">
              <a:off x="1312" y="3026"/>
              <a:ext cx="399" cy="91"/>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vi-VN" b="1">
                <a:solidFill>
                  <a:srgbClr val="000000"/>
                </a:solidFill>
                <a:latin typeface="Arial" panose="020B0604020202020204" pitchFamily="34" charset="0"/>
              </a:endParaRPr>
            </a:p>
          </p:txBody>
        </p:sp>
        <p:sp>
          <p:nvSpPr>
            <p:cNvPr id="265" name="Freeform 22"/>
            <p:cNvSpPr>
              <a:spLocks/>
            </p:cNvSpPr>
            <p:nvPr/>
          </p:nvSpPr>
          <p:spPr bwMode="auto">
            <a:xfrm>
              <a:off x="1312" y="3026"/>
              <a:ext cx="400" cy="92"/>
            </a:xfrm>
            <a:custGeom>
              <a:avLst/>
              <a:gdLst>
                <a:gd name="T0" fmla="*/ 0 w 400"/>
                <a:gd name="T1" fmla="*/ 91 h 92"/>
                <a:gd name="T2" fmla="*/ 399 w 400"/>
                <a:gd name="T3" fmla="*/ 0 h 92"/>
                <a:gd name="T4" fmla="*/ 0 w 400"/>
                <a:gd name="T5" fmla="*/ 91 h 92"/>
                <a:gd name="T6" fmla="*/ 0 60000 65536"/>
                <a:gd name="T7" fmla="*/ 0 60000 65536"/>
                <a:gd name="T8" fmla="*/ 0 60000 65536"/>
              </a:gdLst>
              <a:ahLst/>
              <a:cxnLst>
                <a:cxn ang="T6">
                  <a:pos x="T0" y="T1"/>
                </a:cxn>
                <a:cxn ang="T7">
                  <a:pos x="T2" y="T3"/>
                </a:cxn>
                <a:cxn ang="T8">
                  <a:pos x="T4" y="T5"/>
                </a:cxn>
              </a:cxnLst>
              <a:rect l="0" t="0" r="r" b="b"/>
              <a:pathLst>
                <a:path w="400" h="92">
                  <a:moveTo>
                    <a:pt x="0" y="91"/>
                  </a:moveTo>
                  <a:lnTo>
                    <a:pt x="399" y="0"/>
                  </a:lnTo>
                  <a:lnTo>
                    <a:pt x="0" y="91"/>
                  </a:lnTo>
                </a:path>
              </a:pathLst>
            </a:custGeom>
            <a:noFill/>
            <a:ln w="12700" cap="rnd" cmpd="sng">
              <a:solidFill>
                <a:srgbClr val="B2B2B2"/>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vi-VN" b="1">
                <a:solidFill>
                  <a:srgbClr val="000000"/>
                </a:solidFill>
                <a:latin typeface="Arial" panose="020B0604020202020204" pitchFamily="34" charset="0"/>
              </a:endParaRPr>
            </a:p>
          </p:txBody>
        </p:sp>
        <p:sp>
          <p:nvSpPr>
            <p:cNvPr id="266" name="Freeform 23"/>
            <p:cNvSpPr>
              <a:spLocks/>
            </p:cNvSpPr>
            <p:nvPr/>
          </p:nvSpPr>
          <p:spPr bwMode="auto">
            <a:xfrm>
              <a:off x="1335" y="3095"/>
              <a:ext cx="84" cy="27"/>
            </a:xfrm>
            <a:custGeom>
              <a:avLst/>
              <a:gdLst>
                <a:gd name="T0" fmla="*/ 0 w 84"/>
                <a:gd name="T1" fmla="*/ 17 h 27"/>
                <a:gd name="T2" fmla="*/ 81 w 84"/>
                <a:gd name="T3" fmla="*/ 0 h 27"/>
                <a:gd name="T4" fmla="*/ 83 w 84"/>
                <a:gd name="T5" fmla="*/ 8 h 27"/>
                <a:gd name="T6" fmla="*/ 1 w 84"/>
                <a:gd name="T7" fmla="*/ 26 h 27"/>
                <a:gd name="T8" fmla="*/ 0 w 84"/>
                <a:gd name="T9" fmla="*/ 17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 h="27">
                  <a:moveTo>
                    <a:pt x="0" y="17"/>
                  </a:moveTo>
                  <a:lnTo>
                    <a:pt x="81" y="0"/>
                  </a:lnTo>
                  <a:lnTo>
                    <a:pt x="83" y="8"/>
                  </a:lnTo>
                  <a:lnTo>
                    <a:pt x="1" y="26"/>
                  </a:lnTo>
                  <a:lnTo>
                    <a:pt x="0" y="17"/>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vi-VN" b="1">
                <a:solidFill>
                  <a:srgbClr val="000000"/>
                </a:solidFill>
                <a:latin typeface="Arial" panose="020B0604020202020204" pitchFamily="34" charset="0"/>
              </a:endParaRPr>
            </a:p>
          </p:txBody>
        </p:sp>
        <p:sp>
          <p:nvSpPr>
            <p:cNvPr id="267" name="Freeform 24"/>
            <p:cNvSpPr>
              <a:spLocks/>
            </p:cNvSpPr>
            <p:nvPr/>
          </p:nvSpPr>
          <p:spPr bwMode="auto">
            <a:xfrm>
              <a:off x="1335" y="3095"/>
              <a:ext cx="84" cy="27"/>
            </a:xfrm>
            <a:custGeom>
              <a:avLst/>
              <a:gdLst>
                <a:gd name="T0" fmla="*/ 0 w 84"/>
                <a:gd name="T1" fmla="*/ 17 h 27"/>
                <a:gd name="T2" fmla="*/ 81 w 84"/>
                <a:gd name="T3" fmla="*/ 0 h 27"/>
                <a:gd name="T4" fmla="*/ 83 w 84"/>
                <a:gd name="T5" fmla="*/ 8 h 27"/>
                <a:gd name="T6" fmla="*/ 1 w 84"/>
                <a:gd name="T7" fmla="*/ 26 h 27"/>
                <a:gd name="T8" fmla="*/ 0 w 84"/>
                <a:gd name="T9" fmla="*/ 17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 h="27">
                  <a:moveTo>
                    <a:pt x="0" y="17"/>
                  </a:moveTo>
                  <a:lnTo>
                    <a:pt x="81" y="0"/>
                  </a:lnTo>
                  <a:lnTo>
                    <a:pt x="83" y="8"/>
                  </a:lnTo>
                  <a:lnTo>
                    <a:pt x="1" y="26"/>
                  </a:lnTo>
                  <a:lnTo>
                    <a:pt x="0" y="1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vi-VN" b="1">
                <a:solidFill>
                  <a:srgbClr val="000000"/>
                </a:solidFill>
                <a:latin typeface="Arial" panose="020B0604020202020204" pitchFamily="34" charset="0"/>
              </a:endParaRPr>
            </a:p>
          </p:txBody>
        </p:sp>
        <p:sp>
          <p:nvSpPr>
            <p:cNvPr id="268" name="Freeform 25"/>
            <p:cNvSpPr>
              <a:spLocks/>
            </p:cNvSpPr>
            <p:nvPr/>
          </p:nvSpPr>
          <p:spPr bwMode="auto">
            <a:xfrm>
              <a:off x="1448" y="3069"/>
              <a:ext cx="87" cy="29"/>
            </a:xfrm>
            <a:custGeom>
              <a:avLst/>
              <a:gdLst>
                <a:gd name="T0" fmla="*/ 0 w 87"/>
                <a:gd name="T1" fmla="*/ 19 h 29"/>
                <a:gd name="T2" fmla="*/ 84 w 87"/>
                <a:gd name="T3" fmla="*/ 0 h 29"/>
                <a:gd name="T4" fmla="*/ 86 w 87"/>
                <a:gd name="T5" fmla="*/ 8 h 29"/>
                <a:gd name="T6" fmla="*/ 2 w 87"/>
                <a:gd name="T7" fmla="*/ 28 h 29"/>
                <a:gd name="T8" fmla="*/ 0 w 87"/>
                <a:gd name="T9" fmla="*/ 1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7" h="29">
                  <a:moveTo>
                    <a:pt x="0" y="19"/>
                  </a:moveTo>
                  <a:lnTo>
                    <a:pt x="84" y="0"/>
                  </a:lnTo>
                  <a:lnTo>
                    <a:pt x="86" y="8"/>
                  </a:lnTo>
                  <a:lnTo>
                    <a:pt x="2" y="28"/>
                  </a:lnTo>
                  <a:lnTo>
                    <a:pt x="0" y="19"/>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vi-VN" b="1">
                <a:solidFill>
                  <a:srgbClr val="000000"/>
                </a:solidFill>
                <a:latin typeface="Arial" panose="020B0604020202020204" pitchFamily="34" charset="0"/>
              </a:endParaRPr>
            </a:p>
          </p:txBody>
        </p:sp>
        <p:sp>
          <p:nvSpPr>
            <p:cNvPr id="269" name="Freeform 26"/>
            <p:cNvSpPr>
              <a:spLocks/>
            </p:cNvSpPr>
            <p:nvPr/>
          </p:nvSpPr>
          <p:spPr bwMode="auto">
            <a:xfrm>
              <a:off x="1448" y="3069"/>
              <a:ext cx="87" cy="29"/>
            </a:xfrm>
            <a:custGeom>
              <a:avLst/>
              <a:gdLst>
                <a:gd name="T0" fmla="*/ 0 w 87"/>
                <a:gd name="T1" fmla="*/ 19 h 29"/>
                <a:gd name="T2" fmla="*/ 84 w 87"/>
                <a:gd name="T3" fmla="*/ 0 h 29"/>
                <a:gd name="T4" fmla="*/ 86 w 87"/>
                <a:gd name="T5" fmla="*/ 8 h 29"/>
                <a:gd name="T6" fmla="*/ 2 w 87"/>
                <a:gd name="T7" fmla="*/ 28 h 29"/>
                <a:gd name="T8" fmla="*/ 0 w 87"/>
                <a:gd name="T9" fmla="*/ 1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7" h="29">
                  <a:moveTo>
                    <a:pt x="0" y="19"/>
                  </a:moveTo>
                  <a:lnTo>
                    <a:pt x="84" y="0"/>
                  </a:lnTo>
                  <a:lnTo>
                    <a:pt x="86" y="8"/>
                  </a:lnTo>
                  <a:lnTo>
                    <a:pt x="2" y="28"/>
                  </a:lnTo>
                  <a:lnTo>
                    <a:pt x="0" y="19"/>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vi-VN" b="1">
                <a:solidFill>
                  <a:srgbClr val="000000"/>
                </a:solidFill>
                <a:latin typeface="Arial" panose="020B0604020202020204" pitchFamily="34" charset="0"/>
              </a:endParaRPr>
            </a:p>
          </p:txBody>
        </p:sp>
        <p:sp>
          <p:nvSpPr>
            <p:cNvPr id="270" name="Freeform 27"/>
            <p:cNvSpPr>
              <a:spLocks/>
            </p:cNvSpPr>
            <p:nvPr/>
          </p:nvSpPr>
          <p:spPr bwMode="auto">
            <a:xfrm>
              <a:off x="1061" y="2606"/>
              <a:ext cx="680" cy="482"/>
            </a:xfrm>
            <a:custGeom>
              <a:avLst/>
              <a:gdLst>
                <a:gd name="T0" fmla="*/ 195 w 680"/>
                <a:gd name="T1" fmla="*/ 481 h 482"/>
                <a:gd name="T2" fmla="*/ 679 w 680"/>
                <a:gd name="T3" fmla="*/ 375 h 482"/>
                <a:gd name="T4" fmla="*/ 663 w 680"/>
                <a:gd name="T5" fmla="*/ 21 h 482"/>
                <a:gd name="T6" fmla="*/ 634 w 680"/>
                <a:gd name="T7" fmla="*/ 0 h 482"/>
                <a:gd name="T8" fmla="*/ 197 w 680"/>
                <a:gd name="T9" fmla="*/ 97 h 482"/>
                <a:gd name="T10" fmla="*/ 94 w 680"/>
                <a:gd name="T11" fmla="*/ 51 h 482"/>
                <a:gd name="T12" fmla="*/ 0 w 680"/>
                <a:gd name="T13" fmla="*/ 99 h 482"/>
                <a:gd name="T14" fmla="*/ 41 w 680"/>
                <a:gd name="T15" fmla="*/ 382 h 482"/>
                <a:gd name="T16" fmla="*/ 195 w 680"/>
                <a:gd name="T17" fmla="*/ 481 h 4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80" h="482">
                  <a:moveTo>
                    <a:pt x="195" y="481"/>
                  </a:moveTo>
                  <a:lnTo>
                    <a:pt x="679" y="375"/>
                  </a:lnTo>
                  <a:lnTo>
                    <a:pt x="663" y="21"/>
                  </a:lnTo>
                  <a:lnTo>
                    <a:pt x="634" y="0"/>
                  </a:lnTo>
                  <a:lnTo>
                    <a:pt x="197" y="97"/>
                  </a:lnTo>
                  <a:lnTo>
                    <a:pt x="94" y="51"/>
                  </a:lnTo>
                  <a:lnTo>
                    <a:pt x="0" y="99"/>
                  </a:lnTo>
                  <a:lnTo>
                    <a:pt x="41" y="382"/>
                  </a:lnTo>
                  <a:lnTo>
                    <a:pt x="195" y="48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vi-VN" b="1">
                <a:solidFill>
                  <a:srgbClr val="000000"/>
                </a:solidFill>
                <a:latin typeface="Arial" panose="020B0604020202020204" pitchFamily="34" charset="0"/>
              </a:endParaRPr>
            </a:p>
          </p:txBody>
        </p:sp>
        <p:sp>
          <p:nvSpPr>
            <p:cNvPr id="271" name="Freeform 28"/>
            <p:cNvSpPr>
              <a:spLocks/>
            </p:cNvSpPr>
            <p:nvPr/>
          </p:nvSpPr>
          <p:spPr bwMode="auto">
            <a:xfrm>
              <a:off x="1051" y="2588"/>
              <a:ext cx="699" cy="488"/>
            </a:xfrm>
            <a:custGeom>
              <a:avLst/>
              <a:gdLst>
                <a:gd name="T0" fmla="*/ 119 w 699"/>
                <a:gd name="T1" fmla="*/ 435 h 488"/>
                <a:gd name="T2" fmla="*/ 217 w 699"/>
                <a:gd name="T3" fmla="*/ 487 h 488"/>
                <a:gd name="T4" fmla="*/ 698 w 699"/>
                <a:gd name="T5" fmla="*/ 375 h 488"/>
                <a:gd name="T6" fmla="*/ 682 w 699"/>
                <a:gd name="T7" fmla="*/ 21 h 488"/>
                <a:gd name="T8" fmla="*/ 653 w 699"/>
                <a:gd name="T9" fmla="*/ 0 h 488"/>
                <a:gd name="T10" fmla="*/ 215 w 699"/>
                <a:gd name="T11" fmla="*/ 96 h 488"/>
                <a:gd name="T12" fmla="*/ 112 w 699"/>
                <a:gd name="T13" fmla="*/ 52 h 488"/>
                <a:gd name="T14" fmla="*/ 14 w 699"/>
                <a:gd name="T15" fmla="*/ 85 h 488"/>
                <a:gd name="T16" fmla="*/ 0 w 699"/>
                <a:gd name="T17" fmla="*/ 96 h 488"/>
                <a:gd name="T18" fmla="*/ 0 w 699"/>
                <a:gd name="T19" fmla="*/ 338 h 488"/>
                <a:gd name="T20" fmla="*/ 119 w 699"/>
                <a:gd name="T21" fmla="*/ 435 h 48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9" h="488">
                  <a:moveTo>
                    <a:pt x="119" y="435"/>
                  </a:moveTo>
                  <a:lnTo>
                    <a:pt x="217" y="487"/>
                  </a:lnTo>
                  <a:lnTo>
                    <a:pt x="698" y="375"/>
                  </a:lnTo>
                  <a:lnTo>
                    <a:pt x="682" y="21"/>
                  </a:lnTo>
                  <a:lnTo>
                    <a:pt x="653" y="0"/>
                  </a:lnTo>
                  <a:lnTo>
                    <a:pt x="215" y="96"/>
                  </a:lnTo>
                  <a:lnTo>
                    <a:pt x="112" y="52"/>
                  </a:lnTo>
                  <a:lnTo>
                    <a:pt x="14" y="85"/>
                  </a:lnTo>
                  <a:lnTo>
                    <a:pt x="0" y="96"/>
                  </a:lnTo>
                  <a:lnTo>
                    <a:pt x="0" y="338"/>
                  </a:lnTo>
                  <a:lnTo>
                    <a:pt x="119" y="435"/>
                  </a:lnTo>
                </a:path>
              </a:pathLst>
            </a:custGeom>
            <a:solidFill>
              <a:srgbClr val="DDDDD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vi-VN" b="1">
                <a:solidFill>
                  <a:srgbClr val="000000"/>
                </a:solidFill>
                <a:latin typeface="Arial" panose="020B0604020202020204" pitchFamily="34" charset="0"/>
              </a:endParaRPr>
            </a:p>
          </p:txBody>
        </p:sp>
        <p:sp>
          <p:nvSpPr>
            <p:cNvPr id="272" name="Freeform 29"/>
            <p:cNvSpPr>
              <a:spLocks/>
            </p:cNvSpPr>
            <p:nvPr/>
          </p:nvSpPr>
          <p:spPr bwMode="auto">
            <a:xfrm>
              <a:off x="1061" y="2656"/>
              <a:ext cx="91" cy="332"/>
            </a:xfrm>
            <a:custGeom>
              <a:avLst/>
              <a:gdLst>
                <a:gd name="T0" fmla="*/ 0 w 91"/>
                <a:gd name="T1" fmla="*/ 258 h 332"/>
                <a:gd name="T2" fmla="*/ 3 w 91"/>
                <a:gd name="T3" fmla="*/ 32 h 332"/>
                <a:gd name="T4" fmla="*/ 90 w 91"/>
                <a:gd name="T5" fmla="*/ 0 h 332"/>
                <a:gd name="T6" fmla="*/ 88 w 91"/>
                <a:gd name="T7" fmla="*/ 331 h 332"/>
                <a:gd name="T8" fmla="*/ 0 w 91"/>
                <a:gd name="T9" fmla="*/ 258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 h="332">
                  <a:moveTo>
                    <a:pt x="0" y="258"/>
                  </a:moveTo>
                  <a:lnTo>
                    <a:pt x="3" y="32"/>
                  </a:lnTo>
                  <a:lnTo>
                    <a:pt x="90" y="0"/>
                  </a:lnTo>
                  <a:lnTo>
                    <a:pt x="88" y="331"/>
                  </a:lnTo>
                  <a:lnTo>
                    <a:pt x="0" y="258"/>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vi-VN" b="1">
                <a:solidFill>
                  <a:srgbClr val="000000"/>
                </a:solidFill>
                <a:latin typeface="Arial" panose="020B0604020202020204" pitchFamily="34" charset="0"/>
              </a:endParaRPr>
            </a:p>
          </p:txBody>
        </p:sp>
        <p:sp>
          <p:nvSpPr>
            <p:cNvPr id="273" name="Freeform 30"/>
            <p:cNvSpPr>
              <a:spLocks/>
            </p:cNvSpPr>
            <p:nvPr/>
          </p:nvSpPr>
          <p:spPr bwMode="auto">
            <a:xfrm>
              <a:off x="1177" y="2665"/>
              <a:ext cx="81" cy="386"/>
            </a:xfrm>
            <a:custGeom>
              <a:avLst/>
              <a:gdLst>
                <a:gd name="T0" fmla="*/ 0 w 81"/>
                <a:gd name="T1" fmla="*/ 346 h 386"/>
                <a:gd name="T2" fmla="*/ 80 w 81"/>
                <a:gd name="T3" fmla="*/ 385 h 386"/>
                <a:gd name="T4" fmla="*/ 80 w 81"/>
                <a:gd name="T5" fmla="*/ 34 h 386"/>
                <a:gd name="T6" fmla="*/ 5 w 81"/>
                <a:gd name="T7" fmla="*/ 0 h 386"/>
                <a:gd name="T8" fmla="*/ 0 w 81"/>
                <a:gd name="T9" fmla="*/ 346 h 3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 h="386">
                  <a:moveTo>
                    <a:pt x="0" y="346"/>
                  </a:moveTo>
                  <a:lnTo>
                    <a:pt x="80" y="385"/>
                  </a:lnTo>
                  <a:lnTo>
                    <a:pt x="80" y="34"/>
                  </a:lnTo>
                  <a:lnTo>
                    <a:pt x="5" y="0"/>
                  </a:lnTo>
                  <a:lnTo>
                    <a:pt x="0" y="34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vi-VN" b="1">
                <a:solidFill>
                  <a:srgbClr val="000000"/>
                </a:solidFill>
                <a:latin typeface="Arial" panose="020B0604020202020204" pitchFamily="34" charset="0"/>
              </a:endParaRPr>
            </a:p>
          </p:txBody>
        </p:sp>
        <p:sp>
          <p:nvSpPr>
            <p:cNvPr id="274" name="Freeform 31"/>
            <p:cNvSpPr>
              <a:spLocks/>
            </p:cNvSpPr>
            <p:nvPr/>
          </p:nvSpPr>
          <p:spPr bwMode="auto">
            <a:xfrm>
              <a:off x="1339" y="2647"/>
              <a:ext cx="348" cy="364"/>
            </a:xfrm>
            <a:custGeom>
              <a:avLst/>
              <a:gdLst>
                <a:gd name="T0" fmla="*/ 347 w 348"/>
                <a:gd name="T1" fmla="*/ 285 h 364"/>
                <a:gd name="T2" fmla="*/ 0 w 348"/>
                <a:gd name="T3" fmla="*/ 363 h 364"/>
                <a:gd name="T4" fmla="*/ 1 w 348"/>
                <a:gd name="T5" fmla="*/ 78 h 364"/>
                <a:gd name="T6" fmla="*/ 336 w 348"/>
                <a:gd name="T7" fmla="*/ 0 h 364"/>
                <a:gd name="T8" fmla="*/ 347 w 348"/>
                <a:gd name="T9" fmla="*/ 285 h 3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364">
                  <a:moveTo>
                    <a:pt x="347" y="285"/>
                  </a:moveTo>
                  <a:lnTo>
                    <a:pt x="0" y="363"/>
                  </a:lnTo>
                  <a:lnTo>
                    <a:pt x="1" y="78"/>
                  </a:lnTo>
                  <a:lnTo>
                    <a:pt x="336" y="0"/>
                  </a:lnTo>
                  <a:lnTo>
                    <a:pt x="347" y="285"/>
                  </a:lnTo>
                </a:path>
              </a:pathLst>
            </a:custGeom>
            <a:solidFill>
              <a:srgbClr val="03289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vi-VN" b="1">
                <a:solidFill>
                  <a:srgbClr val="000000"/>
                </a:solidFill>
                <a:latin typeface="Arial" panose="020B0604020202020204" pitchFamily="34" charset="0"/>
              </a:endParaRPr>
            </a:p>
          </p:txBody>
        </p:sp>
        <p:sp>
          <p:nvSpPr>
            <p:cNvPr id="275" name="Freeform 32"/>
            <p:cNvSpPr>
              <a:spLocks/>
            </p:cNvSpPr>
            <p:nvPr/>
          </p:nvSpPr>
          <p:spPr bwMode="auto">
            <a:xfrm>
              <a:off x="1163" y="2544"/>
              <a:ext cx="542" cy="141"/>
            </a:xfrm>
            <a:custGeom>
              <a:avLst/>
              <a:gdLst>
                <a:gd name="T0" fmla="*/ 439 w 542"/>
                <a:gd name="T1" fmla="*/ 0 h 141"/>
                <a:gd name="T2" fmla="*/ 541 w 542"/>
                <a:gd name="T3" fmla="*/ 43 h 141"/>
                <a:gd name="T4" fmla="*/ 103 w 542"/>
                <a:gd name="T5" fmla="*/ 140 h 141"/>
                <a:gd name="T6" fmla="*/ 0 w 542"/>
                <a:gd name="T7" fmla="*/ 97 h 141"/>
                <a:gd name="T8" fmla="*/ 439 w 542"/>
                <a:gd name="T9" fmla="*/ 0 h 1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2" h="141">
                  <a:moveTo>
                    <a:pt x="439" y="0"/>
                  </a:moveTo>
                  <a:lnTo>
                    <a:pt x="541" y="43"/>
                  </a:lnTo>
                  <a:lnTo>
                    <a:pt x="103" y="140"/>
                  </a:lnTo>
                  <a:lnTo>
                    <a:pt x="0" y="97"/>
                  </a:lnTo>
                  <a:lnTo>
                    <a:pt x="439" y="0"/>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vi-VN" b="1">
                <a:solidFill>
                  <a:srgbClr val="000000"/>
                </a:solidFill>
                <a:latin typeface="Arial" panose="020B0604020202020204" pitchFamily="34" charset="0"/>
              </a:endParaRPr>
            </a:p>
          </p:txBody>
        </p:sp>
      </p:grpSp>
      <p:sp>
        <p:nvSpPr>
          <p:cNvPr id="276" name="Oval 33"/>
          <p:cNvSpPr>
            <a:spLocks noChangeArrowheads="1"/>
          </p:cNvSpPr>
          <p:nvPr/>
        </p:nvSpPr>
        <p:spPr bwMode="blackWhite">
          <a:xfrm>
            <a:off x="3070157" y="3724344"/>
            <a:ext cx="1620837" cy="574675"/>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User</a:t>
            </a:r>
            <a:b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b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process</a:t>
            </a:r>
          </a:p>
        </p:txBody>
      </p:sp>
      <p:sp>
        <p:nvSpPr>
          <p:cNvPr id="277" name="Oval 34"/>
          <p:cNvSpPr>
            <a:spLocks noChangeArrowheads="1"/>
          </p:cNvSpPr>
          <p:nvPr/>
        </p:nvSpPr>
        <p:spPr bwMode="blackWhite">
          <a:xfrm>
            <a:off x="4946582" y="2859156"/>
            <a:ext cx="1620837" cy="576263"/>
          </a:xfrm>
          <a:prstGeom prst="ellipse">
            <a:avLst/>
          </a:prstGeom>
          <a:solidFill>
            <a:srgbClr val="99CCFF"/>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Server</a:t>
            </a:r>
            <a:b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b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process</a:t>
            </a:r>
          </a:p>
        </p:txBody>
      </p:sp>
      <p:sp>
        <p:nvSpPr>
          <p:cNvPr id="278" name="Freeform 35"/>
          <p:cNvSpPr>
            <a:spLocks/>
          </p:cNvSpPr>
          <p:nvPr/>
        </p:nvSpPr>
        <p:spPr bwMode="auto">
          <a:xfrm>
            <a:off x="4659244" y="3429069"/>
            <a:ext cx="993775" cy="536575"/>
          </a:xfrm>
          <a:custGeom>
            <a:avLst/>
            <a:gdLst>
              <a:gd name="T0" fmla="*/ 0 w 713"/>
              <a:gd name="T1" fmla="*/ 534893 h 319"/>
              <a:gd name="T2" fmla="*/ 376324 w 713"/>
              <a:gd name="T3" fmla="*/ 365006 h 319"/>
              <a:gd name="T4" fmla="*/ 306635 w 713"/>
              <a:gd name="T5" fmla="*/ 185026 h 319"/>
              <a:gd name="T6" fmla="*/ 692716 w 713"/>
              <a:gd name="T7" fmla="*/ 338093 h 319"/>
              <a:gd name="T8" fmla="*/ 634176 w 713"/>
              <a:gd name="T9" fmla="*/ 181662 h 319"/>
              <a:gd name="T10" fmla="*/ 992381 w 713"/>
              <a:gd name="T11" fmla="*/ 0 h 3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13" h="319">
                <a:moveTo>
                  <a:pt x="0" y="318"/>
                </a:moveTo>
                <a:lnTo>
                  <a:pt x="270" y="217"/>
                </a:lnTo>
                <a:lnTo>
                  <a:pt x="220" y="110"/>
                </a:lnTo>
                <a:lnTo>
                  <a:pt x="497" y="201"/>
                </a:lnTo>
                <a:lnTo>
                  <a:pt x="455" y="108"/>
                </a:lnTo>
                <a:lnTo>
                  <a:pt x="712" y="0"/>
                </a:lnTo>
              </a:path>
            </a:pathLst>
          </a:custGeom>
          <a:noFill/>
          <a:ln w="25400" cap="rnd" cmpd="sng">
            <a:solidFill>
              <a:srgbClr val="000000"/>
            </a:solidFill>
            <a:prstDash val="solid"/>
            <a:round/>
            <a:headEnd type="stealth"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279" name="Group 36"/>
          <p:cNvGrpSpPr>
            <a:grpSpLocks/>
          </p:cNvGrpSpPr>
          <p:nvPr/>
        </p:nvGrpSpPr>
        <p:grpSpPr bwMode="auto">
          <a:xfrm>
            <a:off x="6437244" y="3652906"/>
            <a:ext cx="2641600" cy="2009775"/>
            <a:chOff x="3456" y="1329"/>
            <a:chExt cx="1664" cy="1266"/>
          </a:xfrm>
        </p:grpSpPr>
        <p:sp>
          <p:nvSpPr>
            <p:cNvPr id="280" name="Rectangle 37"/>
            <p:cNvSpPr>
              <a:spLocks noChangeArrowheads="1"/>
            </p:cNvSpPr>
            <p:nvPr/>
          </p:nvSpPr>
          <p:spPr bwMode="blackWhite">
            <a:xfrm>
              <a:off x="3456" y="1334"/>
              <a:ext cx="1664" cy="1261"/>
            </a:xfrm>
            <a:prstGeom prst="rect">
              <a:avLst/>
            </a:prstGeom>
            <a:noFill/>
            <a:ln w="25400">
              <a:solidFill>
                <a:srgbClr val="000000"/>
              </a:solidFill>
              <a:miter lim="800000"/>
              <a:headEnd/>
              <a:tailEnd/>
            </a:ln>
            <a:effectLst/>
            <a:extLst>
              <a:ext uri="{909E8E84-426E-40DD-AFC4-6F175D3DCCD1}">
                <a14:hiddenFill xmlns:a14="http://schemas.microsoft.com/office/drawing/2010/main">
                  <a:gradFill rotWithShape="0">
                    <a:gsLst>
                      <a:gs pos="0">
                        <a:schemeClr val="tx1">
                          <a:gamma/>
                          <a:shade val="89804"/>
                          <a:invGamma/>
                        </a:schemeClr>
                      </a:gs>
                      <a:gs pos="50000">
                        <a:schemeClr val="tx1"/>
                      </a:gs>
                      <a:gs pos="100000">
                        <a:schemeClr val="tx1">
                          <a:gamma/>
                          <a:shade val="89804"/>
                          <a:invGamma/>
                        </a:schemeClr>
                      </a:gs>
                    </a:gsLst>
                    <a:lin ang="27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1" name="Rectangle 38"/>
            <p:cNvSpPr>
              <a:spLocks noChangeArrowheads="1"/>
            </p:cNvSpPr>
            <p:nvPr/>
          </p:nvSpPr>
          <p:spPr bwMode="blackWhite">
            <a:xfrm>
              <a:off x="3596" y="1533"/>
              <a:ext cx="1386" cy="619"/>
            </a:xfrm>
            <a:prstGeom prst="rect">
              <a:avLst/>
            </a:prstGeom>
            <a:solidFill>
              <a:srgbClr val="FF66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2" name="Rectangle 39"/>
            <p:cNvSpPr>
              <a:spLocks noChangeArrowheads="1"/>
            </p:cNvSpPr>
            <p:nvPr/>
          </p:nvSpPr>
          <p:spPr bwMode="blackWhite">
            <a:xfrm>
              <a:off x="3629" y="1611"/>
              <a:ext cx="1305" cy="381"/>
            </a:xfrm>
            <a:prstGeom prst="rect">
              <a:avLst/>
            </a:prstGeom>
            <a:solidFill>
              <a:srgbClr val="CCCCCC"/>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3" name="Rectangle 40"/>
            <p:cNvSpPr>
              <a:spLocks noChangeArrowheads="1"/>
            </p:cNvSpPr>
            <p:nvPr/>
          </p:nvSpPr>
          <p:spPr bwMode="blackWhite">
            <a:xfrm>
              <a:off x="4467" y="1626"/>
              <a:ext cx="432" cy="346"/>
            </a:xfrm>
            <a:prstGeom prst="rect">
              <a:avLst/>
            </a:prstGeom>
            <a:solidFill>
              <a:srgbClr val="FFCC33"/>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4" name="Rectangle 41"/>
            <p:cNvSpPr>
              <a:spLocks noChangeArrowheads="1"/>
            </p:cNvSpPr>
            <p:nvPr/>
          </p:nvSpPr>
          <p:spPr bwMode="blackWhite">
            <a:xfrm>
              <a:off x="4502" y="1847"/>
              <a:ext cx="365" cy="107"/>
            </a:xfrm>
            <a:prstGeom prst="rect">
              <a:avLst/>
            </a:prstGeom>
            <a:solidFill>
              <a:srgbClr val="99CC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5" name="Rectangle 42"/>
            <p:cNvSpPr>
              <a:spLocks noChangeArrowheads="1"/>
            </p:cNvSpPr>
            <p:nvPr/>
          </p:nvSpPr>
          <p:spPr bwMode="blackWhite">
            <a:xfrm>
              <a:off x="4502" y="1698"/>
              <a:ext cx="365" cy="122"/>
            </a:xfrm>
            <a:prstGeom prst="rect">
              <a:avLst/>
            </a:prstGeom>
            <a:solidFill>
              <a:srgbClr val="99CC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6" name="Oval 43"/>
            <p:cNvSpPr>
              <a:spLocks noChangeArrowheads="1"/>
            </p:cNvSpPr>
            <p:nvPr/>
          </p:nvSpPr>
          <p:spPr bwMode="blackWhite">
            <a:xfrm>
              <a:off x="3942" y="2041"/>
              <a:ext cx="193" cy="8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7" name="Oval 44"/>
            <p:cNvSpPr>
              <a:spLocks noChangeArrowheads="1"/>
            </p:cNvSpPr>
            <p:nvPr/>
          </p:nvSpPr>
          <p:spPr bwMode="blackWhite">
            <a:xfrm>
              <a:off x="3715" y="2041"/>
              <a:ext cx="192" cy="8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8" name="Oval 45"/>
            <p:cNvSpPr>
              <a:spLocks noChangeArrowheads="1"/>
            </p:cNvSpPr>
            <p:nvPr/>
          </p:nvSpPr>
          <p:spPr bwMode="blackWhite">
            <a:xfrm>
              <a:off x="4396" y="2041"/>
              <a:ext cx="190" cy="8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9" name="Oval 46"/>
            <p:cNvSpPr>
              <a:spLocks noChangeArrowheads="1"/>
            </p:cNvSpPr>
            <p:nvPr/>
          </p:nvSpPr>
          <p:spPr bwMode="blackWhite">
            <a:xfrm>
              <a:off x="4164" y="2041"/>
              <a:ext cx="195" cy="8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90" name="Oval 47"/>
            <p:cNvSpPr>
              <a:spLocks noChangeArrowheads="1"/>
            </p:cNvSpPr>
            <p:nvPr/>
          </p:nvSpPr>
          <p:spPr bwMode="blackWhite">
            <a:xfrm>
              <a:off x="4625" y="2041"/>
              <a:ext cx="190" cy="8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291" name="Group 48"/>
            <p:cNvGrpSpPr>
              <a:grpSpLocks/>
            </p:cNvGrpSpPr>
            <p:nvPr/>
          </p:nvGrpSpPr>
          <p:grpSpPr bwMode="auto">
            <a:xfrm>
              <a:off x="4790" y="1761"/>
              <a:ext cx="58" cy="53"/>
              <a:chOff x="4606" y="1539"/>
              <a:chExt cx="58" cy="53"/>
            </a:xfrm>
          </p:grpSpPr>
          <p:sp>
            <p:nvSpPr>
              <p:cNvPr id="476" name="Line 49"/>
              <p:cNvSpPr>
                <a:spLocks noChangeShapeType="1"/>
              </p:cNvSpPr>
              <p:nvPr/>
            </p:nvSpPr>
            <p:spPr bwMode="blackWhite">
              <a:xfrm flipH="1">
                <a:off x="4641" y="1551"/>
                <a:ext cx="16" cy="12"/>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7" name="Line 50"/>
              <p:cNvSpPr>
                <a:spLocks noChangeShapeType="1"/>
              </p:cNvSpPr>
              <p:nvPr/>
            </p:nvSpPr>
            <p:spPr bwMode="blackWhite">
              <a:xfrm flipH="1">
                <a:off x="4642" y="1550"/>
                <a:ext cx="16" cy="15"/>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8" name="Line 51"/>
              <p:cNvSpPr>
                <a:spLocks noChangeShapeType="1"/>
              </p:cNvSpPr>
              <p:nvPr/>
            </p:nvSpPr>
            <p:spPr bwMode="blackWhite">
              <a:xfrm flipH="1">
                <a:off x="4641" y="1558"/>
                <a:ext cx="15" cy="1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9" name="Freeform 52"/>
              <p:cNvSpPr>
                <a:spLocks/>
              </p:cNvSpPr>
              <p:nvPr/>
            </p:nvSpPr>
            <p:spPr bwMode="blackWhite">
              <a:xfrm>
                <a:off x="4606" y="1543"/>
                <a:ext cx="57" cy="42"/>
              </a:xfrm>
              <a:custGeom>
                <a:avLst/>
                <a:gdLst>
                  <a:gd name="T0" fmla="*/ 56 w 57"/>
                  <a:gd name="T1" fmla="*/ 4 h 42"/>
                  <a:gd name="T2" fmla="*/ 51 w 57"/>
                  <a:gd name="T3" fmla="*/ 41 h 42"/>
                  <a:gd name="T4" fmla="*/ 0 w 57"/>
                  <a:gd name="T5" fmla="*/ 37 h 42"/>
                  <a:gd name="T6" fmla="*/ 4 w 57"/>
                  <a:gd name="T7" fmla="*/ 0 h 42"/>
                  <a:gd name="T8" fmla="*/ 56 w 57"/>
                  <a:gd name="T9" fmla="*/ 4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 h="42">
                    <a:moveTo>
                      <a:pt x="56" y="4"/>
                    </a:moveTo>
                    <a:lnTo>
                      <a:pt x="51" y="41"/>
                    </a:lnTo>
                    <a:lnTo>
                      <a:pt x="0" y="37"/>
                    </a:lnTo>
                    <a:lnTo>
                      <a:pt x="4" y="0"/>
                    </a:lnTo>
                    <a:lnTo>
                      <a:pt x="56" y="4"/>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0" name="Freeform 53"/>
              <p:cNvSpPr>
                <a:spLocks/>
              </p:cNvSpPr>
              <p:nvPr/>
            </p:nvSpPr>
            <p:spPr bwMode="blackWhite">
              <a:xfrm>
                <a:off x="4607" y="1541"/>
                <a:ext cx="56" cy="43"/>
              </a:xfrm>
              <a:custGeom>
                <a:avLst/>
                <a:gdLst>
                  <a:gd name="T0" fmla="*/ 55 w 56"/>
                  <a:gd name="T1" fmla="*/ 4 h 43"/>
                  <a:gd name="T2" fmla="*/ 50 w 56"/>
                  <a:gd name="T3" fmla="*/ 42 h 43"/>
                  <a:gd name="T4" fmla="*/ 0 w 56"/>
                  <a:gd name="T5" fmla="*/ 38 h 43"/>
                  <a:gd name="T6" fmla="*/ 4 w 56"/>
                  <a:gd name="T7" fmla="*/ 0 h 43"/>
                  <a:gd name="T8" fmla="*/ 55 w 56"/>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43">
                    <a:moveTo>
                      <a:pt x="55" y="4"/>
                    </a:moveTo>
                    <a:lnTo>
                      <a:pt x="50" y="42"/>
                    </a:lnTo>
                    <a:lnTo>
                      <a:pt x="0" y="38"/>
                    </a:lnTo>
                    <a:lnTo>
                      <a:pt x="4" y="0"/>
                    </a:lnTo>
                    <a:lnTo>
                      <a:pt x="55" y="4"/>
                    </a:lnTo>
                  </a:path>
                </a:pathLst>
              </a:custGeom>
              <a:solidFill>
                <a:srgbClr val="989898"/>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1" name="Freeform 54"/>
              <p:cNvSpPr>
                <a:spLocks/>
              </p:cNvSpPr>
              <p:nvPr/>
            </p:nvSpPr>
            <p:spPr bwMode="blackWhite">
              <a:xfrm>
                <a:off x="4610" y="1539"/>
                <a:ext cx="54" cy="44"/>
              </a:xfrm>
              <a:custGeom>
                <a:avLst/>
                <a:gdLst>
                  <a:gd name="T0" fmla="*/ 53 w 54"/>
                  <a:gd name="T1" fmla="*/ 4 h 44"/>
                  <a:gd name="T2" fmla="*/ 49 w 54"/>
                  <a:gd name="T3" fmla="*/ 43 h 44"/>
                  <a:gd name="T4" fmla="*/ 0 w 54"/>
                  <a:gd name="T5" fmla="*/ 39 h 44"/>
                  <a:gd name="T6" fmla="*/ 4 w 54"/>
                  <a:gd name="T7" fmla="*/ 0 h 44"/>
                  <a:gd name="T8" fmla="*/ 53 w 54"/>
                  <a:gd name="T9" fmla="*/ 4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44">
                    <a:moveTo>
                      <a:pt x="53" y="4"/>
                    </a:moveTo>
                    <a:lnTo>
                      <a:pt x="49" y="43"/>
                    </a:lnTo>
                    <a:lnTo>
                      <a:pt x="0" y="39"/>
                    </a:lnTo>
                    <a:lnTo>
                      <a:pt x="4" y="0"/>
                    </a:lnTo>
                    <a:lnTo>
                      <a:pt x="53" y="4"/>
                    </a:lnTo>
                  </a:path>
                </a:pathLst>
              </a:custGeom>
              <a:solidFill>
                <a:srgbClr val="FFCC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2" name="Freeform 55"/>
              <p:cNvSpPr>
                <a:spLocks/>
              </p:cNvSpPr>
              <p:nvPr/>
            </p:nvSpPr>
            <p:spPr bwMode="blackWhite">
              <a:xfrm>
                <a:off x="4610" y="1539"/>
                <a:ext cx="54" cy="44"/>
              </a:xfrm>
              <a:custGeom>
                <a:avLst/>
                <a:gdLst>
                  <a:gd name="T0" fmla="*/ 53 w 54"/>
                  <a:gd name="T1" fmla="*/ 4 h 44"/>
                  <a:gd name="T2" fmla="*/ 49 w 54"/>
                  <a:gd name="T3" fmla="*/ 43 h 44"/>
                  <a:gd name="T4" fmla="*/ 0 w 54"/>
                  <a:gd name="T5" fmla="*/ 39 h 44"/>
                  <a:gd name="T6" fmla="*/ 4 w 54"/>
                  <a:gd name="T7" fmla="*/ 0 h 44"/>
                  <a:gd name="T8" fmla="*/ 53 w 54"/>
                  <a:gd name="T9" fmla="*/ 4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44">
                    <a:moveTo>
                      <a:pt x="53" y="4"/>
                    </a:moveTo>
                    <a:lnTo>
                      <a:pt x="49" y="43"/>
                    </a:lnTo>
                    <a:lnTo>
                      <a:pt x="0" y="39"/>
                    </a:lnTo>
                    <a:lnTo>
                      <a:pt x="4" y="0"/>
                    </a:lnTo>
                    <a:lnTo>
                      <a:pt x="53" y="4"/>
                    </a:lnTo>
                  </a:path>
                </a:pathLst>
              </a:custGeom>
              <a:noFill/>
              <a:ln w="12700" cap="rnd" cmpd="sng">
                <a:solidFill>
                  <a:srgbClr val="7F7F7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3" name="Freeform 56"/>
              <p:cNvSpPr>
                <a:spLocks/>
              </p:cNvSpPr>
              <p:nvPr/>
            </p:nvSpPr>
            <p:spPr bwMode="blackWhite">
              <a:xfrm>
                <a:off x="4617" y="1543"/>
                <a:ext cx="42" cy="19"/>
              </a:xfrm>
              <a:custGeom>
                <a:avLst/>
                <a:gdLst>
                  <a:gd name="T0" fmla="*/ 41 w 42"/>
                  <a:gd name="T1" fmla="*/ 11 h 19"/>
                  <a:gd name="T2" fmla="*/ 40 w 42"/>
                  <a:gd name="T3" fmla="*/ 18 h 19"/>
                  <a:gd name="T4" fmla="*/ 0 w 42"/>
                  <a:gd name="T5" fmla="*/ 7 h 19"/>
                  <a:gd name="T6" fmla="*/ 0 w 42"/>
                  <a:gd name="T7" fmla="*/ 0 h 19"/>
                  <a:gd name="T8" fmla="*/ 41 w 42"/>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 h="19">
                    <a:moveTo>
                      <a:pt x="41" y="11"/>
                    </a:moveTo>
                    <a:lnTo>
                      <a:pt x="40" y="18"/>
                    </a:lnTo>
                    <a:lnTo>
                      <a:pt x="0" y="7"/>
                    </a:lnTo>
                    <a:lnTo>
                      <a:pt x="0" y="0"/>
                    </a:lnTo>
                    <a:lnTo>
                      <a:pt x="41"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4" name="Freeform 57"/>
              <p:cNvSpPr>
                <a:spLocks/>
              </p:cNvSpPr>
              <p:nvPr/>
            </p:nvSpPr>
            <p:spPr bwMode="blackWhite">
              <a:xfrm>
                <a:off x="4615" y="1550"/>
                <a:ext cx="44" cy="19"/>
              </a:xfrm>
              <a:custGeom>
                <a:avLst/>
                <a:gdLst>
                  <a:gd name="T0" fmla="*/ 43 w 44"/>
                  <a:gd name="T1" fmla="*/ 11 h 19"/>
                  <a:gd name="T2" fmla="*/ 42 w 44"/>
                  <a:gd name="T3" fmla="*/ 18 h 19"/>
                  <a:gd name="T4" fmla="*/ 0 w 44"/>
                  <a:gd name="T5" fmla="*/ 6 h 19"/>
                  <a:gd name="T6" fmla="*/ 0 w 44"/>
                  <a:gd name="T7" fmla="*/ 0 h 19"/>
                  <a:gd name="T8" fmla="*/ 43 w 44"/>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19">
                    <a:moveTo>
                      <a:pt x="43" y="11"/>
                    </a:moveTo>
                    <a:lnTo>
                      <a:pt x="42" y="18"/>
                    </a:lnTo>
                    <a:lnTo>
                      <a:pt x="0" y="6"/>
                    </a:lnTo>
                    <a:lnTo>
                      <a:pt x="0" y="0"/>
                    </a:lnTo>
                    <a:lnTo>
                      <a:pt x="43"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5" name="Freeform 58"/>
              <p:cNvSpPr>
                <a:spLocks/>
              </p:cNvSpPr>
              <p:nvPr/>
            </p:nvSpPr>
            <p:spPr bwMode="blackWhite">
              <a:xfrm>
                <a:off x="4615" y="1558"/>
                <a:ext cx="43" cy="19"/>
              </a:xfrm>
              <a:custGeom>
                <a:avLst/>
                <a:gdLst>
                  <a:gd name="T0" fmla="*/ 42 w 43"/>
                  <a:gd name="T1" fmla="*/ 11 h 19"/>
                  <a:gd name="T2" fmla="*/ 41 w 43"/>
                  <a:gd name="T3" fmla="*/ 18 h 19"/>
                  <a:gd name="T4" fmla="*/ 0 w 43"/>
                  <a:gd name="T5" fmla="*/ 6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6"/>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6" name="Freeform 59"/>
              <p:cNvSpPr>
                <a:spLocks/>
              </p:cNvSpPr>
              <p:nvPr/>
            </p:nvSpPr>
            <p:spPr bwMode="blackWhite">
              <a:xfrm>
                <a:off x="4615" y="1565"/>
                <a:ext cx="43" cy="19"/>
              </a:xfrm>
              <a:custGeom>
                <a:avLst/>
                <a:gdLst>
                  <a:gd name="T0" fmla="*/ 42 w 43"/>
                  <a:gd name="T1" fmla="*/ 11 h 19"/>
                  <a:gd name="T2" fmla="*/ 41 w 43"/>
                  <a:gd name="T3" fmla="*/ 18 h 19"/>
                  <a:gd name="T4" fmla="*/ 0 w 43"/>
                  <a:gd name="T5" fmla="*/ 7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7"/>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7" name="Freeform 60"/>
              <p:cNvSpPr>
                <a:spLocks/>
              </p:cNvSpPr>
              <p:nvPr/>
            </p:nvSpPr>
            <p:spPr bwMode="blackWhite">
              <a:xfrm>
                <a:off x="4615" y="1573"/>
                <a:ext cx="43" cy="19"/>
              </a:xfrm>
              <a:custGeom>
                <a:avLst/>
                <a:gdLst>
                  <a:gd name="T0" fmla="*/ 42 w 43"/>
                  <a:gd name="T1" fmla="*/ 11 h 19"/>
                  <a:gd name="T2" fmla="*/ 41 w 43"/>
                  <a:gd name="T3" fmla="*/ 18 h 19"/>
                  <a:gd name="T4" fmla="*/ 0 w 43"/>
                  <a:gd name="T5" fmla="*/ 6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6"/>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292" name="Line 61"/>
            <p:cNvSpPr>
              <a:spLocks noChangeShapeType="1"/>
            </p:cNvSpPr>
            <p:nvPr/>
          </p:nvSpPr>
          <p:spPr bwMode="blackWhite">
            <a:xfrm flipH="1">
              <a:off x="4737" y="1735"/>
              <a:ext cx="37" cy="2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293" name="Group 62"/>
            <p:cNvGrpSpPr>
              <a:grpSpLocks/>
            </p:cNvGrpSpPr>
            <p:nvPr/>
          </p:nvGrpSpPr>
          <p:grpSpPr bwMode="auto">
            <a:xfrm>
              <a:off x="4727" y="1720"/>
              <a:ext cx="59" cy="52"/>
              <a:chOff x="4543" y="1498"/>
              <a:chExt cx="59" cy="52"/>
            </a:xfrm>
          </p:grpSpPr>
          <p:sp>
            <p:nvSpPr>
              <p:cNvPr id="464" name="Line 63"/>
              <p:cNvSpPr>
                <a:spLocks noChangeShapeType="1"/>
              </p:cNvSpPr>
              <p:nvPr/>
            </p:nvSpPr>
            <p:spPr bwMode="blackWhite">
              <a:xfrm flipH="1">
                <a:off x="4581" y="1511"/>
                <a:ext cx="12" cy="12"/>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5" name="Line 64"/>
              <p:cNvSpPr>
                <a:spLocks noChangeShapeType="1"/>
              </p:cNvSpPr>
              <p:nvPr/>
            </p:nvSpPr>
            <p:spPr bwMode="blackWhite">
              <a:xfrm flipH="1">
                <a:off x="4581" y="1508"/>
                <a:ext cx="17" cy="16"/>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6" name="Line 65"/>
              <p:cNvSpPr>
                <a:spLocks noChangeShapeType="1"/>
              </p:cNvSpPr>
              <p:nvPr/>
            </p:nvSpPr>
            <p:spPr bwMode="blackWhite">
              <a:xfrm flipH="1">
                <a:off x="4581" y="1515"/>
                <a:ext cx="12" cy="12"/>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7" name="Freeform 66"/>
              <p:cNvSpPr>
                <a:spLocks/>
              </p:cNvSpPr>
              <p:nvPr/>
            </p:nvSpPr>
            <p:spPr bwMode="blackWhite">
              <a:xfrm>
                <a:off x="4543" y="1501"/>
                <a:ext cx="56" cy="44"/>
              </a:xfrm>
              <a:custGeom>
                <a:avLst/>
                <a:gdLst>
                  <a:gd name="T0" fmla="*/ 55 w 56"/>
                  <a:gd name="T1" fmla="*/ 4 h 44"/>
                  <a:gd name="T2" fmla="*/ 50 w 56"/>
                  <a:gd name="T3" fmla="*/ 43 h 44"/>
                  <a:gd name="T4" fmla="*/ 0 w 56"/>
                  <a:gd name="T5" fmla="*/ 39 h 44"/>
                  <a:gd name="T6" fmla="*/ 4 w 56"/>
                  <a:gd name="T7" fmla="*/ 0 h 44"/>
                  <a:gd name="T8" fmla="*/ 55 w 56"/>
                  <a:gd name="T9" fmla="*/ 4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44">
                    <a:moveTo>
                      <a:pt x="55" y="4"/>
                    </a:moveTo>
                    <a:lnTo>
                      <a:pt x="50" y="43"/>
                    </a:lnTo>
                    <a:lnTo>
                      <a:pt x="0" y="39"/>
                    </a:lnTo>
                    <a:lnTo>
                      <a:pt x="4" y="0"/>
                    </a:lnTo>
                    <a:lnTo>
                      <a:pt x="55" y="4"/>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8" name="Freeform 67"/>
              <p:cNvSpPr>
                <a:spLocks/>
              </p:cNvSpPr>
              <p:nvPr/>
            </p:nvSpPr>
            <p:spPr bwMode="blackWhite">
              <a:xfrm>
                <a:off x="4547" y="1500"/>
                <a:ext cx="55" cy="42"/>
              </a:xfrm>
              <a:custGeom>
                <a:avLst/>
                <a:gdLst>
                  <a:gd name="T0" fmla="*/ 54 w 55"/>
                  <a:gd name="T1" fmla="*/ 4 h 42"/>
                  <a:gd name="T2" fmla="*/ 49 w 55"/>
                  <a:gd name="T3" fmla="*/ 41 h 42"/>
                  <a:gd name="T4" fmla="*/ 0 w 55"/>
                  <a:gd name="T5" fmla="*/ 37 h 42"/>
                  <a:gd name="T6" fmla="*/ 4 w 55"/>
                  <a:gd name="T7" fmla="*/ 0 h 42"/>
                  <a:gd name="T8" fmla="*/ 54 w 55"/>
                  <a:gd name="T9" fmla="*/ 4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 h="42">
                    <a:moveTo>
                      <a:pt x="54" y="4"/>
                    </a:moveTo>
                    <a:lnTo>
                      <a:pt x="49" y="41"/>
                    </a:lnTo>
                    <a:lnTo>
                      <a:pt x="0" y="37"/>
                    </a:lnTo>
                    <a:lnTo>
                      <a:pt x="4" y="0"/>
                    </a:lnTo>
                    <a:lnTo>
                      <a:pt x="54" y="4"/>
                    </a:lnTo>
                  </a:path>
                </a:pathLst>
              </a:custGeom>
              <a:solidFill>
                <a:srgbClr val="989898"/>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9" name="Freeform 68"/>
              <p:cNvSpPr>
                <a:spLocks/>
              </p:cNvSpPr>
              <p:nvPr/>
            </p:nvSpPr>
            <p:spPr bwMode="blackWhite">
              <a:xfrm>
                <a:off x="4548" y="1498"/>
                <a:ext cx="54" cy="43"/>
              </a:xfrm>
              <a:custGeom>
                <a:avLst/>
                <a:gdLst>
                  <a:gd name="T0" fmla="*/ 53 w 54"/>
                  <a:gd name="T1" fmla="*/ 4 h 43"/>
                  <a:gd name="T2" fmla="*/ 49 w 54"/>
                  <a:gd name="T3" fmla="*/ 42 h 43"/>
                  <a:gd name="T4" fmla="*/ 0 w 54"/>
                  <a:gd name="T5" fmla="*/ 38 h 43"/>
                  <a:gd name="T6" fmla="*/ 4 w 54"/>
                  <a:gd name="T7" fmla="*/ 0 h 43"/>
                  <a:gd name="T8" fmla="*/ 53 w 54"/>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43">
                    <a:moveTo>
                      <a:pt x="53" y="4"/>
                    </a:moveTo>
                    <a:lnTo>
                      <a:pt x="49" y="42"/>
                    </a:lnTo>
                    <a:lnTo>
                      <a:pt x="0" y="38"/>
                    </a:lnTo>
                    <a:lnTo>
                      <a:pt x="4" y="0"/>
                    </a:lnTo>
                    <a:lnTo>
                      <a:pt x="53" y="4"/>
                    </a:lnTo>
                  </a:path>
                </a:pathLst>
              </a:custGeom>
              <a:solidFill>
                <a:srgbClr val="FFCC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0" name="Freeform 69"/>
              <p:cNvSpPr>
                <a:spLocks/>
              </p:cNvSpPr>
              <p:nvPr/>
            </p:nvSpPr>
            <p:spPr bwMode="blackWhite">
              <a:xfrm>
                <a:off x="4548" y="1498"/>
                <a:ext cx="54" cy="43"/>
              </a:xfrm>
              <a:custGeom>
                <a:avLst/>
                <a:gdLst>
                  <a:gd name="T0" fmla="*/ 53 w 54"/>
                  <a:gd name="T1" fmla="*/ 4 h 43"/>
                  <a:gd name="T2" fmla="*/ 49 w 54"/>
                  <a:gd name="T3" fmla="*/ 42 h 43"/>
                  <a:gd name="T4" fmla="*/ 0 w 54"/>
                  <a:gd name="T5" fmla="*/ 38 h 43"/>
                  <a:gd name="T6" fmla="*/ 4 w 54"/>
                  <a:gd name="T7" fmla="*/ 0 h 43"/>
                  <a:gd name="T8" fmla="*/ 53 w 54"/>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43">
                    <a:moveTo>
                      <a:pt x="53" y="4"/>
                    </a:moveTo>
                    <a:lnTo>
                      <a:pt x="49" y="42"/>
                    </a:lnTo>
                    <a:lnTo>
                      <a:pt x="0" y="38"/>
                    </a:lnTo>
                    <a:lnTo>
                      <a:pt x="4" y="0"/>
                    </a:lnTo>
                    <a:lnTo>
                      <a:pt x="53" y="4"/>
                    </a:lnTo>
                  </a:path>
                </a:pathLst>
              </a:custGeom>
              <a:noFill/>
              <a:ln w="12700" cap="rnd" cmpd="sng">
                <a:solidFill>
                  <a:srgbClr val="7F7F7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1" name="Freeform 70"/>
              <p:cNvSpPr>
                <a:spLocks/>
              </p:cNvSpPr>
              <p:nvPr/>
            </p:nvSpPr>
            <p:spPr bwMode="blackWhite">
              <a:xfrm>
                <a:off x="4555" y="1501"/>
                <a:ext cx="44" cy="19"/>
              </a:xfrm>
              <a:custGeom>
                <a:avLst/>
                <a:gdLst>
                  <a:gd name="T0" fmla="*/ 43 w 44"/>
                  <a:gd name="T1" fmla="*/ 11 h 19"/>
                  <a:gd name="T2" fmla="*/ 42 w 44"/>
                  <a:gd name="T3" fmla="*/ 18 h 19"/>
                  <a:gd name="T4" fmla="*/ 0 w 44"/>
                  <a:gd name="T5" fmla="*/ 7 h 19"/>
                  <a:gd name="T6" fmla="*/ 0 w 44"/>
                  <a:gd name="T7" fmla="*/ 0 h 19"/>
                  <a:gd name="T8" fmla="*/ 43 w 44"/>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19">
                    <a:moveTo>
                      <a:pt x="43" y="11"/>
                    </a:moveTo>
                    <a:lnTo>
                      <a:pt x="42" y="18"/>
                    </a:lnTo>
                    <a:lnTo>
                      <a:pt x="0" y="7"/>
                    </a:lnTo>
                    <a:lnTo>
                      <a:pt x="0" y="0"/>
                    </a:lnTo>
                    <a:lnTo>
                      <a:pt x="43"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2" name="Freeform 71"/>
              <p:cNvSpPr>
                <a:spLocks/>
              </p:cNvSpPr>
              <p:nvPr/>
            </p:nvSpPr>
            <p:spPr bwMode="blackWhite">
              <a:xfrm>
                <a:off x="4554" y="1508"/>
                <a:ext cx="43" cy="19"/>
              </a:xfrm>
              <a:custGeom>
                <a:avLst/>
                <a:gdLst>
                  <a:gd name="T0" fmla="*/ 42 w 43"/>
                  <a:gd name="T1" fmla="*/ 11 h 19"/>
                  <a:gd name="T2" fmla="*/ 41 w 43"/>
                  <a:gd name="T3" fmla="*/ 18 h 19"/>
                  <a:gd name="T4" fmla="*/ 0 w 43"/>
                  <a:gd name="T5" fmla="*/ 6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6"/>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3" name="Freeform 72"/>
              <p:cNvSpPr>
                <a:spLocks/>
              </p:cNvSpPr>
              <p:nvPr/>
            </p:nvSpPr>
            <p:spPr bwMode="blackWhite">
              <a:xfrm>
                <a:off x="4553" y="1515"/>
                <a:ext cx="43" cy="19"/>
              </a:xfrm>
              <a:custGeom>
                <a:avLst/>
                <a:gdLst>
                  <a:gd name="T0" fmla="*/ 42 w 43"/>
                  <a:gd name="T1" fmla="*/ 11 h 19"/>
                  <a:gd name="T2" fmla="*/ 41 w 43"/>
                  <a:gd name="T3" fmla="*/ 18 h 19"/>
                  <a:gd name="T4" fmla="*/ 0 w 43"/>
                  <a:gd name="T5" fmla="*/ 6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6"/>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4" name="Freeform 73"/>
              <p:cNvSpPr>
                <a:spLocks/>
              </p:cNvSpPr>
              <p:nvPr/>
            </p:nvSpPr>
            <p:spPr bwMode="blackWhite">
              <a:xfrm>
                <a:off x="4553" y="1523"/>
                <a:ext cx="43" cy="19"/>
              </a:xfrm>
              <a:custGeom>
                <a:avLst/>
                <a:gdLst>
                  <a:gd name="T0" fmla="*/ 42 w 43"/>
                  <a:gd name="T1" fmla="*/ 11 h 19"/>
                  <a:gd name="T2" fmla="*/ 41 w 43"/>
                  <a:gd name="T3" fmla="*/ 18 h 19"/>
                  <a:gd name="T4" fmla="*/ 0 w 43"/>
                  <a:gd name="T5" fmla="*/ 7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7"/>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5" name="Freeform 74"/>
              <p:cNvSpPr>
                <a:spLocks/>
              </p:cNvSpPr>
              <p:nvPr/>
            </p:nvSpPr>
            <p:spPr bwMode="blackWhite">
              <a:xfrm>
                <a:off x="4553" y="1531"/>
                <a:ext cx="41" cy="19"/>
              </a:xfrm>
              <a:custGeom>
                <a:avLst/>
                <a:gdLst>
                  <a:gd name="T0" fmla="*/ 40 w 41"/>
                  <a:gd name="T1" fmla="*/ 11 h 19"/>
                  <a:gd name="T2" fmla="*/ 39 w 41"/>
                  <a:gd name="T3" fmla="*/ 18 h 19"/>
                  <a:gd name="T4" fmla="*/ 0 w 41"/>
                  <a:gd name="T5" fmla="*/ 6 h 19"/>
                  <a:gd name="T6" fmla="*/ 0 w 41"/>
                  <a:gd name="T7" fmla="*/ 0 h 19"/>
                  <a:gd name="T8" fmla="*/ 40 w 41"/>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19">
                    <a:moveTo>
                      <a:pt x="40" y="11"/>
                    </a:moveTo>
                    <a:lnTo>
                      <a:pt x="39" y="18"/>
                    </a:lnTo>
                    <a:lnTo>
                      <a:pt x="0" y="6"/>
                    </a:lnTo>
                    <a:lnTo>
                      <a:pt x="0" y="0"/>
                    </a:lnTo>
                    <a:lnTo>
                      <a:pt x="40"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294" name="Group 75"/>
            <p:cNvGrpSpPr>
              <a:grpSpLocks/>
            </p:cNvGrpSpPr>
            <p:nvPr/>
          </p:nvGrpSpPr>
          <p:grpSpPr bwMode="auto">
            <a:xfrm>
              <a:off x="4720" y="1773"/>
              <a:ext cx="58" cy="52"/>
              <a:chOff x="4536" y="1551"/>
              <a:chExt cx="58" cy="52"/>
            </a:xfrm>
          </p:grpSpPr>
          <p:sp>
            <p:nvSpPr>
              <p:cNvPr id="452" name="Line 76"/>
              <p:cNvSpPr>
                <a:spLocks noChangeShapeType="1"/>
              </p:cNvSpPr>
              <p:nvPr/>
            </p:nvSpPr>
            <p:spPr bwMode="blackWhite">
              <a:xfrm flipH="1">
                <a:off x="4570" y="1565"/>
                <a:ext cx="17" cy="1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3" name="Line 77"/>
              <p:cNvSpPr>
                <a:spLocks noChangeShapeType="1"/>
              </p:cNvSpPr>
              <p:nvPr/>
            </p:nvSpPr>
            <p:spPr bwMode="blackWhite">
              <a:xfrm flipH="1">
                <a:off x="4573" y="1561"/>
                <a:ext cx="17" cy="16"/>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4" name="Line 78"/>
              <p:cNvSpPr>
                <a:spLocks noChangeShapeType="1"/>
              </p:cNvSpPr>
              <p:nvPr/>
            </p:nvSpPr>
            <p:spPr bwMode="blackWhite">
              <a:xfrm flipH="1">
                <a:off x="4570" y="1568"/>
                <a:ext cx="17" cy="13"/>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5" name="Freeform 79"/>
              <p:cNvSpPr>
                <a:spLocks/>
              </p:cNvSpPr>
              <p:nvPr/>
            </p:nvSpPr>
            <p:spPr bwMode="blackWhite">
              <a:xfrm>
                <a:off x="4536" y="1556"/>
                <a:ext cx="55" cy="43"/>
              </a:xfrm>
              <a:custGeom>
                <a:avLst/>
                <a:gdLst>
                  <a:gd name="T0" fmla="*/ 54 w 55"/>
                  <a:gd name="T1" fmla="*/ 4 h 43"/>
                  <a:gd name="T2" fmla="*/ 49 w 55"/>
                  <a:gd name="T3" fmla="*/ 42 h 43"/>
                  <a:gd name="T4" fmla="*/ 0 w 55"/>
                  <a:gd name="T5" fmla="*/ 38 h 43"/>
                  <a:gd name="T6" fmla="*/ 4 w 55"/>
                  <a:gd name="T7" fmla="*/ 0 h 43"/>
                  <a:gd name="T8" fmla="*/ 54 w 55"/>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 h="43">
                    <a:moveTo>
                      <a:pt x="54" y="4"/>
                    </a:moveTo>
                    <a:lnTo>
                      <a:pt x="49" y="42"/>
                    </a:lnTo>
                    <a:lnTo>
                      <a:pt x="0" y="38"/>
                    </a:lnTo>
                    <a:lnTo>
                      <a:pt x="4" y="0"/>
                    </a:lnTo>
                    <a:lnTo>
                      <a:pt x="54" y="4"/>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6" name="Freeform 80"/>
              <p:cNvSpPr>
                <a:spLocks/>
              </p:cNvSpPr>
              <p:nvPr/>
            </p:nvSpPr>
            <p:spPr bwMode="blackWhite">
              <a:xfrm>
                <a:off x="4537" y="1552"/>
                <a:ext cx="56" cy="43"/>
              </a:xfrm>
              <a:custGeom>
                <a:avLst/>
                <a:gdLst>
                  <a:gd name="T0" fmla="*/ 55 w 56"/>
                  <a:gd name="T1" fmla="*/ 4 h 43"/>
                  <a:gd name="T2" fmla="*/ 50 w 56"/>
                  <a:gd name="T3" fmla="*/ 42 h 43"/>
                  <a:gd name="T4" fmla="*/ 0 w 56"/>
                  <a:gd name="T5" fmla="*/ 38 h 43"/>
                  <a:gd name="T6" fmla="*/ 4 w 56"/>
                  <a:gd name="T7" fmla="*/ 0 h 43"/>
                  <a:gd name="T8" fmla="*/ 55 w 56"/>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43">
                    <a:moveTo>
                      <a:pt x="55" y="4"/>
                    </a:moveTo>
                    <a:lnTo>
                      <a:pt x="50" y="42"/>
                    </a:lnTo>
                    <a:lnTo>
                      <a:pt x="0" y="38"/>
                    </a:lnTo>
                    <a:lnTo>
                      <a:pt x="4" y="0"/>
                    </a:lnTo>
                    <a:lnTo>
                      <a:pt x="55" y="4"/>
                    </a:lnTo>
                  </a:path>
                </a:pathLst>
              </a:custGeom>
              <a:solidFill>
                <a:srgbClr val="989898"/>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7" name="Freeform 81"/>
              <p:cNvSpPr>
                <a:spLocks/>
              </p:cNvSpPr>
              <p:nvPr/>
            </p:nvSpPr>
            <p:spPr bwMode="blackWhite">
              <a:xfrm>
                <a:off x="4538" y="1551"/>
                <a:ext cx="56" cy="43"/>
              </a:xfrm>
              <a:custGeom>
                <a:avLst/>
                <a:gdLst>
                  <a:gd name="T0" fmla="*/ 55 w 56"/>
                  <a:gd name="T1" fmla="*/ 4 h 43"/>
                  <a:gd name="T2" fmla="*/ 51 w 56"/>
                  <a:gd name="T3" fmla="*/ 42 h 43"/>
                  <a:gd name="T4" fmla="*/ 0 w 56"/>
                  <a:gd name="T5" fmla="*/ 38 h 43"/>
                  <a:gd name="T6" fmla="*/ 4 w 56"/>
                  <a:gd name="T7" fmla="*/ 0 h 43"/>
                  <a:gd name="T8" fmla="*/ 55 w 56"/>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43">
                    <a:moveTo>
                      <a:pt x="55" y="4"/>
                    </a:moveTo>
                    <a:lnTo>
                      <a:pt x="51" y="42"/>
                    </a:lnTo>
                    <a:lnTo>
                      <a:pt x="0" y="38"/>
                    </a:lnTo>
                    <a:lnTo>
                      <a:pt x="4" y="0"/>
                    </a:lnTo>
                    <a:lnTo>
                      <a:pt x="55" y="4"/>
                    </a:lnTo>
                  </a:path>
                </a:pathLst>
              </a:custGeom>
              <a:solidFill>
                <a:srgbClr val="FFCC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8" name="Freeform 82"/>
              <p:cNvSpPr>
                <a:spLocks/>
              </p:cNvSpPr>
              <p:nvPr/>
            </p:nvSpPr>
            <p:spPr bwMode="blackWhite">
              <a:xfrm>
                <a:off x="4538" y="1551"/>
                <a:ext cx="56" cy="43"/>
              </a:xfrm>
              <a:custGeom>
                <a:avLst/>
                <a:gdLst>
                  <a:gd name="T0" fmla="*/ 55 w 56"/>
                  <a:gd name="T1" fmla="*/ 4 h 43"/>
                  <a:gd name="T2" fmla="*/ 51 w 56"/>
                  <a:gd name="T3" fmla="*/ 42 h 43"/>
                  <a:gd name="T4" fmla="*/ 0 w 56"/>
                  <a:gd name="T5" fmla="*/ 38 h 43"/>
                  <a:gd name="T6" fmla="*/ 4 w 56"/>
                  <a:gd name="T7" fmla="*/ 0 h 43"/>
                  <a:gd name="T8" fmla="*/ 55 w 56"/>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43">
                    <a:moveTo>
                      <a:pt x="55" y="4"/>
                    </a:moveTo>
                    <a:lnTo>
                      <a:pt x="51" y="42"/>
                    </a:lnTo>
                    <a:lnTo>
                      <a:pt x="0" y="38"/>
                    </a:lnTo>
                    <a:lnTo>
                      <a:pt x="4" y="0"/>
                    </a:lnTo>
                    <a:lnTo>
                      <a:pt x="55" y="4"/>
                    </a:lnTo>
                  </a:path>
                </a:pathLst>
              </a:custGeom>
              <a:noFill/>
              <a:ln w="12700" cap="rnd" cmpd="sng">
                <a:solidFill>
                  <a:srgbClr val="7F7F7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9" name="Freeform 83"/>
              <p:cNvSpPr>
                <a:spLocks/>
              </p:cNvSpPr>
              <p:nvPr/>
            </p:nvSpPr>
            <p:spPr bwMode="blackWhite">
              <a:xfrm>
                <a:off x="4548" y="1556"/>
                <a:ext cx="43" cy="19"/>
              </a:xfrm>
              <a:custGeom>
                <a:avLst/>
                <a:gdLst>
                  <a:gd name="T0" fmla="*/ 42 w 43"/>
                  <a:gd name="T1" fmla="*/ 11 h 19"/>
                  <a:gd name="T2" fmla="*/ 41 w 43"/>
                  <a:gd name="T3" fmla="*/ 18 h 19"/>
                  <a:gd name="T4" fmla="*/ 0 w 43"/>
                  <a:gd name="T5" fmla="*/ 7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7"/>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0" name="Freeform 84"/>
              <p:cNvSpPr>
                <a:spLocks/>
              </p:cNvSpPr>
              <p:nvPr/>
            </p:nvSpPr>
            <p:spPr bwMode="blackWhite">
              <a:xfrm>
                <a:off x="4547" y="1561"/>
                <a:ext cx="44" cy="20"/>
              </a:xfrm>
              <a:custGeom>
                <a:avLst/>
                <a:gdLst>
                  <a:gd name="T0" fmla="*/ 43 w 44"/>
                  <a:gd name="T1" fmla="*/ 12 h 20"/>
                  <a:gd name="T2" fmla="*/ 42 w 44"/>
                  <a:gd name="T3" fmla="*/ 19 h 20"/>
                  <a:gd name="T4" fmla="*/ 0 w 44"/>
                  <a:gd name="T5" fmla="*/ 7 h 20"/>
                  <a:gd name="T6" fmla="*/ 0 w 44"/>
                  <a:gd name="T7" fmla="*/ 0 h 20"/>
                  <a:gd name="T8" fmla="*/ 43 w 44"/>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20">
                    <a:moveTo>
                      <a:pt x="43" y="12"/>
                    </a:moveTo>
                    <a:lnTo>
                      <a:pt x="42" y="19"/>
                    </a:lnTo>
                    <a:lnTo>
                      <a:pt x="0" y="7"/>
                    </a:lnTo>
                    <a:lnTo>
                      <a:pt x="0" y="0"/>
                    </a:lnTo>
                    <a:lnTo>
                      <a:pt x="43" y="1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1" name="Freeform 85"/>
              <p:cNvSpPr>
                <a:spLocks/>
              </p:cNvSpPr>
              <p:nvPr/>
            </p:nvSpPr>
            <p:spPr bwMode="blackWhite">
              <a:xfrm>
                <a:off x="4547" y="1568"/>
                <a:ext cx="41" cy="19"/>
              </a:xfrm>
              <a:custGeom>
                <a:avLst/>
                <a:gdLst>
                  <a:gd name="T0" fmla="*/ 40 w 41"/>
                  <a:gd name="T1" fmla="*/ 11 h 19"/>
                  <a:gd name="T2" fmla="*/ 39 w 41"/>
                  <a:gd name="T3" fmla="*/ 18 h 19"/>
                  <a:gd name="T4" fmla="*/ 0 w 41"/>
                  <a:gd name="T5" fmla="*/ 6 h 19"/>
                  <a:gd name="T6" fmla="*/ 0 w 41"/>
                  <a:gd name="T7" fmla="*/ 0 h 19"/>
                  <a:gd name="T8" fmla="*/ 40 w 41"/>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19">
                    <a:moveTo>
                      <a:pt x="40" y="11"/>
                    </a:moveTo>
                    <a:lnTo>
                      <a:pt x="39" y="18"/>
                    </a:lnTo>
                    <a:lnTo>
                      <a:pt x="0" y="6"/>
                    </a:lnTo>
                    <a:lnTo>
                      <a:pt x="0" y="0"/>
                    </a:lnTo>
                    <a:lnTo>
                      <a:pt x="40"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2" name="Freeform 86"/>
              <p:cNvSpPr>
                <a:spLocks/>
              </p:cNvSpPr>
              <p:nvPr/>
            </p:nvSpPr>
            <p:spPr bwMode="blackWhite">
              <a:xfrm>
                <a:off x="4543" y="1575"/>
                <a:ext cx="45" cy="19"/>
              </a:xfrm>
              <a:custGeom>
                <a:avLst/>
                <a:gdLst>
                  <a:gd name="T0" fmla="*/ 44 w 45"/>
                  <a:gd name="T1" fmla="*/ 11 h 19"/>
                  <a:gd name="T2" fmla="*/ 43 w 45"/>
                  <a:gd name="T3" fmla="*/ 18 h 19"/>
                  <a:gd name="T4" fmla="*/ 0 w 45"/>
                  <a:gd name="T5" fmla="*/ 7 h 19"/>
                  <a:gd name="T6" fmla="*/ 0 w 45"/>
                  <a:gd name="T7" fmla="*/ 0 h 19"/>
                  <a:gd name="T8" fmla="*/ 44 w 45"/>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19">
                    <a:moveTo>
                      <a:pt x="44" y="11"/>
                    </a:moveTo>
                    <a:lnTo>
                      <a:pt x="43" y="18"/>
                    </a:lnTo>
                    <a:lnTo>
                      <a:pt x="0" y="7"/>
                    </a:lnTo>
                    <a:lnTo>
                      <a:pt x="0" y="0"/>
                    </a:lnTo>
                    <a:lnTo>
                      <a:pt x="44"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3" name="Freeform 87"/>
              <p:cNvSpPr>
                <a:spLocks/>
              </p:cNvSpPr>
              <p:nvPr/>
            </p:nvSpPr>
            <p:spPr bwMode="blackWhite">
              <a:xfrm>
                <a:off x="4543" y="1584"/>
                <a:ext cx="45" cy="19"/>
              </a:xfrm>
              <a:custGeom>
                <a:avLst/>
                <a:gdLst>
                  <a:gd name="T0" fmla="*/ 44 w 45"/>
                  <a:gd name="T1" fmla="*/ 11 h 19"/>
                  <a:gd name="T2" fmla="*/ 43 w 45"/>
                  <a:gd name="T3" fmla="*/ 18 h 19"/>
                  <a:gd name="T4" fmla="*/ 0 w 45"/>
                  <a:gd name="T5" fmla="*/ 6 h 19"/>
                  <a:gd name="T6" fmla="*/ 0 w 45"/>
                  <a:gd name="T7" fmla="*/ 0 h 19"/>
                  <a:gd name="T8" fmla="*/ 44 w 45"/>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19">
                    <a:moveTo>
                      <a:pt x="44" y="11"/>
                    </a:moveTo>
                    <a:lnTo>
                      <a:pt x="43" y="18"/>
                    </a:lnTo>
                    <a:lnTo>
                      <a:pt x="0" y="6"/>
                    </a:lnTo>
                    <a:lnTo>
                      <a:pt x="0" y="0"/>
                    </a:lnTo>
                    <a:lnTo>
                      <a:pt x="44"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295" name="Group 88"/>
            <p:cNvGrpSpPr>
              <a:grpSpLocks/>
            </p:cNvGrpSpPr>
            <p:nvPr/>
          </p:nvGrpSpPr>
          <p:grpSpPr bwMode="auto">
            <a:xfrm>
              <a:off x="4596" y="1771"/>
              <a:ext cx="57" cy="52"/>
              <a:chOff x="4412" y="1549"/>
              <a:chExt cx="57" cy="52"/>
            </a:xfrm>
          </p:grpSpPr>
          <p:sp>
            <p:nvSpPr>
              <p:cNvPr id="440" name="Line 89"/>
              <p:cNvSpPr>
                <a:spLocks noChangeShapeType="1"/>
              </p:cNvSpPr>
              <p:nvPr/>
            </p:nvSpPr>
            <p:spPr bwMode="blackWhite">
              <a:xfrm flipH="1">
                <a:off x="4447" y="1560"/>
                <a:ext cx="14" cy="13"/>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1" name="Line 90"/>
              <p:cNvSpPr>
                <a:spLocks noChangeShapeType="1"/>
              </p:cNvSpPr>
              <p:nvPr/>
            </p:nvSpPr>
            <p:spPr bwMode="blackWhite">
              <a:xfrm flipH="1">
                <a:off x="4447" y="1559"/>
                <a:ext cx="17" cy="15"/>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2" name="Line 91"/>
              <p:cNvSpPr>
                <a:spLocks noChangeShapeType="1"/>
              </p:cNvSpPr>
              <p:nvPr/>
            </p:nvSpPr>
            <p:spPr bwMode="blackWhite">
              <a:xfrm flipH="1">
                <a:off x="4447" y="1567"/>
                <a:ext cx="14" cy="12"/>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3" name="Freeform 92"/>
              <p:cNvSpPr>
                <a:spLocks/>
              </p:cNvSpPr>
              <p:nvPr/>
            </p:nvSpPr>
            <p:spPr bwMode="blackWhite">
              <a:xfrm>
                <a:off x="4412" y="1552"/>
                <a:ext cx="53" cy="43"/>
              </a:xfrm>
              <a:custGeom>
                <a:avLst/>
                <a:gdLst>
                  <a:gd name="T0" fmla="*/ 52 w 53"/>
                  <a:gd name="T1" fmla="*/ 4 h 43"/>
                  <a:gd name="T2" fmla="*/ 48 w 53"/>
                  <a:gd name="T3" fmla="*/ 42 h 43"/>
                  <a:gd name="T4" fmla="*/ 0 w 53"/>
                  <a:gd name="T5" fmla="*/ 38 h 43"/>
                  <a:gd name="T6" fmla="*/ 4 w 53"/>
                  <a:gd name="T7" fmla="*/ 0 h 43"/>
                  <a:gd name="T8" fmla="*/ 52 w 53"/>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43">
                    <a:moveTo>
                      <a:pt x="52" y="4"/>
                    </a:moveTo>
                    <a:lnTo>
                      <a:pt x="48" y="42"/>
                    </a:lnTo>
                    <a:lnTo>
                      <a:pt x="0" y="38"/>
                    </a:lnTo>
                    <a:lnTo>
                      <a:pt x="4" y="0"/>
                    </a:lnTo>
                    <a:lnTo>
                      <a:pt x="52" y="4"/>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4" name="Freeform 93"/>
              <p:cNvSpPr>
                <a:spLocks/>
              </p:cNvSpPr>
              <p:nvPr/>
            </p:nvSpPr>
            <p:spPr bwMode="blackWhite">
              <a:xfrm>
                <a:off x="4413" y="1551"/>
                <a:ext cx="55" cy="43"/>
              </a:xfrm>
              <a:custGeom>
                <a:avLst/>
                <a:gdLst>
                  <a:gd name="T0" fmla="*/ 54 w 55"/>
                  <a:gd name="T1" fmla="*/ 4 h 43"/>
                  <a:gd name="T2" fmla="*/ 49 w 55"/>
                  <a:gd name="T3" fmla="*/ 42 h 43"/>
                  <a:gd name="T4" fmla="*/ 0 w 55"/>
                  <a:gd name="T5" fmla="*/ 38 h 43"/>
                  <a:gd name="T6" fmla="*/ 4 w 55"/>
                  <a:gd name="T7" fmla="*/ 0 h 43"/>
                  <a:gd name="T8" fmla="*/ 54 w 55"/>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 h="43">
                    <a:moveTo>
                      <a:pt x="54" y="4"/>
                    </a:moveTo>
                    <a:lnTo>
                      <a:pt x="49" y="42"/>
                    </a:lnTo>
                    <a:lnTo>
                      <a:pt x="0" y="38"/>
                    </a:lnTo>
                    <a:lnTo>
                      <a:pt x="4" y="0"/>
                    </a:lnTo>
                    <a:lnTo>
                      <a:pt x="54" y="4"/>
                    </a:lnTo>
                  </a:path>
                </a:pathLst>
              </a:custGeom>
              <a:solidFill>
                <a:srgbClr val="989898"/>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5" name="Freeform 94"/>
              <p:cNvSpPr>
                <a:spLocks/>
              </p:cNvSpPr>
              <p:nvPr/>
            </p:nvSpPr>
            <p:spPr bwMode="blackWhite">
              <a:xfrm>
                <a:off x="4414" y="1549"/>
                <a:ext cx="55" cy="43"/>
              </a:xfrm>
              <a:custGeom>
                <a:avLst/>
                <a:gdLst>
                  <a:gd name="T0" fmla="*/ 54 w 55"/>
                  <a:gd name="T1" fmla="*/ 4 h 43"/>
                  <a:gd name="T2" fmla="*/ 50 w 55"/>
                  <a:gd name="T3" fmla="*/ 42 h 43"/>
                  <a:gd name="T4" fmla="*/ 0 w 55"/>
                  <a:gd name="T5" fmla="*/ 38 h 43"/>
                  <a:gd name="T6" fmla="*/ 4 w 55"/>
                  <a:gd name="T7" fmla="*/ 0 h 43"/>
                  <a:gd name="T8" fmla="*/ 54 w 55"/>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 h="43">
                    <a:moveTo>
                      <a:pt x="54" y="4"/>
                    </a:moveTo>
                    <a:lnTo>
                      <a:pt x="50" y="42"/>
                    </a:lnTo>
                    <a:lnTo>
                      <a:pt x="0" y="38"/>
                    </a:lnTo>
                    <a:lnTo>
                      <a:pt x="4" y="0"/>
                    </a:lnTo>
                    <a:lnTo>
                      <a:pt x="54" y="4"/>
                    </a:lnTo>
                  </a:path>
                </a:pathLst>
              </a:custGeom>
              <a:solidFill>
                <a:srgbClr val="FFCC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6" name="Freeform 95"/>
              <p:cNvSpPr>
                <a:spLocks/>
              </p:cNvSpPr>
              <p:nvPr/>
            </p:nvSpPr>
            <p:spPr bwMode="blackWhite">
              <a:xfrm>
                <a:off x="4414" y="1549"/>
                <a:ext cx="55" cy="43"/>
              </a:xfrm>
              <a:custGeom>
                <a:avLst/>
                <a:gdLst>
                  <a:gd name="T0" fmla="*/ 54 w 55"/>
                  <a:gd name="T1" fmla="*/ 4 h 43"/>
                  <a:gd name="T2" fmla="*/ 50 w 55"/>
                  <a:gd name="T3" fmla="*/ 42 h 43"/>
                  <a:gd name="T4" fmla="*/ 0 w 55"/>
                  <a:gd name="T5" fmla="*/ 38 h 43"/>
                  <a:gd name="T6" fmla="*/ 4 w 55"/>
                  <a:gd name="T7" fmla="*/ 0 h 43"/>
                  <a:gd name="T8" fmla="*/ 54 w 55"/>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 h="43">
                    <a:moveTo>
                      <a:pt x="54" y="4"/>
                    </a:moveTo>
                    <a:lnTo>
                      <a:pt x="50" y="42"/>
                    </a:lnTo>
                    <a:lnTo>
                      <a:pt x="0" y="38"/>
                    </a:lnTo>
                    <a:lnTo>
                      <a:pt x="4" y="0"/>
                    </a:lnTo>
                    <a:lnTo>
                      <a:pt x="54" y="4"/>
                    </a:lnTo>
                  </a:path>
                </a:pathLst>
              </a:custGeom>
              <a:noFill/>
              <a:ln w="12700" cap="rnd" cmpd="sng">
                <a:solidFill>
                  <a:srgbClr val="7F7F7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7" name="Freeform 96"/>
              <p:cNvSpPr>
                <a:spLocks/>
              </p:cNvSpPr>
              <p:nvPr/>
            </p:nvSpPr>
            <p:spPr bwMode="blackWhite">
              <a:xfrm>
                <a:off x="4423" y="1552"/>
                <a:ext cx="42" cy="20"/>
              </a:xfrm>
              <a:custGeom>
                <a:avLst/>
                <a:gdLst>
                  <a:gd name="T0" fmla="*/ 41 w 42"/>
                  <a:gd name="T1" fmla="*/ 12 h 20"/>
                  <a:gd name="T2" fmla="*/ 40 w 42"/>
                  <a:gd name="T3" fmla="*/ 19 h 20"/>
                  <a:gd name="T4" fmla="*/ 0 w 42"/>
                  <a:gd name="T5" fmla="*/ 7 h 20"/>
                  <a:gd name="T6" fmla="*/ 0 w 42"/>
                  <a:gd name="T7" fmla="*/ 0 h 20"/>
                  <a:gd name="T8" fmla="*/ 41 w 42"/>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 h="20">
                    <a:moveTo>
                      <a:pt x="41" y="12"/>
                    </a:moveTo>
                    <a:lnTo>
                      <a:pt x="40" y="19"/>
                    </a:lnTo>
                    <a:lnTo>
                      <a:pt x="0" y="7"/>
                    </a:lnTo>
                    <a:lnTo>
                      <a:pt x="0" y="0"/>
                    </a:lnTo>
                    <a:lnTo>
                      <a:pt x="41" y="1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8" name="Freeform 97"/>
              <p:cNvSpPr>
                <a:spLocks/>
              </p:cNvSpPr>
              <p:nvPr/>
            </p:nvSpPr>
            <p:spPr bwMode="blackWhite">
              <a:xfrm>
                <a:off x="4423" y="1559"/>
                <a:ext cx="42" cy="19"/>
              </a:xfrm>
              <a:custGeom>
                <a:avLst/>
                <a:gdLst>
                  <a:gd name="T0" fmla="*/ 41 w 42"/>
                  <a:gd name="T1" fmla="*/ 11 h 19"/>
                  <a:gd name="T2" fmla="*/ 40 w 42"/>
                  <a:gd name="T3" fmla="*/ 18 h 19"/>
                  <a:gd name="T4" fmla="*/ 0 w 42"/>
                  <a:gd name="T5" fmla="*/ 6 h 19"/>
                  <a:gd name="T6" fmla="*/ 0 w 42"/>
                  <a:gd name="T7" fmla="*/ 0 h 19"/>
                  <a:gd name="T8" fmla="*/ 41 w 42"/>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 h="19">
                    <a:moveTo>
                      <a:pt x="41" y="11"/>
                    </a:moveTo>
                    <a:lnTo>
                      <a:pt x="40" y="18"/>
                    </a:lnTo>
                    <a:lnTo>
                      <a:pt x="0" y="6"/>
                    </a:lnTo>
                    <a:lnTo>
                      <a:pt x="0" y="0"/>
                    </a:lnTo>
                    <a:lnTo>
                      <a:pt x="41"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9" name="Freeform 98"/>
              <p:cNvSpPr>
                <a:spLocks/>
              </p:cNvSpPr>
              <p:nvPr/>
            </p:nvSpPr>
            <p:spPr bwMode="blackWhite">
              <a:xfrm>
                <a:off x="4420" y="1567"/>
                <a:ext cx="43" cy="19"/>
              </a:xfrm>
              <a:custGeom>
                <a:avLst/>
                <a:gdLst>
                  <a:gd name="T0" fmla="*/ 42 w 43"/>
                  <a:gd name="T1" fmla="*/ 11 h 19"/>
                  <a:gd name="T2" fmla="*/ 41 w 43"/>
                  <a:gd name="T3" fmla="*/ 18 h 19"/>
                  <a:gd name="T4" fmla="*/ 0 w 43"/>
                  <a:gd name="T5" fmla="*/ 6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6"/>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0" name="Freeform 99"/>
              <p:cNvSpPr>
                <a:spLocks/>
              </p:cNvSpPr>
              <p:nvPr/>
            </p:nvSpPr>
            <p:spPr bwMode="blackWhite">
              <a:xfrm>
                <a:off x="4419" y="1573"/>
                <a:ext cx="44" cy="19"/>
              </a:xfrm>
              <a:custGeom>
                <a:avLst/>
                <a:gdLst>
                  <a:gd name="T0" fmla="*/ 43 w 44"/>
                  <a:gd name="T1" fmla="*/ 11 h 19"/>
                  <a:gd name="T2" fmla="*/ 42 w 44"/>
                  <a:gd name="T3" fmla="*/ 18 h 19"/>
                  <a:gd name="T4" fmla="*/ 0 w 44"/>
                  <a:gd name="T5" fmla="*/ 7 h 19"/>
                  <a:gd name="T6" fmla="*/ 0 w 44"/>
                  <a:gd name="T7" fmla="*/ 0 h 19"/>
                  <a:gd name="T8" fmla="*/ 43 w 44"/>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19">
                    <a:moveTo>
                      <a:pt x="43" y="11"/>
                    </a:moveTo>
                    <a:lnTo>
                      <a:pt x="42" y="18"/>
                    </a:lnTo>
                    <a:lnTo>
                      <a:pt x="0" y="7"/>
                    </a:lnTo>
                    <a:lnTo>
                      <a:pt x="0" y="0"/>
                    </a:lnTo>
                    <a:lnTo>
                      <a:pt x="43"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1" name="Freeform 100"/>
              <p:cNvSpPr>
                <a:spLocks/>
              </p:cNvSpPr>
              <p:nvPr/>
            </p:nvSpPr>
            <p:spPr bwMode="blackWhite">
              <a:xfrm>
                <a:off x="4418" y="1582"/>
                <a:ext cx="44" cy="19"/>
              </a:xfrm>
              <a:custGeom>
                <a:avLst/>
                <a:gdLst>
                  <a:gd name="T0" fmla="*/ 43 w 44"/>
                  <a:gd name="T1" fmla="*/ 11 h 19"/>
                  <a:gd name="T2" fmla="*/ 42 w 44"/>
                  <a:gd name="T3" fmla="*/ 18 h 19"/>
                  <a:gd name="T4" fmla="*/ 0 w 44"/>
                  <a:gd name="T5" fmla="*/ 6 h 19"/>
                  <a:gd name="T6" fmla="*/ 0 w 44"/>
                  <a:gd name="T7" fmla="*/ 0 h 19"/>
                  <a:gd name="T8" fmla="*/ 43 w 44"/>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19">
                    <a:moveTo>
                      <a:pt x="43" y="11"/>
                    </a:moveTo>
                    <a:lnTo>
                      <a:pt x="42" y="18"/>
                    </a:lnTo>
                    <a:lnTo>
                      <a:pt x="0" y="6"/>
                    </a:lnTo>
                    <a:lnTo>
                      <a:pt x="0" y="0"/>
                    </a:lnTo>
                    <a:lnTo>
                      <a:pt x="43"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296" name="Group 101"/>
            <p:cNvGrpSpPr>
              <a:grpSpLocks/>
            </p:cNvGrpSpPr>
            <p:nvPr/>
          </p:nvGrpSpPr>
          <p:grpSpPr bwMode="auto">
            <a:xfrm>
              <a:off x="4516" y="1742"/>
              <a:ext cx="60" cy="52"/>
              <a:chOff x="4332" y="1520"/>
              <a:chExt cx="60" cy="52"/>
            </a:xfrm>
          </p:grpSpPr>
          <p:sp>
            <p:nvSpPr>
              <p:cNvPr id="428" name="Line 102"/>
              <p:cNvSpPr>
                <a:spLocks noChangeShapeType="1"/>
              </p:cNvSpPr>
              <p:nvPr/>
            </p:nvSpPr>
            <p:spPr bwMode="blackWhite">
              <a:xfrm flipH="1">
                <a:off x="4371" y="1533"/>
                <a:ext cx="11" cy="11"/>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9" name="Line 103"/>
              <p:cNvSpPr>
                <a:spLocks noChangeShapeType="1"/>
              </p:cNvSpPr>
              <p:nvPr/>
            </p:nvSpPr>
            <p:spPr bwMode="blackWhite">
              <a:xfrm flipH="1">
                <a:off x="4373" y="1531"/>
                <a:ext cx="15" cy="15"/>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0" name="Line 104"/>
              <p:cNvSpPr>
                <a:spLocks noChangeShapeType="1"/>
              </p:cNvSpPr>
              <p:nvPr/>
            </p:nvSpPr>
            <p:spPr bwMode="blackWhite">
              <a:xfrm flipH="1">
                <a:off x="4371" y="1536"/>
                <a:ext cx="11" cy="13"/>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1" name="Freeform 105"/>
              <p:cNvSpPr>
                <a:spLocks/>
              </p:cNvSpPr>
              <p:nvPr/>
            </p:nvSpPr>
            <p:spPr bwMode="blackWhite">
              <a:xfrm>
                <a:off x="4332" y="1525"/>
                <a:ext cx="57" cy="43"/>
              </a:xfrm>
              <a:custGeom>
                <a:avLst/>
                <a:gdLst>
                  <a:gd name="T0" fmla="*/ 56 w 57"/>
                  <a:gd name="T1" fmla="*/ 4 h 43"/>
                  <a:gd name="T2" fmla="*/ 51 w 57"/>
                  <a:gd name="T3" fmla="*/ 42 h 43"/>
                  <a:gd name="T4" fmla="*/ 0 w 57"/>
                  <a:gd name="T5" fmla="*/ 38 h 43"/>
                  <a:gd name="T6" fmla="*/ 4 w 57"/>
                  <a:gd name="T7" fmla="*/ 0 h 43"/>
                  <a:gd name="T8" fmla="*/ 56 w 57"/>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 h="43">
                    <a:moveTo>
                      <a:pt x="56" y="4"/>
                    </a:moveTo>
                    <a:lnTo>
                      <a:pt x="51" y="42"/>
                    </a:lnTo>
                    <a:lnTo>
                      <a:pt x="0" y="38"/>
                    </a:lnTo>
                    <a:lnTo>
                      <a:pt x="4" y="0"/>
                    </a:lnTo>
                    <a:lnTo>
                      <a:pt x="56" y="4"/>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2" name="Freeform 106"/>
              <p:cNvSpPr>
                <a:spLocks/>
              </p:cNvSpPr>
              <p:nvPr/>
            </p:nvSpPr>
            <p:spPr bwMode="blackWhite">
              <a:xfrm>
                <a:off x="4337" y="1523"/>
                <a:ext cx="54" cy="43"/>
              </a:xfrm>
              <a:custGeom>
                <a:avLst/>
                <a:gdLst>
                  <a:gd name="T0" fmla="*/ 53 w 54"/>
                  <a:gd name="T1" fmla="*/ 4 h 43"/>
                  <a:gd name="T2" fmla="*/ 48 w 54"/>
                  <a:gd name="T3" fmla="*/ 42 h 43"/>
                  <a:gd name="T4" fmla="*/ 0 w 54"/>
                  <a:gd name="T5" fmla="*/ 38 h 43"/>
                  <a:gd name="T6" fmla="*/ 4 w 54"/>
                  <a:gd name="T7" fmla="*/ 0 h 43"/>
                  <a:gd name="T8" fmla="*/ 53 w 54"/>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43">
                    <a:moveTo>
                      <a:pt x="53" y="4"/>
                    </a:moveTo>
                    <a:lnTo>
                      <a:pt x="48" y="42"/>
                    </a:lnTo>
                    <a:lnTo>
                      <a:pt x="0" y="38"/>
                    </a:lnTo>
                    <a:lnTo>
                      <a:pt x="4" y="0"/>
                    </a:lnTo>
                    <a:lnTo>
                      <a:pt x="53" y="4"/>
                    </a:lnTo>
                  </a:path>
                </a:pathLst>
              </a:custGeom>
              <a:solidFill>
                <a:srgbClr val="989898"/>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3" name="Freeform 107"/>
              <p:cNvSpPr>
                <a:spLocks/>
              </p:cNvSpPr>
              <p:nvPr/>
            </p:nvSpPr>
            <p:spPr bwMode="blackWhite">
              <a:xfrm>
                <a:off x="4338" y="1520"/>
                <a:ext cx="54" cy="42"/>
              </a:xfrm>
              <a:custGeom>
                <a:avLst/>
                <a:gdLst>
                  <a:gd name="T0" fmla="*/ 53 w 54"/>
                  <a:gd name="T1" fmla="*/ 4 h 42"/>
                  <a:gd name="T2" fmla="*/ 49 w 54"/>
                  <a:gd name="T3" fmla="*/ 41 h 42"/>
                  <a:gd name="T4" fmla="*/ 0 w 54"/>
                  <a:gd name="T5" fmla="*/ 37 h 42"/>
                  <a:gd name="T6" fmla="*/ 4 w 54"/>
                  <a:gd name="T7" fmla="*/ 0 h 42"/>
                  <a:gd name="T8" fmla="*/ 53 w 54"/>
                  <a:gd name="T9" fmla="*/ 4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42">
                    <a:moveTo>
                      <a:pt x="53" y="4"/>
                    </a:moveTo>
                    <a:lnTo>
                      <a:pt x="49" y="41"/>
                    </a:lnTo>
                    <a:lnTo>
                      <a:pt x="0" y="37"/>
                    </a:lnTo>
                    <a:lnTo>
                      <a:pt x="4" y="0"/>
                    </a:lnTo>
                    <a:lnTo>
                      <a:pt x="53" y="4"/>
                    </a:lnTo>
                  </a:path>
                </a:pathLst>
              </a:custGeom>
              <a:solidFill>
                <a:srgbClr val="FFCC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4" name="Freeform 108"/>
              <p:cNvSpPr>
                <a:spLocks/>
              </p:cNvSpPr>
              <p:nvPr/>
            </p:nvSpPr>
            <p:spPr bwMode="blackWhite">
              <a:xfrm>
                <a:off x="4338" y="1520"/>
                <a:ext cx="54" cy="42"/>
              </a:xfrm>
              <a:custGeom>
                <a:avLst/>
                <a:gdLst>
                  <a:gd name="T0" fmla="*/ 53 w 54"/>
                  <a:gd name="T1" fmla="*/ 4 h 42"/>
                  <a:gd name="T2" fmla="*/ 49 w 54"/>
                  <a:gd name="T3" fmla="*/ 41 h 42"/>
                  <a:gd name="T4" fmla="*/ 0 w 54"/>
                  <a:gd name="T5" fmla="*/ 37 h 42"/>
                  <a:gd name="T6" fmla="*/ 4 w 54"/>
                  <a:gd name="T7" fmla="*/ 0 h 42"/>
                  <a:gd name="T8" fmla="*/ 53 w 54"/>
                  <a:gd name="T9" fmla="*/ 4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42">
                    <a:moveTo>
                      <a:pt x="53" y="4"/>
                    </a:moveTo>
                    <a:lnTo>
                      <a:pt x="49" y="41"/>
                    </a:lnTo>
                    <a:lnTo>
                      <a:pt x="0" y="37"/>
                    </a:lnTo>
                    <a:lnTo>
                      <a:pt x="4" y="0"/>
                    </a:lnTo>
                    <a:lnTo>
                      <a:pt x="53" y="4"/>
                    </a:lnTo>
                  </a:path>
                </a:pathLst>
              </a:custGeom>
              <a:noFill/>
              <a:ln w="12700" cap="rnd" cmpd="sng">
                <a:solidFill>
                  <a:srgbClr val="7F7F7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5" name="Freeform 109"/>
              <p:cNvSpPr>
                <a:spLocks/>
              </p:cNvSpPr>
              <p:nvPr/>
            </p:nvSpPr>
            <p:spPr bwMode="blackWhite">
              <a:xfrm>
                <a:off x="4344" y="1525"/>
                <a:ext cx="45" cy="19"/>
              </a:xfrm>
              <a:custGeom>
                <a:avLst/>
                <a:gdLst>
                  <a:gd name="T0" fmla="*/ 44 w 45"/>
                  <a:gd name="T1" fmla="*/ 11 h 19"/>
                  <a:gd name="T2" fmla="*/ 43 w 45"/>
                  <a:gd name="T3" fmla="*/ 18 h 19"/>
                  <a:gd name="T4" fmla="*/ 0 w 45"/>
                  <a:gd name="T5" fmla="*/ 7 h 19"/>
                  <a:gd name="T6" fmla="*/ 0 w 45"/>
                  <a:gd name="T7" fmla="*/ 0 h 19"/>
                  <a:gd name="T8" fmla="*/ 44 w 45"/>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19">
                    <a:moveTo>
                      <a:pt x="44" y="11"/>
                    </a:moveTo>
                    <a:lnTo>
                      <a:pt x="43" y="18"/>
                    </a:lnTo>
                    <a:lnTo>
                      <a:pt x="0" y="7"/>
                    </a:lnTo>
                    <a:lnTo>
                      <a:pt x="0" y="0"/>
                    </a:lnTo>
                    <a:lnTo>
                      <a:pt x="44"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6" name="Freeform 110"/>
              <p:cNvSpPr>
                <a:spLocks/>
              </p:cNvSpPr>
              <p:nvPr/>
            </p:nvSpPr>
            <p:spPr bwMode="blackWhite">
              <a:xfrm>
                <a:off x="4344" y="1531"/>
                <a:ext cx="43" cy="19"/>
              </a:xfrm>
              <a:custGeom>
                <a:avLst/>
                <a:gdLst>
                  <a:gd name="T0" fmla="*/ 42 w 43"/>
                  <a:gd name="T1" fmla="*/ 11 h 19"/>
                  <a:gd name="T2" fmla="*/ 41 w 43"/>
                  <a:gd name="T3" fmla="*/ 18 h 19"/>
                  <a:gd name="T4" fmla="*/ 0 w 43"/>
                  <a:gd name="T5" fmla="*/ 6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6"/>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7" name="Freeform 111"/>
              <p:cNvSpPr>
                <a:spLocks/>
              </p:cNvSpPr>
              <p:nvPr/>
            </p:nvSpPr>
            <p:spPr bwMode="blackWhite">
              <a:xfrm>
                <a:off x="4342" y="1536"/>
                <a:ext cx="44" cy="20"/>
              </a:xfrm>
              <a:custGeom>
                <a:avLst/>
                <a:gdLst>
                  <a:gd name="T0" fmla="*/ 43 w 44"/>
                  <a:gd name="T1" fmla="*/ 12 h 20"/>
                  <a:gd name="T2" fmla="*/ 42 w 44"/>
                  <a:gd name="T3" fmla="*/ 19 h 20"/>
                  <a:gd name="T4" fmla="*/ 0 w 44"/>
                  <a:gd name="T5" fmla="*/ 7 h 20"/>
                  <a:gd name="T6" fmla="*/ 0 w 44"/>
                  <a:gd name="T7" fmla="*/ 0 h 20"/>
                  <a:gd name="T8" fmla="*/ 43 w 44"/>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20">
                    <a:moveTo>
                      <a:pt x="43" y="12"/>
                    </a:moveTo>
                    <a:lnTo>
                      <a:pt x="42" y="19"/>
                    </a:lnTo>
                    <a:lnTo>
                      <a:pt x="0" y="7"/>
                    </a:lnTo>
                    <a:lnTo>
                      <a:pt x="0" y="0"/>
                    </a:lnTo>
                    <a:lnTo>
                      <a:pt x="43" y="1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8" name="Freeform 112"/>
              <p:cNvSpPr>
                <a:spLocks/>
              </p:cNvSpPr>
              <p:nvPr/>
            </p:nvSpPr>
            <p:spPr bwMode="blackWhite">
              <a:xfrm>
                <a:off x="4342" y="1544"/>
                <a:ext cx="44" cy="20"/>
              </a:xfrm>
              <a:custGeom>
                <a:avLst/>
                <a:gdLst>
                  <a:gd name="T0" fmla="*/ 43 w 44"/>
                  <a:gd name="T1" fmla="*/ 12 h 20"/>
                  <a:gd name="T2" fmla="*/ 42 w 44"/>
                  <a:gd name="T3" fmla="*/ 19 h 20"/>
                  <a:gd name="T4" fmla="*/ 0 w 44"/>
                  <a:gd name="T5" fmla="*/ 7 h 20"/>
                  <a:gd name="T6" fmla="*/ 0 w 44"/>
                  <a:gd name="T7" fmla="*/ 0 h 20"/>
                  <a:gd name="T8" fmla="*/ 43 w 44"/>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20">
                    <a:moveTo>
                      <a:pt x="43" y="12"/>
                    </a:moveTo>
                    <a:lnTo>
                      <a:pt x="42" y="19"/>
                    </a:lnTo>
                    <a:lnTo>
                      <a:pt x="0" y="7"/>
                    </a:lnTo>
                    <a:lnTo>
                      <a:pt x="0" y="0"/>
                    </a:lnTo>
                    <a:lnTo>
                      <a:pt x="43" y="1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9" name="Freeform 113"/>
              <p:cNvSpPr>
                <a:spLocks/>
              </p:cNvSpPr>
              <p:nvPr/>
            </p:nvSpPr>
            <p:spPr bwMode="blackWhite">
              <a:xfrm>
                <a:off x="4342" y="1552"/>
                <a:ext cx="44" cy="20"/>
              </a:xfrm>
              <a:custGeom>
                <a:avLst/>
                <a:gdLst>
                  <a:gd name="T0" fmla="*/ 43 w 44"/>
                  <a:gd name="T1" fmla="*/ 11 h 20"/>
                  <a:gd name="T2" fmla="*/ 42 w 44"/>
                  <a:gd name="T3" fmla="*/ 19 h 20"/>
                  <a:gd name="T4" fmla="*/ 0 w 44"/>
                  <a:gd name="T5" fmla="*/ 7 h 20"/>
                  <a:gd name="T6" fmla="*/ 0 w 44"/>
                  <a:gd name="T7" fmla="*/ 0 h 20"/>
                  <a:gd name="T8" fmla="*/ 43 w 44"/>
                  <a:gd name="T9" fmla="*/ 11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20">
                    <a:moveTo>
                      <a:pt x="43" y="11"/>
                    </a:moveTo>
                    <a:lnTo>
                      <a:pt x="42" y="19"/>
                    </a:lnTo>
                    <a:lnTo>
                      <a:pt x="0" y="7"/>
                    </a:lnTo>
                    <a:lnTo>
                      <a:pt x="0" y="0"/>
                    </a:lnTo>
                    <a:lnTo>
                      <a:pt x="43"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297" name="Group 114"/>
            <p:cNvGrpSpPr>
              <a:grpSpLocks/>
            </p:cNvGrpSpPr>
            <p:nvPr/>
          </p:nvGrpSpPr>
          <p:grpSpPr bwMode="auto">
            <a:xfrm>
              <a:off x="4637" y="1708"/>
              <a:ext cx="59" cy="53"/>
              <a:chOff x="4453" y="1486"/>
              <a:chExt cx="59" cy="53"/>
            </a:xfrm>
          </p:grpSpPr>
          <p:sp>
            <p:nvSpPr>
              <p:cNvPr id="416" name="Line 115"/>
              <p:cNvSpPr>
                <a:spLocks noChangeShapeType="1"/>
              </p:cNvSpPr>
              <p:nvPr/>
            </p:nvSpPr>
            <p:spPr bwMode="blackWhite">
              <a:xfrm flipH="1">
                <a:off x="4488" y="1499"/>
                <a:ext cx="17" cy="11"/>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7" name="Line 116"/>
              <p:cNvSpPr>
                <a:spLocks noChangeShapeType="1"/>
              </p:cNvSpPr>
              <p:nvPr/>
            </p:nvSpPr>
            <p:spPr bwMode="blackWhite">
              <a:xfrm flipH="1">
                <a:off x="4489" y="1497"/>
                <a:ext cx="18" cy="14"/>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8" name="Line 117"/>
              <p:cNvSpPr>
                <a:spLocks noChangeShapeType="1"/>
              </p:cNvSpPr>
              <p:nvPr/>
            </p:nvSpPr>
            <p:spPr bwMode="blackWhite">
              <a:xfrm flipH="1">
                <a:off x="4488" y="1503"/>
                <a:ext cx="15" cy="14"/>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9" name="Freeform 118"/>
              <p:cNvSpPr>
                <a:spLocks/>
              </p:cNvSpPr>
              <p:nvPr/>
            </p:nvSpPr>
            <p:spPr bwMode="blackWhite">
              <a:xfrm>
                <a:off x="4453" y="1490"/>
                <a:ext cx="58" cy="44"/>
              </a:xfrm>
              <a:custGeom>
                <a:avLst/>
                <a:gdLst>
                  <a:gd name="T0" fmla="*/ 57 w 58"/>
                  <a:gd name="T1" fmla="*/ 4 h 44"/>
                  <a:gd name="T2" fmla="*/ 52 w 58"/>
                  <a:gd name="T3" fmla="*/ 43 h 44"/>
                  <a:gd name="T4" fmla="*/ 0 w 58"/>
                  <a:gd name="T5" fmla="*/ 39 h 44"/>
                  <a:gd name="T6" fmla="*/ 4 w 58"/>
                  <a:gd name="T7" fmla="*/ 0 h 44"/>
                  <a:gd name="T8" fmla="*/ 57 w 58"/>
                  <a:gd name="T9" fmla="*/ 4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 h="44">
                    <a:moveTo>
                      <a:pt x="57" y="4"/>
                    </a:moveTo>
                    <a:lnTo>
                      <a:pt x="52" y="43"/>
                    </a:lnTo>
                    <a:lnTo>
                      <a:pt x="0" y="39"/>
                    </a:lnTo>
                    <a:lnTo>
                      <a:pt x="4" y="0"/>
                    </a:lnTo>
                    <a:lnTo>
                      <a:pt x="57" y="4"/>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0" name="Freeform 119"/>
              <p:cNvSpPr>
                <a:spLocks/>
              </p:cNvSpPr>
              <p:nvPr/>
            </p:nvSpPr>
            <p:spPr bwMode="blackWhite">
              <a:xfrm>
                <a:off x="4455" y="1489"/>
                <a:ext cx="56" cy="43"/>
              </a:xfrm>
              <a:custGeom>
                <a:avLst/>
                <a:gdLst>
                  <a:gd name="T0" fmla="*/ 55 w 56"/>
                  <a:gd name="T1" fmla="*/ 4 h 43"/>
                  <a:gd name="T2" fmla="*/ 50 w 56"/>
                  <a:gd name="T3" fmla="*/ 42 h 43"/>
                  <a:gd name="T4" fmla="*/ 0 w 56"/>
                  <a:gd name="T5" fmla="*/ 38 h 43"/>
                  <a:gd name="T6" fmla="*/ 4 w 56"/>
                  <a:gd name="T7" fmla="*/ 0 h 43"/>
                  <a:gd name="T8" fmla="*/ 55 w 56"/>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43">
                    <a:moveTo>
                      <a:pt x="55" y="4"/>
                    </a:moveTo>
                    <a:lnTo>
                      <a:pt x="50" y="42"/>
                    </a:lnTo>
                    <a:lnTo>
                      <a:pt x="0" y="38"/>
                    </a:lnTo>
                    <a:lnTo>
                      <a:pt x="4" y="0"/>
                    </a:lnTo>
                    <a:lnTo>
                      <a:pt x="55" y="4"/>
                    </a:lnTo>
                  </a:path>
                </a:pathLst>
              </a:custGeom>
              <a:solidFill>
                <a:srgbClr val="989898"/>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1" name="Freeform 120"/>
              <p:cNvSpPr>
                <a:spLocks/>
              </p:cNvSpPr>
              <p:nvPr/>
            </p:nvSpPr>
            <p:spPr bwMode="blackWhite">
              <a:xfrm>
                <a:off x="4456" y="1486"/>
                <a:ext cx="56" cy="43"/>
              </a:xfrm>
              <a:custGeom>
                <a:avLst/>
                <a:gdLst>
                  <a:gd name="T0" fmla="*/ 55 w 56"/>
                  <a:gd name="T1" fmla="*/ 4 h 43"/>
                  <a:gd name="T2" fmla="*/ 51 w 56"/>
                  <a:gd name="T3" fmla="*/ 42 h 43"/>
                  <a:gd name="T4" fmla="*/ 0 w 56"/>
                  <a:gd name="T5" fmla="*/ 38 h 43"/>
                  <a:gd name="T6" fmla="*/ 4 w 56"/>
                  <a:gd name="T7" fmla="*/ 0 h 43"/>
                  <a:gd name="T8" fmla="*/ 55 w 56"/>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43">
                    <a:moveTo>
                      <a:pt x="55" y="4"/>
                    </a:moveTo>
                    <a:lnTo>
                      <a:pt x="51" y="42"/>
                    </a:lnTo>
                    <a:lnTo>
                      <a:pt x="0" y="38"/>
                    </a:lnTo>
                    <a:lnTo>
                      <a:pt x="4" y="0"/>
                    </a:lnTo>
                    <a:lnTo>
                      <a:pt x="55" y="4"/>
                    </a:lnTo>
                  </a:path>
                </a:pathLst>
              </a:custGeom>
              <a:solidFill>
                <a:srgbClr val="FFCC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2" name="Freeform 121"/>
              <p:cNvSpPr>
                <a:spLocks/>
              </p:cNvSpPr>
              <p:nvPr/>
            </p:nvSpPr>
            <p:spPr bwMode="blackWhite">
              <a:xfrm>
                <a:off x="4456" y="1486"/>
                <a:ext cx="56" cy="43"/>
              </a:xfrm>
              <a:custGeom>
                <a:avLst/>
                <a:gdLst>
                  <a:gd name="T0" fmla="*/ 55 w 56"/>
                  <a:gd name="T1" fmla="*/ 4 h 43"/>
                  <a:gd name="T2" fmla="*/ 51 w 56"/>
                  <a:gd name="T3" fmla="*/ 42 h 43"/>
                  <a:gd name="T4" fmla="*/ 0 w 56"/>
                  <a:gd name="T5" fmla="*/ 38 h 43"/>
                  <a:gd name="T6" fmla="*/ 4 w 56"/>
                  <a:gd name="T7" fmla="*/ 0 h 43"/>
                  <a:gd name="T8" fmla="*/ 55 w 56"/>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43">
                    <a:moveTo>
                      <a:pt x="55" y="4"/>
                    </a:moveTo>
                    <a:lnTo>
                      <a:pt x="51" y="42"/>
                    </a:lnTo>
                    <a:lnTo>
                      <a:pt x="0" y="38"/>
                    </a:lnTo>
                    <a:lnTo>
                      <a:pt x="4" y="0"/>
                    </a:lnTo>
                    <a:lnTo>
                      <a:pt x="55" y="4"/>
                    </a:lnTo>
                  </a:path>
                </a:pathLst>
              </a:custGeom>
              <a:noFill/>
              <a:ln w="12700" cap="rnd" cmpd="sng">
                <a:solidFill>
                  <a:srgbClr val="7F7F7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3" name="Freeform 122"/>
              <p:cNvSpPr>
                <a:spLocks/>
              </p:cNvSpPr>
              <p:nvPr/>
            </p:nvSpPr>
            <p:spPr bwMode="blackWhite">
              <a:xfrm>
                <a:off x="4464" y="1490"/>
                <a:ext cx="44" cy="19"/>
              </a:xfrm>
              <a:custGeom>
                <a:avLst/>
                <a:gdLst>
                  <a:gd name="T0" fmla="*/ 43 w 44"/>
                  <a:gd name="T1" fmla="*/ 11 h 19"/>
                  <a:gd name="T2" fmla="*/ 42 w 44"/>
                  <a:gd name="T3" fmla="*/ 18 h 19"/>
                  <a:gd name="T4" fmla="*/ 0 w 44"/>
                  <a:gd name="T5" fmla="*/ 7 h 19"/>
                  <a:gd name="T6" fmla="*/ 0 w 44"/>
                  <a:gd name="T7" fmla="*/ 0 h 19"/>
                  <a:gd name="T8" fmla="*/ 43 w 44"/>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19">
                    <a:moveTo>
                      <a:pt x="43" y="11"/>
                    </a:moveTo>
                    <a:lnTo>
                      <a:pt x="42" y="18"/>
                    </a:lnTo>
                    <a:lnTo>
                      <a:pt x="0" y="7"/>
                    </a:lnTo>
                    <a:lnTo>
                      <a:pt x="0" y="0"/>
                    </a:lnTo>
                    <a:lnTo>
                      <a:pt x="43"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4" name="Freeform 123"/>
              <p:cNvSpPr>
                <a:spLocks/>
              </p:cNvSpPr>
              <p:nvPr/>
            </p:nvSpPr>
            <p:spPr bwMode="blackWhite">
              <a:xfrm>
                <a:off x="4462" y="1497"/>
                <a:ext cx="45" cy="19"/>
              </a:xfrm>
              <a:custGeom>
                <a:avLst/>
                <a:gdLst>
                  <a:gd name="T0" fmla="*/ 44 w 45"/>
                  <a:gd name="T1" fmla="*/ 11 h 19"/>
                  <a:gd name="T2" fmla="*/ 43 w 45"/>
                  <a:gd name="T3" fmla="*/ 18 h 19"/>
                  <a:gd name="T4" fmla="*/ 0 w 45"/>
                  <a:gd name="T5" fmla="*/ 6 h 19"/>
                  <a:gd name="T6" fmla="*/ 0 w 45"/>
                  <a:gd name="T7" fmla="*/ 0 h 19"/>
                  <a:gd name="T8" fmla="*/ 44 w 45"/>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19">
                    <a:moveTo>
                      <a:pt x="44" y="11"/>
                    </a:moveTo>
                    <a:lnTo>
                      <a:pt x="43" y="18"/>
                    </a:lnTo>
                    <a:lnTo>
                      <a:pt x="0" y="6"/>
                    </a:lnTo>
                    <a:lnTo>
                      <a:pt x="0" y="0"/>
                    </a:lnTo>
                    <a:lnTo>
                      <a:pt x="44"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5" name="Freeform 124"/>
              <p:cNvSpPr>
                <a:spLocks/>
              </p:cNvSpPr>
              <p:nvPr/>
            </p:nvSpPr>
            <p:spPr bwMode="blackWhite">
              <a:xfrm>
                <a:off x="4461" y="1503"/>
                <a:ext cx="46" cy="20"/>
              </a:xfrm>
              <a:custGeom>
                <a:avLst/>
                <a:gdLst>
                  <a:gd name="T0" fmla="*/ 45 w 46"/>
                  <a:gd name="T1" fmla="*/ 12 h 20"/>
                  <a:gd name="T2" fmla="*/ 44 w 46"/>
                  <a:gd name="T3" fmla="*/ 19 h 20"/>
                  <a:gd name="T4" fmla="*/ 0 w 46"/>
                  <a:gd name="T5" fmla="*/ 7 h 20"/>
                  <a:gd name="T6" fmla="*/ 0 w 46"/>
                  <a:gd name="T7" fmla="*/ 0 h 20"/>
                  <a:gd name="T8" fmla="*/ 45 w 46"/>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 h="20">
                    <a:moveTo>
                      <a:pt x="45" y="12"/>
                    </a:moveTo>
                    <a:lnTo>
                      <a:pt x="44" y="19"/>
                    </a:lnTo>
                    <a:lnTo>
                      <a:pt x="0" y="7"/>
                    </a:lnTo>
                    <a:lnTo>
                      <a:pt x="0" y="0"/>
                    </a:lnTo>
                    <a:lnTo>
                      <a:pt x="45" y="1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6" name="Freeform 125"/>
              <p:cNvSpPr>
                <a:spLocks/>
              </p:cNvSpPr>
              <p:nvPr/>
            </p:nvSpPr>
            <p:spPr bwMode="blackWhite">
              <a:xfrm>
                <a:off x="4461" y="1511"/>
                <a:ext cx="46" cy="20"/>
              </a:xfrm>
              <a:custGeom>
                <a:avLst/>
                <a:gdLst>
                  <a:gd name="T0" fmla="*/ 45 w 46"/>
                  <a:gd name="T1" fmla="*/ 12 h 20"/>
                  <a:gd name="T2" fmla="*/ 44 w 46"/>
                  <a:gd name="T3" fmla="*/ 19 h 20"/>
                  <a:gd name="T4" fmla="*/ 0 w 46"/>
                  <a:gd name="T5" fmla="*/ 7 h 20"/>
                  <a:gd name="T6" fmla="*/ 0 w 46"/>
                  <a:gd name="T7" fmla="*/ 0 h 20"/>
                  <a:gd name="T8" fmla="*/ 45 w 46"/>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 h="20">
                    <a:moveTo>
                      <a:pt x="45" y="12"/>
                    </a:moveTo>
                    <a:lnTo>
                      <a:pt x="44" y="19"/>
                    </a:lnTo>
                    <a:lnTo>
                      <a:pt x="0" y="7"/>
                    </a:lnTo>
                    <a:lnTo>
                      <a:pt x="0" y="0"/>
                    </a:lnTo>
                    <a:lnTo>
                      <a:pt x="45" y="1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7" name="Freeform 126"/>
              <p:cNvSpPr>
                <a:spLocks/>
              </p:cNvSpPr>
              <p:nvPr/>
            </p:nvSpPr>
            <p:spPr bwMode="blackWhite">
              <a:xfrm>
                <a:off x="4461" y="1519"/>
                <a:ext cx="45" cy="20"/>
              </a:xfrm>
              <a:custGeom>
                <a:avLst/>
                <a:gdLst>
                  <a:gd name="T0" fmla="*/ 44 w 45"/>
                  <a:gd name="T1" fmla="*/ 11 h 20"/>
                  <a:gd name="T2" fmla="*/ 43 w 45"/>
                  <a:gd name="T3" fmla="*/ 19 h 20"/>
                  <a:gd name="T4" fmla="*/ 0 w 45"/>
                  <a:gd name="T5" fmla="*/ 7 h 20"/>
                  <a:gd name="T6" fmla="*/ 0 w 45"/>
                  <a:gd name="T7" fmla="*/ 0 h 20"/>
                  <a:gd name="T8" fmla="*/ 44 w 45"/>
                  <a:gd name="T9" fmla="*/ 11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20">
                    <a:moveTo>
                      <a:pt x="44" y="11"/>
                    </a:moveTo>
                    <a:lnTo>
                      <a:pt x="43" y="19"/>
                    </a:lnTo>
                    <a:lnTo>
                      <a:pt x="0" y="7"/>
                    </a:lnTo>
                    <a:lnTo>
                      <a:pt x="0" y="0"/>
                    </a:lnTo>
                    <a:lnTo>
                      <a:pt x="44"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298" name="Rectangle 127"/>
            <p:cNvSpPr>
              <a:spLocks noChangeArrowheads="1"/>
            </p:cNvSpPr>
            <p:nvPr/>
          </p:nvSpPr>
          <p:spPr bwMode="blackWhite">
            <a:xfrm>
              <a:off x="4518" y="1861"/>
              <a:ext cx="63" cy="11"/>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99" name="Rectangle 128"/>
            <p:cNvSpPr>
              <a:spLocks noChangeArrowheads="1"/>
            </p:cNvSpPr>
            <p:nvPr/>
          </p:nvSpPr>
          <p:spPr bwMode="blackWhite">
            <a:xfrm>
              <a:off x="4518" y="1896"/>
              <a:ext cx="63" cy="10"/>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0" name="Rectangle 129"/>
            <p:cNvSpPr>
              <a:spLocks noChangeArrowheads="1"/>
            </p:cNvSpPr>
            <p:nvPr/>
          </p:nvSpPr>
          <p:spPr bwMode="blackWhite">
            <a:xfrm>
              <a:off x="4518" y="1934"/>
              <a:ext cx="63" cy="10"/>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1" name="Rectangle 130"/>
            <p:cNvSpPr>
              <a:spLocks noChangeArrowheads="1"/>
            </p:cNvSpPr>
            <p:nvPr/>
          </p:nvSpPr>
          <p:spPr bwMode="blackWhite">
            <a:xfrm>
              <a:off x="4644" y="1861"/>
              <a:ext cx="67" cy="11"/>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2" name="Rectangle 131"/>
            <p:cNvSpPr>
              <a:spLocks noChangeArrowheads="1"/>
            </p:cNvSpPr>
            <p:nvPr/>
          </p:nvSpPr>
          <p:spPr bwMode="blackWhite">
            <a:xfrm>
              <a:off x="4644" y="1896"/>
              <a:ext cx="67" cy="10"/>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3" name="Rectangle 132"/>
            <p:cNvSpPr>
              <a:spLocks noChangeArrowheads="1"/>
            </p:cNvSpPr>
            <p:nvPr/>
          </p:nvSpPr>
          <p:spPr bwMode="blackWhite">
            <a:xfrm>
              <a:off x="4644" y="1934"/>
              <a:ext cx="67" cy="10"/>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4" name="Rectangle 133"/>
            <p:cNvSpPr>
              <a:spLocks noChangeArrowheads="1"/>
            </p:cNvSpPr>
            <p:nvPr/>
          </p:nvSpPr>
          <p:spPr bwMode="blackWhite">
            <a:xfrm>
              <a:off x="4769" y="1861"/>
              <a:ext cx="80" cy="11"/>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5" name="Rectangle 134"/>
            <p:cNvSpPr>
              <a:spLocks noChangeArrowheads="1"/>
            </p:cNvSpPr>
            <p:nvPr/>
          </p:nvSpPr>
          <p:spPr bwMode="blackWhite">
            <a:xfrm>
              <a:off x="4769" y="1896"/>
              <a:ext cx="80" cy="10"/>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6" name="Rectangle 135"/>
            <p:cNvSpPr>
              <a:spLocks noChangeArrowheads="1"/>
            </p:cNvSpPr>
            <p:nvPr/>
          </p:nvSpPr>
          <p:spPr bwMode="blackWhite">
            <a:xfrm>
              <a:off x="4769" y="1934"/>
              <a:ext cx="80" cy="10"/>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7" name="Rectangle 136"/>
            <p:cNvSpPr>
              <a:spLocks noChangeArrowheads="1"/>
            </p:cNvSpPr>
            <p:nvPr/>
          </p:nvSpPr>
          <p:spPr bwMode="blackWhite">
            <a:xfrm>
              <a:off x="4059" y="1774"/>
              <a:ext cx="361" cy="195"/>
            </a:xfrm>
            <a:prstGeom prst="rect">
              <a:avLst/>
            </a:prstGeom>
            <a:solidFill>
              <a:srgbClr val="99CC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8" name="Rectangle 137"/>
            <p:cNvSpPr>
              <a:spLocks noChangeArrowheads="1"/>
            </p:cNvSpPr>
            <p:nvPr/>
          </p:nvSpPr>
          <p:spPr bwMode="blackWhite">
            <a:xfrm>
              <a:off x="4092" y="1937"/>
              <a:ext cx="299" cy="10"/>
            </a:xfrm>
            <a:prstGeom prst="rect">
              <a:avLst/>
            </a:prstGeom>
            <a:gradFill rotWithShape="0">
              <a:gsLst>
                <a:gs pos="0">
                  <a:srgbClr val="000000"/>
                </a:gs>
                <a:gs pos="20000">
                  <a:srgbClr val="0A128C"/>
                </a:gs>
                <a:gs pos="35001">
                  <a:srgbClr val="181CC7"/>
                </a:gs>
                <a:gs pos="44000">
                  <a:srgbClr val="7005D4"/>
                </a:gs>
                <a:gs pos="50000">
                  <a:srgbClr val="8C3D91"/>
                </a:gs>
                <a:gs pos="56000">
                  <a:srgbClr val="7005D4"/>
                </a:gs>
                <a:gs pos="64999">
                  <a:srgbClr val="181CC7"/>
                </a:gs>
                <a:gs pos="80000">
                  <a:srgbClr val="0A128C"/>
                </a:gs>
                <a:gs pos="100000">
                  <a:srgbClr val="000000"/>
                </a:gs>
              </a:gsLst>
              <a:lin ang="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9" name="Rectangle 138"/>
            <p:cNvSpPr>
              <a:spLocks noChangeArrowheads="1"/>
            </p:cNvSpPr>
            <p:nvPr/>
          </p:nvSpPr>
          <p:spPr bwMode="blackWhite">
            <a:xfrm>
              <a:off x="4092" y="1892"/>
              <a:ext cx="299" cy="10"/>
            </a:xfrm>
            <a:prstGeom prst="rect">
              <a:avLst/>
            </a:prstGeom>
            <a:gradFill rotWithShape="0">
              <a:gsLst>
                <a:gs pos="0">
                  <a:srgbClr val="000000"/>
                </a:gs>
                <a:gs pos="20000">
                  <a:srgbClr val="0A128C"/>
                </a:gs>
                <a:gs pos="35001">
                  <a:srgbClr val="181CC7"/>
                </a:gs>
                <a:gs pos="44000">
                  <a:srgbClr val="7005D4"/>
                </a:gs>
                <a:gs pos="50000">
                  <a:srgbClr val="8C3D91"/>
                </a:gs>
                <a:gs pos="56000">
                  <a:srgbClr val="7005D4"/>
                </a:gs>
                <a:gs pos="64999">
                  <a:srgbClr val="181CC7"/>
                </a:gs>
                <a:gs pos="80000">
                  <a:srgbClr val="0A128C"/>
                </a:gs>
                <a:gs pos="100000">
                  <a:srgbClr val="000000"/>
                </a:gs>
              </a:gsLst>
              <a:lin ang="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10" name="Rectangle 139"/>
            <p:cNvSpPr>
              <a:spLocks noChangeArrowheads="1"/>
            </p:cNvSpPr>
            <p:nvPr/>
          </p:nvSpPr>
          <p:spPr bwMode="blackWhite">
            <a:xfrm>
              <a:off x="4092" y="1798"/>
              <a:ext cx="299" cy="10"/>
            </a:xfrm>
            <a:prstGeom prst="rect">
              <a:avLst/>
            </a:prstGeom>
            <a:gradFill rotWithShape="0">
              <a:gsLst>
                <a:gs pos="0">
                  <a:srgbClr val="000000"/>
                </a:gs>
                <a:gs pos="20000">
                  <a:srgbClr val="0A128C"/>
                </a:gs>
                <a:gs pos="35001">
                  <a:srgbClr val="181CC7"/>
                </a:gs>
                <a:gs pos="44000">
                  <a:srgbClr val="7005D4"/>
                </a:gs>
                <a:gs pos="50000">
                  <a:srgbClr val="8C3D91"/>
                </a:gs>
                <a:gs pos="56000">
                  <a:srgbClr val="7005D4"/>
                </a:gs>
                <a:gs pos="64999">
                  <a:srgbClr val="181CC7"/>
                </a:gs>
                <a:gs pos="80000">
                  <a:srgbClr val="0A128C"/>
                </a:gs>
                <a:gs pos="100000">
                  <a:srgbClr val="000000"/>
                </a:gs>
              </a:gsLst>
              <a:lin ang="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311" name="Group 140"/>
            <p:cNvGrpSpPr>
              <a:grpSpLocks/>
            </p:cNvGrpSpPr>
            <p:nvPr/>
          </p:nvGrpSpPr>
          <p:grpSpPr bwMode="auto">
            <a:xfrm>
              <a:off x="3673" y="1777"/>
              <a:ext cx="333" cy="196"/>
              <a:chOff x="3489" y="1555"/>
              <a:chExt cx="333" cy="196"/>
            </a:xfrm>
          </p:grpSpPr>
          <p:grpSp>
            <p:nvGrpSpPr>
              <p:cNvPr id="326" name="Group 141"/>
              <p:cNvGrpSpPr>
                <a:grpSpLocks/>
              </p:cNvGrpSpPr>
              <p:nvPr/>
            </p:nvGrpSpPr>
            <p:grpSpPr bwMode="auto">
              <a:xfrm>
                <a:off x="3490" y="1555"/>
                <a:ext cx="332" cy="196"/>
                <a:chOff x="3490" y="1555"/>
                <a:chExt cx="332" cy="196"/>
              </a:xfrm>
            </p:grpSpPr>
            <p:sp>
              <p:nvSpPr>
                <p:cNvPr id="328" name="Rectangle 142"/>
                <p:cNvSpPr>
                  <a:spLocks noChangeArrowheads="1"/>
                </p:cNvSpPr>
                <p:nvPr/>
              </p:nvSpPr>
              <p:spPr bwMode="blackWhite">
                <a:xfrm>
                  <a:off x="3490" y="1610"/>
                  <a:ext cx="36"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29" name="Rectangle 143"/>
                <p:cNvSpPr>
                  <a:spLocks noChangeArrowheads="1"/>
                </p:cNvSpPr>
                <p:nvPr/>
              </p:nvSpPr>
              <p:spPr bwMode="blackWhite">
                <a:xfrm>
                  <a:off x="3576" y="1610"/>
                  <a:ext cx="35"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0" name="Rectangle 144"/>
                <p:cNvSpPr>
                  <a:spLocks noChangeArrowheads="1"/>
                </p:cNvSpPr>
                <p:nvPr/>
              </p:nvSpPr>
              <p:spPr bwMode="blackWhite">
                <a:xfrm>
                  <a:off x="3660" y="1610"/>
                  <a:ext cx="34"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1" name="Rectangle 145"/>
                <p:cNvSpPr>
                  <a:spLocks noChangeArrowheads="1"/>
                </p:cNvSpPr>
                <p:nvPr/>
              </p:nvSpPr>
              <p:spPr bwMode="blackWhite">
                <a:xfrm>
                  <a:off x="3745" y="1610"/>
                  <a:ext cx="35"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2" name="Rectangle 146"/>
                <p:cNvSpPr>
                  <a:spLocks noChangeArrowheads="1"/>
                </p:cNvSpPr>
                <p:nvPr/>
              </p:nvSpPr>
              <p:spPr bwMode="blackWhite">
                <a:xfrm>
                  <a:off x="3532" y="1610"/>
                  <a:ext cx="36"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3" name="Rectangle 147"/>
                <p:cNvSpPr>
                  <a:spLocks noChangeArrowheads="1"/>
                </p:cNvSpPr>
                <p:nvPr/>
              </p:nvSpPr>
              <p:spPr bwMode="blackWhite">
                <a:xfrm>
                  <a:off x="3619" y="1610"/>
                  <a:ext cx="33"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4" name="Rectangle 148"/>
                <p:cNvSpPr>
                  <a:spLocks noChangeArrowheads="1"/>
                </p:cNvSpPr>
                <p:nvPr/>
              </p:nvSpPr>
              <p:spPr bwMode="blackWhite">
                <a:xfrm>
                  <a:off x="3701" y="1610"/>
                  <a:ext cx="36"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5" name="Rectangle 149"/>
                <p:cNvSpPr>
                  <a:spLocks noChangeArrowheads="1"/>
                </p:cNvSpPr>
                <p:nvPr/>
              </p:nvSpPr>
              <p:spPr bwMode="blackWhite">
                <a:xfrm>
                  <a:off x="3490" y="1555"/>
                  <a:ext cx="36"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6" name="Rectangle 150"/>
                <p:cNvSpPr>
                  <a:spLocks noChangeArrowheads="1"/>
                </p:cNvSpPr>
                <p:nvPr/>
              </p:nvSpPr>
              <p:spPr bwMode="blackWhite">
                <a:xfrm>
                  <a:off x="3576" y="1555"/>
                  <a:ext cx="36"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7" name="Rectangle 151"/>
                <p:cNvSpPr>
                  <a:spLocks noChangeArrowheads="1"/>
                </p:cNvSpPr>
                <p:nvPr/>
              </p:nvSpPr>
              <p:spPr bwMode="blackWhite">
                <a:xfrm>
                  <a:off x="3659" y="1555"/>
                  <a:ext cx="35"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8" name="Rectangle 152"/>
                <p:cNvSpPr>
                  <a:spLocks noChangeArrowheads="1"/>
                </p:cNvSpPr>
                <p:nvPr/>
              </p:nvSpPr>
              <p:spPr bwMode="blackWhite">
                <a:xfrm>
                  <a:off x="3745" y="1555"/>
                  <a:ext cx="35"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9" name="Rectangle 153"/>
                <p:cNvSpPr>
                  <a:spLocks noChangeArrowheads="1"/>
                </p:cNvSpPr>
                <p:nvPr/>
              </p:nvSpPr>
              <p:spPr bwMode="blackWhite">
                <a:xfrm>
                  <a:off x="3532" y="1555"/>
                  <a:ext cx="36"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40" name="Rectangle 154"/>
                <p:cNvSpPr>
                  <a:spLocks noChangeArrowheads="1"/>
                </p:cNvSpPr>
                <p:nvPr/>
              </p:nvSpPr>
              <p:spPr bwMode="blackWhite">
                <a:xfrm>
                  <a:off x="3617" y="1555"/>
                  <a:ext cx="35"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41" name="Rectangle 155"/>
                <p:cNvSpPr>
                  <a:spLocks noChangeArrowheads="1"/>
                </p:cNvSpPr>
                <p:nvPr/>
              </p:nvSpPr>
              <p:spPr bwMode="blackWhite">
                <a:xfrm>
                  <a:off x="3701" y="1555"/>
                  <a:ext cx="36"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42" name="Rectangle 156"/>
                <p:cNvSpPr>
                  <a:spLocks noChangeArrowheads="1"/>
                </p:cNvSpPr>
                <p:nvPr/>
              </p:nvSpPr>
              <p:spPr bwMode="blackWhite">
                <a:xfrm>
                  <a:off x="3785" y="1555"/>
                  <a:ext cx="37"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43" name="Rectangle 157"/>
                <p:cNvSpPr>
                  <a:spLocks noChangeArrowheads="1"/>
                </p:cNvSpPr>
                <p:nvPr/>
              </p:nvSpPr>
              <p:spPr bwMode="blackWhite">
                <a:xfrm>
                  <a:off x="3490" y="1572"/>
                  <a:ext cx="36"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44" name="Rectangle 158"/>
                <p:cNvSpPr>
                  <a:spLocks noChangeArrowheads="1"/>
                </p:cNvSpPr>
                <p:nvPr/>
              </p:nvSpPr>
              <p:spPr bwMode="blackWhite">
                <a:xfrm>
                  <a:off x="3576" y="1572"/>
                  <a:ext cx="36"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45" name="Rectangle 159"/>
                <p:cNvSpPr>
                  <a:spLocks noChangeArrowheads="1"/>
                </p:cNvSpPr>
                <p:nvPr/>
              </p:nvSpPr>
              <p:spPr bwMode="blackWhite">
                <a:xfrm>
                  <a:off x="3660" y="1572"/>
                  <a:ext cx="34"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46" name="Rectangle 160"/>
                <p:cNvSpPr>
                  <a:spLocks noChangeArrowheads="1"/>
                </p:cNvSpPr>
                <p:nvPr/>
              </p:nvSpPr>
              <p:spPr bwMode="blackWhite">
                <a:xfrm>
                  <a:off x="3745" y="1572"/>
                  <a:ext cx="32"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47" name="Rectangle 161"/>
                <p:cNvSpPr>
                  <a:spLocks noChangeArrowheads="1"/>
                </p:cNvSpPr>
                <p:nvPr/>
              </p:nvSpPr>
              <p:spPr bwMode="blackWhite">
                <a:xfrm>
                  <a:off x="3532" y="1572"/>
                  <a:ext cx="36"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48" name="Rectangle 162"/>
                <p:cNvSpPr>
                  <a:spLocks noChangeArrowheads="1"/>
                </p:cNvSpPr>
                <p:nvPr/>
              </p:nvSpPr>
              <p:spPr bwMode="blackWhite">
                <a:xfrm>
                  <a:off x="3617" y="1572"/>
                  <a:ext cx="35"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49" name="Rectangle 163"/>
                <p:cNvSpPr>
                  <a:spLocks noChangeArrowheads="1"/>
                </p:cNvSpPr>
                <p:nvPr/>
              </p:nvSpPr>
              <p:spPr bwMode="blackWhite">
                <a:xfrm>
                  <a:off x="3701" y="1572"/>
                  <a:ext cx="36"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50" name="Rectangle 164"/>
                <p:cNvSpPr>
                  <a:spLocks noChangeArrowheads="1"/>
                </p:cNvSpPr>
                <p:nvPr/>
              </p:nvSpPr>
              <p:spPr bwMode="blackWhite">
                <a:xfrm>
                  <a:off x="3785" y="1572"/>
                  <a:ext cx="37"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51" name="Rectangle 165"/>
                <p:cNvSpPr>
                  <a:spLocks noChangeArrowheads="1"/>
                </p:cNvSpPr>
                <p:nvPr/>
              </p:nvSpPr>
              <p:spPr bwMode="blackWhite">
                <a:xfrm>
                  <a:off x="3490" y="1592"/>
                  <a:ext cx="36"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52" name="Rectangle 166"/>
                <p:cNvSpPr>
                  <a:spLocks noChangeArrowheads="1"/>
                </p:cNvSpPr>
                <p:nvPr/>
              </p:nvSpPr>
              <p:spPr bwMode="blackWhite">
                <a:xfrm>
                  <a:off x="3576" y="1592"/>
                  <a:ext cx="35"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53" name="Rectangle 167"/>
                <p:cNvSpPr>
                  <a:spLocks noChangeArrowheads="1"/>
                </p:cNvSpPr>
                <p:nvPr/>
              </p:nvSpPr>
              <p:spPr bwMode="blackWhite">
                <a:xfrm>
                  <a:off x="3660" y="1592"/>
                  <a:ext cx="34"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54" name="Rectangle 168"/>
                <p:cNvSpPr>
                  <a:spLocks noChangeArrowheads="1"/>
                </p:cNvSpPr>
                <p:nvPr/>
              </p:nvSpPr>
              <p:spPr bwMode="blackWhite">
                <a:xfrm>
                  <a:off x="3745" y="1592"/>
                  <a:ext cx="35"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55" name="Rectangle 169"/>
                <p:cNvSpPr>
                  <a:spLocks noChangeArrowheads="1"/>
                </p:cNvSpPr>
                <p:nvPr/>
              </p:nvSpPr>
              <p:spPr bwMode="blackWhite">
                <a:xfrm>
                  <a:off x="3532" y="1592"/>
                  <a:ext cx="36"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56" name="Rectangle 170"/>
                <p:cNvSpPr>
                  <a:spLocks noChangeArrowheads="1"/>
                </p:cNvSpPr>
                <p:nvPr/>
              </p:nvSpPr>
              <p:spPr bwMode="blackWhite">
                <a:xfrm>
                  <a:off x="3617" y="1592"/>
                  <a:ext cx="35"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57" name="Rectangle 171"/>
                <p:cNvSpPr>
                  <a:spLocks noChangeArrowheads="1"/>
                </p:cNvSpPr>
                <p:nvPr/>
              </p:nvSpPr>
              <p:spPr bwMode="blackWhite">
                <a:xfrm>
                  <a:off x="3701" y="1592"/>
                  <a:ext cx="36"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58" name="Rectangle 172"/>
                <p:cNvSpPr>
                  <a:spLocks noChangeArrowheads="1"/>
                </p:cNvSpPr>
                <p:nvPr/>
              </p:nvSpPr>
              <p:spPr bwMode="blackWhite">
                <a:xfrm>
                  <a:off x="3785" y="1592"/>
                  <a:ext cx="37"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59" name="Rectangle 173"/>
                <p:cNvSpPr>
                  <a:spLocks noChangeArrowheads="1"/>
                </p:cNvSpPr>
                <p:nvPr/>
              </p:nvSpPr>
              <p:spPr bwMode="blackWhite">
                <a:xfrm>
                  <a:off x="3785" y="1610"/>
                  <a:ext cx="37"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60" name="Rectangle 174"/>
                <p:cNvSpPr>
                  <a:spLocks noChangeArrowheads="1"/>
                </p:cNvSpPr>
                <p:nvPr/>
              </p:nvSpPr>
              <p:spPr bwMode="blackWhite">
                <a:xfrm>
                  <a:off x="3490" y="1627"/>
                  <a:ext cx="36"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61" name="Rectangle 175"/>
                <p:cNvSpPr>
                  <a:spLocks noChangeArrowheads="1"/>
                </p:cNvSpPr>
                <p:nvPr/>
              </p:nvSpPr>
              <p:spPr bwMode="blackWhite">
                <a:xfrm>
                  <a:off x="3576" y="1627"/>
                  <a:ext cx="36"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62" name="Rectangle 176"/>
                <p:cNvSpPr>
                  <a:spLocks noChangeArrowheads="1"/>
                </p:cNvSpPr>
                <p:nvPr/>
              </p:nvSpPr>
              <p:spPr bwMode="blackWhite">
                <a:xfrm>
                  <a:off x="3660" y="1627"/>
                  <a:ext cx="34"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63" name="Rectangle 177"/>
                <p:cNvSpPr>
                  <a:spLocks noChangeArrowheads="1"/>
                </p:cNvSpPr>
                <p:nvPr/>
              </p:nvSpPr>
              <p:spPr bwMode="blackWhite">
                <a:xfrm>
                  <a:off x="3745" y="1627"/>
                  <a:ext cx="35"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64" name="Rectangle 178"/>
                <p:cNvSpPr>
                  <a:spLocks noChangeArrowheads="1"/>
                </p:cNvSpPr>
                <p:nvPr/>
              </p:nvSpPr>
              <p:spPr bwMode="blackWhite">
                <a:xfrm>
                  <a:off x="3532" y="1627"/>
                  <a:ext cx="33"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65" name="Rectangle 179"/>
                <p:cNvSpPr>
                  <a:spLocks noChangeArrowheads="1"/>
                </p:cNvSpPr>
                <p:nvPr/>
              </p:nvSpPr>
              <p:spPr bwMode="blackWhite">
                <a:xfrm>
                  <a:off x="3617" y="1627"/>
                  <a:ext cx="35"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66" name="Rectangle 180"/>
                <p:cNvSpPr>
                  <a:spLocks noChangeArrowheads="1"/>
                </p:cNvSpPr>
                <p:nvPr/>
              </p:nvSpPr>
              <p:spPr bwMode="blackWhite">
                <a:xfrm>
                  <a:off x="3701" y="1627"/>
                  <a:ext cx="36"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67" name="Rectangle 181"/>
                <p:cNvSpPr>
                  <a:spLocks noChangeArrowheads="1"/>
                </p:cNvSpPr>
                <p:nvPr/>
              </p:nvSpPr>
              <p:spPr bwMode="blackWhite">
                <a:xfrm>
                  <a:off x="3785" y="1627"/>
                  <a:ext cx="37"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68" name="Rectangle 182"/>
                <p:cNvSpPr>
                  <a:spLocks noChangeArrowheads="1"/>
                </p:cNvSpPr>
                <p:nvPr/>
              </p:nvSpPr>
              <p:spPr bwMode="blackWhite">
                <a:xfrm>
                  <a:off x="3490" y="1646"/>
                  <a:ext cx="36"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69" name="Rectangle 183"/>
                <p:cNvSpPr>
                  <a:spLocks noChangeArrowheads="1"/>
                </p:cNvSpPr>
                <p:nvPr/>
              </p:nvSpPr>
              <p:spPr bwMode="blackWhite">
                <a:xfrm>
                  <a:off x="3576" y="1646"/>
                  <a:ext cx="35"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0" name="Rectangle 184"/>
                <p:cNvSpPr>
                  <a:spLocks noChangeArrowheads="1"/>
                </p:cNvSpPr>
                <p:nvPr/>
              </p:nvSpPr>
              <p:spPr bwMode="blackWhite">
                <a:xfrm>
                  <a:off x="3660" y="1646"/>
                  <a:ext cx="34"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1" name="Rectangle 185"/>
                <p:cNvSpPr>
                  <a:spLocks noChangeArrowheads="1"/>
                </p:cNvSpPr>
                <p:nvPr/>
              </p:nvSpPr>
              <p:spPr bwMode="blackWhite">
                <a:xfrm>
                  <a:off x="3745" y="1646"/>
                  <a:ext cx="35"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2" name="Rectangle 186"/>
                <p:cNvSpPr>
                  <a:spLocks noChangeArrowheads="1"/>
                </p:cNvSpPr>
                <p:nvPr/>
              </p:nvSpPr>
              <p:spPr bwMode="blackWhite">
                <a:xfrm>
                  <a:off x="3532" y="1646"/>
                  <a:ext cx="36"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3" name="Rectangle 187"/>
                <p:cNvSpPr>
                  <a:spLocks noChangeArrowheads="1"/>
                </p:cNvSpPr>
                <p:nvPr/>
              </p:nvSpPr>
              <p:spPr bwMode="blackWhite">
                <a:xfrm>
                  <a:off x="3619" y="1646"/>
                  <a:ext cx="33"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4" name="Rectangle 188"/>
                <p:cNvSpPr>
                  <a:spLocks noChangeArrowheads="1"/>
                </p:cNvSpPr>
                <p:nvPr/>
              </p:nvSpPr>
              <p:spPr bwMode="blackWhite">
                <a:xfrm>
                  <a:off x="3701" y="1646"/>
                  <a:ext cx="36"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5" name="Rectangle 189"/>
                <p:cNvSpPr>
                  <a:spLocks noChangeArrowheads="1"/>
                </p:cNvSpPr>
                <p:nvPr/>
              </p:nvSpPr>
              <p:spPr bwMode="blackWhite">
                <a:xfrm>
                  <a:off x="3785" y="1646"/>
                  <a:ext cx="37"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6" name="Rectangle 190"/>
                <p:cNvSpPr>
                  <a:spLocks noChangeArrowheads="1"/>
                </p:cNvSpPr>
                <p:nvPr/>
              </p:nvSpPr>
              <p:spPr bwMode="blackWhite">
                <a:xfrm>
                  <a:off x="3490" y="1666"/>
                  <a:ext cx="36"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7" name="Rectangle 191"/>
                <p:cNvSpPr>
                  <a:spLocks noChangeArrowheads="1"/>
                </p:cNvSpPr>
                <p:nvPr/>
              </p:nvSpPr>
              <p:spPr bwMode="blackWhite">
                <a:xfrm>
                  <a:off x="3576" y="1666"/>
                  <a:ext cx="36"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8" name="Rectangle 192"/>
                <p:cNvSpPr>
                  <a:spLocks noChangeArrowheads="1"/>
                </p:cNvSpPr>
                <p:nvPr/>
              </p:nvSpPr>
              <p:spPr bwMode="blackWhite">
                <a:xfrm>
                  <a:off x="3660" y="1666"/>
                  <a:ext cx="34"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9" name="Rectangle 193"/>
                <p:cNvSpPr>
                  <a:spLocks noChangeArrowheads="1"/>
                </p:cNvSpPr>
                <p:nvPr/>
              </p:nvSpPr>
              <p:spPr bwMode="blackWhite">
                <a:xfrm>
                  <a:off x="3745" y="1666"/>
                  <a:ext cx="35"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80" name="Rectangle 194"/>
                <p:cNvSpPr>
                  <a:spLocks noChangeArrowheads="1"/>
                </p:cNvSpPr>
                <p:nvPr/>
              </p:nvSpPr>
              <p:spPr bwMode="blackWhite">
                <a:xfrm>
                  <a:off x="3532" y="1666"/>
                  <a:ext cx="33"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81" name="Rectangle 195"/>
                <p:cNvSpPr>
                  <a:spLocks noChangeArrowheads="1"/>
                </p:cNvSpPr>
                <p:nvPr/>
              </p:nvSpPr>
              <p:spPr bwMode="blackWhite">
                <a:xfrm>
                  <a:off x="3617" y="1666"/>
                  <a:ext cx="35"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82" name="Rectangle 196"/>
                <p:cNvSpPr>
                  <a:spLocks noChangeArrowheads="1"/>
                </p:cNvSpPr>
                <p:nvPr/>
              </p:nvSpPr>
              <p:spPr bwMode="blackWhite">
                <a:xfrm>
                  <a:off x="3701" y="1666"/>
                  <a:ext cx="36"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83" name="Rectangle 197"/>
                <p:cNvSpPr>
                  <a:spLocks noChangeArrowheads="1"/>
                </p:cNvSpPr>
                <p:nvPr/>
              </p:nvSpPr>
              <p:spPr bwMode="blackWhite">
                <a:xfrm>
                  <a:off x="3785" y="1666"/>
                  <a:ext cx="37"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84" name="Rectangle 198"/>
                <p:cNvSpPr>
                  <a:spLocks noChangeArrowheads="1"/>
                </p:cNvSpPr>
                <p:nvPr/>
              </p:nvSpPr>
              <p:spPr bwMode="blackWhite">
                <a:xfrm>
                  <a:off x="3490" y="1684"/>
                  <a:ext cx="34"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85" name="Rectangle 199"/>
                <p:cNvSpPr>
                  <a:spLocks noChangeArrowheads="1"/>
                </p:cNvSpPr>
                <p:nvPr/>
              </p:nvSpPr>
              <p:spPr bwMode="blackWhite">
                <a:xfrm>
                  <a:off x="3576" y="1684"/>
                  <a:ext cx="36"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86" name="Rectangle 200"/>
                <p:cNvSpPr>
                  <a:spLocks noChangeArrowheads="1"/>
                </p:cNvSpPr>
                <p:nvPr/>
              </p:nvSpPr>
              <p:spPr bwMode="blackWhite">
                <a:xfrm>
                  <a:off x="3659" y="1684"/>
                  <a:ext cx="35"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87" name="Rectangle 201"/>
                <p:cNvSpPr>
                  <a:spLocks noChangeArrowheads="1"/>
                </p:cNvSpPr>
                <p:nvPr/>
              </p:nvSpPr>
              <p:spPr bwMode="blackWhite">
                <a:xfrm>
                  <a:off x="3745" y="1684"/>
                  <a:ext cx="35"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88" name="Rectangle 202"/>
                <p:cNvSpPr>
                  <a:spLocks noChangeArrowheads="1"/>
                </p:cNvSpPr>
                <p:nvPr/>
              </p:nvSpPr>
              <p:spPr bwMode="blackWhite">
                <a:xfrm>
                  <a:off x="3532" y="1684"/>
                  <a:ext cx="33"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89" name="Rectangle 203"/>
                <p:cNvSpPr>
                  <a:spLocks noChangeArrowheads="1"/>
                </p:cNvSpPr>
                <p:nvPr/>
              </p:nvSpPr>
              <p:spPr bwMode="blackWhite">
                <a:xfrm>
                  <a:off x="3617" y="1684"/>
                  <a:ext cx="35"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90" name="Rectangle 204"/>
                <p:cNvSpPr>
                  <a:spLocks noChangeArrowheads="1"/>
                </p:cNvSpPr>
                <p:nvPr/>
              </p:nvSpPr>
              <p:spPr bwMode="blackWhite">
                <a:xfrm>
                  <a:off x="3701" y="1684"/>
                  <a:ext cx="36"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91" name="Rectangle 205"/>
                <p:cNvSpPr>
                  <a:spLocks noChangeArrowheads="1"/>
                </p:cNvSpPr>
                <p:nvPr/>
              </p:nvSpPr>
              <p:spPr bwMode="blackWhite">
                <a:xfrm>
                  <a:off x="3785" y="1684"/>
                  <a:ext cx="37"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92" name="Rectangle 206"/>
                <p:cNvSpPr>
                  <a:spLocks noChangeArrowheads="1"/>
                </p:cNvSpPr>
                <p:nvPr/>
              </p:nvSpPr>
              <p:spPr bwMode="blackWhite">
                <a:xfrm>
                  <a:off x="3490" y="1702"/>
                  <a:ext cx="36"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93" name="Rectangle 207"/>
                <p:cNvSpPr>
                  <a:spLocks noChangeArrowheads="1"/>
                </p:cNvSpPr>
                <p:nvPr/>
              </p:nvSpPr>
              <p:spPr bwMode="blackWhite">
                <a:xfrm>
                  <a:off x="3576" y="1702"/>
                  <a:ext cx="35"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94" name="Rectangle 208"/>
                <p:cNvSpPr>
                  <a:spLocks noChangeArrowheads="1"/>
                </p:cNvSpPr>
                <p:nvPr/>
              </p:nvSpPr>
              <p:spPr bwMode="blackWhite">
                <a:xfrm>
                  <a:off x="3660" y="1702"/>
                  <a:ext cx="34"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95" name="Rectangle 209"/>
                <p:cNvSpPr>
                  <a:spLocks noChangeArrowheads="1"/>
                </p:cNvSpPr>
                <p:nvPr/>
              </p:nvSpPr>
              <p:spPr bwMode="blackWhite">
                <a:xfrm>
                  <a:off x="3745" y="1702"/>
                  <a:ext cx="35"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96" name="Rectangle 210"/>
                <p:cNvSpPr>
                  <a:spLocks noChangeArrowheads="1"/>
                </p:cNvSpPr>
                <p:nvPr/>
              </p:nvSpPr>
              <p:spPr bwMode="blackWhite">
                <a:xfrm>
                  <a:off x="3532" y="1702"/>
                  <a:ext cx="36"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97" name="Rectangle 211"/>
                <p:cNvSpPr>
                  <a:spLocks noChangeArrowheads="1"/>
                </p:cNvSpPr>
                <p:nvPr/>
              </p:nvSpPr>
              <p:spPr bwMode="blackWhite">
                <a:xfrm>
                  <a:off x="3617" y="1702"/>
                  <a:ext cx="35"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98" name="Rectangle 212"/>
                <p:cNvSpPr>
                  <a:spLocks noChangeArrowheads="1"/>
                </p:cNvSpPr>
                <p:nvPr/>
              </p:nvSpPr>
              <p:spPr bwMode="blackWhite">
                <a:xfrm>
                  <a:off x="3701" y="1702"/>
                  <a:ext cx="36"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99" name="Rectangle 213"/>
                <p:cNvSpPr>
                  <a:spLocks noChangeArrowheads="1"/>
                </p:cNvSpPr>
                <p:nvPr/>
              </p:nvSpPr>
              <p:spPr bwMode="blackWhite">
                <a:xfrm>
                  <a:off x="3785" y="1702"/>
                  <a:ext cx="37" cy="1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00" name="Rectangle 214"/>
                <p:cNvSpPr>
                  <a:spLocks noChangeArrowheads="1"/>
                </p:cNvSpPr>
                <p:nvPr/>
              </p:nvSpPr>
              <p:spPr bwMode="blackWhite">
                <a:xfrm>
                  <a:off x="3490" y="1720"/>
                  <a:ext cx="36"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01" name="Rectangle 215"/>
                <p:cNvSpPr>
                  <a:spLocks noChangeArrowheads="1"/>
                </p:cNvSpPr>
                <p:nvPr/>
              </p:nvSpPr>
              <p:spPr bwMode="blackWhite">
                <a:xfrm>
                  <a:off x="3576" y="1720"/>
                  <a:ext cx="35"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02" name="Rectangle 216"/>
                <p:cNvSpPr>
                  <a:spLocks noChangeArrowheads="1"/>
                </p:cNvSpPr>
                <p:nvPr/>
              </p:nvSpPr>
              <p:spPr bwMode="blackWhite">
                <a:xfrm>
                  <a:off x="3660" y="1720"/>
                  <a:ext cx="34"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03" name="Rectangle 217"/>
                <p:cNvSpPr>
                  <a:spLocks noChangeArrowheads="1"/>
                </p:cNvSpPr>
                <p:nvPr/>
              </p:nvSpPr>
              <p:spPr bwMode="blackWhite">
                <a:xfrm>
                  <a:off x="3745" y="1720"/>
                  <a:ext cx="35"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04" name="Rectangle 218"/>
                <p:cNvSpPr>
                  <a:spLocks noChangeArrowheads="1"/>
                </p:cNvSpPr>
                <p:nvPr/>
              </p:nvSpPr>
              <p:spPr bwMode="blackWhite">
                <a:xfrm>
                  <a:off x="3532" y="1720"/>
                  <a:ext cx="36"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05" name="Rectangle 219"/>
                <p:cNvSpPr>
                  <a:spLocks noChangeArrowheads="1"/>
                </p:cNvSpPr>
                <p:nvPr/>
              </p:nvSpPr>
              <p:spPr bwMode="blackWhite">
                <a:xfrm>
                  <a:off x="3617" y="1720"/>
                  <a:ext cx="35"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06" name="Rectangle 220"/>
                <p:cNvSpPr>
                  <a:spLocks noChangeArrowheads="1"/>
                </p:cNvSpPr>
                <p:nvPr/>
              </p:nvSpPr>
              <p:spPr bwMode="blackWhite">
                <a:xfrm>
                  <a:off x="3701" y="1720"/>
                  <a:ext cx="36"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07" name="Rectangle 221"/>
                <p:cNvSpPr>
                  <a:spLocks noChangeArrowheads="1"/>
                </p:cNvSpPr>
                <p:nvPr/>
              </p:nvSpPr>
              <p:spPr bwMode="blackWhite">
                <a:xfrm>
                  <a:off x="3785" y="1720"/>
                  <a:ext cx="37" cy="1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08" name="Rectangle 222"/>
                <p:cNvSpPr>
                  <a:spLocks noChangeArrowheads="1"/>
                </p:cNvSpPr>
                <p:nvPr/>
              </p:nvSpPr>
              <p:spPr bwMode="blackWhite">
                <a:xfrm>
                  <a:off x="3491" y="1740"/>
                  <a:ext cx="33" cy="1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09" name="Rectangle 223"/>
                <p:cNvSpPr>
                  <a:spLocks noChangeArrowheads="1"/>
                </p:cNvSpPr>
                <p:nvPr/>
              </p:nvSpPr>
              <p:spPr bwMode="blackWhite">
                <a:xfrm>
                  <a:off x="3576" y="1740"/>
                  <a:ext cx="36" cy="1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0" name="Rectangle 224"/>
                <p:cNvSpPr>
                  <a:spLocks noChangeArrowheads="1"/>
                </p:cNvSpPr>
                <p:nvPr/>
              </p:nvSpPr>
              <p:spPr bwMode="blackWhite">
                <a:xfrm>
                  <a:off x="3660" y="1740"/>
                  <a:ext cx="34" cy="1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1" name="Rectangle 225"/>
                <p:cNvSpPr>
                  <a:spLocks noChangeArrowheads="1"/>
                </p:cNvSpPr>
                <p:nvPr/>
              </p:nvSpPr>
              <p:spPr bwMode="blackWhite">
                <a:xfrm>
                  <a:off x="3745" y="1740"/>
                  <a:ext cx="35" cy="1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2" name="Rectangle 226"/>
                <p:cNvSpPr>
                  <a:spLocks noChangeArrowheads="1"/>
                </p:cNvSpPr>
                <p:nvPr/>
              </p:nvSpPr>
              <p:spPr bwMode="blackWhite">
                <a:xfrm>
                  <a:off x="3532" y="1740"/>
                  <a:ext cx="33" cy="1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3" name="Rectangle 227"/>
                <p:cNvSpPr>
                  <a:spLocks noChangeArrowheads="1"/>
                </p:cNvSpPr>
                <p:nvPr/>
              </p:nvSpPr>
              <p:spPr bwMode="blackWhite">
                <a:xfrm>
                  <a:off x="3617" y="1740"/>
                  <a:ext cx="35" cy="1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4" name="Rectangle 228"/>
                <p:cNvSpPr>
                  <a:spLocks noChangeArrowheads="1"/>
                </p:cNvSpPr>
                <p:nvPr/>
              </p:nvSpPr>
              <p:spPr bwMode="blackWhite">
                <a:xfrm>
                  <a:off x="3701" y="1740"/>
                  <a:ext cx="36" cy="1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5" name="Rectangle 229"/>
                <p:cNvSpPr>
                  <a:spLocks noChangeArrowheads="1"/>
                </p:cNvSpPr>
                <p:nvPr/>
              </p:nvSpPr>
              <p:spPr bwMode="blackWhite">
                <a:xfrm>
                  <a:off x="3785" y="1740"/>
                  <a:ext cx="37" cy="1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327" name="Rectangle 230"/>
              <p:cNvSpPr>
                <a:spLocks noChangeArrowheads="1"/>
              </p:cNvSpPr>
              <p:nvPr/>
            </p:nvSpPr>
            <p:spPr bwMode="blackWhite">
              <a:xfrm>
                <a:off x="3489" y="1556"/>
                <a:ext cx="329" cy="191"/>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312" name="Rectangle 231"/>
            <p:cNvSpPr>
              <a:spLocks noChangeArrowheads="1"/>
            </p:cNvSpPr>
            <p:nvPr/>
          </p:nvSpPr>
          <p:spPr bwMode="blackWhite">
            <a:xfrm>
              <a:off x="4092" y="1847"/>
              <a:ext cx="299" cy="10"/>
            </a:xfrm>
            <a:prstGeom prst="rect">
              <a:avLst/>
            </a:prstGeom>
            <a:gradFill rotWithShape="0">
              <a:gsLst>
                <a:gs pos="0">
                  <a:srgbClr val="000000"/>
                </a:gs>
                <a:gs pos="20000">
                  <a:srgbClr val="0A128C"/>
                </a:gs>
                <a:gs pos="35001">
                  <a:srgbClr val="181CC7"/>
                </a:gs>
                <a:gs pos="44000">
                  <a:srgbClr val="7005D4"/>
                </a:gs>
                <a:gs pos="50000">
                  <a:srgbClr val="8C3D91"/>
                </a:gs>
                <a:gs pos="56000">
                  <a:srgbClr val="7005D4"/>
                </a:gs>
                <a:gs pos="64999">
                  <a:srgbClr val="181CC7"/>
                </a:gs>
                <a:gs pos="80000">
                  <a:srgbClr val="0A128C"/>
                </a:gs>
                <a:gs pos="100000">
                  <a:srgbClr val="000000"/>
                </a:gs>
              </a:gsLst>
              <a:lin ang="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13" name="Rectangle 232"/>
            <p:cNvSpPr>
              <a:spLocks noChangeArrowheads="1"/>
            </p:cNvSpPr>
            <p:nvPr/>
          </p:nvSpPr>
          <p:spPr bwMode="blackWhite">
            <a:xfrm>
              <a:off x="3762" y="1329"/>
              <a:ext cx="10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defTabSz="822325" eaLnBrk="0" fontAlgn="base" latinLnBrk="0" hangingPunct="0">
                <a:lnSpc>
                  <a:spcPct val="100000"/>
                </a:lnSpc>
                <a:spcBef>
                  <a:spcPct val="5000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Oracle server</a:t>
              </a:r>
            </a:p>
          </p:txBody>
        </p:sp>
        <p:grpSp>
          <p:nvGrpSpPr>
            <p:cNvPr id="314" name="Group 233"/>
            <p:cNvGrpSpPr>
              <a:grpSpLocks/>
            </p:cNvGrpSpPr>
            <p:nvPr/>
          </p:nvGrpSpPr>
          <p:grpSpPr bwMode="auto">
            <a:xfrm>
              <a:off x="3552" y="2215"/>
              <a:ext cx="432" cy="335"/>
              <a:chOff x="288" y="2982"/>
              <a:chExt cx="532" cy="412"/>
            </a:xfrm>
          </p:grpSpPr>
          <p:sp>
            <p:nvSpPr>
              <p:cNvPr id="323" name="Rectangle 234"/>
              <p:cNvSpPr>
                <a:spLocks noChangeArrowheads="1"/>
              </p:cNvSpPr>
              <p:nvPr/>
            </p:nvSpPr>
            <p:spPr bwMode="gray">
              <a:xfrm>
                <a:off x="288" y="3066"/>
                <a:ext cx="532" cy="246"/>
              </a:xfrm>
              <a:prstGeom prst="rect">
                <a:avLst/>
              </a:prstGeom>
              <a:solidFill>
                <a:srgbClr val="9999FF"/>
              </a:solidFill>
              <a:ln w="3175">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24" name="Oval 235"/>
              <p:cNvSpPr>
                <a:spLocks noChangeArrowheads="1"/>
              </p:cNvSpPr>
              <p:nvPr/>
            </p:nvSpPr>
            <p:spPr bwMode="gray">
              <a:xfrm>
                <a:off x="288" y="2982"/>
                <a:ext cx="532" cy="158"/>
              </a:xfrm>
              <a:prstGeom prst="ellipse">
                <a:avLst/>
              </a:prstGeom>
              <a:solidFill>
                <a:srgbClr val="CCCC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25" name="Oval 236"/>
              <p:cNvSpPr>
                <a:spLocks noChangeArrowheads="1"/>
              </p:cNvSpPr>
              <p:nvPr/>
            </p:nvSpPr>
            <p:spPr bwMode="gray">
              <a:xfrm>
                <a:off x="288" y="3236"/>
                <a:ext cx="532" cy="158"/>
              </a:xfrm>
              <a:prstGeom prst="ellipse">
                <a:avLst/>
              </a:prstGeom>
              <a:solidFill>
                <a:srgbClr val="9999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315" name="Group 237"/>
            <p:cNvGrpSpPr>
              <a:grpSpLocks/>
            </p:cNvGrpSpPr>
            <p:nvPr/>
          </p:nvGrpSpPr>
          <p:grpSpPr bwMode="auto">
            <a:xfrm>
              <a:off x="4080" y="2215"/>
              <a:ext cx="432" cy="335"/>
              <a:chOff x="288" y="2982"/>
              <a:chExt cx="532" cy="412"/>
            </a:xfrm>
          </p:grpSpPr>
          <p:sp>
            <p:nvSpPr>
              <p:cNvPr id="320" name="Rectangle 238"/>
              <p:cNvSpPr>
                <a:spLocks noChangeArrowheads="1"/>
              </p:cNvSpPr>
              <p:nvPr/>
            </p:nvSpPr>
            <p:spPr bwMode="gray">
              <a:xfrm>
                <a:off x="288" y="3066"/>
                <a:ext cx="532" cy="246"/>
              </a:xfrm>
              <a:prstGeom prst="rect">
                <a:avLst/>
              </a:prstGeom>
              <a:solidFill>
                <a:srgbClr val="9999FF"/>
              </a:solidFill>
              <a:ln w="3175">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21" name="Oval 239"/>
              <p:cNvSpPr>
                <a:spLocks noChangeArrowheads="1"/>
              </p:cNvSpPr>
              <p:nvPr/>
            </p:nvSpPr>
            <p:spPr bwMode="gray">
              <a:xfrm>
                <a:off x="288" y="2982"/>
                <a:ext cx="532" cy="158"/>
              </a:xfrm>
              <a:prstGeom prst="ellipse">
                <a:avLst/>
              </a:prstGeom>
              <a:solidFill>
                <a:srgbClr val="CCCC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22" name="Oval 240"/>
              <p:cNvSpPr>
                <a:spLocks noChangeArrowheads="1"/>
              </p:cNvSpPr>
              <p:nvPr/>
            </p:nvSpPr>
            <p:spPr bwMode="gray">
              <a:xfrm>
                <a:off x="288" y="3236"/>
                <a:ext cx="532" cy="158"/>
              </a:xfrm>
              <a:prstGeom prst="ellipse">
                <a:avLst/>
              </a:prstGeom>
              <a:solidFill>
                <a:srgbClr val="9999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316" name="Group 241"/>
            <p:cNvGrpSpPr>
              <a:grpSpLocks/>
            </p:cNvGrpSpPr>
            <p:nvPr/>
          </p:nvGrpSpPr>
          <p:grpSpPr bwMode="auto">
            <a:xfrm>
              <a:off x="4608" y="2215"/>
              <a:ext cx="432" cy="335"/>
              <a:chOff x="288" y="2982"/>
              <a:chExt cx="532" cy="412"/>
            </a:xfrm>
          </p:grpSpPr>
          <p:sp>
            <p:nvSpPr>
              <p:cNvPr id="317" name="Rectangle 242"/>
              <p:cNvSpPr>
                <a:spLocks noChangeArrowheads="1"/>
              </p:cNvSpPr>
              <p:nvPr/>
            </p:nvSpPr>
            <p:spPr bwMode="gray">
              <a:xfrm>
                <a:off x="288" y="3066"/>
                <a:ext cx="532" cy="246"/>
              </a:xfrm>
              <a:prstGeom prst="rect">
                <a:avLst/>
              </a:prstGeom>
              <a:solidFill>
                <a:srgbClr val="9999FF"/>
              </a:solidFill>
              <a:ln w="3175">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18" name="Oval 243"/>
              <p:cNvSpPr>
                <a:spLocks noChangeArrowheads="1"/>
              </p:cNvSpPr>
              <p:nvPr/>
            </p:nvSpPr>
            <p:spPr bwMode="gray">
              <a:xfrm>
                <a:off x="288" y="2982"/>
                <a:ext cx="532" cy="158"/>
              </a:xfrm>
              <a:prstGeom prst="ellipse">
                <a:avLst/>
              </a:prstGeom>
              <a:solidFill>
                <a:srgbClr val="CCCC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19" name="Oval 244"/>
              <p:cNvSpPr>
                <a:spLocks noChangeArrowheads="1"/>
              </p:cNvSpPr>
              <p:nvPr/>
            </p:nvSpPr>
            <p:spPr bwMode="gray">
              <a:xfrm>
                <a:off x="288" y="3236"/>
                <a:ext cx="532" cy="158"/>
              </a:xfrm>
              <a:prstGeom prst="ellipse">
                <a:avLst/>
              </a:prstGeom>
              <a:solidFill>
                <a:srgbClr val="9999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grpSp>
      <p:sp>
        <p:nvSpPr>
          <p:cNvPr id="488" name="Freeform 245"/>
          <p:cNvSpPr>
            <a:spLocks/>
          </p:cNvSpPr>
          <p:nvPr/>
        </p:nvSpPr>
        <p:spPr bwMode="auto">
          <a:xfrm>
            <a:off x="6599169" y="3141731"/>
            <a:ext cx="1066800" cy="304800"/>
          </a:xfrm>
          <a:custGeom>
            <a:avLst/>
            <a:gdLst>
              <a:gd name="T0" fmla="*/ 0 w 672"/>
              <a:gd name="T1" fmla="*/ 0 h 192"/>
              <a:gd name="T2" fmla="*/ 1066800 w 672"/>
              <a:gd name="T3" fmla="*/ 0 h 192"/>
              <a:gd name="T4" fmla="*/ 1066800 w 672"/>
              <a:gd name="T5" fmla="*/ 304800 h 192"/>
              <a:gd name="T6" fmla="*/ 0 60000 65536"/>
              <a:gd name="T7" fmla="*/ 0 60000 65536"/>
              <a:gd name="T8" fmla="*/ 0 60000 65536"/>
            </a:gdLst>
            <a:ahLst/>
            <a:cxnLst>
              <a:cxn ang="T6">
                <a:pos x="T0" y="T1"/>
              </a:cxn>
              <a:cxn ang="T7">
                <a:pos x="T2" y="T3"/>
              </a:cxn>
              <a:cxn ang="T8">
                <a:pos x="T4" y="T5"/>
              </a:cxn>
            </a:cxnLst>
            <a:rect l="0" t="0" r="r" b="b"/>
            <a:pathLst>
              <a:path w="672" h="192">
                <a:moveTo>
                  <a:pt x="0" y="0"/>
                </a:moveTo>
                <a:lnTo>
                  <a:pt x="672" y="0"/>
                </a:lnTo>
                <a:lnTo>
                  <a:pt x="672" y="192"/>
                </a:lnTo>
              </a:path>
            </a:pathLst>
          </a:custGeom>
          <a:noFill/>
          <a:ln w="28575" cap="flat" cmpd="sng">
            <a:solidFill>
              <a:srgbClr val="000000"/>
            </a:solidFill>
            <a:prstDash val="solid"/>
            <a:round/>
            <a:headEnd type="stealth"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Tree>
    <p:extLst>
      <p:ext uri="{BB962C8B-B14F-4D97-AF65-F5344CB8AC3E}">
        <p14:creationId xmlns:p14="http://schemas.microsoft.com/office/powerpoint/2010/main" val="3172593219"/>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0" y="-177800"/>
            <a:ext cx="7315200" cy="876300"/>
          </a:xfrm>
          <a:prstGeom prst="rect">
            <a:avLst/>
          </a:prstGeom>
        </p:spPr>
        <p:txBody>
          <a:bodyPr vert="horz" lIns="91440" tIns="45720" rIns="91440" bIns="45720" rtlCol="0" anchor="b">
            <a:normAutofit/>
          </a:bodyPr>
          <a:lstStyle>
            <a:lvl1pPr algn="l" defTabSz="914400" rtl="0" eaLnBrk="1" latinLnBrk="0" hangingPunct="1">
              <a:spcBef>
                <a:spcPct val="0"/>
              </a:spcBef>
              <a:buNone/>
              <a:defRPr sz="3600" b="1" kern="1200">
                <a:solidFill>
                  <a:schemeClr val="bg1"/>
                </a:solidFill>
                <a:latin typeface="Arial" panose="020B0604020202020204" pitchFamily="34" charset="0"/>
                <a:ea typeface="+mj-ea"/>
                <a:cs typeface="Arial" panose="020B0604020202020204" pitchFamily="34" charset="0"/>
              </a:defRPr>
            </a:lvl1pPr>
          </a:lstStyle>
          <a:p>
            <a:r>
              <a:rPr lang="en-US" altLang="en-US"/>
              <a:t>3. Background Processes</a:t>
            </a:r>
          </a:p>
        </p:txBody>
      </p:sp>
      <p:sp>
        <p:nvSpPr>
          <p:cNvPr id="4" name="Rectangle 3"/>
          <p:cNvSpPr txBox="1">
            <a:spLocks noChangeArrowheads="1"/>
          </p:cNvSpPr>
          <p:nvPr/>
        </p:nvSpPr>
        <p:spPr>
          <a:xfrm>
            <a:off x="487890" y="1004888"/>
            <a:ext cx="11277601" cy="3689350"/>
          </a:xfrm>
          <a:prstGeom prst="rect">
            <a:avLst/>
          </a:prstGeom>
        </p:spPr>
        <p:txBody>
          <a:bodyPr/>
          <a:lstStyle>
            <a:lvl1pPr marL="228600" indent="-228600" algn="l" defTabSz="914400" rtl="0" eaLnBrk="1" latinLnBrk="0" hangingPunct="1">
              <a:lnSpc>
                <a:spcPct val="90000"/>
              </a:lnSpc>
              <a:spcBef>
                <a:spcPct val="30000"/>
              </a:spcBef>
              <a:buClr>
                <a:srgbClr val="FF0000"/>
              </a:buClr>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ct val="30000"/>
              </a:spcBef>
              <a:buClr>
                <a:srgbClr val="FF0000"/>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ct val="30000"/>
              </a:spcBef>
              <a:buClr>
                <a:srgbClr val="FF0000"/>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ct val="30000"/>
              </a:spcBef>
              <a:buClr>
                <a:srgbClr val="FF0000"/>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ct val="30000"/>
              </a:spcBef>
              <a:buClr>
                <a:srgbClr val="FF0000"/>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lgn="just"/>
            <a:r>
              <a:rPr lang="en-US" altLang="en-US">
                <a:latin typeface="Times New Roman" panose="02020603050405020304" pitchFamily="18" charset="0"/>
                <a:cs typeface="Times New Roman" panose="02020603050405020304" pitchFamily="18" charset="0"/>
              </a:rPr>
              <a:t>Là các tiến trình chạy ngầm ngay khi instance được khởi động thực hiện nhiệm vụ luôn duy trì hoạt động thông suốt của CSDLnhư </a:t>
            </a:r>
            <a:r>
              <a:rPr lang="en-US">
                <a:latin typeface="Times New Roman" panose="02020603050405020304" pitchFamily="18" charset="0"/>
                <a:cs typeface="Times New Roman" panose="02020603050405020304" pitchFamily="18" charset="0"/>
              </a:rPr>
              <a:t>quản lý memory, process, quản lý I/O, giao tiếp giữa các thành phần…</a:t>
            </a:r>
          </a:p>
          <a:p>
            <a:pPr algn="just"/>
            <a:r>
              <a:rPr lang="en-US" altLang="en-US">
                <a:latin typeface="Times New Roman" panose="02020603050405020304" pitchFamily="18" charset="0"/>
                <a:cs typeface="Times New Roman" panose="02020603050405020304" pitchFamily="18" charset="0"/>
              </a:rPr>
              <a:t>Các background processe bắt buộc:</a:t>
            </a:r>
            <a:endParaRPr lang="en-US" altLang="en-US">
              <a:solidFill>
                <a:schemeClr val="accent2"/>
              </a:solidFill>
              <a:latin typeface="Times New Roman" panose="02020603050405020304" pitchFamily="18" charset="0"/>
              <a:cs typeface="Times New Roman" panose="02020603050405020304" pitchFamily="18" charset="0"/>
            </a:endParaRPr>
          </a:p>
          <a:p>
            <a:pPr lvl="2" algn="just">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a:t>
            </a:r>
          </a:p>
        </p:txBody>
      </p:sp>
      <p:sp>
        <p:nvSpPr>
          <p:cNvPr id="5" name="Oval 12"/>
          <p:cNvSpPr>
            <a:spLocks noChangeArrowheads="1"/>
          </p:cNvSpPr>
          <p:nvPr/>
        </p:nvSpPr>
        <p:spPr bwMode="blackWhite">
          <a:xfrm>
            <a:off x="1349904" y="3152771"/>
            <a:ext cx="1707742" cy="938211"/>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600"/>
              <a:t>DBWR</a:t>
            </a:r>
          </a:p>
        </p:txBody>
      </p:sp>
      <p:sp>
        <p:nvSpPr>
          <p:cNvPr id="6" name="Oval 13"/>
          <p:cNvSpPr>
            <a:spLocks noChangeArrowheads="1"/>
          </p:cNvSpPr>
          <p:nvPr/>
        </p:nvSpPr>
        <p:spPr bwMode="blackWhite">
          <a:xfrm>
            <a:off x="5556575" y="3152770"/>
            <a:ext cx="1707742" cy="938211"/>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600"/>
              <a:t>SMON</a:t>
            </a:r>
          </a:p>
        </p:txBody>
      </p:sp>
      <p:sp>
        <p:nvSpPr>
          <p:cNvPr id="7" name="Oval 14"/>
          <p:cNvSpPr>
            <a:spLocks noChangeArrowheads="1"/>
          </p:cNvSpPr>
          <p:nvPr/>
        </p:nvSpPr>
        <p:spPr bwMode="blackWhite">
          <a:xfrm>
            <a:off x="7624478" y="3152770"/>
            <a:ext cx="1707742" cy="938211"/>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600"/>
              <a:t>PMON</a:t>
            </a:r>
          </a:p>
        </p:txBody>
      </p:sp>
      <p:sp>
        <p:nvSpPr>
          <p:cNvPr id="8" name="Oval 15"/>
          <p:cNvSpPr>
            <a:spLocks noChangeArrowheads="1"/>
          </p:cNvSpPr>
          <p:nvPr/>
        </p:nvSpPr>
        <p:spPr bwMode="blackWhite">
          <a:xfrm>
            <a:off x="9763246" y="3152769"/>
            <a:ext cx="1696506" cy="938211"/>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600"/>
              <a:t>CKPT</a:t>
            </a:r>
          </a:p>
        </p:txBody>
      </p:sp>
      <p:sp>
        <p:nvSpPr>
          <p:cNvPr id="9" name="Oval 16"/>
          <p:cNvSpPr>
            <a:spLocks noChangeArrowheads="1"/>
          </p:cNvSpPr>
          <p:nvPr/>
        </p:nvSpPr>
        <p:spPr bwMode="blackWhite">
          <a:xfrm>
            <a:off x="3420533" y="3152771"/>
            <a:ext cx="1707742" cy="938211"/>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600"/>
              <a:t>LGWR</a:t>
            </a:r>
          </a:p>
        </p:txBody>
      </p:sp>
    </p:spTree>
    <p:extLst>
      <p:ext uri="{BB962C8B-B14F-4D97-AF65-F5344CB8AC3E}">
        <p14:creationId xmlns:p14="http://schemas.microsoft.com/office/powerpoint/2010/main" val="1821867180"/>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a:t>3.1. Database Writer (DBWn)</a:t>
            </a:r>
            <a:endParaRPr lang="vi-VN"/>
          </a:p>
        </p:txBody>
      </p:sp>
      <p:sp>
        <p:nvSpPr>
          <p:cNvPr id="49" name="Rectangle 3"/>
          <p:cNvSpPr txBox="1">
            <a:spLocks noChangeArrowheads="1"/>
          </p:cNvSpPr>
          <p:nvPr/>
        </p:nvSpPr>
        <p:spPr bwMode="auto">
          <a:xfrm>
            <a:off x="6145893" y="1662067"/>
            <a:ext cx="5897322" cy="2241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 tIns="12700" rIns="12700" bIns="12700" numCol="1" anchor="t" anchorCtr="0" compatLnSpc="1">
            <a:prstTxWarp prst="textNoShape">
              <a:avLst/>
            </a:prstTxWarp>
            <a:spAutoFit/>
          </a:bodyPr>
          <a:lstStyle>
            <a:lvl1pPr algn="l" defTabSz="228600" rtl="0" eaLnBrk="0" fontAlgn="base" hangingPunct="0">
              <a:spcBef>
                <a:spcPct val="20000"/>
              </a:spcBef>
              <a:spcAft>
                <a:spcPct val="0"/>
              </a:spcAft>
              <a:buClr>
                <a:srgbClr val="000000"/>
              </a:buClr>
              <a:buFont typeface="Arial" panose="020B0604020202020204" pitchFamily="34" charset="0"/>
              <a:tabLst>
                <a:tab pos="457200" algn="l"/>
                <a:tab pos="742950" algn="l"/>
              </a:tabLst>
              <a:defRPr sz="2200" b="1" kern="1200">
                <a:solidFill>
                  <a:schemeClr val="tx1"/>
                </a:solidFill>
                <a:latin typeface="+mn-lt"/>
                <a:ea typeface="+mn-ea"/>
                <a:cs typeface="+mn-cs"/>
              </a:defRPr>
            </a:lvl1pPr>
            <a:lvl2pPr marL="342900" indent="-228600" algn="l" defTabSz="228600" rtl="0" eaLnBrk="0" fontAlgn="base" hangingPunct="0">
              <a:spcBef>
                <a:spcPct val="20000"/>
              </a:spcBef>
              <a:spcAft>
                <a:spcPct val="0"/>
              </a:spcAft>
              <a:buClr>
                <a:srgbClr val="FF0000"/>
              </a:buClr>
              <a:buFont typeface="Arial" panose="020B0604020202020204" pitchFamily="34" charset="0"/>
              <a:buChar char="•"/>
              <a:tabLst>
                <a:tab pos="457200" algn="l"/>
                <a:tab pos="742950" algn="l"/>
              </a:tabLst>
              <a:defRPr sz="2200" b="1" kern="1200">
                <a:solidFill>
                  <a:schemeClr val="tx1"/>
                </a:solidFill>
                <a:latin typeface="+mn-lt"/>
                <a:ea typeface="+mn-ea"/>
                <a:cs typeface="+mn-cs"/>
              </a:defRPr>
            </a:lvl2pPr>
            <a:lvl3pPr marL="685800" indent="-228600" algn="l" defTabSz="228600" rtl="0" eaLnBrk="0" fontAlgn="base" hangingPunct="0">
              <a:spcBef>
                <a:spcPct val="20000"/>
              </a:spcBef>
              <a:spcAft>
                <a:spcPct val="0"/>
              </a:spcAft>
              <a:buClr>
                <a:srgbClr val="FF0000"/>
              </a:buClr>
              <a:buFont typeface="Arial" panose="020B0604020202020204" pitchFamily="34" charset="0"/>
              <a:buChar char="–"/>
              <a:tabLst>
                <a:tab pos="457200" algn="l"/>
                <a:tab pos="742950" algn="l"/>
              </a:tabLst>
              <a:defRPr sz="2000" b="1" kern="1200">
                <a:solidFill>
                  <a:schemeClr val="tx1"/>
                </a:solidFill>
                <a:latin typeface="+mn-lt"/>
                <a:ea typeface="+mn-ea"/>
                <a:cs typeface="+mn-cs"/>
              </a:defRPr>
            </a:lvl3pPr>
            <a:lvl4pPr marL="914400" algn="l" defTabSz="228600" rtl="0" eaLnBrk="0" fontAlgn="base" hangingPunct="0">
              <a:spcBef>
                <a:spcPct val="20000"/>
              </a:spcBef>
              <a:spcAft>
                <a:spcPct val="0"/>
              </a:spcAft>
              <a:buClr>
                <a:srgbClr val="000000"/>
              </a:buClr>
              <a:buFont typeface="Arial" panose="020B0604020202020204" pitchFamily="34" charset="0"/>
              <a:tabLst>
                <a:tab pos="457200" algn="l"/>
                <a:tab pos="742950" algn="l"/>
              </a:tabLst>
              <a:defRPr sz="2000" b="1" kern="1200">
                <a:solidFill>
                  <a:srgbClr val="FF0000"/>
                </a:solidFill>
                <a:latin typeface="+mn-lt"/>
                <a:ea typeface="+mn-ea"/>
                <a:cs typeface="+mn-cs"/>
              </a:defRPr>
            </a:lvl4pPr>
            <a:lvl5pPr marL="1143000" algn="l" defTabSz="228600" rtl="0" eaLnBrk="0" fontAlgn="base" hangingPunct="0">
              <a:spcBef>
                <a:spcPct val="20000"/>
              </a:spcBef>
              <a:spcAft>
                <a:spcPct val="0"/>
              </a:spcAft>
              <a:buClr>
                <a:srgbClr val="000000"/>
              </a:buClr>
              <a:buFont typeface="Arial" panose="020B0604020202020204" pitchFamily="34" charset="0"/>
              <a:tabLst>
                <a:tab pos="457200" algn="l"/>
                <a:tab pos="742950" algn="l"/>
              </a:tabLst>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0" indent="-342900" algn="just" defTabSz="914400">
              <a:spcBef>
                <a:spcPct val="0"/>
              </a:spcBef>
              <a:buClrTx/>
              <a:buFontTx/>
              <a:buChar char="-"/>
              <a:tabLst/>
            </a:pPr>
            <a:r>
              <a:rPr lang="vi-VN" sz="2400" b="0" dirty="0">
                <a:solidFill>
                  <a:srgbClr val="222222"/>
                </a:solidFill>
                <a:latin typeface="Times New Roman" panose="02020603050405020304" pitchFamily="18" charset="0"/>
                <a:cs typeface="Times New Roman" panose="02020603050405020304" pitchFamily="18" charset="0"/>
              </a:rPr>
              <a:t>Database writer ghi sự thay đổi blocks từ database buffer cache xuống data files.</a:t>
            </a:r>
          </a:p>
          <a:p>
            <a:pPr marL="342900" indent="-342900" algn="just" defTabSz="914400">
              <a:spcBef>
                <a:spcPct val="0"/>
              </a:spcBef>
              <a:buClrTx/>
              <a:buFontTx/>
              <a:buChar char="-"/>
              <a:tabLst/>
            </a:pPr>
            <a:r>
              <a:rPr lang="vi-VN" sz="2400" b="0" dirty="0">
                <a:solidFill>
                  <a:srgbClr val="212121"/>
                </a:solidFill>
                <a:latin typeface="Times New Roman" panose="02020603050405020304" pitchFamily="18" charset="0"/>
                <a:cs typeface="Times New Roman" panose="02020603050405020304" pitchFamily="18" charset="0"/>
              </a:rPr>
              <a:t>Có thể có tối đa 20 DBWn ( DBW0-DBW9 và DBWa-DBWj)</a:t>
            </a:r>
          </a:p>
          <a:p>
            <a:pPr marL="342900" lvl="0" indent="-342900" algn="just" defTabSz="914400">
              <a:spcBef>
                <a:spcPct val="0"/>
              </a:spcBef>
              <a:buClrTx/>
              <a:buFontTx/>
              <a:buChar char="-"/>
              <a:tabLst/>
            </a:pPr>
            <a:r>
              <a:rPr lang="vi-VN" sz="2400" b="0" dirty="0">
                <a:solidFill>
                  <a:srgbClr val="212121"/>
                </a:solidFill>
                <a:latin typeface="Times New Roman" panose="02020603050405020304" pitchFamily="18" charset="0"/>
                <a:cs typeface="Times New Roman" panose="02020603050405020304" pitchFamily="18" charset="0"/>
              </a:rPr>
              <a:t>DB_WRITER_PROCESSES xác định số lượng DBWn</a:t>
            </a:r>
          </a:p>
        </p:txBody>
      </p:sp>
      <p:sp>
        <p:nvSpPr>
          <p:cNvPr id="50" name="Rectangle 4"/>
          <p:cNvSpPr>
            <a:spLocks noChangeArrowheads="1"/>
          </p:cNvSpPr>
          <p:nvPr/>
        </p:nvSpPr>
        <p:spPr bwMode="blackWhite">
          <a:xfrm>
            <a:off x="1491343" y="1766888"/>
            <a:ext cx="4343400" cy="2339975"/>
          </a:xfrm>
          <a:prstGeom prst="rect">
            <a:avLst/>
          </a:prstGeom>
          <a:solidFill>
            <a:srgbClr val="FF66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0" rIns="46038" bIns="0" anchorCtr="1"/>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Instance</a:t>
            </a: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1" name="Rectangle 5"/>
          <p:cNvSpPr>
            <a:spLocks noChangeArrowheads="1"/>
          </p:cNvSpPr>
          <p:nvPr/>
        </p:nvSpPr>
        <p:spPr bwMode="blackWhite">
          <a:xfrm>
            <a:off x="1518331" y="2046288"/>
            <a:ext cx="4214812" cy="1584325"/>
          </a:xfrm>
          <a:prstGeom prst="rect">
            <a:avLst/>
          </a:prstGeom>
          <a:solidFill>
            <a:srgbClr val="CCCCCC"/>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SGA</a:t>
            </a: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2" name="Oval 6"/>
          <p:cNvSpPr>
            <a:spLocks noChangeArrowheads="1"/>
          </p:cNvSpPr>
          <p:nvPr/>
        </p:nvSpPr>
        <p:spPr bwMode="blackWhite">
          <a:xfrm>
            <a:off x="1562781" y="3684588"/>
            <a:ext cx="635000" cy="374650"/>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3" name="Rectangle 7"/>
          <p:cNvSpPr>
            <a:spLocks noChangeArrowheads="1"/>
          </p:cNvSpPr>
          <p:nvPr/>
        </p:nvSpPr>
        <p:spPr bwMode="blackWhite">
          <a:xfrm>
            <a:off x="2710543" y="4662488"/>
            <a:ext cx="3289300" cy="1550987"/>
          </a:xfrm>
          <a:prstGeom prst="rect">
            <a:avLst/>
          </a:prstGeom>
          <a:solidFill>
            <a:srgbClr val="FFCC33"/>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54" name="Group 8"/>
          <p:cNvGrpSpPr>
            <a:grpSpLocks/>
          </p:cNvGrpSpPr>
          <p:nvPr/>
        </p:nvGrpSpPr>
        <p:grpSpPr bwMode="auto">
          <a:xfrm>
            <a:off x="3988481" y="4710113"/>
            <a:ext cx="912812" cy="714375"/>
            <a:chOff x="1070" y="1910"/>
            <a:chExt cx="532" cy="412"/>
          </a:xfrm>
        </p:grpSpPr>
        <p:sp>
          <p:nvSpPr>
            <p:cNvPr id="55" name="Rectangle 9"/>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6" name="Oval 10"/>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7" name="Oval 11"/>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58" name="Group 12"/>
          <p:cNvGrpSpPr>
            <a:grpSpLocks/>
          </p:cNvGrpSpPr>
          <p:nvPr/>
        </p:nvGrpSpPr>
        <p:grpSpPr bwMode="auto">
          <a:xfrm>
            <a:off x="2862943" y="5254625"/>
            <a:ext cx="990600" cy="654050"/>
            <a:chOff x="1070" y="1910"/>
            <a:chExt cx="532" cy="412"/>
          </a:xfrm>
        </p:grpSpPr>
        <p:sp>
          <p:nvSpPr>
            <p:cNvPr id="59" name="Rectangle 13"/>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0" name="Oval 14"/>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1" name="Oval 15"/>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62" name="Group 16"/>
          <p:cNvGrpSpPr>
            <a:grpSpLocks/>
          </p:cNvGrpSpPr>
          <p:nvPr/>
        </p:nvGrpSpPr>
        <p:grpSpPr bwMode="auto">
          <a:xfrm>
            <a:off x="2864531" y="4710113"/>
            <a:ext cx="989012" cy="654050"/>
            <a:chOff x="1070" y="1910"/>
            <a:chExt cx="532" cy="412"/>
          </a:xfrm>
        </p:grpSpPr>
        <p:sp>
          <p:nvSpPr>
            <p:cNvPr id="63" name="Rectangle 17"/>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4" name="Oval 18"/>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5" name="Oval 19"/>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66" name="Rectangle 20"/>
          <p:cNvSpPr>
            <a:spLocks noChangeArrowheads="1"/>
          </p:cNvSpPr>
          <p:nvPr/>
        </p:nvSpPr>
        <p:spPr bwMode="auto">
          <a:xfrm>
            <a:off x="3859893" y="4953000"/>
            <a:ext cx="1169988"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188" tIns="52388" rIns="103188" bIns="52388">
            <a:spAutoFit/>
          </a:bodyPr>
          <a:lstStyle>
            <a:lvl1pPr defTabSz="104140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61963" indent="-228600" defTabSz="104140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925513" indent="-228600" defTabSz="10414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04140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04140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1041400" eaLnBrk="0" fontAlgn="base" latinLnBrk="0" hangingPunct="0">
              <a:lnSpc>
                <a:spcPct val="70000"/>
              </a:lnSpc>
              <a:spcBef>
                <a:spcPct val="5000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Control files</a:t>
            </a:r>
          </a:p>
        </p:txBody>
      </p:sp>
      <p:sp>
        <p:nvSpPr>
          <p:cNvPr id="67" name="Rectangle 21"/>
          <p:cNvSpPr>
            <a:spLocks noChangeArrowheads="1"/>
          </p:cNvSpPr>
          <p:nvPr/>
        </p:nvSpPr>
        <p:spPr bwMode="auto">
          <a:xfrm>
            <a:off x="2748643" y="4953000"/>
            <a:ext cx="12192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188" tIns="52388" rIns="103188" bIns="52388">
            <a:spAutoFit/>
          </a:bodyPr>
          <a:lstStyle>
            <a:lvl1pPr defTabSz="104140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61963" indent="-228600" defTabSz="104140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925513" indent="-228600" defTabSz="10414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04140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04140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1041400" eaLnBrk="0" fontAlgn="base" latinLnBrk="0" hangingPunct="0">
              <a:lnSpc>
                <a:spcPct val="70000"/>
              </a:lnSpc>
              <a:spcBef>
                <a:spcPct val="5000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Data files </a:t>
            </a:r>
          </a:p>
        </p:txBody>
      </p:sp>
      <p:grpSp>
        <p:nvGrpSpPr>
          <p:cNvPr id="68" name="Group 22"/>
          <p:cNvGrpSpPr>
            <a:grpSpLocks/>
          </p:cNvGrpSpPr>
          <p:nvPr/>
        </p:nvGrpSpPr>
        <p:grpSpPr bwMode="auto">
          <a:xfrm>
            <a:off x="5015593" y="5256213"/>
            <a:ext cx="912813" cy="654050"/>
            <a:chOff x="1070" y="1910"/>
            <a:chExt cx="532" cy="412"/>
          </a:xfrm>
        </p:grpSpPr>
        <p:sp>
          <p:nvSpPr>
            <p:cNvPr id="69" name="Rectangle 23"/>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0" name="Oval 24"/>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1" name="Oval 25"/>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72" name="Group 26"/>
          <p:cNvGrpSpPr>
            <a:grpSpLocks/>
          </p:cNvGrpSpPr>
          <p:nvPr/>
        </p:nvGrpSpPr>
        <p:grpSpPr bwMode="auto">
          <a:xfrm>
            <a:off x="5015593" y="4738688"/>
            <a:ext cx="912813" cy="654050"/>
            <a:chOff x="1070" y="1910"/>
            <a:chExt cx="532" cy="412"/>
          </a:xfrm>
        </p:grpSpPr>
        <p:sp>
          <p:nvSpPr>
            <p:cNvPr id="73" name="Rectangle 27"/>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4" name="Oval 28"/>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5" name="Oval 29"/>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76" name="Rectangle 30"/>
          <p:cNvSpPr>
            <a:spLocks noChangeArrowheads="1"/>
          </p:cNvSpPr>
          <p:nvPr/>
        </p:nvSpPr>
        <p:spPr bwMode="auto">
          <a:xfrm>
            <a:off x="4950506" y="4819650"/>
            <a:ext cx="1042987" cy="68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188" tIns="52388" rIns="103188" bIns="52388">
            <a:spAutoFit/>
          </a:bodyPr>
          <a:lstStyle>
            <a:lvl1pPr defTabSz="104140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61963" indent="-228600" defTabSz="104140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925513" indent="-228600" defTabSz="10414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04140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04140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1041400" eaLnBrk="0" fontAlgn="base" latinLnBrk="0" hangingPunct="0">
              <a:lnSpc>
                <a:spcPct val="70000"/>
              </a:lnSpc>
              <a:spcBef>
                <a:spcPct val="5000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Redo Log files</a:t>
            </a:r>
          </a:p>
        </p:txBody>
      </p:sp>
      <p:sp>
        <p:nvSpPr>
          <p:cNvPr id="77" name="Text Box 31"/>
          <p:cNvSpPr txBox="1">
            <a:spLocks noChangeArrowheads="1"/>
          </p:cNvSpPr>
          <p:nvPr/>
        </p:nvSpPr>
        <p:spPr bwMode="auto">
          <a:xfrm>
            <a:off x="3777343" y="5881688"/>
            <a:ext cx="1200150" cy="366712"/>
          </a:xfrm>
          <a:prstGeom prst="rect">
            <a:avLst/>
          </a:prstGeom>
          <a:noFill/>
          <a:ln>
            <a:noFill/>
          </a:ln>
          <a:effectLst/>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28575">
                <a:solidFill>
                  <a:srgbClr val="0000FF"/>
                </a:solidFill>
                <a:miter lim="800000"/>
                <a:headEnd/>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Database</a:t>
            </a:r>
          </a:p>
        </p:txBody>
      </p:sp>
      <p:sp>
        <p:nvSpPr>
          <p:cNvPr id="78" name="Rectangle 32"/>
          <p:cNvSpPr>
            <a:spLocks noChangeArrowheads="1"/>
          </p:cNvSpPr>
          <p:nvPr/>
        </p:nvSpPr>
        <p:spPr bwMode="blackWhite">
          <a:xfrm>
            <a:off x="4461556" y="2435225"/>
            <a:ext cx="1162050" cy="695325"/>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9" name="Rectangle 33"/>
          <p:cNvSpPr>
            <a:spLocks noChangeArrowheads="1"/>
          </p:cNvSpPr>
          <p:nvPr/>
        </p:nvSpPr>
        <p:spPr bwMode="blackWhite">
          <a:xfrm>
            <a:off x="1611993" y="2128838"/>
            <a:ext cx="1381125" cy="1416050"/>
          </a:xfrm>
          <a:prstGeom prst="rect">
            <a:avLst/>
          </a:prstGeom>
          <a:solidFill>
            <a:srgbClr val="FFCC33"/>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0" name="Rectangle 34"/>
          <p:cNvSpPr>
            <a:spLocks noChangeArrowheads="1"/>
          </p:cNvSpPr>
          <p:nvPr/>
        </p:nvSpPr>
        <p:spPr bwMode="blackWhite">
          <a:xfrm>
            <a:off x="1718356" y="3038475"/>
            <a:ext cx="1165225" cy="473075"/>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1" name="Rectangle 35"/>
          <p:cNvSpPr>
            <a:spLocks noChangeArrowheads="1"/>
          </p:cNvSpPr>
          <p:nvPr/>
        </p:nvSpPr>
        <p:spPr bwMode="blackWhite">
          <a:xfrm>
            <a:off x="1718356" y="2505075"/>
            <a:ext cx="1165225" cy="471488"/>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2" name="Oval 36"/>
          <p:cNvSpPr>
            <a:spLocks noChangeArrowheads="1"/>
          </p:cNvSpPr>
          <p:nvPr/>
        </p:nvSpPr>
        <p:spPr bwMode="blackWhite">
          <a:xfrm>
            <a:off x="2977243" y="3684588"/>
            <a:ext cx="635000" cy="374650"/>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r>
              <a:rPr kumimoji="0" lang="en-US" altLang="en-US" sz="1500" b="1" i="0" u="none" strike="noStrike" kern="0" cap="none" spc="0" normalizeH="0" baseline="0" noProof="0">
                <a:ln>
                  <a:noFill/>
                </a:ln>
                <a:solidFill>
                  <a:srgbClr val="000000"/>
                </a:solidFill>
                <a:effectLst/>
                <a:uLnTx/>
                <a:uFillTx/>
                <a:latin typeface="Arial" panose="020B0604020202020204" pitchFamily="34" charset="0"/>
              </a:rPr>
              <a:t>DBWn</a:t>
            </a:r>
          </a:p>
        </p:txBody>
      </p:sp>
      <p:sp>
        <p:nvSpPr>
          <p:cNvPr id="83" name="Oval 37"/>
          <p:cNvSpPr>
            <a:spLocks noChangeArrowheads="1"/>
          </p:cNvSpPr>
          <p:nvPr/>
        </p:nvSpPr>
        <p:spPr bwMode="blackWhite">
          <a:xfrm>
            <a:off x="2269218" y="3684588"/>
            <a:ext cx="635000" cy="374650"/>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4" name="Oval 38"/>
          <p:cNvSpPr>
            <a:spLocks noChangeArrowheads="1"/>
          </p:cNvSpPr>
          <p:nvPr/>
        </p:nvSpPr>
        <p:spPr bwMode="blackWhite">
          <a:xfrm>
            <a:off x="3670981" y="3684588"/>
            <a:ext cx="635000" cy="374650"/>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5" name="Oval 39"/>
          <p:cNvSpPr>
            <a:spLocks noChangeArrowheads="1"/>
          </p:cNvSpPr>
          <p:nvPr/>
        </p:nvSpPr>
        <p:spPr bwMode="blackWhite">
          <a:xfrm>
            <a:off x="5096556" y="3684588"/>
            <a:ext cx="630237" cy="374650"/>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6" name="Rectangle 40"/>
          <p:cNvSpPr>
            <a:spLocks noChangeArrowheads="1"/>
          </p:cNvSpPr>
          <p:nvPr/>
        </p:nvSpPr>
        <p:spPr bwMode="blackWhite">
          <a:xfrm>
            <a:off x="3093131" y="2432050"/>
            <a:ext cx="1325562" cy="796925"/>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65000"/>
              </a:lnSpc>
              <a:spcBef>
                <a:spcPct val="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Database</a:t>
            </a:r>
          </a:p>
          <a:p>
            <a:pPr marL="0" marR="0" lvl="0" indent="0" algn="ctr" defTabSz="822325" eaLnBrk="0" fontAlgn="base" latinLnBrk="0" hangingPunct="0">
              <a:lnSpc>
                <a:spcPct val="75000"/>
              </a:lnSpc>
              <a:spcBef>
                <a:spcPct val="1500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Buffer</a:t>
            </a:r>
            <a:b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b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Cache</a:t>
            </a:r>
          </a:p>
        </p:txBody>
      </p:sp>
      <p:sp>
        <p:nvSpPr>
          <p:cNvPr id="87" name="Rectangle 41"/>
          <p:cNvSpPr>
            <a:spLocks noChangeArrowheads="1"/>
          </p:cNvSpPr>
          <p:nvPr/>
        </p:nvSpPr>
        <p:spPr bwMode="blackWhite">
          <a:xfrm>
            <a:off x="3167743" y="3270250"/>
            <a:ext cx="1176338" cy="287338"/>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8" name="Rectangle 42"/>
          <p:cNvSpPr>
            <a:spLocks noChangeArrowheads="1"/>
          </p:cNvSpPr>
          <p:nvPr/>
        </p:nvSpPr>
        <p:spPr bwMode="blackWhite">
          <a:xfrm>
            <a:off x="4474256" y="3225800"/>
            <a:ext cx="1125537" cy="338138"/>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9" name="Oval 43"/>
          <p:cNvSpPr>
            <a:spLocks noChangeArrowheads="1"/>
          </p:cNvSpPr>
          <p:nvPr/>
        </p:nvSpPr>
        <p:spPr bwMode="blackWhite">
          <a:xfrm>
            <a:off x="4382181" y="3684588"/>
            <a:ext cx="630237" cy="374650"/>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90" name="Line 44"/>
          <p:cNvSpPr>
            <a:spLocks noChangeShapeType="1"/>
          </p:cNvSpPr>
          <p:nvPr/>
        </p:nvSpPr>
        <p:spPr bwMode="auto">
          <a:xfrm>
            <a:off x="3320143" y="4129088"/>
            <a:ext cx="0" cy="520700"/>
          </a:xfrm>
          <a:prstGeom prst="line">
            <a:avLst/>
          </a:prstGeom>
          <a:noFill/>
          <a:ln w="28575">
            <a:solidFill>
              <a:srgbClr val="0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91" name="Line 45"/>
          <p:cNvSpPr>
            <a:spLocks noChangeShapeType="1"/>
          </p:cNvSpPr>
          <p:nvPr/>
        </p:nvSpPr>
        <p:spPr bwMode="auto">
          <a:xfrm>
            <a:off x="3320143" y="3138488"/>
            <a:ext cx="0" cy="520700"/>
          </a:xfrm>
          <a:prstGeom prst="line">
            <a:avLst/>
          </a:prstGeom>
          <a:noFill/>
          <a:ln w="28575">
            <a:solidFill>
              <a:srgbClr val="0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Tree>
    <p:extLst>
      <p:ext uri="{BB962C8B-B14F-4D97-AF65-F5344CB8AC3E}">
        <p14:creationId xmlns:p14="http://schemas.microsoft.com/office/powerpoint/2010/main" val="3831068384"/>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altLang="en-US"/>
              <a:t>3</a:t>
            </a:r>
            <a:r>
              <a:rPr lang="en-US" altLang="en-US">
                <a:latin typeface="Arial"/>
              </a:rPr>
              <a:t>.2. Log Writer (LGWR)</a:t>
            </a:r>
            <a:endParaRPr lang="vi-VN"/>
          </a:p>
        </p:txBody>
      </p:sp>
      <p:sp>
        <p:nvSpPr>
          <p:cNvPr id="49" name="Rectangle 3"/>
          <p:cNvSpPr txBox="1">
            <a:spLocks noChangeArrowheads="1"/>
          </p:cNvSpPr>
          <p:nvPr/>
        </p:nvSpPr>
        <p:spPr bwMode="auto">
          <a:xfrm>
            <a:off x="6328825" y="1482888"/>
            <a:ext cx="5621997" cy="3349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 tIns="12700" rIns="12700" bIns="12700" numCol="1" anchor="t" anchorCtr="0" compatLnSpc="1">
            <a:prstTxWarp prst="textNoShape">
              <a:avLst/>
            </a:prstTxWarp>
            <a:spAutoFit/>
          </a:bodyPr>
          <a:lstStyle>
            <a:lvl1pPr algn="l" defTabSz="228600" rtl="0" eaLnBrk="0" fontAlgn="base" hangingPunct="0">
              <a:spcBef>
                <a:spcPct val="20000"/>
              </a:spcBef>
              <a:spcAft>
                <a:spcPct val="0"/>
              </a:spcAft>
              <a:buClr>
                <a:srgbClr val="000000"/>
              </a:buClr>
              <a:buFont typeface="Arial" panose="020B0604020202020204" pitchFamily="34" charset="0"/>
              <a:tabLst>
                <a:tab pos="457200" algn="l"/>
                <a:tab pos="742950" algn="l"/>
              </a:tabLst>
              <a:defRPr sz="2200" b="1" kern="1200">
                <a:solidFill>
                  <a:schemeClr val="tx1"/>
                </a:solidFill>
                <a:latin typeface="+mn-lt"/>
                <a:ea typeface="+mn-ea"/>
                <a:cs typeface="+mn-cs"/>
              </a:defRPr>
            </a:lvl1pPr>
            <a:lvl2pPr marL="342900" indent="-228600" algn="l" defTabSz="228600" rtl="0" eaLnBrk="0" fontAlgn="base" hangingPunct="0">
              <a:spcBef>
                <a:spcPct val="20000"/>
              </a:spcBef>
              <a:spcAft>
                <a:spcPct val="0"/>
              </a:spcAft>
              <a:buClr>
                <a:srgbClr val="FF0000"/>
              </a:buClr>
              <a:buFont typeface="Arial" panose="020B0604020202020204" pitchFamily="34" charset="0"/>
              <a:buChar char="•"/>
              <a:tabLst>
                <a:tab pos="457200" algn="l"/>
                <a:tab pos="742950" algn="l"/>
              </a:tabLst>
              <a:defRPr sz="2200" b="1" kern="1200">
                <a:solidFill>
                  <a:schemeClr val="tx1"/>
                </a:solidFill>
                <a:latin typeface="+mn-lt"/>
                <a:ea typeface="+mn-ea"/>
                <a:cs typeface="+mn-cs"/>
              </a:defRPr>
            </a:lvl2pPr>
            <a:lvl3pPr marL="685800" indent="-228600" algn="l" defTabSz="228600" rtl="0" eaLnBrk="0" fontAlgn="base" hangingPunct="0">
              <a:spcBef>
                <a:spcPct val="20000"/>
              </a:spcBef>
              <a:spcAft>
                <a:spcPct val="0"/>
              </a:spcAft>
              <a:buClr>
                <a:srgbClr val="FF0000"/>
              </a:buClr>
              <a:buFont typeface="Arial" panose="020B0604020202020204" pitchFamily="34" charset="0"/>
              <a:buChar char="–"/>
              <a:tabLst>
                <a:tab pos="457200" algn="l"/>
                <a:tab pos="742950" algn="l"/>
              </a:tabLst>
              <a:defRPr sz="2000" b="1" kern="1200">
                <a:solidFill>
                  <a:schemeClr val="tx1"/>
                </a:solidFill>
                <a:latin typeface="+mn-lt"/>
                <a:ea typeface="+mn-ea"/>
                <a:cs typeface="+mn-cs"/>
              </a:defRPr>
            </a:lvl3pPr>
            <a:lvl4pPr marL="914400" algn="l" defTabSz="228600" rtl="0" eaLnBrk="0" fontAlgn="base" hangingPunct="0">
              <a:spcBef>
                <a:spcPct val="20000"/>
              </a:spcBef>
              <a:spcAft>
                <a:spcPct val="0"/>
              </a:spcAft>
              <a:buClr>
                <a:srgbClr val="000000"/>
              </a:buClr>
              <a:buFont typeface="Arial" panose="020B0604020202020204" pitchFamily="34" charset="0"/>
              <a:tabLst>
                <a:tab pos="457200" algn="l"/>
                <a:tab pos="742950" algn="l"/>
              </a:tabLst>
              <a:defRPr sz="2000" b="1" kern="1200">
                <a:solidFill>
                  <a:srgbClr val="FF0000"/>
                </a:solidFill>
                <a:latin typeface="+mn-lt"/>
                <a:ea typeface="+mn-ea"/>
                <a:cs typeface="+mn-cs"/>
              </a:defRPr>
            </a:lvl4pPr>
            <a:lvl5pPr marL="1143000" algn="l" defTabSz="228600" rtl="0" eaLnBrk="0" fontAlgn="base" hangingPunct="0">
              <a:spcBef>
                <a:spcPct val="20000"/>
              </a:spcBef>
              <a:spcAft>
                <a:spcPct val="0"/>
              </a:spcAft>
              <a:buClr>
                <a:srgbClr val="000000"/>
              </a:buClr>
              <a:buFont typeface="Arial" panose="020B0604020202020204" pitchFamily="34" charset="0"/>
              <a:tabLst>
                <a:tab pos="457200" algn="l"/>
                <a:tab pos="742950" algn="l"/>
              </a:tabLst>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228600" rtl="0" eaLnBrk="1" fontAlgn="base" latinLnBrk="0" hangingPunct="1">
              <a:lnSpc>
                <a:spcPct val="100000"/>
              </a:lnSpc>
              <a:spcBef>
                <a:spcPct val="20000"/>
              </a:spcBef>
              <a:spcAft>
                <a:spcPct val="0"/>
              </a:spcAft>
              <a:buClr>
                <a:srgbClr val="000000"/>
              </a:buClr>
              <a:buSzTx/>
              <a:buFont typeface="Arial" panose="020B0604020202020204" pitchFamily="34" charset="0"/>
              <a:buNone/>
              <a:tabLst>
                <a:tab pos="457200" algn="l"/>
                <a:tab pos="742950" algn="l"/>
              </a:tabLst>
              <a:defRPr/>
            </a:pP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LGWR </a:t>
            </a:r>
            <a:r>
              <a:rPr kumimoji="0" lang="en-US" altLang="en-US" sz="2400" b="0"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ghi</a:t>
            </a: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a:t>
            </a:r>
            <a:r>
              <a:rPr kumimoji="0" lang="en-US" altLang="en-US" sz="2400" b="0"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tuần</a:t>
            </a:r>
            <a:r>
              <a:rPr kumimoji="0" lang="en-US" altLang="en-US" sz="2400" b="0" i="0" u="none" strike="noStrike" kern="1200" cap="none" spc="0" normalizeH="0" noProof="0" dirty="0">
                <a:ln>
                  <a:noFill/>
                </a:ln>
                <a:solidFill>
                  <a:srgbClr val="000000"/>
                </a:solidFill>
                <a:effectLst/>
                <a:uLnTx/>
                <a:uFillTx/>
                <a:latin typeface="Times New Roman" panose="02020603050405020304" pitchFamily="18" charset="0"/>
                <a:cs typeface="Times New Roman" panose="02020603050405020304" pitchFamily="18" charset="0"/>
              </a:rPr>
              <a:t> </a:t>
            </a:r>
            <a:r>
              <a:rPr kumimoji="0" lang="en-US" altLang="en-US" sz="2400" b="0" i="0" u="none" strike="noStrike" kern="1200" cap="none" spc="0" normalizeH="0" noProof="0" dirty="0" err="1">
                <a:ln>
                  <a:noFill/>
                </a:ln>
                <a:solidFill>
                  <a:srgbClr val="000000"/>
                </a:solidFill>
                <a:effectLst/>
                <a:uLnTx/>
                <a:uFillTx/>
                <a:latin typeface="Times New Roman" panose="02020603050405020304" pitchFamily="18" charset="0"/>
                <a:cs typeface="Times New Roman" panose="02020603050405020304" pitchFamily="18" charset="0"/>
              </a:rPr>
              <a:t>tự</a:t>
            </a:r>
            <a:r>
              <a:rPr kumimoji="0" lang="en-US" altLang="en-US" sz="2400" b="0" i="0" u="none" strike="noStrike" kern="1200" cap="none" spc="0" normalizeH="0" noProof="0" dirty="0">
                <a:ln>
                  <a:noFill/>
                </a:ln>
                <a:solidFill>
                  <a:srgbClr val="000000"/>
                </a:solidFill>
                <a:effectLst/>
                <a:uLnTx/>
                <a:uFillTx/>
                <a:latin typeface="Times New Roman" panose="02020603050405020304" pitchFamily="18" charset="0"/>
                <a:cs typeface="Times New Roman" panose="02020603050405020304" pitchFamily="18" charset="0"/>
              </a:rPr>
              <a:t> </a:t>
            </a:r>
            <a:r>
              <a:rPr kumimoji="0" lang="en-US" altLang="en-US" sz="2400" b="0" i="0" u="none" strike="noStrike" kern="1200" cap="none" spc="0" normalizeH="0" noProof="0" dirty="0" err="1">
                <a:ln>
                  <a:noFill/>
                </a:ln>
                <a:solidFill>
                  <a:srgbClr val="000000"/>
                </a:solidFill>
                <a:effectLst/>
                <a:uLnTx/>
                <a:uFillTx/>
                <a:latin typeface="Times New Roman" panose="02020603050405020304" pitchFamily="18" charset="0"/>
                <a:cs typeface="Times New Roman" panose="02020603050405020304" pitchFamily="18" charset="0"/>
              </a:rPr>
              <a:t>từ</a:t>
            </a:r>
            <a:r>
              <a:rPr kumimoji="0" lang="en-US" altLang="en-US" sz="2400" b="0" i="0" u="none" strike="noStrike" kern="1200" cap="none" spc="0" normalizeH="0" noProof="0" dirty="0">
                <a:ln>
                  <a:noFill/>
                </a:ln>
                <a:solidFill>
                  <a:srgbClr val="000000"/>
                </a:solidFill>
                <a:effectLst/>
                <a:uLnTx/>
                <a:uFillTx/>
                <a:latin typeface="Times New Roman" panose="02020603050405020304" pitchFamily="18" charset="0"/>
                <a:cs typeface="Times New Roman" panose="02020603050405020304" pitchFamily="18" charset="0"/>
              </a:rPr>
              <a:t> redo log buffer </a:t>
            </a:r>
            <a:r>
              <a:rPr kumimoji="0" lang="en-US" altLang="en-US" sz="2400" b="0" i="0" u="none" strike="noStrike" kern="1200" cap="none" spc="0" normalizeH="0" noProof="0" dirty="0" err="1">
                <a:ln>
                  <a:noFill/>
                </a:ln>
                <a:solidFill>
                  <a:srgbClr val="000000"/>
                </a:solidFill>
                <a:effectLst/>
                <a:uLnTx/>
                <a:uFillTx/>
                <a:latin typeface="Times New Roman" panose="02020603050405020304" pitchFamily="18" charset="0"/>
                <a:cs typeface="Times New Roman" panose="02020603050405020304" pitchFamily="18" charset="0"/>
              </a:rPr>
              <a:t>xuống</a:t>
            </a:r>
            <a:r>
              <a:rPr kumimoji="0" lang="en-US" altLang="en-US" sz="2400" b="0" i="0" u="none" strike="noStrike" kern="1200" cap="none" spc="0" normalizeH="0" noProof="0" dirty="0">
                <a:ln>
                  <a:noFill/>
                </a:ln>
                <a:solidFill>
                  <a:srgbClr val="000000"/>
                </a:solidFill>
                <a:effectLst/>
                <a:uLnTx/>
                <a:uFillTx/>
                <a:latin typeface="Times New Roman" panose="02020603050405020304" pitchFamily="18" charset="0"/>
                <a:cs typeface="Times New Roman" panose="02020603050405020304" pitchFamily="18" charset="0"/>
              </a:rPr>
              <a:t> Online redo log files </a:t>
            </a:r>
            <a:r>
              <a:rPr kumimoji="0" lang="en-US" altLang="en-US" sz="2400" b="0" i="0" u="none" strike="noStrike" kern="1200" cap="none" spc="0" normalizeH="0" noProof="0" dirty="0" err="1">
                <a:ln>
                  <a:noFill/>
                </a:ln>
                <a:solidFill>
                  <a:srgbClr val="000000"/>
                </a:solidFill>
                <a:effectLst/>
                <a:uLnTx/>
                <a:uFillTx/>
                <a:latin typeface="Times New Roman" panose="02020603050405020304" pitchFamily="18" charset="0"/>
                <a:cs typeface="Times New Roman" panose="02020603050405020304" pitchFamily="18" charset="0"/>
              </a:rPr>
              <a:t>khi</a:t>
            </a: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a:t>
            </a:r>
          </a:p>
          <a:p>
            <a:pPr marL="342900" marR="0" lvl="1" indent="-228600" algn="l" defTabSz="228600" rtl="0" eaLnBrk="1" fontAlgn="base" latinLnBrk="0" hangingPunct="1">
              <a:lnSpc>
                <a:spcPct val="100000"/>
              </a:lnSpc>
              <a:spcBef>
                <a:spcPct val="20000"/>
              </a:spcBef>
              <a:spcAft>
                <a:spcPct val="0"/>
              </a:spcAft>
              <a:buClr>
                <a:srgbClr val="FF0000"/>
              </a:buClr>
              <a:buSzTx/>
              <a:buFont typeface="Arial" panose="020B0604020202020204" pitchFamily="34" charset="0"/>
              <a:buChar char="•"/>
              <a:tabLst>
                <a:tab pos="457200" algn="l"/>
                <a:tab pos="742950" algn="l"/>
              </a:tabLst>
              <a:defRPr/>
            </a:pP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commit</a:t>
            </a:r>
          </a:p>
          <a:p>
            <a:pPr lvl="1" eaLnBrk="1" hangingPunct="1"/>
            <a:r>
              <a:rPr kumimoji="0" lang="en-US" altLang="en-US" sz="2400" b="0"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Khi</a:t>
            </a: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redo </a:t>
            </a:r>
            <a:r>
              <a:rPr lang="en-US" altLang="en-US" sz="2400" b="0" dirty="0">
                <a:solidFill>
                  <a:srgbClr val="000000"/>
                </a:solidFill>
                <a:latin typeface="Times New Roman" panose="02020603050405020304" pitchFamily="18" charset="0"/>
                <a:cs typeface="Times New Roman" panose="02020603050405020304" pitchFamily="18" charset="0"/>
              </a:rPr>
              <a:t>log buffer </a:t>
            </a:r>
            <a:r>
              <a:rPr lang="en-US" altLang="en-US" sz="2400" b="0" dirty="0" err="1">
                <a:solidFill>
                  <a:srgbClr val="000000"/>
                </a:solidFill>
                <a:latin typeface="Times New Roman" panose="02020603050405020304" pitchFamily="18" charset="0"/>
                <a:cs typeface="Times New Roman" panose="02020603050405020304" pitchFamily="18" charset="0"/>
              </a:rPr>
              <a:t>đầy</a:t>
            </a:r>
            <a:r>
              <a:rPr lang="en-US" altLang="en-US" sz="2400" b="0" dirty="0">
                <a:solidFill>
                  <a:srgbClr val="000000"/>
                </a:solidFill>
                <a:latin typeface="Times New Roman" panose="02020603050405020304" pitchFamily="18" charset="0"/>
                <a:cs typeface="Times New Roman" panose="02020603050405020304" pitchFamily="18" charset="0"/>
              </a:rPr>
              <a:t> </a:t>
            </a: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1/3 </a:t>
            </a:r>
          </a:p>
          <a:p>
            <a:pPr marL="342900" marR="0" lvl="1" indent="-228600" algn="l" defTabSz="228600" rtl="0" eaLnBrk="1" fontAlgn="base" latinLnBrk="0" hangingPunct="1">
              <a:lnSpc>
                <a:spcPct val="100000"/>
              </a:lnSpc>
              <a:spcBef>
                <a:spcPct val="20000"/>
              </a:spcBef>
              <a:spcAft>
                <a:spcPct val="0"/>
              </a:spcAft>
              <a:buClr>
                <a:srgbClr val="FF0000"/>
              </a:buClr>
              <a:buSzTx/>
              <a:buFont typeface="Arial" panose="020B0604020202020204" pitchFamily="34" charset="0"/>
              <a:buChar char="•"/>
              <a:tabLst>
                <a:tab pos="457200" algn="l"/>
                <a:tab pos="742950" algn="l"/>
              </a:tabLst>
              <a:defRPr/>
            </a:pPr>
            <a:r>
              <a:rPr kumimoji="0" lang="en-US" altLang="en-US" sz="2400" b="0"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Khi</a:t>
            </a: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a:t>
            </a:r>
            <a:r>
              <a:rPr kumimoji="0" lang="en-US" altLang="en-US" sz="2400" b="0"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có</a:t>
            </a: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a:t>
            </a:r>
            <a:r>
              <a:rPr kumimoji="0" lang="en-US" altLang="en-US" sz="2400" b="0"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nhiều</a:t>
            </a:r>
            <a:r>
              <a:rPr kumimoji="0" lang="en-US" altLang="en-US" sz="2400" b="0" i="0" u="none" strike="noStrike" kern="1200" cap="none" spc="0" normalizeH="0" noProof="0" dirty="0">
                <a:ln>
                  <a:noFill/>
                </a:ln>
                <a:solidFill>
                  <a:srgbClr val="000000"/>
                </a:solidFill>
                <a:effectLst/>
                <a:uLnTx/>
                <a:uFillTx/>
                <a:latin typeface="Times New Roman" panose="02020603050405020304" pitchFamily="18" charset="0"/>
                <a:cs typeface="Times New Roman" panose="02020603050405020304" pitchFamily="18" charset="0"/>
              </a:rPr>
              <a:t> </a:t>
            </a:r>
            <a:r>
              <a:rPr kumimoji="0" lang="en-US" altLang="en-US" sz="2400" b="0" i="0" u="none" strike="noStrike" kern="1200" cap="none" spc="0" normalizeH="0" noProof="0" dirty="0" err="1">
                <a:ln>
                  <a:noFill/>
                </a:ln>
                <a:solidFill>
                  <a:srgbClr val="000000"/>
                </a:solidFill>
                <a:effectLst/>
                <a:uLnTx/>
                <a:uFillTx/>
                <a:latin typeface="Times New Roman" panose="02020603050405020304" pitchFamily="18" charset="0"/>
                <a:cs typeface="Times New Roman" panose="02020603050405020304" pitchFamily="18" charset="0"/>
              </a:rPr>
              <a:t>hơn</a:t>
            </a:r>
            <a:r>
              <a:rPr kumimoji="0" lang="en-US" altLang="en-US" sz="2400" b="0" i="0" u="none" strike="noStrike" kern="1200" cap="none" spc="0" normalizeH="0" noProof="0" dirty="0">
                <a:ln>
                  <a:noFill/>
                </a:ln>
                <a:solidFill>
                  <a:srgbClr val="000000"/>
                </a:solidFill>
                <a:effectLst/>
                <a:uLnTx/>
                <a:uFillTx/>
                <a:latin typeface="Times New Roman" panose="02020603050405020304" pitchFamily="18" charset="0"/>
                <a:cs typeface="Times New Roman" panose="02020603050405020304" pitchFamily="18" charset="0"/>
              </a:rPr>
              <a:t> </a:t>
            </a: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1 MB </a:t>
            </a:r>
            <a:r>
              <a:rPr kumimoji="0" lang="en-US" altLang="en-US" sz="2400" b="0"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thay</a:t>
            </a: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a:t>
            </a:r>
            <a:r>
              <a:rPr kumimoji="0" lang="en-US" altLang="en-US" sz="2400" b="0"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đổi</a:t>
            </a:r>
            <a:r>
              <a:rPr kumimoji="0" lang="en-US" altLang="en-US" sz="2400" b="0" i="0" u="none" strike="noStrike" kern="1200" cap="none" spc="0" normalizeH="0" noProof="0" dirty="0">
                <a:ln>
                  <a:noFill/>
                </a:ln>
                <a:solidFill>
                  <a:srgbClr val="000000"/>
                </a:solidFill>
                <a:effectLst/>
                <a:uLnTx/>
                <a:uFillTx/>
                <a:latin typeface="Times New Roman" panose="02020603050405020304" pitchFamily="18" charset="0"/>
                <a:cs typeface="Times New Roman" panose="02020603050405020304" pitchFamily="18" charset="0"/>
              </a:rPr>
              <a:t> </a:t>
            </a:r>
            <a:r>
              <a:rPr kumimoji="0" lang="en-US" altLang="en-US" sz="2400" b="0" i="0" u="none" strike="noStrike" kern="1200" cap="none" spc="0" normalizeH="0" noProof="0" dirty="0" err="1">
                <a:ln>
                  <a:noFill/>
                </a:ln>
                <a:solidFill>
                  <a:srgbClr val="000000"/>
                </a:solidFill>
                <a:effectLst/>
                <a:uLnTx/>
                <a:uFillTx/>
                <a:latin typeface="Times New Roman" panose="02020603050405020304" pitchFamily="18" charset="0"/>
                <a:cs typeface="Times New Roman" panose="02020603050405020304" pitchFamily="18" charset="0"/>
              </a:rPr>
              <a:t>trong</a:t>
            </a:r>
            <a:r>
              <a:rPr kumimoji="0" lang="en-US" altLang="en-US" sz="2400" b="0" i="0" u="none" strike="noStrike" kern="1200" cap="none" spc="0" normalizeH="0" noProof="0" dirty="0">
                <a:ln>
                  <a:noFill/>
                </a:ln>
                <a:solidFill>
                  <a:srgbClr val="000000"/>
                </a:solidFill>
                <a:effectLst/>
                <a:uLnTx/>
                <a:uFillTx/>
                <a:latin typeface="Times New Roman" panose="02020603050405020304" pitchFamily="18" charset="0"/>
                <a:cs typeface="Times New Roman" panose="02020603050405020304" pitchFamily="18" charset="0"/>
              </a:rPr>
              <a:t> </a:t>
            </a: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redo log</a:t>
            </a:r>
            <a:r>
              <a:rPr kumimoji="0" lang="en-US" altLang="en-US" sz="2400" b="0" i="0" u="none" strike="noStrike" kern="1200" cap="none" spc="0" normalizeH="0" noProof="0" dirty="0">
                <a:ln>
                  <a:noFill/>
                </a:ln>
                <a:solidFill>
                  <a:srgbClr val="000000"/>
                </a:solidFill>
                <a:effectLst/>
                <a:uLnTx/>
                <a:uFillTx/>
                <a:latin typeface="Times New Roman" panose="02020603050405020304" pitchFamily="18" charset="0"/>
                <a:cs typeface="Times New Roman" panose="02020603050405020304" pitchFamily="18" charset="0"/>
              </a:rPr>
              <a:t> buffer</a:t>
            </a: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342900" marR="0" lvl="1" indent="-228600" algn="l" defTabSz="228600" rtl="0" eaLnBrk="1" fontAlgn="base" latinLnBrk="0" hangingPunct="1">
              <a:lnSpc>
                <a:spcPct val="100000"/>
              </a:lnSpc>
              <a:spcBef>
                <a:spcPct val="20000"/>
              </a:spcBef>
              <a:spcAft>
                <a:spcPct val="0"/>
              </a:spcAft>
              <a:buClr>
                <a:srgbClr val="FF0000"/>
              </a:buClr>
              <a:buSzTx/>
              <a:buFont typeface="Arial" panose="020B0604020202020204" pitchFamily="34" charset="0"/>
              <a:buChar char="•"/>
              <a:tabLst>
                <a:tab pos="457200" algn="l"/>
                <a:tab pos="742950" algn="l"/>
              </a:tabLst>
              <a:defRPr/>
            </a:pP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Sau </a:t>
            </a:r>
            <a:r>
              <a:rPr kumimoji="0" lang="en-US" altLang="en-US" sz="2400" b="0"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mỗi</a:t>
            </a: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3 </a:t>
            </a:r>
            <a:r>
              <a:rPr kumimoji="0" lang="en-US" altLang="en-US" sz="2400" b="0"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giây</a:t>
            </a: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a:t>
            </a:r>
          </a:p>
          <a:p>
            <a:pPr marL="342900" marR="0" lvl="1" indent="-228600" algn="l" defTabSz="228600" rtl="0" eaLnBrk="1" fontAlgn="base" latinLnBrk="0" hangingPunct="1">
              <a:lnSpc>
                <a:spcPct val="100000"/>
              </a:lnSpc>
              <a:spcBef>
                <a:spcPct val="20000"/>
              </a:spcBef>
              <a:spcAft>
                <a:spcPct val="0"/>
              </a:spcAft>
              <a:buClr>
                <a:srgbClr val="FF0000"/>
              </a:buClr>
              <a:buSzTx/>
              <a:buFont typeface="Arial" panose="020B0604020202020204" pitchFamily="34" charset="0"/>
              <a:buChar char="•"/>
              <a:tabLst>
                <a:tab pos="457200" algn="l"/>
                <a:tab pos="742950" algn="l"/>
              </a:tabLst>
              <a:defRPr/>
            </a:pPr>
            <a:r>
              <a:rPr kumimoji="0" lang="en-US" altLang="en-US" sz="2400" b="0"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Trước</a:t>
            </a: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a:t>
            </a:r>
            <a:r>
              <a:rPr kumimoji="0" lang="en-US" altLang="en-US" sz="2400" b="0"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khi</a:t>
            </a: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a:t>
            </a:r>
            <a:r>
              <a:rPr kumimoji="0" lang="en-US" altLang="en-US" sz="2400" b="0"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DBWn</a:t>
            </a: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a:t>
            </a:r>
            <a:r>
              <a:rPr kumimoji="0" lang="en-US" altLang="en-US" sz="2400" b="0"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ghi</a:t>
            </a: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50" name="Rectangle 4"/>
          <p:cNvSpPr>
            <a:spLocks noChangeArrowheads="1"/>
          </p:cNvSpPr>
          <p:nvPr/>
        </p:nvSpPr>
        <p:spPr bwMode="blackWhite">
          <a:xfrm>
            <a:off x="1583788" y="1747618"/>
            <a:ext cx="4343400" cy="2339975"/>
          </a:xfrm>
          <a:prstGeom prst="rect">
            <a:avLst/>
          </a:prstGeom>
          <a:solidFill>
            <a:srgbClr val="FF66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0" rIns="46038" bIns="0" anchorCtr="1"/>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Instance</a:t>
            </a: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1" name="Rectangle 5"/>
          <p:cNvSpPr>
            <a:spLocks noChangeArrowheads="1"/>
          </p:cNvSpPr>
          <p:nvPr/>
        </p:nvSpPr>
        <p:spPr bwMode="blackWhite">
          <a:xfrm>
            <a:off x="1610776" y="2027018"/>
            <a:ext cx="4214812" cy="1584325"/>
          </a:xfrm>
          <a:prstGeom prst="rect">
            <a:avLst/>
          </a:prstGeom>
          <a:solidFill>
            <a:srgbClr val="CCCCCC"/>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SGA</a:t>
            </a: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2" name="Oval 6"/>
          <p:cNvSpPr>
            <a:spLocks noChangeArrowheads="1"/>
          </p:cNvSpPr>
          <p:nvPr/>
        </p:nvSpPr>
        <p:spPr bwMode="blackWhite">
          <a:xfrm>
            <a:off x="1655226" y="3665318"/>
            <a:ext cx="635000" cy="374650"/>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3" name="Rectangle 7"/>
          <p:cNvSpPr>
            <a:spLocks noChangeArrowheads="1"/>
          </p:cNvSpPr>
          <p:nvPr/>
        </p:nvSpPr>
        <p:spPr bwMode="blackWhite">
          <a:xfrm>
            <a:off x="1355188" y="4643218"/>
            <a:ext cx="3289300" cy="1550988"/>
          </a:xfrm>
          <a:prstGeom prst="rect">
            <a:avLst/>
          </a:prstGeom>
          <a:solidFill>
            <a:srgbClr val="FFCC33"/>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54" name="Group 8"/>
          <p:cNvGrpSpPr>
            <a:grpSpLocks/>
          </p:cNvGrpSpPr>
          <p:nvPr/>
        </p:nvGrpSpPr>
        <p:grpSpPr bwMode="auto">
          <a:xfrm>
            <a:off x="2633126" y="4690843"/>
            <a:ext cx="912812" cy="654050"/>
            <a:chOff x="1070" y="1910"/>
            <a:chExt cx="532" cy="412"/>
          </a:xfrm>
        </p:grpSpPr>
        <p:sp>
          <p:nvSpPr>
            <p:cNvPr id="55" name="Rectangle 9"/>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6" name="Oval 10"/>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7" name="Oval 11"/>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58" name="Group 12"/>
          <p:cNvGrpSpPr>
            <a:grpSpLocks/>
          </p:cNvGrpSpPr>
          <p:nvPr/>
        </p:nvGrpSpPr>
        <p:grpSpPr bwMode="auto">
          <a:xfrm>
            <a:off x="1507588" y="5235356"/>
            <a:ext cx="990600" cy="654050"/>
            <a:chOff x="1070" y="1910"/>
            <a:chExt cx="532" cy="412"/>
          </a:xfrm>
        </p:grpSpPr>
        <p:sp>
          <p:nvSpPr>
            <p:cNvPr id="59" name="Rectangle 13"/>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0" name="Oval 14"/>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1" name="Oval 15"/>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62" name="Group 16"/>
          <p:cNvGrpSpPr>
            <a:grpSpLocks/>
          </p:cNvGrpSpPr>
          <p:nvPr/>
        </p:nvGrpSpPr>
        <p:grpSpPr bwMode="auto">
          <a:xfrm>
            <a:off x="1509176" y="4690843"/>
            <a:ext cx="989012" cy="654050"/>
            <a:chOff x="1070" y="1910"/>
            <a:chExt cx="532" cy="412"/>
          </a:xfrm>
        </p:grpSpPr>
        <p:sp>
          <p:nvSpPr>
            <p:cNvPr id="63" name="Rectangle 17"/>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4" name="Oval 18"/>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5" name="Oval 19"/>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66" name="Rectangle 20"/>
          <p:cNvSpPr>
            <a:spLocks noChangeArrowheads="1"/>
          </p:cNvSpPr>
          <p:nvPr/>
        </p:nvSpPr>
        <p:spPr bwMode="auto">
          <a:xfrm>
            <a:off x="2504538" y="4895631"/>
            <a:ext cx="1169988"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188" tIns="52388" rIns="103188" bIns="52388">
            <a:spAutoFit/>
          </a:bodyPr>
          <a:lstStyle>
            <a:lvl1pPr defTabSz="104140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61963" indent="-228600" defTabSz="104140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925513" indent="-228600" defTabSz="10414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04140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04140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1041400" eaLnBrk="0" fontAlgn="base" latinLnBrk="0" hangingPunct="0">
              <a:lnSpc>
                <a:spcPct val="70000"/>
              </a:lnSpc>
              <a:spcBef>
                <a:spcPct val="5000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Control files</a:t>
            </a:r>
          </a:p>
        </p:txBody>
      </p:sp>
      <p:sp>
        <p:nvSpPr>
          <p:cNvPr id="67" name="Rectangle 21"/>
          <p:cNvSpPr>
            <a:spLocks noChangeArrowheads="1"/>
          </p:cNvSpPr>
          <p:nvPr/>
        </p:nvSpPr>
        <p:spPr bwMode="auto">
          <a:xfrm>
            <a:off x="1393288" y="4933731"/>
            <a:ext cx="12192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188" tIns="52388" rIns="103188" bIns="52388">
            <a:spAutoFit/>
          </a:bodyPr>
          <a:lstStyle>
            <a:lvl1pPr defTabSz="104140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61963" indent="-228600" defTabSz="104140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925513" indent="-228600" defTabSz="10414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04140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04140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1041400" eaLnBrk="0" fontAlgn="base" latinLnBrk="0" hangingPunct="0">
              <a:lnSpc>
                <a:spcPct val="70000"/>
              </a:lnSpc>
              <a:spcBef>
                <a:spcPct val="5000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Data files </a:t>
            </a:r>
          </a:p>
        </p:txBody>
      </p:sp>
      <p:grpSp>
        <p:nvGrpSpPr>
          <p:cNvPr id="68" name="Group 22"/>
          <p:cNvGrpSpPr>
            <a:grpSpLocks/>
          </p:cNvGrpSpPr>
          <p:nvPr/>
        </p:nvGrpSpPr>
        <p:grpSpPr bwMode="auto">
          <a:xfrm>
            <a:off x="3660238" y="5236943"/>
            <a:ext cx="912813" cy="654050"/>
            <a:chOff x="1070" y="1910"/>
            <a:chExt cx="532" cy="412"/>
          </a:xfrm>
        </p:grpSpPr>
        <p:sp>
          <p:nvSpPr>
            <p:cNvPr id="69" name="Rectangle 23"/>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0" name="Oval 24"/>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1" name="Oval 25"/>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72" name="Group 26"/>
          <p:cNvGrpSpPr>
            <a:grpSpLocks/>
          </p:cNvGrpSpPr>
          <p:nvPr/>
        </p:nvGrpSpPr>
        <p:grpSpPr bwMode="auto">
          <a:xfrm>
            <a:off x="3660238" y="4719418"/>
            <a:ext cx="912813" cy="654050"/>
            <a:chOff x="1070" y="1910"/>
            <a:chExt cx="532" cy="412"/>
          </a:xfrm>
        </p:grpSpPr>
        <p:sp>
          <p:nvSpPr>
            <p:cNvPr id="73" name="Rectangle 27"/>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4" name="Oval 28"/>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5" name="Oval 29"/>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76" name="Rectangle 30"/>
          <p:cNvSpPr>
            <a:spLocks noChangeArrowheads="1"/>
          </p:cNvSpPr>
          <p:nvPr/>
        </p:nvSpPr>
        <p:spPr bwMode="auto">
          <a:xfrm>
            <a:off x="3595151" y="4719418"/>
            <a:ext cx="1042987" cy="68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188" tIns="52388" rIns="103188" bIns="52388">
            <a:spAutoFit/>
          </a:bodyPr>
          <a:lstStyle>
            <a:lvl1pPr defTabSz="104140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61963" indent="-228600" defTabSz="104140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925513" indent="-228600" defTabSz="10414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04140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04140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1041400" eaLnBrk="0" fontAlgn="base" latinLnBrk="0" hangingPunct="0">
              <a:lnSpc>
                <a:spcPct val="70000"/>
              </a:lnSpc>
              <a:spcBef>
                <a:spcPct val="5000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Redo Log files</a:t>
            </a:r>
          </a:p>
        </p:txBody>
      </p:sp>
      <p:sp>
        <p:nvSpPr>
          <p:cNvPr id="77" name="Text Box 31"/>
          <p:cNvSpPr txBox="1">
            <a:spLocks noChangeArrowheads="1"/>
          </p:cNvSpPr>
          <p:nvPr/>
        </p:nvSpPr>
        <p:spPr bwMode="auto">
          <a:xfrm>
            <a:off x="2421988" y="5862418"/>
            <a:ext cx="1200150" cy="366713"/>
          </a:xfrm>
          <a:prstGeom prst="rect">
            <a:avLst/>
          </a:prstGeom>
          <a:noFill/>
          <a:ln>
            <a:noFill/>
          </a:ln>
          <a:effectLst/>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28575">
                <a:solidFill>
                  <a:srgbClr val="0000FF"/>
                </a:solidFill>
                <a:miter lim="800000"/>
                <a:headEnd/>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Database</a:t>
            </a:r>
          </a:p>
        </p:txBody>
      </p:sp>
      <p:sp>
        <p:nvSpPr>
          <p:cNvPr id="78" name="Rectangle 32"/>
          <p:cNvSpPr>
            <a:spLocks noChangeArrowheads="1"/>
          </p:cNvSpPr>
          <p:nvPr/>
        </p:nvSpPr>
        <p:spPr bwMode="blackWhite">
          <a:xfrm>
            <a:off x="4554001" y="2415956"/>
            <a:ext cx="1162050" cy="695325"/>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75000"/>
              </a:lnSpc>
              <a:spcBef>
                <a:spcPct val="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Redo Log</a:t>
            </a:r>
          </a:p>
          <a:p>
            <a:pPr marL="0" marR="0" lvl="0" indent="0" algn="ctr" defTabSz="822325" eaLnBrk="0" fontAlgn="base" latinLnBrk="0" hangingPunct="0">
              <a:lnSpc>
                <a:spcPct val="7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75000"/>
              </a:lnSpc>
              <a:spcBef>
                <a:spcPct val="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Buffer</a:t>
            </a:r>
          </a:p>
        </p:txBody>
      </p:sp>
      <p:sp>
        <p:nvSpPr>
          <p:cNvPr id="79" name="Rectangle 33"/>
          <p:cNvSpPr>
            <a:spLocks noChangeArrowheads="1"/>
          </p:cNvSpPr>
          <p:nvPr/>
        </p:nvSpPr>
        <p:spPr bwMode="blackWhite">
          <a:xfrm>
            <a:off x="1704438" y="2109568"/>
            <a:ext cx="1381125" cy="1416050"/>
          </a:xfrm>
          <a:prstGeom prst="rect">
            <a:avLst/>
          </a:prstGeom>
          <a:solidFill>
            <a:srgbClr val="FFCC33"/>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0" name="Rectangle 34"/>
          <p:cNvSpPr>
            <a:spLocks noChangeArrowheads="1"/>
          </p:cNvSpPr>
          <p:nvPr/>
        </p:nvSpPr>
        <p:spPr bwMode="blackWhite">
          <a:xfrm>
            <a:off x="1810801" y="3019206"/>
            <a:ext cx="1165225" cy="473075"/>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1" name="Rectangle 35"/>
          <p:cNvSpPr>
            <a:spLocks noChangeArrowheads="1"/>
          </p:cNvSpPr>
          <p:nvPr/>
        </p:nvSpPr>
        <p:spPr bwMode="blackWhite">
          <a:xfrm>
            <a:off x="1810801" y="2485806"/>
            <a:ext cx="1165225" cy="471487"/>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2" name="Oval 36"/>
          <p:cNvSpPr>
            <a:spLocks noChangeArrowheads="1"/>
          </p:cNvSpPr>
          <p:nvPr/>
        </p:nvSpPr>
        <p:spPr bwMode="blackWhite">
          <a:xfrm>
            <a:off x="3069688" y="3665318"/>
            <a:ext cx="635000" cy="374650"/>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r>
              <a:rPr kumimoji="0" lang="en-US" altLang="en-US" sz="1500" b="1" i="0" u="none" strike="noStrike" kern="0" cap="none" spc="0" normalizeH="0" baseline="0" noProof="0">
                <a:ln>
                  <a:noFill/>
                </a:ln>
                <a:solidFill>
                  <a:srgbClr val="000000"/>
                </a:solidFill>
                <a:effectLst/>
                <a:uLnTx/>
                <a:uFillTx/>
                <a:latin typeface="Arial" panose="020B0604020202020204" pitchFamily="34" charset="0"/>
              </a:rPr>
              <a:t>DBWn</a:t>
            </a:r>
          </a:p>
        </p:txBody>
      </p:sp>
      <p:sp>
        <p:nvSpPr>
          <p:cNvPr id="83" name="Oval 37"/>
          <p:cNvSpPr>
            <a:spLocks noChangeArrowheads="1"/>
          </p:cNvSpPr>
          <p:nvPr/>
        </p:nvSpPr>
        <p:spPr bwMode="blackWhite">
          <a:xfrm>
            <a:off x="2361663" y="3665318"/>
            <a:ext cx="635000" cy="374650"/>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4" name="Oval 38"/>
          <p:cNvSpPr>
            <a:spLocks noChangeArrowheads="1"/>
          </p:cNvSpPr>
          <p:nvPr/>
        </p:nvSpPr>
        <p:spPr bwMode="blackWhite">
          <a:xfrm>
            <a:off x="3763426" y="3665318"/>
            <a:ext cx="635000" cy="374650"/>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r>
              <a:rPr kumimoji="0" lang="en-US" altLang="en-US" sz="1500" b="1" i="0" u="none" strike="noStrike" kern="0" cap="none" spc="0" normalizeH="0" baseline="0" noProof="0">
                <a:ln>
                  <a:noFill/>
                </a:ln>
                <a:solidFill>
                  <a:srgbClr val="000000"/>
                </a:solidFill>
                <a:effectLst/>
                <a:uLnTx/>
                <a:uFillTx/>
                <a:latin typeface="Arial" panose="020B0604020202020204" pitchFamily="34" charset="0"/>
              </a:rPr>
              <a:t>LGWR</a:t>
            </a:r>
          </a:p>
        </p:txBody>
      </p:sp>
      <p:sp>
        <p:nvSpPr>
          <p:cNvPr id="85" name="Oval 39"/>
          <p:cNvSpPr>
            <a:spLocks noChangeArrowheads="1"/>
          </p:cNvSpPr>
          <p:nvPr/>
        </p:nvSpPr>
        <p:spPr bwMode="blackWhite">
          <a:xfrm>
            <a:off x="5189001" y="3665318"/>
            <a:ext cx="630237" cy="374650"/>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6" name="Rectangle 40"/>
          <p:cNvSpPr>
            <a:spLocks noChangeArrowheads="1"/>
          </p:cNvSpPr>
          <p:nvPr/>
        </p:nvSpPr>
        <p:spPr bwMode="blackWhite">
          <a:xfrm>
            <a:off x="3185576" y="2412781"/>
            <a:ext cx="1325562" cy="796925"/>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7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7" name="Rectangle 41"/>
          <p:cNvSpPr>
            <a:spLocks noChangeArrowheads="1"/>
          </p:cNvSpPr>
          <p:nvPr/>
        </p:nvSpPr>
        <p:spPr bwMode="blackWhite">
          <a:xfrm>
            <a:off x="3260188" y="3250981"/>
            <a:ext cx="1176338" cy="287337"/>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8" name="Rectangle 42"/>
          <p:cNvSpPr>
            <a:spLocks noChangeArrowheads="1"/>
          </p:cNvSpPr>
          <p:nvPr/>
        </p:nvSpPr>
        <p:spPr bwMode="blackWhite">
          <a:xfrm>
            <a:off x="4566701" y="3206531"/>
            <a:ext cx="1125537" cy="338137"/>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9" name="Oval 43"/>
          <p:cNvSpPr>
            <a:spLocks noChangeArrowheads="1"/>
          </p:cNvSpPr>
          <p:nvPr/>
        </p:nvSpPr>
        <p:spPr bwMode="blackWhite">
          <a:xfrm>
            <a:off x="4474626" y="3665318"/>
            <a:ext cx="630237" cy="374650"/>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90" name="Line 44"/>
          <p:cNvSpPr>
            <a:spLocks noChangeShapeType="1"/>
          </p:cNvSpPr>
          <p:nvPr/>
        </p:nvSpPr>
        <p:spPr bwMode="auto">
          <a:xfrm>
            <a:off x="4098388" y="4122518"/>
            <a:ext cx="0" cy="592138"/>
          </a:xfrm>
          <a:prstGeom prst="line">
            <a:avLst/>
          </a:prstGeom>
          <a:noFill/>
          <a:ln w="25400">
            <a:solidFill>
              <a:srgbClr val="0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91" name="Freeform 45"/>
          <p:cNvSpPr>
            <a:spLocks/>
          </p:cNvSpPr>
          <p:nvPr/>
        </p:nvSpPr>
        <p:spPr bwMode="auto">
          <a:xfrm>
            <a:off x="4479388" y="3119218"/>
            <a:ext cx="609600" cy="685800"/>
          </a:xfrm>
          <a:custGeom>
            <a:avLst/>
            <a:gdLst>
              <a:gd name="T0" fmla="*/ 609600 w 384"/>
              <a:gd name="T1" fmla="*/ 0 h 432"/>
              <a:gd name="T2" fmla="*/ 609600 w 384"/>
              <a:gd name="T3" fmla="*/ 685800 h 432"/>
              <a:gd name="T4" fmla="*/ 0 w 384"/>
              <a:gd name="T5" fmla="*/ 685800 h 432"/>
              <a:gd name="T6" fmla="*/ 0 60000 65536"/>
              <a:gd name="T7" fmla="*/ 0 60000 65536"/>
              <a:gd name="T8" fmla="*/ 0 60000 65536"/>
            </a:gdLst>
            <a:ahLst/>
            <a:cxnLst>
              <a:cxn ang="T6">
                <a:pos x="T0" y="T1"/>
              </a:cxn>
              <a:cxn ang="T7">
                <a:pos x="T2" y="T3"/>
              </a:cxn>
              <a:cxn ang="T8">
                <a:pos x="T4" y="T5"/>
              </a:cxn>
            </a:cxnLst>
            <a:rect l="0" t="0" r="r" b="b"/>
            <a:pathLst>
              <a:path w="384" h="432">
                <a:moveTo>
                  <a:pt x="384" y="0"/>
                </a:moveTo>
                <a:lnTo>
                  <a:pt x="384" y="432"/>
                </a:lnTo>
                <a:lnTo>
                  <a:pt x="0" y="432"/>
                </a:lnTo>
              </a:path>
            </a:pathLst>
          </a:custGeom>
          <a:noFill/>
          <a:ln w="28575" cap="flat" cmpd="sng">
            <a:solidFill>
              <a:srgbClr val="000000"/>
            </a:solidFill>
            <a:prstDash val="solid"/>
            <a:round/>
            <a:headEnd type="none" w="med" len="me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92" name="Freeform 46"/>
          <p:cNvSpPr>
            <a:spLocks/>
          </p:cNvSpPr>
          <p:nvPr/>
        </p:nvSpPr>
        <p:spPr bwMode="auto">
          <a:xfrm>
            <a:off x="3412588" y="3424018"/>
            <a:ext cx="838200" cy="228600"/>
          </a:xfrm>
          <a:custGeom>
            <a:avLst/>
            <a:gdLst>
              <a:gd name="T0" fmla="*/ 838200 w 528"/>
              <a:gd name="T1" fmla="*/ 0 h 144"/>
              <a:gd name="T2" fmla="*/ 0 w 528"/>
              <a:gd name="T3" fmla="*/ 0 h 144"/>
              <a:gd name="T4" fmla="*/ 0 w 528"/>
              <a:gd name="T5" fmla="*/ 228600 h 144"/>
              <a:gd name="T6" fmla="*/ 0 60000 65536"/>
              <a:gd name="T7" fmla="*/ 0 60000 65536"/>
              <a:gd name="T8" fmla="*/ 0 60000 65536"/>
            </a:gdLst>
            <a:ahLst/>
            <a:cxnLst>
              <a:cxn ang="T6">
                <a:pos x="T0" y="T1"/>
              </a:cxn>
              <a:cxn ang="T7">
                <a:pos x="T2" y="T3"/>
              </a:cxn>
              <a:cxn ang="T8">
                <a:pos x="T4" y="T5"/>
              </a:cxn>
            </a:cxnLst>
            <a:rect l="0" t="0" r="r" b="b"/>
            <a:pathLst>
              <a:path w="528" h="144">
                <a:moveTo>
                  <a:pt x="528" y="0"/>
                </a:moveTo>
                <a:lnTo>
                  <a:pt x="0" y="0"/>
                </a:lnTo>
                <a:lnTo>
                  <a:pt x="0" y="144"/>
                </a:lnTo>
              </a:path>
            </a:pathLst>
          </a:custGeom>
          <a:noFill/>
          <a:ln w="28575" cap="flat" cmpd="sng">
            <a:solidFill>
              <a:srgbClr val="000000"/>
            </a:solidFill>
            <a:prstDash val="solid"/>
            <a:round/>
            <a:headEnd type="none" w="med" len="me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Tree>
    <p:extLst>
      <p:ext uri="{BB962C8B-B14F-4D97-AF65-F5344CB8AC3E}">
        <p14:creationId xmlns:p14="http://schemas.microsoft.com/office/powerpoint/2010/main" val="1255328374"/>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2"/>
          <p:cNvSpPr txBox="1">
            <a:spLocks noChangeArrowheads="1"/>
          </p:cNvSpPr>
          <p:nvPr/>
        </p:nvSpPr>
        <p:spPr bwMode="auto">
          <a:xfrm>
            <a:off x="-104823" y="80101"/>
            <a:ext cx="7315200" cy="655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 tIns="12700" rIns="12700" bIns="12700" numCol="1" anchor="t" anchorCtr="0" compatLnSpc="1">
            <a:prstTxWarp prst="textNoShape">
              <a:avLst/>
            </a:prstTxWarp>
          </a:bodyPr>
          <a:lstStyle>
            <a:lvl1pPr algn="ctr" defTabSz="228600" rtl="0" eaLnBrk="0" fontAlgn="base" hangingPunct="0">
              <a:spcBef>
                <a:spcPct val="20000"/>
              </a:spcBef>
              <a:spcAft>
                <a:spcPct val="0"/>
              </a:spcAft>
              <a:buClr>
                <a:srgbClr val="000000"/>
              </a:buClr>
              <a:buFont typeface="Arial" panose="020B0604020202020204" pitchFamily="34" charset="0"/>
              <a:tabLst>
                <a:tab pos="457200" algn="l"/>
                <a:tab pos="742950" algn="l"/>
              </a:tabLst>
              <a:defRPr sz="2800" b="1" kern="1200">
                <a:solidFill>
                  <a:schemeClr val="tx1"/>
                </a:solidFill>
                <a:latin typeface="+mj-lt"/>
                <a:ea typeface="+mj-ea"/>
                <a:cs typeface="+mj-cs"/>
              </a:defRPr>
            </a:lvl1pPr>
            <a:lvl2pPr algn="ctr" defTabSz="228600" rtl="0" eaLnBrk="0" fontAlgn="base" hangingPunct="0">
              <a:spcBef>
                <a:spcPct val="20000"/>
              </a:spcBef>
              <a:spcAft>
                <a:spcPct val="0"/>
              </a:spcAft>
              <a:buClr>
                <a:srgbClr val="000000"/>
              </a:buClr>
              <a:buFont typeface="Arial" panose="020B0604020202020204" pitchFamily="34" charset="0"/>
              <a:tabLst>
                <a:tab pos="457200" algn="l"/>
                <a:tab pos="742950" algn="l"/>
              </a:tabLst>
              <a:defRPr sz="2800" b="1">
                <a:solidFill>
                  <a:schemeClr val="tx1"/>
                </a:solidFill>
                <a:latin typeface="Arial" panose="020B0604020202020204" pitchFamily="34" charset="0"/>
              </a:defRPr>
            </a:lvl2pPr>
            <a:lvl3pPr algn="ctr" defTabSz="228600" rtl="0" eaLnBrk="0" fontAlgn="base" hangingPunct="0">
              <a:spcBef>
                <a:spcPct val="20000"/>
              </a:spcBef>
              <a:spcAft>
                <a:spcPct val="0"/>
              </a:spcAft>
              <a:buClr>
                <a:srgbClr val="000000"/>
              </a:buClr>
              <a:buFont typeface="Arial" panose="020B0604020202020204" pitchFamily="34" charset="0"/>
              <a:tabLst>
                <a:tab pos="457200" algn="l"/>
                <a:tab pos="742950" algn="l"/>
              </a:tabLst>
              <a:defRPr sz="2800" b="1">
                <a:solidFill>
                  <a:schemeClr val="tx1"/>
                </a:solidFill>
                <a:latin typeface="Arial" panose="020B0604020202020204" pitchFamily="34" charset="0"/>
              </a:defRPr>
            </a:lvl3pPr>
            <a:lvl4pPr algn="ctr" defTabSz="228600" rtl="0" eaLnBrk="0" fontAlgn="base" hangingPunct="0">
              <a:spcBef>
                <a:spcPct val="20000"/>
              </a:spcBef>
              <a:spcAft>
                <a:spcPct val="0"/>
              </a:spcAft>
              <a:buClr>
                <a:srgbClr val="000000"/>
              </a:buClr>
              <a:buFont typeface="Arial" panose="020B0604020202020204" pitchFamily="34" charset="0"/>
              <a:tabLst>
                <a:tab pos="457200" algn="l"/>
                <a:tab pos="742950" algn="l"/>
              </a:tabLst>
              <a:defRPr sz="2800" b="1">
                <a:solidFill>
                  <a:schemeClr val="tx1"/>
                </a:solidFill>
                <a:latin typeface="Arial" panose="020B0604020202020204" pitchFamily="34" charset="0"/>
              </a:defRPr>
            </a:lvl4pPr>
            <a:lvl5pPr algn="ctr" defTabSz="228600" rtl="0" eaLnBrk="0" fontAlgn="base" hangingPunct="0">
              <a:spcBef>
                <a:spcPct val="20000"/>
              </a:spcBef>
              <a:spcAft>
                <a:spcPct val="0"/>
              </a:spcAft>
              <a:buClr>
                <a:srgbClr val="000000"/>
              </a:buClr>
              <a:buFont typeface="Arial" panose="020B0604020202020204" pitchFamily="34" charset="0"/>
              <a:tabLst>
                <a:tab pos="457200" algn="l"/>
                <a:tab pos="742950" algn="l"/>
              </a:tabLst>
              <a:defRPr sz="2800" b="1">
                <a:solidFill>
                  <a:schemeClr val="tx1"/>
                </a:solidFill>
                <a:latin typeface="Arial" panose="020B0604020202020204" pitchFamily="34" charset="0"/>
              </a:defRPr>
            </a:lvl5pPr>
            <a:lvl6pPr marL="457200" algn="ctr" defTabSz="228600" rtl="0" fontAlgn="base">
              <a:spcBef>
                <a:spcPct val="20000"/>
              </a:spcBef>
              <a:spcAft>
                <a:spcPct val="0"/>
              </a:spcAft>
              <a:buClr>
                <a:srgbClr val="000000"/>
              </a:buClr>
              <a:buFont typeface="Arial" panose="020B0604020202020204" pitchFamily="34" charset="0"/>
              <a:tabLst>
                <a:tab pos="457200" algn="l"/>
                <a:tab pos="742950" algn="l"/>
              </a:tabLst>
              <a:defRPr sz="2800" b="1">
                <a:solidFill>
                  <a:schemeClr val="tx1"/>
                </a:solidFill>
                <a:latin typeface="Arial" panose="020B0604020202020204" pitchFamily="34" charset="0"/>
              </a:defRPr>
            </a:lvl6pPr>
            <a:lvl7pPr marL="914400" algn="ctr" defTabSz="228600" rtl="0" fontAlgn="base">
              <a:spcBef>
                <a:spcPct val="20000"/>
              </a:spcBef>
              <a:spcAft>
                <a:spcPct val="0"/>
              </a:spcAft>
              <a:buClr>
                <a:srgbClr val="000000"/>
              </a:buClr>
              <a:buFont typeface="Arial" panose="020B0604020202020204" pitchFamily="34" charset="0"/>
              <a:tabLst>
                <a:tab pos="457200" algn="l"/>
                <a:tab pos="742950" algn="l"/>
              </a:tabLst>
              <a:defRPr sz="2800" b="1">
                <a:solidFill>
                  <a:schemeClr val="tx1"/>
                </a:solidFill>
                <a:latin typeface="Arial" panose="020B0604020202020204" pitchFamily="34" charset="0"/>
              </a:defRPr>
            </a:lvl7pPr>
            <a:lvl8pPr marL="1371600" algn="ctr" defTabSz="228600" rtl="0" fontAlgn="base">
              <a:spcBef>
                <a:spcPct val="20000"/>
              </a:spcBef>
              <a:spcAft>
                <a:spcPct val="0"/>
              </a:spcAft>
              <a:buClr>
                <a:srgbClr val="000000"/>
              </a:buClr>
              <a:buFont typeface="Arial" panose="020B0604020202020204" pitchFamily="34" charset="0"/>
              <a:tabLst>
                <a:tab pos="457200" algn="l"/>
                <a:tab pos="742950" algn="l"/>
              </a:tabLst>
              <a:defRPr sz="2800" b="1">
                <a:solidFill>
                  <a:schemeClr val="tx1"/>
                </a:solidFill>
                <a:latin typeface="Arial" panose="020B0604020202020204" pitchFamily="34" charset="0"/>
              </a:defRPr>
            </a:lvl8pPr>
            <a:lvl9pPr marL="1828800" algn="ctr" defTabSz="228600" rtl="0" fontAlgn="base">
              <a:spcBef>
                <a:spcPct val="20000"/>
              </a:spcBef>
              <a:spcAft>
                <a:spcPct val="0"/>
              </a:spcAft>
              <a:buClr>
                <a:srgbClr val="000000"/>
              </a:buClr>
              <a:buFont typeface="Arial" panose="020B0604020202020204" pitchFamily="34" charset="0"/>
              <a:tabLst>
                <a:tab pos="457200" algn="l"/>
                <a:tab pos="742950" algn="l"/>
              </a:tabLst>
              <a:defRPr sz="2800" b="1">
                <a:solidFill>
                  <a:schemeClr val="tx1"/>
                </a:solidFill>
                <a:latin typeface="Arial" panose="020B0604020202020204" pitchFamily="34" charset="0"/>
              </a:defRPr>
            </a:lvl9pPr>
          </a:lstStyle>
          <a:p>
            <a:pPr marL="0" marR="0" lvl="0" indent="0" algn="ctr" defTabSz="228600" rtl="0" eaLnBrk="1" fontAlgn="base" latinLnBrk="0" hangingPunct="1">
              <a:lnSpc>
                <a:spcPct val="100000"/>
              </a:lnSpc>
              <a:spcBef>
                <a:spcPct val="20000"/>
              </a:spcBef>
              <a:spcAft>
                <a:spcPct val="0"/>
              </a:spcAft>
              <a:buClr>
                <a:srgbClr val="000000"/>
              </a:buClr>
              <a:buSzTx/>
              <a:buFont typeface="Arial" panose="020B0604020202020204" pitchFamily="34" charset="0"/>
              <a:buNone/>
              <a:tabLst>
                <a:tab pos="457200" algn="l"/>
                <a:tab pos="742950" algn="l"/>
              </a:tabLst>
              <a:defRPr/>
            </a:pPr>
            <a:r>
              <a:rPr kumimoji="0" lang="en-US" altLang="en-US" sz="3600" b="1" i="0" u="none" strike="noStrike" kern="1200" cap="none" spc="0" normalizeH="0" baseline="0" noProof="0">
                <a:ln>
                  <a:noFill/>
                </a:ln>
                <a:solidFill>
                  <a:schemeClr val="bg1"/>
                </a:solidFill>
                <a:effectLst/>
                <a:uLnTx/>
                <a:uFillTx/>
                <a:latin typeface="Arial"/>
              </a:rPr>
              <a:t>3.3. System Monitor (SMON)</a:t>
            </a:r>
          </a:p>
        </p:txBody>
      </p:sp>
      <p:sp>
        <p:nvSpPr>
          <p:cNvPr id="48" name="Rectangle 3"/>
          <p:cNvSpPr txBox="1">
            <a:spLocks noChangeArrowheads="1"/>
          </p:cNvSpPr>
          <p:nvPr/>
        </p:nvSpPr>
        <p:spPr bwMode="auto">
          <a:xfrm>
            <a:off x="6363507" y="1158113"/>
            <a:ext cx="5550289" cy="4223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 tIns="12700" rIns="12700" bIns="12700" numCol="1" anchor="t" anchorCtr="0" compatLnSpc="1">
            <a:prstTxWarp prst="textNoShape">
              <a:avLst/>
            </a:prstTxWarp>
            <a:spAutoFit/>
          </a:bodyPr>
          <a:lstStyle>
            <a:lvl1pPr algn="l" defTabSz="228600" rtl="0" eaLnBrk="0" fontAlgn="base" hangingPunct="0">
              <a:spcBef>
                <a:spcPct val="20000"/>
              </a:spcBef>
              <a:spcAft>
                <a:spcPct val="0"/>
              </a:spcAft>
              <a:buClr>
                <a:srgbClr val="000000"/>
              </a:buClr>
              <a:buFont typeface="Arial" panose="020B0604020202020204" pitchFamily="34" charset="0"/>
              <a:tabLst>
                <a:tab pos="457200" algn="l"/>
                <a:tab pos="742950" algn="l"/>
              </a:tabLst>
              <a:defRPr sz="2200" b="1" kern="1200">
                <a:solidFill>
                  <a:schemeClr val="tx1"/>
                </a:solidFill>
                <a:latin typeface="+mn-lt"/>
                <a:ea typeface="+mn-ea"/>
                <a:cs typeface="+mn-cs"/>
              </a:defRPr>
            </a:lvl1pPr>
            <a:lvl2pPr marL="342900" indent="-228600" algn="l" defTabSz="228600" rtl="0" eaLnBrk="0" fontAlgn="base" hangingPunct="0">
              <a:spcBef>
                <a:spcPct val="20000"/>
              </a:spcBef>
              <a:spcAft>
                <a:spcPct val="0"/>
              </a:spcAft>
              <a:buClr>
                <a:srgbClr val="FF0000"/>
              </a:buClr>
              <a:buFont typeface="Arial" panose="020B0604020202020204" pitchFamily="34" charset="0"/>
              <a:buChar char="•"/>
              <a:tabLst>
                <a:tab pos="457200" algn="l"/>
                <a:tab pos="742950" algn="l"/>
              </a:tabLst>
              <a:defRPr sz="2200" b="1" kern="1200">
                <a:solidFill>
                  <a:schemeClr val="tx1"/>
                </a:solidFill>
                <a:latin typeface="+mn-lt"/>
                <a:ea typeface="+mn-ea"/>
                <a:cs typeface="+mn-cs"/>
              </a:defRPr>
            </a:lvl2pPr>
            <a:lvl3pPr marL="685800" indent="-228600" algn="l" defTabSz="228600" rtl="0" eaLnBrk="0" fontAlgn="base" hangingPunct="0">
              <a:spcBef>
                <a:spcPct val="20000"/>
              </a:spcBef>
              <a:spcAft>
                <a:spcPct val="0"/>
              </a:spcAft>
              <a:buClr>
                <a:srgbClr val="FF0000"/>
              </a:buClr>
              <a:buFont typeface="Arial" panose="020B0604020202020204" pitchFamily="34" charset="0"/>
              <a:buChar char="–"/>
              <a:tabLst>
                <a:tab pos="457200" algn="l"/>
                <a:tab pos="742950" algn="l"/>
              </a:tabLst>
              <a:defRPr sz="2000" b="1" kern="1200">
                <a:solidFill>
                  <a:schemeClr val="tx1"/>
                </a:solidFill>
                <a:latin typeface="+mn-lt"/>
                <a:ea typeface="+mn-ea"/>
                <a:cs typeface="+mn-cs"/>
              </a:defRPr>
            </a:lvl3pPr>
            <a:lvl4pPr marL="914400" algn="l" defTabSz="228600" rtl="0" eaLnBrk="0" fontAlgn="base" hangingPunct="0">
              <a:spcBef>
                <a:spcPct val="20000"/>
              </a:spcBef>
              <a:spcAft>
                <a:spcPct val="0"/>
              </a:spcAft>
              <a:buClr>
                <a:srgbClr val="000000"/>
              </a:buClr>
              <a:buFont typeface="Arial" panose="020B0604020202020204" pitchFamily="34" charset="0"/>
              <a:tabLst>
                <a:tab pos="457200" algn="l"/>
                <a:tab pos="742950" algn="l"/>
              </a:tabLst>
              <a:defRPr sz="2000" b="1" kern="1200">
                <a:solidFill>
                  <a:srgbClr val="FF0000"/>
                </a:solidFill>
                <a:latin typeface="+mn-lt"/>
                <a:ea typeface="+mn-ea"/>
                <a:cs typeface="+mn-cs"/>
              </a:defRPr>
            </a:lvl4pPr>
            <a:lvl5pPr marL="1143000" algn="l" defTabSz="228600" rtl="0" eaLnBrk="0" fontAlgn="base" hangingPunct="0">
              <a:spcBef>
                <a:spcPct val="20000"/>
              </a:spcBef>
              <a:spcAft>
                <a:spcPct val="0"/>
              </a:spcAft>
              <a:buClr>
                <a:srgbClr val="000000"/>
              </a:buClr>
              <a:buFont typeface="Arial" panose="020B0604020202020204" pitchFamily="34" charset="0"/>
              <a:tabLst>
                <a:tab pos="457200" algn="l"/>
                <a:tab pos="742950" algn="l"/>
              </a:tabLst>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228600" rtl="0" eaLnBrk="1" fontAlgn="base" latinLnBrk="0" hangingPunct="1">
              <a:lnSpc>
                <a:spcPct val="100000"/>
              </a:lnSpc>
              <a:spcBef>
                <a:spcPct val="20000"/>
              </a:spcBef>
              <a:spcAft>
                <a:spcPct val="0"/>
              </a:spcAft>
              <a:buClr>
                <a:srgbClr val="000000"/>
              </a:buClr>
              <a:buSzTx/>
              <a:buFont typeface="Arial" panose="020B0604020202020204" pitchFamily="34" charset="0"/>
              <a:buNone/>
              <a:tabLst>
                <a:tab pos="457200" algn="l"/>
                <a:tab pos="742950" algn="l"/>
              </a:tabLst>
              <a:defRPr/>
            </a:pPr>
            <a:r>
              <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rPr>
              <a:t> </a:t>
            </a:r>
            <a:r>
              <a:rPr kumimoji="0" lang="en-US" altLang="en-US" sz="28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rPr>
              <a:t>Có các vai trò:</a:t>
            </a:r>
            <a:r>
              <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rPr>
              <a:t> </a:t>
            </a:r>
          </a:p>
          <a:p>
            <a:pPr marL="342900" marR="0" lvl="1" indent="-228600" algn="l" defTabSz="228600" rtl="0" eaLnBrk="1" fontAlgn="base" latinLnBrk="0" hangingPunct="1">
              <a:lnSpc>
                <a:spcPct val="100000"/>
              </a:lnSpc>
              <a:spcBef>
                <a:spcPct val="20000"/>
              </a:spcBef>
              <a:spcAft>
                <a:spcPct val="0"/>
              </a:spcAft>
              <a:buClr>
                <a:srgbClr val="FF0000"/>
              </a:buClr>
              <a:buSzTx/>
              <a:buFont typeface="Arial" panose="020B0604020202020204" pitchFamily="34" charset="0"/>
              <a:buChar char="•"/>
              <a:tabLst>
                <a:tab pos="457200" algn="l"/>
                <a:tab pos="742950" algn="l"/>
              </a:tabLst>
              <a:defRPr/>
            </a:pPr>
            <a:r>
              <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rPr>
              <a:t>Khôi phục instance </a:t>
            </a:r>
          </a:p>
          <a:p>
            <a:pPr marL="685800" marR="0" lvl="2" indent="-228600" algn="l" defTabSz="228600" rtl="0" eaLnBrk="1" fontAlgn="base" latinLnBrk="0" hangingPunct="1">
              <a:lnSpc>
                <a:spcPct val="100000"/>
              </a:lnSpc>
              <a:spcBef>
                <a:spcPct val="20000"/>
              </a:spcBef>
              <a:spcAft>
                <a:spcPct val="0"/>
              </a:spcAft>
              <a:buClr>
                <a:srgbClr val="FF0000"/>
              </a:buClr>
              <a:buSzTx/>
              <a:buFont typeface="Arial" panose="020B0604020202020204" pitchFamily="34" charset="0"/>
              <a:buChar char="–"/>
              <a:tabLst>
                <a:tab pos="457200" algn="l"/>
                <a:tab pos="742950" algn="l"/>
              </a:tabLst>
              <a:defRPr/>
            </a:pPr>
            <a:r>
              <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rPr>
              <a:t>Phục hồi những thay đổi đã được ghi trong các Online Redo Log Files (Rolls forward).</a:t>
            </a:r>
          </a:p>
          <a:p>
            <a:pPr marL="685800" marR="0" lvl="2" indent="-228600" algn="l" defTabSz="228600" rtl="0" eaLnBrk="1" fontAlgn="base" latinLnBrk="0" hangingPunct="1">
              <a:lnSpc>
                <a:spcPct val="100000"/>
              </a:lnSpc>
              <a:spcBef>
                <a:spcPct val="20000"/>
              </a:spcBef>
              <a:spcAft>
                <a:spcPct val="0"/>
              </a:spcAft>
              <a:buClr>
                <a:srgbClr val="FF0000"/>
              </a:buClr>
              <a:buSzTx/>
              <a:buFont typeface="Arial" panose="020B0604020202020204" pitchFamily="34" charset="0"/>
              <a:buChar char="–"/>
              <a:tabLst>
                <a:tab pos="457200" algn="l"/>
                <a:tab pos="742950" algn="l"/>
              </a:tabLst>
              <a:defRPr/>
            </a:pPr>
            <a:r>
              <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rPr>
              <a:t>Mở CSDL để người sử dụng truy cập.</a:t>
            </a:r>
          </a:p>
          <a:p>
            <a:pPr marL="685800" marR="0" lvl="2" indent="-228600" algn="l" defTabSz="228600" rtl="0" eaLnBrk="1" fontAlgn="base" latinLnBrk="0" hangingPunct="1">
              <a:lnSpc>
                <a:spcPct val="100000"/>
              </a:lnSpc>
              <a:spcBef>
                <a:spcPct val="20000"/>
              </a:spcBef>
              <a:spcAft>
                <a:spcPct val="0"/>
              </a:spcAft>
              <a:buClr>
                <a:srgbClr val="FF0000"/>
              </a:buClr>
              <a:buSzTx/>
              <a:buFont typeface="Arial" panose="020B0604020202020204" pitchFamily="34" charset="0"/>
              <a:buChar char="–"/>
              <a:tabLst>
                <a:tab pos="457200" algn="l"/>
                <a:tab pos="742950" algn="l"/>
              </a:tabLst>
              <a:defRPr/>
            </a:pPr>
            <a:r>
              <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rPr>
              <a:t>Khôi phục lại những thay đổi chưa được commit (Rolls back).</a:t>
            </a:r>
          </a:p>
          <a:p>
            <a:pPr marL="342900" marR="0" lvl="1" indent="-228600" algn="l" defTabSz="228600" rtl="0" eaLnBrk="1" fontAlgn="base" latinLnBrk="0" hangingPunct="1">
              <a:lnSpc>
                <a:spcPct val="100000"/>
              </a:lnSpc>
              <a:spcBef>
                <a:spcPct val="20000"/>
              </a:spcBef>
              <a:spcAft>
                <a:spcPct val="0"/>
              </a:spcAft>
              <a:buClr>
                <a:srgbClr val="FF0000"/>
              </a:buClr>
              <a:buSzTx/>
              <a:buFont typeface="Arial" panose="020B0604020202020204" pitchFamily="34" charset="0"/>
              <a:buChar char="•"/>
              <a:tabLst>
                <a:tab pos="457200" algn="l"/>
                <a:tab pos="742950" algn="l"/>
              </a:tabLst>
              <a:defRPr/>
            </a:pPr>
            <a:r>
              <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rPr>
              <a:t>Giải phóng các vùng nhớ. </a:t>
            </a:r>
          </a:p>
          <a:p>
            <a:pPr marL="342900" marR="0" lvl="1" indent="-228600" algn="l" defTabSz="228600" rtl="0" eaLnBrk="1" fontAlgn="base" latinLnBrk="0" hangingPunct="1">
              <a:lnSpc>
                <a:spcPct val="100000"/>
              </a:lnSpc>
              <a:spcBef>
                <a:spcPct val="20000"/>
              </a:spcBef>
              <a:spcAft>
                <a:spcPct val="0"/>
              </a:spcAft>
              <a:buClr>
                <a:srgbClr val="FF0000"/>
              </a:buClr>
              <a:buSzTx/>
              <a:buFont typeface="Arial" panose="020B0604020202020204" pitchFamily="34" charset="0"/>
              <a:buChar char="•"/>
              <a:tabLst>
                <a:tab pos="457200" algn="l"/>
                <a:tab pos="742950" algn="l"/>
              </a:tabLst>
              <a:defRPr/>
            </a:pPr>
            <a:r>
              <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rPr>
              <a:t>Giải phóng các temporary segment. </a:t>
            </a:r>
          </a:p>
        </p:txBody>
      </p:sp>
      <p:grpSp>
        <p:nvGrpSpPr>
          <p:cNvPr id="49" name="Group 45"/>
          <p:cNvGrpSpPr>
            <a:grpSpLocks/>
          </p:cNvGrpSpPr>
          <p:nvPr/>
        </p:nvGrpSpPr>
        <p:grpSpPr bwMode="auto">
          <a:xfrm>
            <a:off x="1624818" y="1128920"/>
            <a:ext cx="4343400" cy="4252913"/>
            <a:chOff x="488" y="864"/>
            <a:chExt cx="2736" cy="2679"/>
          </a:xfrm>
        </p:grpSpPr>
        <p:sp>
          <p:nvSpPr>
            <p:cNvPr id="50" name="Rectangle 4"/>
            <p:cNvSpPr>
              <a:spLocks noChangeArrowheads="1"/>
            </p:cNvSpPr>
            <p:nvPr/>
          </p:nvSpPr>
          <p:spPr bwMode="blackWhite">
            <a:xfrm>
              <a:off x="496" y="2544"/>
              <a:ext cx="2072" cy="977"/>
            </a:xfrm>
            <a:prstGeom prst="rect">
              <a:avLst/>
            </a:prstGeom>
            <a:solidFill>
              <a:srgbClr val="FFCC33"/>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51" name="Group 5"/>
            <p:cNvGrpSpPr>
              <a:grpSpLocks/>
            </p:cNvGrpSpPr>
            <p:nvPr/>
          </p:nvGrpSpPr>
          <p:grpSpPr bwMode="auto">
            <a:xfrm>
              <a:off x="1277" y="2574"/>
              <a:ext cx="575" cy="412"/>
              <a:chOff x="1070" y="1910"/>
              <a:chExt cx="532" cy="412"/>
            </a:xfrm>
          </p:grpSpPr>
          <p:sp>
            <p:nvSpPr>
              <p:cNvPr id="88" name="Rectangle 6"/>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9" name="Oval 7"/>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90" name="Oval 8"/>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52" name="Group 9"/>
            <p:cNvGrpSpPr>
              <a:grpSpLocks/>
            </p:cNvGrpSpPr>
            <p:nvPr/>
          </p:nvGrpSpPr>
          <p:grpSpPr bwMode="auto">
            <a:xfrm>
              <a:off x="568" y="2917"/>
              <a:ext cx="632" cy="412"/>
              <a:chOff x="1070" y="1910"/>
              <a:chExt cx="532" cy="412"/>
            </a:xfrm>
          </p:grpSpPr>
          <p:sp>
            <p:nvSpPr>
              <p:cNvPr id="85" name="Rectangle 10"/>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6" name="Oval 11"/>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7" name="Oval 12"/>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53" name="Group 13"/>
            <p:cNvGrpSpPr>
              <a:grpSpLocks/>
            </p:cNvGrpSpPr>
            <p:nvPr/>
          </p:nvGrpSpPr>
          <p:grpSpPr bwMode="auto">
            <a:xfrm>
              <a:off x="569" y="2574"/>
              <a:ext cx="631" cy="412"/>
              <a:chOff x="1070" y="1910"/>
              <a:chExt cx="532" cy="412"/>
            </a:xfrm>
          </p:grpSpPr>
          <p:sp>
            <p:nvSpPr>
              <p:cNvPr id="82" name="Rectangle 14"/>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3" name="Oval 15"/>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4" name="Oval 16"/>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54" name="Rectangle 17"/>
            <p:cNvSpPr>
              <a:spLocks noChangeArrowheads="1"/>
            </p:cNvSpPr>
            <p:nvPr/>
          </p:nvSpPr>
          <p:spPr bwMode="auto">
            <a:xfrm>
              <a:off x="1196" y="2703"/>
              <a:ext cx="737"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188" tIns="52388" rIns="103188" bIns="52388">
              <a:spAutoFit/>
            </a:bodyPr>
            <a:lstStyle>
              <a:lvl1pPr defTabSz="104140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61963" indent="-228600" defTabSz="104140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925513" indent="-228600" defTabSz="10414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04140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04140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1041400" eaLnBrk="0" fontAlgn="base" latinLnBrk="0" hangingPunct="0">
                <a:lnSpc>
                  <a:spcPct val="70000"/>
                </a:lnSpc>
                <a:spcBef>
                  <a:spcPct val="5000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Control files</a:t>
              </a:r>
            </a:p>
          </p:txBody>
        </p:sp>
        <p:sp>
          <p:nvSpPr>
            <p:cNvPr id="55" name="Rectangle 18"/>
            <p:cNvSpPr>
              <a:spLocks noChangeArrowheads="1"/>
            </p:cNvSpPr>
            <p:nvPr/>
          </p:nvSpPr>
          <p:spPr bwMode="auto">
            <a:xfrm>
              <a:off x="496" y="2727"/>
              <a:ext cx="76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188" tIns="52388" rIns="103188" bIns="52388">
              <a:spAutoFit/>
            </a:bodyPr>
            <a:lstStyle>
              <a:lvl1pPr defTabSz="104140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61963" indent="-228600" defTabSz="104140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925513" indent="-228600" defTabSz="10414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04140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04140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1041400" eaLnBrk="0" fontAlgn="base" latinLnBrk="0" hangingPunct="0">
                <a:lnSpc>
                  <a:spcPct val="70000"/>
                </a:lnSpc>
                <a:spcBef>
                  <a:spcPct val="5000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Data files </a:t>
              </a:r>
            </a:p>
          </p:txBody>
        </p:sp>
        <p:grpSp>
          <p:nvGrpSpPr>
            <p:cNvPr id="56" name="Group 19"/>
            <p:cNvGrpSpPr>
              <a:grpSpLocks/>
            </p:cNvGrpSpPr>
            <p:nvPr/>
          </p:nvGrpSpPr>
          <p:grpSpPr bwMode="auto">
            <a:xfrm>
              <a:off x="1924" y="2918"/>
              <a:ext cx="575" cy="412"/>
              <a:chOff x="1070" y="1910"/>
              <a:chExt cx="532" cy="412"/>
            </a:xfrm>
          </p:grpSpPr>
          <p:sp>
            <p:nvSpPr>
              <p:cNvPr id="79" name="Rectangle 20"/>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0" name="Oval 21"/>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1" name="Oval 22"/>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57" name="Group 23"/>
            <p:cNvGrpSpPr>
              <a:grpSpLocks/>
            </p:cNvGrpSpPr>
            <p:nvPr/>
          </p:nvGrpSpPr>
          <p:grpSpPr bwMode="auto">
            <a:xfrm>
              <a:off x="1924" y="2592"/>
              <a:ext cx="575" cy="412"/>
              <a:chOff x="1070" y="1910"/>
              <a:chExt cx="532" cy="412"/>
            </a:xfrm>
          </p:grpSpPr>
          <p:sp>
            <p:nvSpPr>
              <p:cNvPr id="76" name="Rectangle 24"/>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7" name="Oval 25"/>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8" name="Oval 26"/>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58" name="Rectangle 27"/>
            <p:cNvSpPr>
              <a:spLocks noChangeArrowheads="1"/>
            </p:cNvSpPr>
            <p:nvPr/>
          </p:nvSpPr>
          <p:spPr bwMode="auto">
            <a:xfrm>
              <a:off x="1883" y="2595"/>
              <a:ext cx="657" cy="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188" tIns="52388" rIns="103188" bIns="52388">
              <a:spAutoFit/>
            </a:bodyPr>
            <a:lstStyle>
              <a:lvl1pPr defTabSz="104140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61963" indent="-228600" defTabSz="104140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925513" indent="-228600" defTabSz="10414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04140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04140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1041400" eaLnBrk="0" fontAlgn="base" latinLnBrk="0" hangingPunct="0">
                <a:lnSpc>
                  <a:spcPct val="70000"/>
                </a:lnSpc>
                <a:spcBef>
                  <a:spcPct val="5000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Redo Log files</a:t>
              </a:r>
            </a:p>
          </p:txBody>
        </p:sp>
        <p:sp>
          <p:nvSpPr>
            <p:cNvPr id="59" name="Text Box 28"/>
            <p:cNvSpPr txBox="1">
              <a:spLocks noChangeArrowheads="1"/>
            </p:cNvSpPr>
            <p:nvPr/>
          </p:nvSpPr>
          <p:spPr bwMode="auto">
            <a:xfrm>
              <a:off x="1144" y="3312"/>
              <a:ext cx="756" cy="231"/>
            </a:xfrm>
            <a:prstGeom prst="rect">
              <a:avLst/>
            </a:prstGeom>
            <a:noFill/>
            <a:ln>
              <a:noFill/>
            </a:ln>
            <a:effectLst/>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28575">
                  <a:solidFill>
                    <a:srgbClr val="0000FF"/>
                  </a:solidFill>
                  <a:miter lim="800000"/>
                  <a:headEnd/>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Database</a:t>
              </a:r>
            </a:p>
          </p:txBody>
        </p:sp>
        <p:sp>
          <p:nvSpPr>
            <p:cNvPr id="60" name="Rectangle 29"/>
            <p:cNvSpPr>
              <a:spLocks noChangeArrowheads="1"/>
            </p:cNvSpPr>
            <p:nvPr/>
          </p:nvSpPr>
          <p:spPr bwMode="blackWhite">
            <a:xfrm>
              <a:off x="488" y="864"/>
              <a:ext cx="2736" cy="1474"/>
            </a:xfrm>
            <a:prstGeom prst="rect">
              <a:avLst/>
            </a:prstGeom>
            <a:solidFill>
              <a:srgbClr val="FF66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0" rIns="46038" bIns="0" anchorCtr="1"/>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Instance</a:t>
              </a: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1" name="Rectangle 30"/>
            <p:cNvSpPr>
              <a:spLocks noChangeArrowheads="1"/>
            </p:cNvSpPr>
            <p:nvPr/>
          </p:nvSpPr>
          <p:spPr bwMode="blackWhite">
            <a:xfrm>
              <a:off x="505" y="1040"/>
              <a:ext cx="2655" cy="998"/>
            </a:xfrm>
            <a:prstGeom prst="rect">
              <a:avLst/>
            </a:prstGeom>
            <a:solidFill>
              <a:srgbClr val="CCCCCC"/>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0" rIns="46038" bIns="0" anchorCtr="1"/>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SGA</a:t>
              </a: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2" name="Oval 31"/>
            <p:cNvSpPr>
              <a:spLocks noChangeArrowheads="1"/>
            </p:cNvSpPr>
            <p:nvPr/>
          </p:nvSpPr>
          <p:spPr bwMode="blackWhite">
            <a:xfrm>
              <a:off x="533" y="2072"/>
              <a:ext cx="400" cy="236"/>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0" rIns="46038" bIns="0"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3" name="Rectangle 32"/>
            <p:cNvSpPr>
              <a:spLocks noChangeArrowheads="1"/>
            </p:cNvSpPr>
            <p:nvPr/>
          </p:nvSpPr>
          <p:spPr bwMode="blackWhite">
            <a:xfrm>
              <a:off x="2359" y="1285"/>
              <a:ext cx="732" cy="438"/>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0" rIns="46038" bIns="0"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7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4" name="Rectangle 33"/>
            <p:cNvSpPr>
              <a:spLocks noChangeArrowheads="1"/>
            </p:cNvSpPr>
            <p:nvPr/>
          </p:nvSpPr>
          <p:spPr bwMode="blackWhite">
            <a:xfrm>
              <a:off x="564" y="1092"/>
              <a:ext cx="870" cy="892"/>
            </a:xfrm>
            <a:prstGeom prst="rect">
              <a:avLst/>
            </a:prstGeom>
            <a:solidFill>
              <a:srgbClr val="FFCC33"/>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0" rIns="46038" bIns="0" anchorCtr="1"/>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5" name="Rectangle 34"/>
            <p:cNvSpPr>
              <a:spLocks noChangeArrowheads="1"/>
            </p:cNvSpPr>
            <p:nvPr/>
          </p:nvSpPr>
          <p:spPr bwMode="blackWhite">
            <a:xfrm>
              <a:off x="631" y="1665"/>
              <a:ext cx="734" cy="298"/>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0" rIns="46038" bIns="0"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6" name="Rectangle 35"/>
            <p:cNvSpPr>
              <a:spLocks noChangeArrowheads="1"/>
            </p:cNvSpPr>
            <p:nvPr/>
          </p:nvSpPr>
          <p:spPr bwMode="blackWhite">
            <a:xfrm>
              <a:off x="631" y="1329"/>
              <a:ext cx="734" cy="297"/>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0" rIns="46038" bIns="0"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7" name="Oval 36"/>
            <p:cNvSpPr>
              <a:spLocks noChangeArrowheads="1"/>
            </p:cNvSpPr>
            <p:nvPr/>
          </p:nvSpPr>
          <p:spPr bwMode="blackWhite">
            <a:xfrm>
              <a:off x="1424" y="2072"/>
              <a:ext cx="400" cy="236"/>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0" rIns="46038" bIns="0"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8" name="Oval 37"/>
            <p:cNvSpPr>
              <a:spLocks noChangeArrowheads="1"/>
            </p:cNvSpPr>
            <p:nvPr/>
          </p:nvSpPr>
          <p:spPr bwMode="blackWhite">
            <a:xfrm>
              <a:off x="978" y="2072"/>
              <a:ext cx="400" cy="236"/>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0" rIns="46038" bIns="0"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r>
                <a:rPr kumimoji="0" lang="en-US" altLang="en-US" sz="1500" b="1" i="0" u="none" strike="noStrike" kern="0" cap="none" spc="0" normalizeH="0" baseline="0" noProof="0">
                  <a:ln>
                    <a:noFill/>
                  </a:ln>
                  <a:solidFill>
                    <a:srgbClr val="000000"/>
                  </a:solidFill>
                  <a:effectLst/>
                  <a:uLnTx/>
                  <a:uFillTx/>
                  <a:latin typeface="Arial" panose="020B0604020202020204" pitchFamily="34" charset="0"/>
                </a:rPr>
                <a:t>SMON</a:t>
              </a:r>
            </a:p>
          </p:txBody>
        </p:sp>
        <p:sp>
          <p:nvSpPr>
            <p:cNvPr id="69" name="Oval 38"/>
            <p:cNvSpPr>
              <a:spLocks noChangeArrowheads="1"/>
            </p:cNvSpPr>
            <p:nvPr/>
          </p:nvSpPr>
          <p:spPr bwMode="blackWhite">
            <a:xfrm>
              <a:off x="1861" y="2072"/>
              <a:ext cx="400" cy="236"/>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0" rIns="46038" bIns="0"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0" name="Oval 39"/>
            <p:cNvSpPr>
              <a:spLocks noChangeArrowheads="1"/>
            </p:cNvSpPr>
            <p:nvPr/>
          </p:nvSpPr>
          <p:spPr bwMode="blackWhite">
            <a:xfrm>
              <a:off x="2759" y="2072"/>
              <a:ext cx="397" cy="236"/>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0" rIns="46038" bIns="0"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1" name="Rectangle 40"/>
            <p:cNvSpPr>
              <a:spLocks noChangeArrowheads="1"/>
            </p:cNvSpPr>
            <p:nvPr/>
          </p:nvSpPr>
          <p:spPr bwMode="blackWhite">
            <a:xfrm>
              <a:off x="1497" y="1283"/>
              <a:ext cx="835" cy="502"/>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0" rIns="46038" bIns="0"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7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2" name="Rectangle 41"/>
            <p:cNvSpPr>
              <a:spLocks noChangeArrowheads="1"/>
            </p:cNvSpPr>
            <p:nvPr/>
          </p:nvSpPr>
          <p:spPr bwMode="blackWhite">
            <a:xfrm>
              <a:off x="1544" y="1811"/>
              <a:ext cx="741" cy="181"/>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0" rIns="46038" bIns="0"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3" name="Rectangle 42"/>
            <p:cNvSpPr>
              <a:spLocks noChangeArrowheads="1"/>
            </p:cNvSpPr>
            <p:nvPr/>
          </p:nvSpPr>
          <p:spPr bwMode="blackWhite">
            <a:xfrm>
              <a:off x="2367" y="1783"/>
              <a:ext cx="709" cy="213"/>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0" rIns="46038" bIns="0"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4" name="Oval 43"/>
            <p:cNvSpPr>
              <a:spLocks noChangeArrowheads="1"/>
            </p:cNvSpPr>
            <p:nvPr/>
          </p:nvSpPr>
          <p:spPr bwMode="blackWhite">
            <a:xfrm>
              <a:off x="2309" y="2072"/>
              <a:ext cx="397" cy="236"/>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0" rIns="46038" bIns="0"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5" name="Line 44"/>
            <p:cNvSpPr>
              <a:spLocks noChangeShapeType="1"/>
            </p:cNvSpPr>
            <p:nvPr/>
          </p:nvSpPr>
          <p:spPr bwMode="auto">
            <a:xfrm rot="16200000" flipV="1">
              <a:off x="1043" y="2423"/>
              <a:ext cx="241" cy="2"/>
            </a:xfrm>
            <a:prstGeom prst="line">
              <a:avLst/>
            </a:prstGeom>
            <a:noFill/>
            <a:ln w="25400">
              <a:solidFill>
                <a:srgbClr val="000000"/>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spTree>
    <p:extLst>
      <p:ext uri="{BB962C8B-B14F-4D97-AF65-F5344CB8AC3E}">
        <p14:creationId xmlns:p14="http://schemas.microsoft.com/office/powerpoint/2010/main" val="1365406891"/>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58738" y="-1"/>
            <a:ext cx="9753600" cy="717551"/>
          </a:xfrm>
          <a:prstGeom prst="rect">
            <a:avLst/>
          </a:prstGeom>
        </p:spPr>
        <p:txBody>
          <a:bodyPr vert="horz" lIns="91440" tIns="45720" rIns="91440" bIns="45720" rtlCol="0" anchor="b">
            <a:normAutofit/>
          </a:bodyPr>
          <a:lstStyle>
            <a:lvl1pPr algn="l" defTabSz="914400" rtl="0" eaLnBrk="1" latinLnBrk="0" hangingPunct="1">
              <a:spcBef>
                <a:spcPct val="0"/>
              </a:spcBef>
              <a:buNone/>
              <a:defRPr sz="3600" b="1" kern="1200">
                <a:solidFill>
                  <a:schemeClr val="bg1"/>
                </a:solidFill>
                <a:latin typeface="Arial" panose="020B0604020202020204" pitchFamily="34" charset="0"/>
                <a:ea typeface="+mj-ea"/>
                <a:cs typeface="Arial" panose="020B0604020202020204" pitchFamily="34" charset="0"/>
              </a:defRPr>
            </a:lvl1pPr>
          </a:lstStyle>
          <a:p>
            <a:r>
              <a:rPr lang="en-US" altLang="en-US">
                <a:latin typeface="Arial"/>
              </a:rPr>
              <a:t>3.4. </a:t>
            </a:r>
            <a:r>
              <a:rPr lang="en-US" altLang="en-US"/>
              <a:t>Process Monitor (PMON)</a:t>
            </a:r>
          </a:p>
        </p:txBody>
      </p:sp>
      <p:sp>
        <p:nvSpPr>
          <p:cNvPr id="5" name="Rectangle 3"/>
          <p:cNvSpPr txBox="1">
            <a:spLocks noChangeArrowheads="1"/>
          </p:cNvSpPr>
          <p:nvPr/>
        </p:nvSpPr>
        <p:spPr>
          <a:xfrm>
            <a:off x="6908800" y="1295401"/>
            <a:ext cx="4978400" cy="3306763"/>
          </a:xfrm>
          <a:prstGeom prst="rect">
            <a:avLst/>
          </a:prstGeom>
        </p:spPr>
        <p:txBody>
          <a:bodyPr>
            <a:normAutofit/>
          </a:bodyPr>
          <a:lstStyle>
            <a:lvl1pPr marL="228600" indent="-228600" algn="l" defTabSz="914400" rtl="0" eaLnBrk="1" latinLnBrk="0" hangingPunct="1">
              <a:lnSpc>
                <a:spcPct val="90000"/>
              </a:lnSpc>
              <a:spcBef>
                <a:spcPct val="30000"/>
              </a:spcBef>
              <a:buClr>
                <a:srgbClr val="FF0000"/>
              </a:buClr>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ct val="30000"/>
              </a:spcBef>
              <a:buClr>
                <a:srgbClr val="FF0000"/>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ct val="30000"/>
              </a:spcBef>
              <a:buClr>
                <a:srgbClr val="FF0000"/>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ct val="30000"/>
              </a:spcBef>
              <a:buClr>
                <a:srgbClr val="FF0000"/>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ct val="30000"/>
              </a:spcBef>
              <a:buClr>
                <a:srgbClr val="FF0000"/>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r>
              <a:rPr lang="en-US">
                <a:latin typeface="Times New Roman" panose="02020603050405020304" pitchFamily="18" charset="0"/>
                <a:cs typeface="Times New Roman" panose="02020603050405020304" pitchFamily="18" charset="0"/>
              </a:rPr>
              <a:t>PMON làm nhiệm vụ </a:t>
            </a:r>
            <a:r>
              <a:rPr lang="en-US" b="1">
                <a:latin typeface="Times New Roman" panose="02020603050405020304" pitchFamily="18" charset="0"/>
                <a:cs typeface="Times New Roman" panose="02020603050405020304" pitchFamily="18" charset="0"/>
              </a:rPr>
              <a:t>theo dõi các user process.</a:t>
            </a:r>
            <a:endParaRPr lang="en-US" altLang="en-US">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Thực </a:t>
            </a:r>
            <a:r>
              <a:rPr lang="en-US" altLang="en-US" dirty="0" err="1">
                <a:latin typeface="Times New Roman" panose="02020603050405020304" pitchFamily="18" charset="0"/>
                <a:cs typeface="Times New Roman" panose="02020603050405020304" pitchFamily="18" charset="0"/>
              </a:rPr>
              <a:t>hiện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khôi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phục</a:t>
            </a:r>
            <a:r>
              <a:rPr lang="en-US" altLang="en-US" dirty="0">
                <a:latin typeface="Times New Roman" panose="02020603050405020304" pitchFamily="18" charset="0"/>
                <a:cs typeface="Times New Roman" panose="02020603050405020304" pitchFamily="18" charset="0"/>
              </a:rPr>
              <a:t> process </a:t>
            </a:r>
            <a:r>
              <a:rPr lang="en-US" altLang="en-US" dirty="0" err="1">
                <a:latin typeface="Times New Roman" panose="02020603050405020304" pitchFamily="18" charset="0"/>
                <a:cs typeface="Times New Roman" panose="02020603050405020304" pitchFamily="18" charset="0"/>
              </a:rPr>
              <a:t>khi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bị</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lỗi</a:t>
            </a:r>
            <a:r>
              <a:rPr lang="en-US" altLang="en-US" dirty="0">
                <a:latin typeface="Times New Roman" panose="02020603050405020304" pitchFamily="18" charset="0"/>
                <a:cs typeface="Times New Roman" panose="02020603050405020304" pitchFamily="18" charset="0"/>
              </a:rPr>
              <a:t>:</a:t>
            </a:r>
          </a:p>
          <a:p>
            <a:pPr lvl="1"/>
            <a:r>
              <a:rPr lang="en-US" altLang="en-US" dirty="0" err="1">
                <a:latin typeface="Times New Roman" panose="02020603050405020304" pitchFamily="18" charset="0"/>
                <a:cs typeface="Times New Roman" panose="02020603050405020304" pitchFamily="18" charset="0"/>
              </a:rPr>
              <a:t>Phục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hồi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lại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giao</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dịch</a:t>
            </a:r>
            <a:r>
              <a:rPr lang="en-US" altLang="en-US" dirty="0">
                <a:latin typeface="Times New Roman" panose="02020603050405020304" pitchFamily="18" charset="0"/>
                <a:cs typeface="Times New Roman" panose="02020603050405020304" pitchFamily="18" charset="0"/>
              </a:rPr>
              <a:t> (Roll back).</a:t>
            </a:r>
          </a:p>
          <a:p>
            <a:pPr lvl="1"/>
            <a:r>
              <a:rPr lang="en-US" altLang="en-US" dirty="0" err="1">
                <a:latin typeface="Times New Roman" panose="02020603050405020304" pitchFamily="18" charset="0"/>
                <a:cs typeface="Times New Roman" panose="02020603050405020304" pitchFamily="18" charset="0"/>
              </a:rPr>
              <a:t>Giải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phóng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err="1">
                <a:latin typeface="Times New Roman" panose="02020603050405020304" pitchFamily="18" charset="0"/>
                <a:cs typeface="Times New Roman" panose="02020603050405020304" pitchFamily="18" charset="0"/>
              </a:rPr>
              <a:t>tài</a:t>
            </a:r>
            <a:r>
              <a:rPr lang="en-US" altLang="en-US">
                <a:latin typeface="Times New Roman" panose="02020603050405020304" pitchFamily="18" charset="0"/>
                <a:cs typeface="Times New Roman" panose="02020603050405020304" pitchFamily="18" charset="0"/>
              </a:rPr>
              <a:t> nguyên khi user ngắt kết nối.</a:t>
            </a:r>
            <a:endParaRPr lang="en-US" altLang="en-US" dirty="0">
              <a:latin typeface="Times New Roman" panose="02020603050405020304" pitchFamily="18" charset="0"/>
              <a:cs typeface="Times New Roman" panose="02020603050405020304" pitchFamily="18" charset="0"/>
            </a:endParaRPr>
          </a:p>
        </p:txBody>
      </p:sp>
      <p:sp>
        <p:nvSpPr>
          <p:cNvPr id="6" name="Oval 4"/>
          <p:cNvSpPr>
            <a:spLocks noChangeArrowheads="1"/>
          </p:cNvSpPr>
          <p:nvPr/>
        </p:nvSpPr>
        <p:spPr bwMode="blackWhite">
          <a:xfrm>
            <a:off x="3462338" y="4325938"/>
            <a:ext cx="1903412" cy="893762"/>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endParaRPr lang="en-US" altLang="en-US" sz="1800"/>
          </a:p>
          <a:p>
            <a:pPr algn="ctr">
              <a:lnSpc>
                <a:spcPct val="95000"/>
              </a:lnSpc>
              <a:spcBef>
                <a:spcPct val="0"/>
              </a:spcBef>
              <a:buClrTx/>
              <a:buFontTx/>
              <a:buNone/>
            </a:pPr>
            <a:r>
              <a:rPr lang="en-US" altLang="en-US" sz="1800"/>
              <a:t>PGA area</a:t>
            </a:r>
          </a:p>
          <a:p>
            <a:pPr algn="ctr">
              <a:lnSpc>
                <a:spcPct val="95000"/>
              </a:lnSpc>
              <a:spcBef>
                <a:spcPct val="0"/>
              </a:spcBef>
              <a:buClrTx/>
              <a:buFontTx/>
              <a:buNone/>
            </a:pPr>
            <a:endParaRPr lang="en-US" altLang="en-US" sz="1800"/>
          </a:p>
        </p:txBody>
      </p:sp>
      <p:sp>
        <p:nvSpPr>
          <p:cNvPr id="7" name="Freeform 5"/>
          <p:cNvSpPr>
            <a:spLocks/>
          </p:cNvSpPr>
          <p:nvPr/>
        </p:nvSpPr>
        <p:spPr bwMode="auto">
          <a:xfrm>
            <a:off x="2762250" y="3729039"/>
            <a:ext cx="693738" cy="1044575"/>
          </a:xfrm>
          <a:custGeom>
            <a:avLst/>
            <a:gdLst>
              <a:gd name="T0" fmla="*/ 0 w 333"/>
              <a:gd name="T1" fmla="*/ 0 h 429"/>
              <a:gd name="T2" fmla="*/ 0 w 333"/>
              <a:gd name="T3" fmla="*/ 1042140 h 429"/>
              <a:gd name="T4" fmla="*/ 691655 w 333"/>
              <a:gd name="T5" fmla="*/ 1042140 h 429"/>
              <a:gd name="T6" fmla="*/ 0 60000 65536"/>
              <a:gd name="T7" fmla="*/ 0 60000 65536"/>
              <a:gd name="T8" fmla="*/ 0 60000 65536"/>
            </a:gdLst>
            <a:ahLst/>
            <a:cxnLst>
              <a:cxn ang="T6">
                <a:pos x="T0" y="T1"/>
              </a:cxn>
              <a:cxn ang="T7">
                <a:pos x="T2" y="T3"/>
              </a:cxn>
              <a:cxn ang="T8">
                <a:pos x="T4" y="T5"/>
              </a:cxn>
            </a:cxnLst>
            <a:rect l="0" t="0" r="r" b="b"/>
            <a:pathLst>
              <a:path w="333" h="429">
                <a:moveTo>
                  <a:pt x="0" y="0"/>
                </a:moveTo>
                <a:lnTo>
                  <a:pt x="0" y="428"/>
                </a:lnTo>
                <a:lnTo>
                  <a:pt x="332" y="428"/>
                </a:lnTo>
              </a:path>
            </a:pathLst>
          </a:custGeom>
          <a:noFill/>
          <a:ln w="25400" cap="rnd" cmpd="sng">
            <a:solidFill>
              <a:schemeClr val="tx1"/>
            </a:solidFill>
            <a:prstDash val="solid"/>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
        <p:nvSpPr>
          <p:cNvPr id="8" name="Rectangle 6"/>
          <p:cNvSpPr>
            <a:spLocks noChangeArrowheads="1"/>
          </p:cNvSpPr>
          <p:nvPr/>
        </p:nvSpPr>
        <p:spPr bwMode="blackWhite">
          <a:xfrm>
            <a:off x="2438400" y="1371601"/>
            <a:ext cx="4343400" cy="2339975"/>
          </a:xfrm>
          <a:prstGeom prst="rect">
            <a:avLst/>
          </a:prstGeom>
          <a:solidFill>
            <a:srgbClr val="FF66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0" rIns="46038" bIns="0" anchorCtr="1"/>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800"/>
              <a:t>Instance</a:t>
            </a:r>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p:txBody>
      </p:sp>
      <p:sp>
        <p:nvSpPr>
          <p:cNvPr id="9" name="Rectangle 7"/>
          <p:cNvSpPr>
            <a:spLocks noChangeArrowheads="1"/>
          </p:cNvSpPr>
          <p:nvPr/>
        </p:nvSpPr>
        <p:spPr bwMode="blackWhite">
          <a:xfrm>
            <a:off x="2465388" y="1651001"/>
            <a:ext cx="4214812" cy="1584325"/>
          </a:xfrm>
          <a:prstGeom prst="rect">
            <a:avLst/>
          </a:prstGeom>
          <a:solidFill>
            <a:srgbClr val="CCCCCC"/>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800"/>
              <a:t>SGA</a:t>
            </a:r>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p:txBody>
      </p:sp>
      <p:sp>
        <p:nvSpPr>
          <p:cNvPr id="10" name="Oval 8"/>
          <p:cNvSpPr>
            <a:spLocks noChangeArrowheads="1"/>
          </p:cNvSpPr>
          <p:nvPr/>
        </p:nvSpPr>
        <p:spPr bwMode="blackWhite">
          <a:xfrm>
            <a:off x="2509838" y="3289300"/>
            <a:ext cx="635000" cy="374650"/>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r>
              <a:rPr lang="en-US" altLang="en-US" sz="1500"/>
              <a:t>PMON</a:t>
            </a:r>
          </a:p>
        </p:txBody>
      </p:sp>
      <p:sp>
        <p:nvSpPr>
          <p:cNvPr id="11" name="Rectangle 9"/>
          <p:cNvSpPr>
            <a:spLocks noChangeArrowheads="1"/>
          </p:cNvSpPr>
          <p:nvPr/>
        </p:nvSpPr>
        <p:spPr bwMode="blackWhite">
          <a:xfrm>
            <a:off x="5408613" y="2039939"/>
            <a:ext cx="1162050" cy="695325"/>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75000"/>
              </a:lnSpc>
              <a:spcBef>
                <a:spcPct val="0"/>
              </a:spcBef>
              <a:buClrTx/>
              <a:buFontTx/>
              <a:buNone/>
            </a:pPr>
            <a:endParaRPr lang="en-US" altLang="en-US" sz="1800"/>
          </a:p>
        </p:txBody>
      </p:sp>
      <p:sp>
        <p:nvSpPr>
          <p:cNvPr id="12" name="Rectangle 10"/>
          <p:cNvSpPr>
            <a:spLocks noChangeArrowheads="1"/>
          </p:cNvSpPr>
          <p:nvPr/>
        </p:nvSpPr>
        <p:spPr bwMode="blackWhite">
          <a:xfrm>
            <a:off x="2559051" y="1720850"/>
            <a:ext cx="1381125" cy="1416050"/>
          </a:xfrm>
          <a:prstGeom prst="rect">
            <a:avLst/>
          </a:prstGeom>
          <a:solidFill>
            <a:srgbClr val="FFCC33"/>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a:p>
            <a:pPr algn="ctr">
              <a:lnSpc>
                <a:spcPct val="95000"/>
              </a:lnSpc>
              <a:spcBef>
                <a:spcPct val="0"/>
              </a:spcBef>
              <a:buClrTx/>
              <a:buFontTx/>
              <a:buNone/>
            </a:pPr>
            <a:endParaRPr lang="en-US" altLang="en-US" sz="1800"/>
          </a:p>
        </p:txBody>
      </p:sp>
      <p:sp>
        <p:nvSpPr>
          <p:cNvPr id="13" name="Rectangle 11"/>
          <p:cNvSpPr>
            <a:spLocks noChangeArrowheads="1"/>
          </p:cNvSpPr>
          <p:nvPr/>
        </p:nvSpPr>
        <p:spPr bwMode="blackWhite">
          <a:xfrm>
            <a:off x="2665414" y="2630489"/>
            <a:ext cx="1165225" cy="473075"/>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endParaRPr lang="en-US" altLang="en-US" sz="1800"/>
          </a:p>
        </p:txBody>
      </p:sp>
      <p:sp>
        <p:nvSpPr>
          <p:cNvPr id="14" name="Rectangle 12"/>
          <p:cNvSpPr>
            <a:spLocks noChangeArrowheads="1"/>
          </p:cNvSpPr>
          <p:nvPr/>
        </p:nvSpPr>
        <p:spPr bwMode="blackWhite">
          <a:xfrm>
            <a:off x="2665414" y="2109789"/>
            <a:ext cx="1165225" cy="471487"/>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endParaRPr lang="en-US" altLang="en-US" sz="1800"/>
          </a:p>
        </p:txBody>
      </p:sp>
      <p:sp>
        <p:nvSpPr>
          <p:cNvPr id="15" name="Oval 13"/>
          <p:cNvSpPr>
            <a:spLocks noChangeArrowheads="1"/>
          </p:cNvSpPr>
          <p:nvPr/>
        </p:nvSpPr>
        <p:spPr bwMode="blackWhite">
          <a:xfrm>
            <a:off x="3924300" y="3289300"/>
            <a:ext cx="635000" cy="374650"/>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endParaRPr lang="en-US" altLang="en-US" sz="1800"/>
          </a:p>
        </p:txBody>
      </p:sp>
      <p:sp>
        <p:nvSpPr>
          <p:cNvPr id="16" name="Oval 14"/>
          <p:cNvSpPr>
            <a:spLocks noChangeArrowheads="1"/>
          </p:cNvSpPr>
          <p:nvPr/>
        </p:nvSpPr>
        <p:spPr bwMode="blackWhite">
          <a:xfrm>
            <a:off x="3216275" y="3289300"/>
            <a:ext cx="635000" cy="374650"/>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endParaRPr lang="en-US" altLang="en-US" sz="1800"/>
          </a:p>
        </p:txBody>
      </p:sp>
      <p:sp>
        <p:nvSpPr>
          <p:cNvPr id="17" name="Oval 15"/>
          <p:cNvSpPr>
            <a:spLocks noChangeArrowheads="1"/>
          </p:cNvSpPr>
          <p:nvPr/>
        </p:nvSpPr>
        <p:spPr bwMode="blackWhite">
          <a:xfrm>
            <a:off x="4618038" y="3289300"/>
            <a:ext cx="635000" cy="374650"/>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endParaRPr lang="en-US" altLang="en-US" sz="1800"/>
          </a:p>
        </p:txBody>
      </p:sp>
      <p:sp>
        <p:nvSpPr>
          <p:cNvPr id="18" name="Oval 16"/>
          <p:cNvSpPr>
            <a:spLocks noChangeArrowheads="1"/>
          </p:cNvSpPr>
          <p:nvPr/>
        </p:nvSpPr>
        <p:spPr bwMode="blackWhite">
          <a:xfrm>
            <a:off x="6043614" y="3289300"/>
            <a:ext cx="630237" cy="374650"/>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endParaRPr lang="en-US" altLang="en-US" sz="1800"/>
          </a:p>
        </p:txBody>
      </p:sp>
      <p:sp>
        <p:nvSpPr>
          <p:cNvPr id="19" name="Rectangle 17"/>
          <p:cNvSpPr>
            <a:spLocks noChangeArrowheads="1"/>
          </p:cNvSpPr>
          <p:nvPr/>
        </p:nvSpPr>
        <p:spPr bwMode="blackWhite">
          <a:xfrm>
            <a:off x="4040188" y="2036764"/>
            <a:ext cx="1325562" cy="796925"/>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75000"/>
              </a:lnSpc>
              <a:spcBef>
                <a:spcPct val="0"/>
              </a:spcBef>
              <a:buClrTx/>
              <a:buFontTx/>
              <a:buNone/>
            </a:pPr>
            <a:endParaRPr lang="en-US" altLang="en-US" sz="1800"/>
          </a:p>
        </p:txBody>
      </p:sp>
      <p:sp>
        <p:nvSpPr>
          <p:cNvPr id="20" name="Rectangle 18"/>
          <p:cNvSpPr>
            <a:spLocks noChangeArrowheads="1"/>
          </p:cNvSpPr>
          <p:nvPr/>
        </p:nvSpPr>
        <p:spPr bwMode="blackWhite">
          <a:xfrm>
            <a:off x="4114800" y="2874964"/>
            <a:ext cx="1176338" cy="287337"/>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endParaRPr lang="en-US" altLang="en-US" sz="1800"/>
          </a:p>
        </p:txBody>
      </p:sp>
      <p:sp>
        <p:nvSpPr>
          <p:cNvPr id="21" name="Rectangle 19"/>
          <p:cNvSpPr>
            <a:spLocks noChangeArrowheads="1"/>
          </p:cNvSpPr>
          <p:nvPr/>
        </p:nvSpPr>
        <p:spPr bwMode="blackWhite">
          <a:xfrm>
            <a:off x="5421314" y="2830514"/>
            <a:ext cx="1125537" cy="338137"/>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endParaRPr lang="en-US" altLang="en-US" sz="1800"/>
          </a:p>
        </p:txBody>
      </p:sp>
      <p:sp>
        <p:nvSpPr>
          <p:cNvPr id="22" name="Oval 20"/>
          <p:cNvSpPr>
            <a:spLocks noChangeArrowheads="1"/>
          </p:cNvSpPr>
          <p:nvPr/>
        </p:nvSpPr>
        <p:spPr bwMode="blackWhite">
          <a:xfrm>
            <a:off x="5329239" y="3289300"/>
            <a:ext cx="630237" cy="374650"/>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algn="ctr">
              <a:lnSpc>
                <a:spcPct val="95000"/>
              </a:lnSpc>
              <a:spcBef>
                <a:spcPct val="0"/>
              </a:spcBef>
              <a:buClrTx/>
              <a:buFontTx/>
              <a:buNone/>
            </a:pPr>
            <a:endParaRPr lang="en-US" altLang="en-US" sz="1800"/>
          </a:p>
        </p:txBody>
      </p:sp>
      <p:sp>
        <p:nvSpPr>
          <p:cNvPr id="23" name="Freeform 21"/>
          <p:cNvSpPr>
            <a:spLocks/>
          </p:cNvSpPr>
          <p:nvPr/>
        </p:nvSpPr>
        <p:spPr bwMode="auto">
          <a:xfrm rot="5400000" flipH="1" flipV="1">
            <a:off x="3075782" y="2932907"/>
            <a:ext cx="179387" cy="692150"/>
          </a:xfrm>
          <a:custGeom>
            <a:avLst/>
            <a:gdLst>
              <a:gd name="T0" fmla="*/ 0 w 220"/>
              <a:gd name="T1" fmla="*/ 0 h 517"/>
              <a:gd name="T2" fmla="*/ 178572 w 220"/>
              <a:gd name="T3" fmla="*/ 0 h 517"/>
              <a:gd name="T4" fmla="*/ 178572 w 220"/>
              <a:gd name="T5" fmla="*/ 690811 h 517"/>
              <a:gd name="T6" fmla="*/ 0 60000 65536"/>
              <a:gd name="T7" fmla="*/ 0 60000 65536"/>
              <a:gd name="T8" fmla="*/ 0 60000 65536"/>
            </a:gdLst>
            <a:ahLst/>
            <a:cxnLst>
              <a:cxn ang="T6">
                <a:pos x="T0" y="T1"/>
              </a:cxn>
              <a:cxn ang="T7">
                <a:pos x="T2" y="T3"/>
              </a:cxn>
              <a:cxn ang="T8">
                <a:pos x="T4" y="T5"/>
              </a:cxn>
            </a:cxnLst>
            <a:rect l="0" t="0" r="r" b="b"/>
            <a:pathLst>
              <a:path w="220" h="517">
                <a:moveTo>
                  <a:pt x="0" y="0"/>
                </a:moveTo>
                <a:lnTo>
                  <a:pt x="219" y="0"/>
                </a:lnTo>
                <a:lnTo>
                  <a:pt x="219" y="516"/>
                </a:lnTo>
              </a:path>
            </a:pathLst>
          </a:custGeom>
          <a:noFill/>
          <a:ln w="25400" cap="rnd" cmpd="sng">
            <a:solidFill>
              <a:schemeClr val="tx1"/>
            </a:solidFill>
            <a:prstDash val="solid"/>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vi-VN"/>
          </a:p>
        </p:txBody>
      </p:sp>
    </p:spTree>
    <p:extLst>
      <p:ext uri="{BB962C8B-B14F-4D97-AF65-F5344CB8AC3E}">
        <p14:creationId xmlns:p14="http://schemas.microsoft.com/office/powerpoint/2010/main" val="1275832756"/>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altLang="en-US">
                <a:latin typeface="Arial"/>
              </a:rPr>
              <a:t>3.5. Checkpoint (CKPT)</a:t>
            </a:r>
            <a:endParaRPr lang="vi-VN"/>
          </a:p>
        </p:txBody>
      </p:sp>
      <p:grpSp>
        <p:nvGrpSpPr>
          <p:cNvPr id="50" name="Group 5"/>
          <p:cNvGrpSpPr>
            <a:grpSpLocks/>
          </p:cNvGrpSpPr>
          <p:nvPr/>
        </p:nvGrpSpPr>
        <p:grpSpPr bwMode="auto">
          <a:xfrm>
            <a:off x="2443089" y="3957711"/>
            <a:ext cx="3289300" cy="1585913"/>
            <a:chOff x="1344" y="2688"/>
            <a:chExt cx="2072" cy="999"/>
          </a:xfrm>
        </p:grpSpPr>
        <p:sp>
          <p:nvSpPr>
            <p:cNvPr id="51" name="Rectangle 6"/>
            <p:cNvSpPr>
              <a:spLocks noChangeArrowheads="1"/>
            </p:cNvSpPr>
            <p:nvPr/>
          </p:nvSpPr>
          <p:spPr bwMode="blackWhite">
            <a:xfrm>
              <a:off x="1344" y="2688"/>
              <a:ext cx="2072" cy="977"/>
            </a:xfrm>
            <a:prstGeom prst="rect">
              <a:avLst/>
            </a:prstGeom>
            <a:solidFill>
              <a:srgbClr val="FFCC33"/>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52" name="Group 7"/>
            <p:cNvGrpSpPr>
              <a:grpSpLocks/>
            </p:cNvGrpSpPr>
            <p:nvPr/>
          </p:nvGrpSpPr>
          <p:grpSpPr bwMode="auto">
            <a:xfrm>
              <a:off x="2149" y="2718"/>
              <a:ext cx="575" cy="412"/>
              <a:chOff x="1070" y="1910"/>
              <a:chExt cx="532" cy="412"/>
            </a:xfrm>
          </p:grpSpPr>
          <p:sp>
            <p:nvSpPr>
              <p:cNvPr id="73" name="Rectangle 8"/>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4" name="Oval 9"/>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5" name="Oval 10"/>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53" name="Group 11"/>
            <p:cNvGrpSpPr>
              <a:grpSpLocks/>
            </p:cNvGrpSpPr>
            <p:nvPr/>
          </p:nvGrpSpPr>
          <p:grpSpPr bwMode="auto">
            <a:xfrm>
              <a:off x="1440" y="3061"/>
              <a:ext cx="624" cy="412"/>
              <a:chOff x="1070" y="1910"/>
              <a:chExt cx="532" cy="412"/>
            </a:xfrm>
          </p:grpSpPr>
          <p:sp>
            <p:nvSpPr>
              <p:cNvPr id="70" name="Rectangle 12"/>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1" name="Oval 13"/>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2" name="Oval 14"/>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54" name="Group 15"/>
            <p:cNvGrpSpPr>
              <a:grpSpLocks/>
            </p:cNvGrpSpPr>
            <p:nvPr/>
          </p:nvGrpSpPr>
          <p:grpSpPr bwMode="auto">
            <a:xfrm>
              <a:off x="1441" y="2718"/>
              <a:ext cx="623" cy="412"/>
              <a:chOff x="1070" y="1910"/>
              <a:chExt cx="532" cy="412"/>
            </a:xfrm>
          </p:grpSpPr>
          <p:sp>
            <p:nvSpPr>
              <p:cNvPr id="67" name="Rectangle 16"/>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8" name="Oval 17"/>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9" name="Oval 18"/>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55" name="Rectangle 19"/>
            <p:cNvSpPr>
              <a:spLocks noChangeArrowheads="1"/>
            </p:cNvSpPr>
            <p:nvPr/>
          </p:nvSpPr>
          <p:spPr bwMode="auto">
            <a:xfrm>
              <a:off x="2068" y="2847"/>
              <a:ext cx="737"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188" tIns="52388" rIns="103188" bIns="52388">
              <a:spAutoFit/>
            </a:bodyPr>
            <a:lstStyle>
              <a:lvl1pPr defTabSz="104140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61963" indent="-228600" defTabSz="104140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925513" indent="-228600" defTabSz="10414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04140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04140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1041400" eaLnBrk="0" fontAlgn="base" latinLnBrk="0" hangingPunct="0">
                <a:lnSpc>
                  <a:spcPct val="70000"/>
                </a:lnSpc>
                <a:spcBef>
                  <a:spcPct val="5000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Control files</a:t>
              </a:r>
            </a:p>
          </p:txBody>
        </p:sp>
        <p:sp>
          <p:nvSpPr>
            <p:cNvPr id="56" name="Rectangle 20"/>
            <p:cNvSpPr>
              <a:spLocks noChangeArrowheads="1"/>
            </p:cNvSpPr>
            <p:nvPr/>
          </p:nvSpPr>
          <p:spPr bwMode="auto">
            <a:xfrm>
              <a:off x="1368" y="2871"/>
              <a:ext cx="76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188" tIns="52388" rIns="103188" bIns="52388">
              <a:spAutoFit/>
            </a:bodyPr>
            <a:lstStyle>
              <a:lvl1pPr defTabSz="104140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61963" indent="-228600" defTabSz="104140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925513" indent="-228600" defTabSz="10414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04140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04140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1041400" eaLnBrk="0" fontAlgn="base" latinLnBrk="0" hangingPunct="0">
                <a:lnSpc>
                  <a:spcPct val="70000"/>
                </a:lnSpc>
                <a:spcBef>
                  <a:spcPct val="5000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Data files </a:t>
              </a:r>
            </a:p>
          </p:txBody>
        </p:sp>
        <p:grpSp>
          <p:nvGrpSpPr>
            <p:cNvPr id="57" name="Group 21"/>
            <p:cNvGrpSpPr>
              <a:grpSpLocks/>
            </p:cNvGrpSpPr>
            <p:nvPr/>
          </p:nvGrpSpPr>
          <p:grpSpPr bwMode="auto">
            <a:xfrm>
              <a:off x="2796" y="3062"/>
              <a:ext cx="575" cy="412"/>
              <a:chOff x="1070" y="1910"/>
              <a:chExt cx="532" cy="412"/>
            </a:xfrm>
          </p:grpSpPr>
          <p:sp>
            <p:nvSpPr>
              <p:cNvPr id="64" name="Rectangle 22"/>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5" name="Oval 23"/>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6" name="Oval 24"/>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58" name="Group 25"/>
            <p:cNvGrpSpPr>
              <a:grpSpLocks/>
            </p:cNvGrpSpPr>
            <p:nvPr/>
          </p:nvGrpSpPr>
          <p:grpSpPr bwMode="auto">
            <a:xfrm>
              <a:off x="2796" y="2736"/>
              <a:ext cx="575" cy="412"/>
              <a:chOff x="1070" y="1910"/>
              <a:chExt cx="532" cy="412"/>
            </a:xfrm>
          </p:grpSpPr>
          <p:sp>
            <p:nvSpPr>
              <p:cNvPr id="61" name="Rectangle 26"/>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2" name="Oval 27"/>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3" name="Oval 28"/>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59" name="Rectangle 29"/>
            <p:cNvSpPr>
              <a:spLocks noChangeArrowheads="1"/>
            </p:cNvSpPr>
            <p:nvPr/>
          </p:nvSpPr>
          <p:spPr bwMode="auto">
            <a:xfrm>
              <a:off x="2755" y="2736"/>
              <a:ext cx="657" cy="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188" tIns="52388" rIns="103188" bIns="52388">
              <a:spAutoFit/>
            </a:bodyPr>
            <a:lstStyle>
              <a:lvl1pPr defTabSz="104140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61963" indent="-228600" defTabSz="104140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925513" indent="-228600" defTabSz="10414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04140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04140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1041400" eaLnBrk="0" fontAlgn="base" latinLnBrk="0" hangingPunct="0">
                <a:lnSpc>
                  <a:spcPct val="70000"/>
                </a:lnSpc>
                <a:spcBef>
                  <a:spcPct val="5000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Redo Log files</a:t>
              </a:r>
            </a:p>
          </p:txBody>
        </p:sp>
        <p:sp>
          <p:nvSpPr>
            <p:cNvPr id="60" name="Text Box 30"/>
            <p:cNvSpPr txBox="1">
              <a:spLocks noChangeArrowheads="1"/>
            </p:cNvSpPr>
            <p:nvPr/>
          </p:nvSpPr>
          <p:spPr bwMode="auto">
            <a:xfrm>
              <a:off x="2016" y="3456"/>
              <a:ext cx="756" cy="231"/>
            </a:xfrm>
            <a:prstGeom prst="rect">
              <a:avLst/>
            </a:prstGeom>
            <a:noFill/>
            <a:ln>
              <a:noFill/>
            </a:ln>
            <a:effectLst/>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28575">
                  <a:solidFill>
                    <a:srgbClr val="0000FF"/>
                  </a:solidFill>
                  <a:miter lim="800000"/>
                  <a:headEnd/>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Database</a:t>
              </a:r>
            </a:p>
          </p:txBody>
        </p:sp>
      </p:grpSp>
      <p:sp>
        <p:nvSpPr>
          <p:cNvPr id="76" name="Rectangle 31"/>
          <p:cNvSpPr>
            <a:spLocks noChangeArrowheads="1"/>
          </p:cNvSpPr>
          <p:nvPr/>
        </p:nvSpPr>
        <p:spPr bwMode="blackWhite">
          <a:xfrm>
            <a:off x="1223889" y="1062111"/>
            <a:ext cx="4343400" cy="2339975"/>
          </a:xfrm>
          <a:prstGeom prst="rect">
            <a:avLst/>
          </a:prstGeom>
          <a:solidFill>
            <a:srgbClr val="FF66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0" rIns="46038" bIns="0" anchorCtr="1"/>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Instance</a:t>
            </a: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7" name="Rectangle 32"/>
          <p:cNvSpPr>
            <a:spLocks noChangeArrowheads="1"/>
          </p:cNvSpPr>
          <p:nvPr/>
        </p:nvSpPr>
        <p:spPr bwMode="blackWhite">
          <a:xfrm>
            <a:off x="1250877" y="1341511"/>
            <a:ext cx="4214812" cy="1584325"/>
          </a:xfrm>
          <a:prstGeom prst="rect">
            <a:avLst/>
          </a:prstGeom>
          <a:solidFill>
            <a:srgbClr val="CCCCCC"/>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SGA</a:t>
            </a: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8" name="Rectangle 33"/>
          <p:cNvSpPr>
            <a:spLocks noChangeArrowheads="1"/>
          </p:cNvSpPr>
          <p:nvPr/>
        </p:nvSpPr>
        <p:spPr bwMode="blackWhite">
          <a:xfrm>
            <a:off x="4194102" y="1730449"/>
            <a:ext cx="1162050" cy="695325"/>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9" name="Rectangle 34"/>
          <p:cNvSpPr>
            <a:spLocks noChangeArrowheads="1"/>
          </p:cNvSpPr>
          <p:nvPr/>
        </p:nvSpPr>
        <p:spPr bwMode="blackWhite">
          <a:xfrm>
            <a:off x="1344539" y="1424061"/>
            <a:ext cx="1381125" cy="1416050"/>
          </a:xfrm>
          <a:prstGeom prst="rect">
            <a:avLst/>
          </a:prstGeom>
          <a:solidFill>
            <a:srgbClr val="FFCC33"/>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0" name="Rectangle 35"/>
          <p:cNvSpPr>
            <a:spLocks noChangeArrowheads="1"/>
          </p:cNvSpPr>
          <p:nvPr/>
        </p:nvSpPr>
        <p:spPr bwMode="blackWhite">
          <a:xfrm>
            <a:off x="1450902" y="2333699"/>
            <a:ext cx="1165225" cy="473075"/>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1" name="Rectangle 36"/>
          <p:cNvSpPr>
            <a:spLocks noChangeArrowheads="1"/>
          </p:cNvSpPr>
          <p:nvPr/>
        </p:nvSpPr>
        <p:spPr bwMode="blackWhite">
          <a:xfrm>
            <a:off x="1450902" y="1800299"/>
            <a:ext cx="1165225" cy="471487"/>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2" name="Oval 37"/>
          <p:cNvSpPr>
            <a:spLocks noChangeArrowheads="1"/>
          </p:cNvSpPr>
          <p:nvPr/>
        </p:nvSpPr>
        <p:spPr bwMode="blackWhite">
          <a:xfrm>
            <a:off x="2709789" y="2979811"/>
            <a:ext cx="635000" cy="374650"/>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r>
              <a:rPr kumimoji="0" lang="en-US" altLang="en-US" sz="1500" b="1" i="0" u="none" strike="noStrike" kern="0" cap="none" spc="0" normalizeH="0" baseline="0" noProof="0">
                <a:ln>
                  <a:noFill/>
                </a:ln>
                <a:solidFill>
                  <a:srgbClr val="000000"/>
                </a:solidFill>
                <a:effectLst/>
                <a:uLnTx/>
                <a:uFillTx/>
                <a:latin typeface="Arial" panose="020B0604020202020204" pitchFamily="34" charset="0"/>
              </a:rPr>
              <a:t>DBWn</a:t>
            </a:r>
          </a:p>
        </p:txBody>
      </p:sp>
      <p:sp>
        <p:nvSpPr>
          <p:cNvPr id="83" name="Oval 38"/>
          <p:cNvSpPr>
            <a:spLocks noChangeArrowheads="1"/>
          </p:cNvSpPr>
          <p:nvPr/>
        </p:nvSpPr>
        <p:spPr bwMode="blackWhite">
          <a:xfrm>
            <a:off x="2001764" y="2979811"/>
            <a:ext cx="635000" cy="374650"/>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4" name="Oval 39"/>
          <p:cNvSpPr>
            <a:spLocks noChangeArrowheads="1"/>
          </p:cNvSpPr>
          <p:nvPr/>
        </p:nvSpPr>
        <p:spPr bwMode="blackWhite">
          <a:xfrm>
            <a:off x="1295327" y="2979811"/>
            <a:ext cx="635000" cy="374650"/>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5" name="Oval 40"/>
          <p:cNvSpPr>
            <a:spLocks noChangeArrowheads="1"/>
          </p:cNvSpPr>
          <p:nvPr/>
        </p:nvSpPr>
        <p:spPr bwMode="blackWhite">
          <a:xfrm>
            <a:off x="3403527" y="2979811"/>
            <a:ext cx="635000" cy="374650"/>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r>
              <a:rPr kumimoji="0" lang="en-US" altLang="en-US" sz="1500" b="1" i="0" u="none" strike="noStrike" kern="0" cap="none" spc="0" normalizeH="0" baseline="0" noProof="0">
                <a:ln>
                  <a:noFill/>
                </a:ln>
                <a:solidFill>
                  <a:srgbClr val="000000"/>
                </a:solidFill>
                <a:effectLst/>
                <a:uLnTx/>
                <a:uFillTx/>
                <a:latin typeface="Arial" panose="020B0604020202020204" pitchFamily="34" charset="0"/>
              </a:rPr>
              <a:t>LGWR</a:t>
            </a:r>
          </a:p>
        </p:txBody>
      </p:sp>
      <p:sp>
        <p:nvSpPr>
          <p:cNvPr id="86" name="Oval 41"/>
          <p:cNvSpPr>
            <a:spLocks noChangeArrowheads="1"/>
          </p:cNvSpPr>
          <p:nvPr/>
        </p:nvSpPr>
        <p:spPr bwMode="blackWhite">
          <a:xfrm>
            <a:off x="4829102" y="2979811"/>
            <a:ext cx="630237" cy="374650"/>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7" name="Rectangle 42"/>
          <p:cNvSpPr>
            <a:spLocks noChangeArrowheads="1"/>
          </p:cNvSpPr>
          <p:nvPr/>
        </p:nvSpPr>
        <p:spPr bwMode="blackWhite">
          <a:xfrm>
            <a:off x="2825677" y="1727274"/>
            <a:ext cx="1325562" cy="796925"/>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8" name="Rectangle 43"/>
          <p:cNvSpPr>
            <a:spLocks noChangeArrowheads="1"/>
          </p:cNvSpPr>
          <p:nvPr/>
        </p:nvSpPr>
        <p:spPr bwMode="blackWhite">
          <a:xfrm>
            <a:off x="2900289" y="2565474"/>
            <a:ext cx="1176338" cy="287337"/>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9" name="Rectangle 44"/>
          <p:cNvSpPr>
            <a:spLocks noChangeArrowheads="1"/>
          </p:cNvSpPr>
          <p:nvPr/>
        </p:nvSpPr>
        <p:spPr bwMode="blackWhite">
          <a:xfrm>
            <a:off x="4206802" y="2521024"/>
            <a:ext cx="1125537" cy="338137"/>
          </a:xfrm>
          <a:prstGeom prst="rect">
            <a:avLst/>
          </a:prstGeom>
          <a:solidFill>
            <a:srgbClr val="FF99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90" name="Freeform 45"/>
          <p:cNvSpPr>
            <a:spLocks/>
          </p:cNvSpPr>
          <p:nvPr/>
        </p:nvSpPr>
        <p:spPr bwMode="auto">
          <a:xfrm>
            <a:off x="2976489" y="2621036"/>
            <a:ext cx="1447800" cy="1295400"/>
          </a:xfrm>
          <a:custGeom>
            <a:avLst/>
            <a:gdLst>
              <a:gd name="T0" fmla="*/ 0 w 912"/>
              <a:gd name="T1" fmla="*/ 381000 h 816"/>
              <a:gd name="T2" fmla="*/ 0 w 912"/>
              <a:gd name="T3" fmla="*/ 0 h 816"/>
              <a:gd name="T4" fmla="*/ 1447800 w 912"/>
              <a:gd name="T5" fmla="*/ 0 h 816"/>
              <a:gd name="T6" fmla="*/ 1447800 w 912"/>
              <a:gd name="T7" fmla="*/ 1295400 h 8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12" h="816">
                <a:moveTo>
                  <a:pt x="0" y="240"/>
                </a:moveTo>
                <a:lnTo>
                  <a:pt x="0" y="0"/>
                </a:lnTo>
                <a:lnTo>
                  <a:pt x="912" y="0"/>
                </a:lnTo>
                <a:lnTo>
                  <a:pt x="912" y="816"/>
                </a:lnTo>
              </a:path>
            </a:pathLst>
          </a:custGeom>
          <a:noFill/>
          <a:ln w="25400" cap="flat" cmpd="sng">
            <a:solidFill>
              <a:srgbClr val="000000"/>
            </a:solidFill>
            <a:prstDash val="solid"/>
            <a:round/>
            <a:headEnd type="stealth"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91" name="Freeform 46"/>
          <p:cNvSpPr>
            <a:spLocks/>
          </p:cNvSpPr>
          <p:nvPr/>
        </p:nvSpPr>
        <p:spPr bwMode="auto">
          <a:xfrm>
            <a:off x="3398764" y="2703586"/>
            <a:ext cx="914400" cy="1219200"/>
          </a:xfrm>
          <a:custGeom>
            <a:avLst/>
            <a:gdLst>
              <a:gd name="T0" fmla="*/ 76200 w 576"/>
              <a:gd name="T1" fmla="*/ 304800 h 768"/>
              <a:gd name="T2" fmla="*/ 76200 w 576"/>
              <a:gd name="T3" fmla="*/ 0 h 768"/>
              <a:gd name="T4" fmla="*/ 914400 w 576"/>
              <a:gd name="T5" fmla="*/ 0 h 768"/>
              <a:gd name="T6" fmla="*/ 914400 w 576"/>
              <a:gd name="T7" fmla="*/ 838200 h 768"/>
              <a:gd name="T8" fmla="*/ 0 w 576"/>
              <a:gd name="T9" fmla="*/ 838200 h 768"/>
              <a:gd name="T10" fmla="*/ 0 w 576"/>
              <a:gd name="T11" fmla="*/ 1219200 h 76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6" h="768">
                <a:moveTo>
                  <a:pt x="48" y="192"/>
                </a:moveTo>
                <a:lnTo>
                  <a:pt x="48" y="0"/>
                </a:lnTo>
                <a:lnTo>
                  <a:pt x="576" y="0"/>
                </a:lnTo>
                <a:lnTo>
                  <a:pt x="576" y="528"/>
                </a:lnTo>
                <a:lnTo>
                  <a:pt x="0" y="528"/>
                </a:lnTo>
                <a:lnTo>
                  <a:pt x="0" y="768"/>
                </a:lnTo>
              </a:path>
            </a:pathLst>
          </a:custGeom>
          <a:noFill/>
          <a:ln w="25400" cap="flat" cmpd="sng">
            <a:solidFill>
              <a:srgbClr val="000000"/>
            </a:solidFill>
            <a:prstDash val="solid"/>
            <a:round/>
            <a:headEnd type="stealth"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92" name="Oval 47"/>
          <p:cNvSpPr>
            <a:spLocks noChangeArrowheads="1"/>
          </p:cNvSpPr>
          <p:nvPr/>
        </p:nvSpPr>
        <p:spPr bwMode="blackWhite">
          <a:xfrm>
            <a:off x="4114727" y="2979811"/>
            <a:ext cx="630237" cy="374650"/>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r>
              <a:rPr kumimoji="0" lang="en-US" altLang="en-US" sz="1500" b="1" i="0" u="none" strike="noStrike" kern="0" cap="none" spc="0" normalizeH="0" baseline="0" noProof="0">
                <a:ln>
                  <a:noFill/>
                </a:ln>
                <a:solidFill>
                  <a:srgbClr val="000000"/>
                </a:solidFill>
                <a:effectLst/>
                <a:uLnTx/>
                <a:uFillTx/>
                <a:latin typeface="Arial" panose="020B0604020202020204" pitchFamily="34" charset="0"/>
              </a:rPr>
              <a:t>CKPT</a:t>
            </a:r>
          </a:p>
        </p:txBody>
      </p:sp>
      <p:sp>
        <p:nvSpPr>
          <p:cNvPr id="3" name="Rectangle 2"/>
          <p:cNvSpPr/>
          <p:nvPr/>
        </p:nvSpPr>
        <p:spPr>
          <a:xfrm>
            <a:off x="5757880" y="1020379"/>
            <a:ext cx="6096000" cy="4832092"/>
          </a:xfrm>
          <a:prstGeom prst="rect">
            <a:avLst/>
          </a:prstGeom>
        </p:spPr>
        <p:txBody>
          <a:bodyPr>
            <a:spAutoFit/>
          </a:bodyPr>
          <a:lstStyle/>
          <a:p>
            <a:pPr marL="285750" indent="-285750" algn="just">
              <a:buFont typeface="Arial" panose="020B0604020202020204" pitchFamily="34" charset="0"/>
              <a:buChar char="•"/>
            </a:pPr>
            <a:r>
              <a:rPr lang="vi-VN" sz="2800">
                <a:solidFill>
                  <a:srgbClr val="333333"/>
                </a:solidFill>
                <a:latin typeface="Times New Roman" panose="02020603050405020304" pitchFamily="18" charset="0"/>
                <a:cs typeface="Times New Roman" panose="02020603050405020304" pitchFamily="18" charset="0"/>
              </a:rPr>
              <a:t>Process này </a:t>
            </a:r>
            <a:r>
              <a:rPr lang="vi-VN" sz="2800" b="1">
                <a:solidFill>
                  <a:srgbClr val="333333"/>
                </a:solidFill>
                <a:latin typeface="Times New Roman" panose="02020603050405020304" pitchFamily="18" charset="0"/>
                <a:cs typeface="Times New Roman" panose="02020603050405020304" pitchFamily="18" charset="0"/>
              </a:rPr>
              <a:t>cập nhật checkpoint (thông tin về System Change Number (SCN)) trong control file và data header</a:t>
            </a:r>
            <a:r>
              <a:rPr lang="vi-VN" sz="2800">
                <a:solidFill>
                  <a:srgbClr val="333333"/>
                </a:solidFill>
                <a:latin typeface="Times New Roman" panose="02020603050405020304" pitchFamily="18" charset="0"/>
                <a:cs typeface="Times New Roman" panose="02020603050405020304" pitchFamily="18" charset="0"/>
              </a:rPr>
              <a:t>. </a:t>
            </a:r>
            <a:endParaRPr lang="en-US" sz="2800">
              <a:solidFill>
                <a:srgbClr val="333333"/>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vi-VN" sz="2800">
                <a:solidFill>
                  <a:srgbClr val="333333"/>
                </a:solidFill>
                <a:latin typeface="Times New Roman" panose="02020603050405020304" pitchFamily="18" charset="0"/>
                <a:cs typeface="Times New Roman" panose="02020603050405020304" pitchFamily="18" charset="0"/>
              </a:rPr>
              <a:t>CKPT cập nhật checkpoint khi redo log đầy, hoặc trước khi DBW ghi dữ liệu, để đánh dấu vị trí cần khôi phục khi instance crash (đảm bảo tất cả dữ liệu trước SCN đó đã ghi vào disk, đánh dấu điểm thực hiện quá trình instance recovery). </a:t>
            </a: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2995708"/>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altLang="en-US">
                <a:latin typeface="Arial"/>
              </a:rPr>
              <a:t>3.6. Archiver (ARCn)</a:t>
            </a:r>
            <a:endParaRPr lang="vi-VN"/>
          </a:p>
        </p:txBody>
      </p:sp>
      <p:sp>
        <p:nvSpPr>
          <p:cNvPr id="43" name="Rectangle 3"/>
          <p:cNvSpPr txBox="1">
            <a:spLocks noChangeArrowheads="1"/>
          </p:cNvSpPr>
          <p:nvPr/>
        </p:nvSpPr>
        <p:spPr bwMode="auto">
          <a:xfrm>
            <a:off x="1299698" y="1436272"/>
            <a:ext cx="8829039" cy="1650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 tIns="12700" rIns="12700" bIns="12700" numCol="1" anchor="t" anchorCtr="0" compatLnSpc="1">
            <a:prstTxWarp prst="textNoShape">
              <a:avLst/>
            </a:prstTxWarp>
            <a:spAutoFit/>
          </a:bodyPr>
          <a:lstStyle>
            <a:lvl1pPr algn="l" defTabSz="228600" rtl="0" eaLnBrk="0" fontAlgn="base" hangingPunct="0">
              <a:spcBef>
                <a:spcPct val="20000"/>
              </a:spcBef>
              <a:spcAft>
                <a:spcPct val="0"/>
              </a:spcAft>
              <a:buClr>
                <a:srgbClr val="000000"/>
              </a:buClr>
              <a:buFont typeface="Arial" panose="020B0604020202020204" pitchFamily="34" charset="0"/>
              <a:tabLst>
                <a:tab pos="457200" algn="l"/>
                <a:tab pos="742950" algn="l"/>
              </a:tabLst>
              <a:defRPr sz="2200" b="1" kern="1200">
                <a:solidFill>
                  <a:schemeClr val="tx1"/>
                </a:solidFill>
                <a:latin typeface="+mn-lt"/>
                <a:ea typeface="+mn-ea"/>
                <a:cs typeface="+mn-cs"/>
              </a:defRPr>
            </a:lvl1pPr>
            <a:lvl2pPr marL="342900" indent="-228600" algn="l" defTabSz="228600" rtl="0" eaLnBrk="0" fontAlgn="base" hangingPunct="0">
              <a:spcBef>
                <a:spcPct val="20000"/>
              </a:spcBef>
              <a:spcAft>
                <a:spcPct val="0"/>
              </a:spcAft>
              <a:buClr>
                <a:srgbClr val="FF0000"/>
              </a:buClr>
              <a:buFont typeface="Arial" panose="020B0604020202020204" pitchFamily="34" charset="0"/>
              <a:buChar char="•"/>
              <a:tabLst>
                <a:tab pos="457200" algn="l"/>
                <a:tab pos="742950" algn="l"/>
              </a:tabLst>
              <a:defRPr sz="2200" b="1" kern="1200">
                <a:solidFill>
                  <a:schemeClr val="tx1"/>
                </a:solidFill>
                <a:latin typeface="+mn-lt"/>
                <a:ea typeface="+mn-ea"/>
                <a:cs typeface="+mn-cs"/>
              </a:defRPr>
            </a:lvl2pPr>
            <a:lvl3pPr marL="685800" indent="-228600" algn="l" defTabSz="228600" rtl="0" eaLnBrk="0" fontAlgn="base" hangingPunct="0">
              <a:spcBef>
                <a:spcPct val="20000"/>
              </a:spcBef>
              <a:spcAft>
                <a:spcPct val="0"/>
              </a:spcAft>
              <a:buClr>
                <a:srgbClr val="FF0000"/>
              </a:buClr>
              <a:buFont typeface="Arial" panose="020B0604020202020204" pitchFamily="34" charset="0"/>
              <a:buChar char="–"/>
              <a:tabLst>
                <a:tab pos="457200" algn="l"/>
                <a:tab pos="742950" algn="l"/>
              </a:tabLst>
              <a:defRPr sz="2000" b="1" kern="1200">
                <a:solidFill>
                  <a:schemeClr val="tx1"/>
                </a:solidFill>
                <a:latin typeface="+mn-lt"/>
                <a:ea typeface="+mn-ea"/>
                <a:cs typeface="+mn-cs"/>
              </a:defRPr>
            </a:lvl3pPr>
            <a:lvl4pPr marL="914400" algn="l" defTabSz="228600" rtl="0" eaLnBrk="0" fontAlgn="base" hangingPunct="0">
              <a:spcBef>
                <a:spcPct val="20000"/>
              </a:spcBef>
              <a:spcAft>
                <a:spcPct val="0"/>
              </a:spcAft>
              <a:buClr>
                <a:srgbClr val="000000"/>
              </a:buClr>
              <a:buFont typeface="Arial" panose="020B0604020202020204" pitchFamily="34" charset="0"/>
              <a:tabLst>
                <a:tab pos="457200" algn="l"/>
                <a:tab pos="742950" algn="l"/>
              </a:tabLst>
              <a:defRPr sz="2000" b="1" kern="1200">
                <a:solidFill>
                  <a:srgbClr val="FF0000"/>
                </a:solidFill>
                <a:latin typeface="+mn-lt"/>
                <a:ea typeface="+mn-ea"/>
                <a:cs typeface="+mn-cs"/>
              </a:defRPr>
            </a:lvl4pPr>
            <a:lvl5pPr marL="1143000" algn="l" defTabSz="228600" rtl="0" eaLnBrk="0" fontAlgn="base" hangingPunct="0">
              <a:spcBef>
                <a:spcPct val="20000"/>
              </a:spcBef>
              <a:spcAft>
                <a:spcPct val="0"/>
              </a:spcAft>
              <a:buClr>
                <a:srgbClr val="000000"/>
              </a:buClr>
              <a:buFont typeface="Arial" panose="020B0604020202020204" pitchFamily="34" charset="0"/>
              <a:tabLst>
                <a:tab pos="457200" algn="l"/>
                <a:tab pos="742950" algn="l"/>
              </a:tabLst>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1" indent="-228600" algn="l" defTabSz="228600" rtl="0" eaLnBrk="1" fontAlgn="base" latinLnBrk="0" hangingPunct="1">
              <a:lnSpc>
                <a:spcPct val="100000"/>
              </a:lnSpc>
              <a:spcBef>
                <a:spcPct val="20000"/>
              </a:spcBef>
              <a:spcAft>
                <a:spcPct val="0"/>
              </a:spcAft>
              <a:buClr>
                <a:srgbClr val="FF0000"/>
              </a:buClr>
              <a:buSzTx/>
              <a:buFont typeface="Arial" panose="020B0604020202020204" pitchFamily="34" charset="0"/>
              <a:buChar char="•"/>
              <a:tabLst>
                <a:tab pos="457200" algn="l"/>
                <a:tab pos="742950" algn="l"/>
              </a:tabLst>
              <a:defRPr/>
            </a:pPr>
            <a:r>
              <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rPr>
              <a:t>Là một background process lựa chọn.</a:t>
            </a:r>
          </a:p>
          <a:p>
            <a:pPr marL="342900" marR="0" lvl="1" indent="-228600" algn="l" defTabSz="228600" rtl="0" eaLnBrk="1" fontAlgn="base" latinLnBrk="0" hangingPunct="1">
              <a:lnSpc>
                <a:spcPct val="100000"/>
              </a:lnSpc>
              <a:spcBef>
                <a:spcPct val="20000"/>
              </a:spcBef>
              <a:spcAft>
                <a:spcPct val="0"/>
              </a:spcAft>
              <a:buClr>
                <a:srgbClr val="FF0000"/>
              </a:buClr>
              <a:buSzTx/>
              <a:buFont typeface="Arial" panose="020B0604020202020204" pitchFamily="34" charset="0"/>
              <a:buChar char="•"/>
              <a:tabLst>
                <a:tab pos="457200" algn="l"/>
                <a:tab pos="742950" algn="l"/>
              </a:tabLst>
              <a:defRPr/>
            </a:pPr>
            <a:r>
              <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rPr>
              <a:t>Lưu lại một cách tự động các online redo log file khi đặt ở chế độ ARCHIVELOG.</a:t>
            </a:r>
          </a:p>
          <a:p>
            <a:pPr marL="342900" marR="0" lvl="1" indent="-228600" algn="l" defTabSz="228600" rtl="0" eaLnBrk="1" fontAlgn="base" latinLnBrk="0" hangingPunct="1">
              <a:lnSpc>
                <a:spcPct val="100000"/>
              </a:lnSpc>
              <a:spcBef>
                <a:spcPct val="20000"/>
              </a:spcBef>
              <a:spcAft>
                <a:spcPct val="0"/>
              </a:spcAft>
              <a:buClr>
                <a:srgbClr val="FF0000"/>
              </a:buClr>
              <a:buSzTx/>
              <a:buFont typeface="Arial" panose="020B0604020202020204" pitchFamily="34" charset="0"/>
              <a:buChar char="•"/>
              <a:tabLst>
                <a:tab pos="457200" algn="l"/>
                <a:tab pos="742950" algn="l"/>
              </a:tabLst>
              <a:defRPr/>
            </a:pPr>
            <a:r>
              <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rPr>
              <a:t>Lưu giữ ghi nhận tất cả những thay đổi đối với CSDL.</a:t>
            </a:r>
          </a:p>
        </p:txBody>
      </p:sp>
      <p:sp>
        <p:nvSpPr>
          <p:cNvPr id="44" name="Line 4"/>
          <p:cNvSpPr>
            <a:spLocks noChangeShapeType="1"/>
          </p:cNvSpPr>
          <p:nvPr/>
        </p:nvSpPr>
        <p:spPr bwMode="auto">
          <a:xfrm rot="16200000" flipV="1">
            <a:off x="5798674" y="3741322"/>
            <a:ext cx="0" cy="1079500"/>
          </a:xfrm>
          <a:prstGeom prst="line">
            <a:avLst/>
          </a:prstGeom>
          <a:noFill/>
          <a:ln w="28575">
            <a:solidFill>
              <a:srgbClr val="000000"/>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 name="Rectangle 5"/>
          <p:cNvSpPr>
            <a:spLocks noChangeArrowheads="1"/>
          </p:cNvSpPr>
          <p:nvPr/>
        </p:nvSpPr>
        <p:spPr bwMode="auto">
          <a:xfrm>
            <a:off x="5398624" y="3879435"/>
            <a:ext cx="8588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l" defTabSz="914400" eaLnBrk="0" fontAlgn="base" latinLnBrk="0" hangingPunct="0">
              <a:lnSpc>
                <a:spcPct val="100000"/>
              </a:lnSpc>
              <a:spcBef>
                <a:spcPct val="5000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ARCn</a:t>
            </a:r>
          </a:p>
        </p:txBody>
      </p:sp>
      <p:grpSp>
        <p:nvGrpSpPr>
          <p:cNvPr id="46" name="Group 6"/>
          <p:cNvGrpSpPr>
            <a:grpSpLocks/>
          </p:cNvGrpSpPr>
          <p:nvPr/>
        </p:nvGrpSpPr>
        <p:grpSpPr bwMode="auto">
          <a:xfrm>
            <a:off x="6354299" y="3973097"/>
            <a:ext cx="1143000" cy="1171575"/>
            <a:chOff x="3744" y="2742"/>
            <a:chExt cx="720" cy="738"/>
          </a:xfrm>
        </p:grpSpPr>
        <p:grpSp>
          <p:nvGrpSpPr>
            <p:cNvPr id="47" name="Group 7"/>
            <p:cNvGrpSpPr>
              <a:grpSpLocks/>
            </p:cNvGrpSpPr>
            <p:nvPr/>
          </p:nvGrpSpPr>
          <p:grpSpPr bwMode="auto">
            <a:xfrm>
              <a:off x="3744" y="3068"/>
              <a:ext cx="720" cy="412"/>
              <a:chOff x="1070" y="1910"/>
              <a:chExt cx="532" cy="412"/>
            </a:xfrm>
          </p:grpSpPr>
          <p:sp>
            <p:nvSpPr>
              <p:cNvPr id="52" name="Rectangle 8"/>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3" name="Oval 9"/>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4" name="Oval 10"/>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48" name="Group 11"/>
            <p:cNvGrpSpPr>
              <a:grpSpLocks/>
            </p:cNvGrpSpPr>
            <p:nvPr/>
          </p:nvGrpSpPr>
          <p:grpSpPr bwMode="auto">
            <a:xfrm>
              <a:off x="3744" y="2742"/>
              <a:ext cx="720" cy="412"/>
              <a:chOff x="1070" y="1910"/>
              <a:chExt cx="532" cy="412"/>
            </a:xfrm>
          </p:grpSpPr>
          <p:sp>
            <p:nvSpPr>
              <p:cNvPr id="49" name="Rectangle 12"/>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0" name="Oval 13"/>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1" name="Oval 14"/>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grpSp>
      <p:sp>
        <p:nvSpPr>
          <p:cNvPr id="55" name="Rectangle 15"/>
          <p:cNvSpPr>
            <a:spLocks noChangeArrowheads="1"/>
          </p:cNvSpPr>
          <p:nvPr/>
        </p:nvSpPr>
        <p:spPr bwMode="auto">
          <a:xfrm>
            <a:off x="6295562" y="3996910"/>
            <a:ext cx="1295400" cy="68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188" tIns="52388" rIns="103188" bIns="52388">
            <a:spAutoFit/>
          </a:bodyPr>
          <a:lstStyle>
            <a:lvl1pPr defTabSz="104140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61963" indent="-228600" defTabSz="104140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925513" indent="-228600" defTabSz="10414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04140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04140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1041400" eaLnBrk="0" fontAlgn="base" latinLnBrk="0" hangingPunct="0">
              <a:lnSpc>
                <a:spcPct val="70000"/>
              </a:lnSpc>
              <a:spcBef>
                <a:spcPct val="5000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Archived redo log files</a:t>
            </a:r>
          </a:p>
        </p:txBody>
      </p:sp>
      <p:grpSp>
        <p:nvGrpSpPr>
          <p:cNvPr id="56" name="Group 16"/>
          <p:cNvGrpSpPr>
            <a:grpSpLocks/>
          </p:cNvGrpSpPr>
          <p:nvPr/>
        </p:nvGrpSpPr>
        <p:grpSpPr bwMode="auto">
          <a:xfrm>
            <a:off x="1972799" y="3785772"/>
            <a:ext cx="3289300" cy="1550988"/>
            <a:chOff x="952" y="2616"/>
            <a:chExt cx="2072" cy="977"/>
          </a:xfrm>
        </p:grpSpPr>
        <p:sp>
          <p:nvSpPr>
            <p:cNvPr id="57" name="Rectangle 17"/>
            <p:cNvSpPr>
              <a:spLocks noChangeArrowheads="1"/>
            </p:cNvSpPr>
            <p:nvPr/>
          </p:nvSpPr>
          <p:spPr bwMode="blackWhite">
            <a:xfrm>
              <a:off x="952" y="2616"/>
              <a:ext cx="2072" cy="977"/>
            </a:xfrm>
            <a:prstGeom prst="rect">
              <a:avLst/>
            </a:prstGeom>
            <a:solidFill>
              <a:srgbClr val="FFCC33"/>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11163" indent="-228600" defTabSz="822325">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822325" indent="-228600" defTabSz="822325">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822325">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822325">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822325" eaLnBrk="0" fontAlgn="base" latinLnBrk="0" hangingPunct="0">
                <a:lnSpc>
                  <a:spcPct val="95000"/>
                </a:lnSpc>
                <a:spcBef>
                  <a:spcPct val="0"/>
                </a:spcBef>
                <a:spcAft>
                  <a:spcPct val="0"/>
                </a:spcAft>
                <a:buClrTx/>
                <a:buSzTx/>
                <a:buFontTx/>
                <a:buNone/>
                <a:tabLst/>
                <a:defRPr/>
              </a:pPr>
              <a:endParaRPr kumimoji="0" lang="en-US" altLang="en-US" sz="18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58" name="Group 18"/>
            <p:cNvGrpSpPr>
              <a:grpSpLocks/>
            </p:cNvGrpSpPr>
            <p:nvPr/>
          </p:nvGrpSpPr>
          <p:grpSpPr bwMode="auto">
            <a:xfrm>
              <a:off x="1757" y="2646"/>
              <a:ext cx="575" cy="412"/>
              <a:chOff x="1070" y="1910"/>
              <a:chExt cx="532" cy="412"/>
            </a:xfrm>
          </p:grpSpPr>
          <p:sp>
            <p:nvSpPr>
              <p:cNvPr id="78" name="Rectangle 19"/>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9" name="Oval 20"/>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80" name="Oval 21"/>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59" name="Group 22"/>
            <p:cNvGrpSpPr>
              <a:grpSpLocks/>
            </p:cNvGrpSpPr>
            <p:nvPr/>
          </p:nvGrpSpPr>
          <p:grpSpPr bwMode="auto">
            <a:xfrm>
              <a:off x="1048" y="2989"/>
              <a:ext cx="624" cy="412"/>
              <a:chOff x="1070" y="1910"/>
              <a:chExt cx="532" cy="412"/>
            </a:xfrm>
          </p:grpSpPr>
          <p:sp>
            <p:nvSpPr>
              <p:cNvPr id="75" name="Rectangle 23"/>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6" name="Oval 24"/>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7" name="Oval 25"/>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60" name="Group 26"/>
            <p:cNvGrpSpPr>
              <a:grpSpLocks/>
            </p:cNvGrpSpPr>
            <p:nvPr/>
          </p:nvGrpSpPr>
          <p:grpSpPr bwMode="auto">
            <a:xfrm>
              <a:off x="1049" y="2646"/>
              <a:ext cx="623" cy="412"/>
              <a:chOff x="1070" y="1910"/>
              <a:chExt cx="532" cy="412"/>
            </a:xfrm>
          </p:grpSpPr>
          <p:sp>
            <p:nvSpPr>
              <p:cNvPr id="72" name="Rectangle 27"/>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3" name="Oval 28"/>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4" name="Oval 29"/>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61" name="Rectangle 30"/>
            <p:cNvSpPr>
              <a:spLocks noChangeArrowheads="1"/>
            </p:cNvSpPr>
            <p:nvPr/>
          </p:nvSpPr>
          <p:spPr bwMode="auto">
            <a:xfrm>
              <a:off x="1676" y="2775"/>
              <a:ext cx="737"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188" tIns="52388" rIns="103188" bIns="52388">
              <a:spAutoFit/>
            </a:bodyPr>
            <a:lstStyle>
              <a:lvl1pPr defTabSz="104140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61963" indent="-228600" defTabSz="104140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925513" indent="-228600" defTabSz="10414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04140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04140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1041400" eaLnBrk="0" fontAlgn="base" latinLnBrk="0" hangingPunct="0">
                <a:lnSpc>
                  <a:spcPct val="70000"/>
                </a:lnSpc>
                <a:spcBef>
                  <a:spcPct val="5000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Control files</a:t>
              </a:r>
            </a:p>
          </p:txBody>
        </p:sp>
        <p:sp>
          <p:nvSpPr>
            <p:cNvPr id="62" name="Rectangle 31"/>
            <p:cNvSpPr>
              <a:spLocks noChangeArrowheads="1"/>
            </p:cNvSpPr>
            <p:nvPr/>
          </p:nvSpPr>
          <p:spPr bwMode="auto">
            <a:xfrm>
              <a:off x="976" y="2799"/>
              <a:ext cx="768" cy="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188" tIns="52388" rIns="103188" bIns="52388">
              <a:spAutoFit/>
            </a:bodyPr>
            <a:lstStyle>
              <a:lvl1pPr defTabSz="104140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61963" indent="-228600" defTabSz="104140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925513" indent="-228600" defTabSz="10414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04140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04140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1041400" eaLnBrk="0" fontAlgn="base" latinLnBrk="0" hangingPunct="0">
                <a:lnSpc>
                  <a:spcPct val="70000"/>
                </a:lnSpc>
                <a:spcBef>
                  <a:spcPct val="5000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Data</a:t>
              </a:r>
            </a:p>
            <a:p>
              <a:pPr marL="0" marR="0" lvl="0" indent="0" algn="ctr" defTabSz="1041400" eaLnBrk="0" fontAlgn="base" latinLnBrk="0" hangingPunct="0">
                <a:lnSpc>
                  <a:spcPct val="70000"/>
                </a:lnSpc>
                <a:spcBef>
                  <a:spcPct val="5000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files </a:t>
              </a:r>
            </a:p>
          </p:txBody>
        </p:sp>
        <p:grpSp>
          <p:nvGrpSpPr>
            <p:cNvPr id="63" name="Group 32"/>
            <p:cNvGrpSpPr>
              <a:grpSpLocks/>
            </p:cNvGrpSpPr>
            <p:nvPr/>
          </p:nvGrpSpPr>
          <p:grpSpPr bwMode="auto">
            <a:xfrm>
              <a:off x="2404" y="2990"/>
              <a:ext cx="575" cy="412"/>
              <a:chOff x="1070" y="1910"/>
              <a:chExt cx="532" cy="412"/>
            </a:xfrm>
          </p:grpSpPr>
          <p:sp>
            <p:nvSpPr>
              <p:cNvPr id="69" name="Rectangle 33"/>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0" name="Oval 34"/>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71" name="Oval 35"/>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64" name="Group 36"/>
            <p:cNvGrpSpPr>
              <a:grpSpLocks/>
            </p:cNvGrpSpPr>
            <p:nvPr/>
          </p:nvGrpSpPr>
          <p:grpSpPr bwMode="auto">
            <a:xfrm>
              <a:off x="2404" y="2664"/>
              <a:ext cx="575" cy="412"/>
              <a:chOff x="1070" y="1910"/>
              <a:chExt cx="532" cy="412"/>
            </a:xfrm>
          </p:grpSpPr>
          <p:sp>
            <p:nvSpPr>
              <p:cNvPr id="66" name="Rectangle 37"/>
              <p:cNvSpPr>
                <a:spLocks noChangeArrowheads="1"/>
              </p:cNvSpPr>
              <p:nvPr/>
            </p:nvSpPr>
            <p:spPr bwMode="ltGray">
              <a:xfrm>
                <a:off x="1070" y="1994"/>
                <a:ext cx="532" cy="246"/>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7" name="Oval 38"/>
              <p:cNvSpPr>
                <a:spLocks noChangeArrowheads="1"/>
              </p:cNvSpPr>
              <p:nvPr/>
            </p:nvSpPr>
            <p:spPr bwMode="ltGray">
              <a:xfrm>
                <a:off x="1070" y="1910"/>
                <a:ext cx="532" cy="158"/>
              </a:xfrm>
              <a:prstGeom prst="ellipse">
                <a:avLst/>
              </a:prstGeom>
              <a:solidFill>
                <a:srgbClr val="CC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68" name="Oval 39"/>
              <p:cNvSpPr>
                <a:spLocks noChangeArrowheads="1"/>
              </p:cNvSpPr>
              <p:nvPr/>
            </p:nvSpPr>
            <p:spPr bwMode="ltGray">
              <a:xfrm>
                <a:off x="1070" y="2164"/>
                <a:ext cx="532" cy="158"/>
              </a:xfrm>
              <a:prstGeom prst="ellipse">
                <a:avLst/>
              </a:prstGeom>
              <a:solidFill>
                <a:srgbClr val="96969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buClr>
                    <a:srgbClr val="000000"/>
                  </a:buClr>
                  <a:buFont typeface="Arial" panose="020B0604020202020204" pitchFamily="34" charset="0"/>
                  <a:defRPr b="1">
                    <a:solidFill>
                      <a:schemeClr val="tx1"/>
                    </a:solidFill>
                    <a:latin typeface="Arial" panose="020B0604020202020204" pitchFamily="34" charset="0"/>
                  </a:defRPr>
                </a:lvl1pPr>
                <a:lvl2pPr marL="742950" indent="-285750" algn="ctr">
                  <a:buClr>
                    <a:srgbClr val="000000"/>
                  </a:buClr>
                  <a:buFont typeface="Arial" panose="020B0604020202020204" pitchFamily="34" charset="0"/>
                  <a:defRPr b="1">
                    <a:solidFill>
                      <a:schemeClr val="tx1"/>
                    </a:solidFill>
                    <a:latin typeface="Arial" panose="020B0604020202020204" pitchFamily="34" charset="0"/>
                  </a:defRPr>
                </a:lvl2pPr>
                <a:lvl3pPr marL="1143000" indent="-228600" algn="ctr">
                  <a:buClr>
                    <a:srgbClr val="000000"/>
                  </a:buClr>
                  <a:buFont typeface="Arial" panose="020B0604020202020204" pitchFamily="34" charset="0"/>
                  <a:defRPr b="1">
                    <a:solidFill>
                      <a:schemeClr val="tx1"/>
                    </a:solidFill>
                    <a:latin typeface="Arial" panose="020B0604020202020204" pitchFamily="34" charset="0"/>
                  </a:defRPr>
                </a:lvl3pPr>
                <a:lvl4pPr marL="1600200" indent="-228600" algn="ctr">
                  <a:buClr>
                    <a:srgbClr val="000000"/>
                  </a:buClr>
                  <a:buFont typeface="Arial" panose="020B0604020202020204" pitchFamily="34" charset="0"/>
                  <a:defRPr b="1">
                    <a:solidFill>
                      <a:schemeClr val="tx1"/>
                    </a:solidFill>
                    <a:latin typeface="Arial" panose="020B0604020202020204" pitchFamily="34" charset="0"/>
                  </a:defRPr>
                </a:lvl4pPr>
                <a:lvl5pPr marL="2057400" indent="-228600" algn="ctr">
                  <a:buClr>
                    <a:srgbClr val="000000"/>
                  </a:buClr>
                  <a:buFont typeface="Arial" panose="020B0604020202020204" pitchFamily="34" charset="0"/>
                  <a:defRPr b="1">
                    <a:solidFill>
                      <a:schemeClr val="tx1"/>
                    </a:solidFill>
                    <a:latin typeface="Arial" panose="020B0604020202020204" pitchFamily="34" charset="0"/>
                  </a:defRPr>
                </a:lvl5pPr>
                <a:lvl6pPr marL="25146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6pPr>
                <a:lvl7pPr marL="29718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7pPr>
                <a:lvl8pPr marL="34290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8pPr>
                <a:lvl9pPr marL="3886200" indent="-228600" algn="ctr" eaLnBrk="0" fontAlgn="base" hangingPunct="0">
                  <a:spcBef>
                    <a:spcPct val="0"/>
                  </a:spcBef>
                  <a:spcAft>
                    <a:spcPct val="0"/>
                  </a:spcAft>
                  <a:buClr>
                    <a:srgbClr val="000000"/>
                  </a:buClr>
                  <a:buFont typeface="Arial" panose="020B0604020202020204" pitchFamily="34" charset="0"/>
                  <a:defRPr b="1">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endParaRPr kumimoji="0" lang="vi-VN" sz="1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65" name="Rectangle 40"/>
            <p:cNvSpPr>
              <a:spLocks noChangeArrowheads="1"/>
            </p:cNvSpPr>
            <p:nvPr/>
          </p:nvSpPr>
          <p:spPr bwMode="auto">
            <a:xfrm>
              <a:off x="2363" y="2664"/>
              <a:ext cx="657" cy="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188" tIns="52388" rIns="103188" bIns="52388">
              <a:spAutoFit/>
            </a:bodyPr>
            <a:lstStyle>
              <a:lvl1pPr defTabSz="1041400">
                <a:spcBef>
                  <a:spcPct val="20000"/>
                </a:spcBef>
                <a:buClr>
                  <a:srgbClr val="000000"/>
                </a:buClr>
                <a:buFont typeface="Arial" panose="020B0604020202020204" pitchFamily="34" charset="0"/>
                <a:defRPr sz="2200" b="1">
                  <a:solidFill>
                    <a:schemeClr val="tx1"/>
                  </a:solidFill>
                  <a:latin typeface="Arial" panose="020B0604020202020204" pitchFamily="34" charset="0"/>
                </a:defRPr>
              </a:lvl1pPr>
              <a:lvl2pPr marL="461963" indent="-228600" defTabSz="104140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925513" indent="-228600" defTabSz="10414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defTabSz="1041400">
                <a:spcBef>
                  <a:spcPct val="20000"/>
                </a:spcBef>
                <a:buClr>
                  <a:srgbClr val="000000"/>
                </a:buClr>
                <a:buFont typeface="Arial" panose="020B0604020202020204" pitchFamily="34" charset="0"/>
                <a:defRPr sz="2000" b="1">
                  <a:solidFill>
                    <a:srgbClr val="FF0000"/>
                  </a:solidFill>
                  <a:latin typeface="Arial" panose="020B0604020202020204" pitchFamily="34" charset="0"/>
                </a:defRPr>
              </a:lvl4pPr>
              <a:lvl5pPr marL="2057400" indent="-228600" defTabSz="1041400">
                <a:spcBef>
                  <a:spcPct val="20000"/>
                </a:spcBef>
                <a:buClr>
                  <a:srgbClr val="000000"/>
                </a:buClr>
                <a:buFont typeface="Arial" panose="020B0604020202020204" pitchFamily="34" charset="0"/>
                <a:defRPr sz="2000" b="1">
                  <a:solidFill>
                    <a:schemeClr val="tx1"/>
                  </a:solidFill>
                  <a:latin typeface="Arial" panose="020B0604020202020204" pitchFamily="34" charset="0"/>
                </a:defRPr>
              </a:lvl5pPr>
              <a:lvl6pPr marL="25146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6pPr>
              <a:lvl7pPr marL="29718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7pPr>
              <a:lvl8pPr marL="34290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8pPr>
              <a:lvl9pPr marL="3886200" indent="-228600" defTabSz="1041400" eaLnBrk="0" fontAlgn="base" hangingPunct="0">
                <a:spcBef>
                  <a:spcPct val="20000"/>
                </a:spcBef>
                <a:spcAft>
                  <a:spcPct val="0"/>
                </a:spcAft>
                <a:buClr>
                  <a:srgbClr val="000000"/>
                </a:buClr>
                <a:buFont typeface="Arial" panose="020B0604020202020204" pitchFamily="34" charset="0"/>
                <a:defRPr sz="2000" b="1">
                  <a:solidFill>
                    <a:schemeClr val="tx1"/>
                  </a:solidFill>
                  <a:latin typeface="Arial" panose="020B0604020202020204" pitchFamily="34" charset="0"/>
                </a:defRPr>
              </a:lvl9pPr>
            </a:lstStyle>
            <a:p>
              <a:pPr marL="0" marR="0" lvl="0" indent="0" algn="ctr" defTabSz="1041400" eaLnBrk="0" fontAlgn="base" latinLnBrk="0" hangingPunct="0">
                <a:lnSpc>
                  <a:spcPct val="70000"/>
                </a:lnSpc>
                <a:spcBef>
                  <a:spcPct val="50000"/>
                </a:spcBef>
                <a:spcAft>
                  <a:spcPct val="0"/>
                </a:spcAft>
                <a:buClrTx/>
                <a:buSzTx/>
                <a:buFontTx/>
                <a:buNone/>
                <a:tabLst/>
                <a:defRPr/>
              </a:pPr>
              <a:r>
                <a:rPr kumimoji="0" lang="en-US" altLang="en-US" sz="1800" b="1" i="0" u="none" strike="noStrike" kern="0" cap="none" spc="0" normalizeH="0" baseline="0" noProof="0">
                  <a:ln>
                    <a:noFill/>
                  </a:ln>
                  <a:solidFill>
                    <a:srgbClr val="000000"/>
                  </a:solidFill>
                  <a:effectLst/>
                  <a:uLnTx/>
                  <a:uFillTx/>
                  <a:latin typeface="Arial" panose="020B0604020202020204" pitchFamily="34" charset="0"/>
                </a:rPr>
                <a:t>Redo log files</a:t>
              </a:r>
            </a:p>
          </p:txBody>
        </p:sp>
      </p:grpSp>
    </p:spTree>
    <p:extLst>
      <p:ext uri="{BB962C8B-B14F-4D97-AF65-F5344CB8AC3E}">
        <p14:creationId xmlns:p14="http://schemas.microsoft.com/office/powerpoint/2010/main" val="536569732"/>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defTabSz="685983" fontAlgn="base">
              <a:spcAft>
                <a:spcPct val="0"/>
              </a:spcAft>
              <a:defRPr/>
            </a:pPr>
            <a:r>
              <a:rPr lang="en-US"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 CÁC MÔ HÌNH KẾT NỐI ĐẾN ORACLE SERVER</a:t>
            </a:r>
          </a:p>
        </p:txBody>
      </p:sp>
      <p:sp>
        <p:nvSpPr>
          <p:cNvPr id="27" name="Rectangle 26"/>
          <p:cNvSpPr>
            <a:spLocks noChangeArrowheads="1"/>
          </p:cNvSpPr>
          <p:nvPr/>
        </p:nvSpPr>
        <p:spPr bwMode="auto">
          <a:xfrm>
            <a:off x="4061308" y="3298099"/>
            <a:ext cx="2076450" cy="23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a:lnSpc>
                <a:spcPct val="50000"/>
              </a:lnSpc>
              <a:spcBef>
                <a:spcPct val="50000"/>
              </a:spcBef>
              <a:buClrTx/>
              <a:buFontTx/>
              <a:buNone/>
            </a:pPr>
            <a:endParaRPr lang="en-US" altLang="en-US"/>
          </a:p>
        </p:txBody>
      </p:sp>
      <p:sp>
        <p:nvSpPr>
          <p:cNvPr id="28" name="Rectangle 27"/>
          <p:cNvSpPr>
            <a:spLocks noChangeArrowheads="1"/>
          </p:cNvSpPr>
          <p:nvPr/>
        </p:nvSpPr>
        <p:spPr bwMode="auto">
          <a:xfrm>
            <a:off x="7768121" y="3717199"/>
            <a:ext cx="2209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a:spcBef>
                <a:spcPct val="50000"/>
              </a:spcBef>
              <a:buClrTx/>
              <a:buFontTx/>
              <a:buNone/>
            </a:pPr>
            <a:r>
              <a:rPr lang="en-US" altLang="en-US"/>
              <a:t>Session created</a:t>
            </a:r>
          </a:p>
        </p:txBody>
      </p:sp>
      <p:sp>
        <p:nvSpPr>
          <p:cNvPr id="29" name="Rectangle 28"/>
          <p:cNvSpPr>
            <a:spLocks noChangeArrowheads="1"/>
          </p:cNvSpPr>
          <p:nvPr/>
        </p:nvSpPr>
        <p:spPr bwMode="auto">
          <a:xfrm>
            <a:off x="3351696" y="5926999"/>
            <a:ext cx="26638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a:spcBef>
                <a:spcPct val="50000"/>
              </a:spcBef>
              <a:buClrTx/>
              <a:buFontTx/>
              <a:buNone/>
            </a:pPr>
            <a:r>
              <a:rPr lang="en-US" altLang="en-US"/>
              <a:t>Database user</a:t>
            </a:r>
          </a:p>
        </p:txBody>
      </p:sp>
      <p:grpSp>
        <p:nvGrpSpPr>
          <p:cNvPr id="30" name="Group 29"/>
          <p:cNvGrpSpPr>
            <a:grpSpLocks/>
          </p:cNvGrpSpPr>
          <p:nvPr/>
        </p:nvGrpSpPr>
        <p:grpSpPr bwMode="auto">
          <a:xfrm>
            <a:off x="3953356" y="4836405"/>
            <a:ext cx="1460498" cy="1114431"/>
            <a:chOff x="1027" y="2544"/>
            <a:chExt cx="1066" cy="813"/>
          </a:xfrm>
        </p:grpSpPr>
        <p:sp>
          <p:nvSpPr>
            <p:cNvPr id="245" name="Freeform 244"/>
            <p:cNvSpPr>
              <a:spLocks/>
            </p:cNvSpPr>
            <p:nvPr/>
          </p:nvSpPr>
          <p:spPr bwMode="auto">
            <a:xfrm>
              <a:off x="1917" y="3160"/>
              <a:ext cx="174" cy="71"/>
            </a:xfrm>
            <a:custGeom>
              <a:avLst/>
              <a:gdLst>
                <a:gd name="T0" fmla="*/ 165 w 174"/>
                <a:gd name="T1" fmla="*/ 13 h 71"/>
                <a:gd name="T2" fmla="*/ 56 w 174"/>
                <a:gd name="T3" fmla="*/ 0 h 71"/>
                <a:gd name="T4" fmla="*/ 1 w 174"/>
                <a:gd name="T5" fmla="*/ 36 h 71"/>
                <a:gd name="T6" fmla="*/ 0 w 174"/>
                <a:gd name="T7" fmla="*/ 36 h 71"/>
                <a:gd name="T8" fmla="*/ 0 w 174"/>
                <a:gd name="T9" fmla="*/ 37 h 71"/>
                <a:gd name="T10" fmla="*/ 0 w 174"/>
                <a:gd name="T11" fmla="*/ 38 h 71"/>
                <a:gd name="T12" fmla="*/ 0 w 174"/>
                <a:gd name="T13" fmla="*/ 40 h 71"/>
                <a:gd name="T14" fmla="*/ 0 w 174"/>
                <a:gd name="T15" fmla="*/ 41 h 71"/>
                <a:gd name="T16" fmla="*/ 1 w 174"/>
                <a:gd name="T17" fmla="*/ 42 h 71"/>
                <a:gd name="T18" fmla="*/ 1 w 174"/>
                <a:gd name="T19" fmla="*/ 43 h 71"/>
                <a:gd name="T20" fmla="*/ 2 w 174"/>
                <a:gd name="T21" fmla="*/ 44 h 71"/>
                <a:gd name="T22" fmla="*/ 8 w 174"/>
                <a:gd name="T23" fmla="*/ 45 h 71"/>
                <a:gd name="T24" fmla="*/ 23 w 174"/>
                <a:gd name="T25" fmla="*/ 50 h 71"/>
                <a:gd name="T26" fmla="*/ 43 w 174"/>
                <a:gd name="T27" fmla="*/ 55 h 71"/>
                <a:gd name="T28" fmla="*/ 66 w 174"/>
                <a:gd name="T29" fmla="*/ 60 h 71"/>
                <a:gd name="T30" fmla="*/ 92 w 174"/>
                <a:gd name="T31" fmla="*/ 64 h 71"/>
                <a:gd name="T32" fmla="*/ 115 w 174"/>
                <a:gd name="T33" fmla="*/ 68 h 71"/>
                <a:gd name="T34" fmla="*/ 133 w 174"/>
                <a:gd name="T35" fmla="*/ 70 h 71"/>
                <a:gd name="T36" fmla="*/ 146 w 174"/>
                <a:gd name="T37" fmla="*/ 68 h 71"/>
                <a:gd name="T38" fmla="*/ 149 w 174"/>
                <a:gd name="T39" fmla="*/ 66 h 71"/>
                <a:gd name="T40" fmla="*/ 152 w 174"/>
                <a:gd name="T41" fmla="*/ 64 h 71"/>
                <a:gd name="T42" fmla="*/ 156 w 174"/>
                <a:gd name="T43" fmla="*/ 62 h 71"/>
                <a:gd name="T44" fmla="*/ 160 w 174"/>
                <a:gd name="T45" fmla="*/ 59 h 71"/>
                <a:gd name="T46" fmla="*/ 162 w 174"/>
                <a:gd name="T47" fmla="*/ 57 h 71"/>
                <a:gd name="T48" fmla="*/ 166 w 174"/>
                <a:gd name="T49" fmla="*/ 54 h 71"/>
                <a:gd name="T50" fmla="*/ 169 w 174"/>
                <a:gd name="T51" fmla="*/ 52 h 71"/>
                <a:gd name="T52" fmla="*/ 170 w 174"/>
                <a:gd name="T53" fmla="*/ 50 h 71"/>
                <a:gd name="T54" fmla="*/ 171 w 174"/>
                <a:gd name="T55" fmla="*/ 42 h 71"/>
                <a:gd name="T56" fmla="*/ 173 w 174"/>
                <a:gd name="T57" fmla="*/ 36 h 71"/>
                <a:gd name="T58" fmla="*/ 171 w 174"/>
                <a:gd name="T59" fmla="*/ 31 h 71"/>
                <a:gd name="T60" fmla="*/ 170 w 174"/>
                <a:gd name="T61" fmla="*/ 25 h 71"/>
                <a:gd name="T62" fmla="*/ 169 w 174"/>
                <a:gd name="T63" fmla="*/ 19 h 71"/>
                <a:gd name="T64" fmla="*/ 166 w 174"/>
                <a:gd name="T65" fmla="*/ 16 h 71"/>
                <a:gd name="T66" fmla="*/ 165 w 174"/>
                <a:gd name="T67" fmla="*/ 13 h 71"/>
                <a:gd name="T68" fmla="*/ 165 w 174"/>
                <a:gd name="T69" fmla="*/ 13 h 7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74" h="71">
                  <a:moveTo>
                    <a:pt x="165" y="13"/>
                  </a:moveTo>
                  <a:lnTo>
                    <a:pt x="56" y="0"/>
                  </a:lnTo>
                  <a:lnTo>
                    <a:pt x="1" y="36"/>
                  </a:lnTo>
                  <a:lnTo>
                    <a:pt x="0" y="36"/>
                  </a:lnTo>
                  <a:lnTo>
                    <a:pt x="0" y="37"/>
                  </a:lnTo>
                  <a:lnTo>
                    <a:pt x="0" y="38"/>
                  </a:lnTo>
                  <a:lnTo>
                    <a:pt x="0" y="40"/>
                  </a:lnTo>
                  <a:lnTo>
                    <a:pt x="0" y="41"/>
                  </a:lnTo>
                  <a:lnTo>
                    <a:pt x="1" y="42"/>
                  </a:lnTo>
                  <a:lnTo>
                    <a:pt x="1" y="43"/>
                  </a:lnTo>
                  <a:lnTo>
                    <a:pt x="2" y="44"/>
                  </a:lnTo>
                  <a:lnTo>
                    <a:pt x="8" y="45"/>
                  </a:lnTo>
                  <a:lnTo>
                    <a:pt x="23" y="50"/>
                  </a:lnTo>
                  <a:lnTo>
                    <a:pt x="43" y="55"/>
                  </a:lnTo>
                  <a:lnTo>
                    <a:pt x="66" y="60"/>
                  </a:lnTo>
                  <a:lnTo>
                    <a:pt x="92" y="64"/>
                  </a:lnTo>
                  <a:lnTo>
                    <a:pt x="115" y="68"/>
                  </a:lnTo>
                  <a:lnTo>
                    <a:pt x="133" y="70"/>
                  </a:lnTo>
                  <a:lnTo>
                    <a:pt x="146" y="68"/>
                  </a:lnTo>
                  <a:lnTo>
                    <a:pt x="149" y="66"/>
                  </a:lnTo>
                  <a:lnTo>
                    <a:pt x="152" y="64"/>
                  </a:lnTo>
                  <a:lnTo>
                    <a:pt x="156" y="62"/>
                  </a:lnTo>
                  <a:lnTo>
                    <a:pt x="160" y="59"/>
                  </a:lnTo>
                  <a:lnTo>
                    <a:pt x="162" y="57"/>
                  </a:lnTo>
                  <a:lnTo>
                    <a:pt x="166" y="54"/>
                  </a:lnTo>
                  <a:lnTo>
                    <a:pt x="169" y="52"/>
                  </a:lnTo>
                  <a:lnTo>
                    <a:pt x="170" y="50"/>
                  </a:lnTo>
                  <a:lnTo>
                    <a:pt x="171" y="42"/>
                  </a:lnTo>
                  <a:lnTo>
                    <a:pt x="173" y="36"/>
                  </a:lnTo>
                  <a:lnTo>
                    <a:pt x="171" y="31"/>
                  </a:lnTo>
                  <a:lnTo>
                    <a:pt x="170" y="25"/>
                  </a:lnTo>
                  <a:lnTo>
                    <a:pt x="169" y="19"/>
                  </a:lnTo>
                  <a:lnTo>
                    <a:pt x="166" y="16"/>
                  </a:lnTo>
                  <a:lnTo>
                    <a:pt x="165" y="13"/>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46" name="Freeform 245"/>
            <p:cNvSpPr>
              <a:spLocks/>
            </p:cNvSpPr>
            <p:nvPr/>
          </p:nvSpPr>
          <p:spPr bwMode="auto">
            <a:xfrm>
              <a:off x="1928" y="3160"/>
              <a:ext cx="165" cy="65"/>
            </a:xfrm>
            <a:custGeom>
              <a:avLst/>
              <a:gdLst>
                <a:gd name="T0" fmla="*/ 157 w 165"/>
                <a:gd name="T1" fmla="*/ 11 h 65"/>
                <a:gd name="T2" fmla="*/ 53 w 165"/>
                <a:gd name="T3" fmla="*/ 0 h 65"/>
                <a:gd name="T4" fmla="*/ 0 w 165"/>
                <a:gd name="T5" fmla="*/ 33 h 65"/>
                <a:gd name="T6" fmla="*/ 0 w 165"/>
                <a:gd name="T7" fmla="*/ 33 h 65"/>
                <a:gd name="T8" fmla="*/ 0 w 165"/>
                <a:gd name="T9" fmla="*/ 34 h 65"/>
                <a:gd name="T10" fmla="*/ 0 w 165"/>
                <a:gd name="T11" fmla="*/ 35 h 65"/>
                <a:gd name="T12" fmla="*/ 0 w 165"/>
                <a:gd name="T13" fmla="*/ 36 h 65"/>
                <a:gd name="T14" fmla="*/ 0 w 165"/>
                <a:gd name="T15" fmla="*/ 37 h 65"/>
                <a:gd name="T16" fmla="*/ 0 w 165"/>
                <a:gd name="T17" fmla="*/ 38 h 65"/>
                <a:gd name="T18" fmla="*/ 1 w 165"/>
                <a:gd name="T19" fmla="*/ 39 h 65"/>
                <a:gd name="T20" fmla="*/ 2 w 165"/>
                <a:gd name="T21" fmla="*/ 39 h 65"/>
                <a:gd name="T22" fmla="*/ 7 w 165"/>
                <a:gd name="T23" fmla="*/ 41 h 65"/>
                <a:gd name="T24" fmla="*/ 21 w 165"/>
                <a:gd name="T25" fmla="*/ 45 h 65"/>
                <a:gd name="T26" fmla="*/ 41 w 165"/>
                <a:gd name="T27" fmla="*/ 49 h 65"/>
                <a:gd name="T28" fmla="*/ 63 w 165"/>
                <a:gd name="T29" fmla="*/ 54 h 65"/>
                <a:gd name="T30" fmla="*/ 87 w 165"/>
                <a:gd name="T31" fmla="*/ 58 h 65"/>
                <a:gd name="T32" fmla="*/ 109 w 165"/>
                <a:gd name="T33" fmla="*/ 61 h 65"/>
                <a:gd name="T34" fmla="*/ 127 w 165"/>
                <a:gd name="T35" fmla="*/ 64 h 65"/>
                <a:gd name="T36" fmla="*/ 138 w 165"/>
                <a:gd name="T37" fmla="*/ 61 h 65"/>
                <a:gd name="T38" fmla="*/ 142 w 165"/>
                <a:gd name="T39" fmla="*/ 60 h 65"/>
                <a:gd name="T40" fmla="*/ 146 w 165"/>
                <a:gd name="T41" fmla="*/ 58 h 65"/>
                <a:gd name="T42" fmla="*/ 148 w 165"/>
                <a:gd name="T43" fmla="*/ 56 h 65"/>
                <a:gd name="T44" fmla="*/ 152 w 165"/>
                <a:gd name="T45" fmla="*/ 54 h 65"/>
                <a:gd name="T46" fmla="*/ 155 w 165"/>
                <a:gd name="T47" fmla="*/ 51 h 65"/>
                <a:gd name="T48" fmla="*/ 158 w 165"/>
                <a:gd name="T49" fmla="*/ 49 h 65"/>
                <a:gd name="T50" fmla="*/ 160 w 165"/>
                <a:gd name="T51" fmla="*/ 47 h 65"/>
                <a:gd name="T52" fmla="*/ 161 w 165"/>
                <a:gd name="T53" fmla="*/ 45 h 65"/>
                <a:gd name="T54" fmla="*/ 164 w 165"/>
                <a:gd name="T55" fmla="*/ 38 h 65"/>
                <a:gd name="T56" fmla="*/ 164 w 165"/>
                <a:gd name="T57" fmla="*/ 33 h 65"/>
                <a:gd name="T58" fmla="*/ 164 w 165"/>
                <a:gd name="T59" fmla="*/ 27 h 65"/>
                <a:gd name="T60" fmla="*/ 162 w 165"/>
                <a:gd name="T61" fmla="*/ 23 h 65"/>
                <a:gd name="T62" fmla="*/ 160 w 165"/>
                <a:gd name="T63" fmla="*/ 17 h 65"/>
                <a:gd name="T64" fmla="*/ 158 w 165"/>
                <a:gd name="T65" fmla="*/ 14 h 65"/>
                <a:gd name="T66" fmla="*/ 157 w 165"/>
                <a:gd name="T67" fmla="*/ 12 h 65"/>
                <a:gd name="T68" fmla="*/ 157 w 165"/>
                <a:gd name="T69" fmla="*/ 11 h 6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65" h="65">
                  <a:moveTo>
                    <a:pt x="157" y="11"/>
                  </a:moveTo>
                  <a:lnTo>
                    <a:pt x="53" y="0"/>
                  </a:lnTo>
                  <a:lnTo>
                    <a:pt x="0" y="33"/>
                  </a:lnTo>
                  <a:lnTo>
                    <a:pt x="0" y="34"/>
                  </a:lnTo>
                  <a:lnTo>
                    <a:pt x="0" y="35"/>
                  </a:lnTo>
                  <a:lnTo>
                    <a:pt x="0" y="36"/>
                  </a:lnTo>
                  <a:lnTo>
                    <a:pt x="0" y="37"/>
                  </a:lnTo>
                  <a:lnTo>
                    <a:pt x="0" y="38"/>
                  </a:lnTo>
                  <a:lnTo>
                    <a:pt x="1" y="39"/>
                  </a:lnTo>
                  <a:lnTo>
                    <a:pt x="2" y="39"/>
                  </a:lnTo>
                  <a:lnTo>
                    <a:pt x="7" y="41"/>
                  </a:lnTo>
                  <a:lnTo>
                    <a:pt x="21" y="45"/>
                  </a:lnTo>
                  <a:lnTo>
                    <a:pt x="41" y="49"/>
                  </a:lnTo>
                  <a:lnTo>
                    <a:pt x="63" y="54"/>
                  </a:lnTo>
                  <a:lnTo>
                    <a:pt x="87" y="58"/>
                  </a:lnTo>
                  <a:lnTo>
                    <a:pt x="109" y="61"/>
                  </a:lnTo>
                  <a:lnTo>
                    <a:pt x="127" y="64"/>
                  </a:lnTo>
                  <a:lnTo>
                    <a:pt x="138" y="61"/>
                  </a:lnTo>
                  <a:lnTo>
                    <a:pt x="142" y="60"/>
                  </a:lnTo>
                  <a:lnTo>
                    <a:pt x="146" y="58"/>
                  </a:lnTo>
                  <a:lnTo>
                    <a:pt x="148" y="56"/>
                  </a:lnTo>
                  <a:lnTo>
                    <a:pt x="152" y="54"/>
                  </a:lnTo>
                  <a:lnTo>
                    <a:pt x="155" y="51"/>
                  </a:lnTo>
                  <a:lnTo>
                    <a:pt x="158" y="49"/>
                  </a:lnTo>
                  <a:lnTo>
                    <a:pt x="160" y="47"/>
                  </a:lnTo>
                  <a:lnTo>
                    <a:pt x="161" y="45"/>
                  </a:lnTo>
                  <a:lnTo>
                    <a:pt x="164" y="38"/>
                  </a:lnTo>
                  <a:lnTo>
                    <a:pt x="164" y="33"/>
                  </a:lnTo>
                  <a:lnTo>
                    <a:pt x="164" y="27"/>
                  </a:lnTo>
                  <a:lnTo>
                    <a:pt x="162" y="23"/>
                  </a:lnTo>
                  <a:lnTo>
                    <a:pt x="160" y="17"/>
                  </a:lnTo>
                  <a:lnTo>
                    <a:pt x="158" y="14"/>
                  </a:lnTo>
                  <a:lnTo>
                    <a:pt x="157" y="12"/>
                  </a:lnTo>
                  <a:lnTo>
                    <a:pt x="157" y="11"/>
                  </a:lnTo>
                </a:path>
              </a:pathLst>
            </a:custGeom>
            <a:solidFill>
              <a:srgbClr val="86868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47" name="Freeform 246"/>
            <p:cNvSpPr>
              <a:spLocks/>
            </p:cNvSpPr>
            <p:nvPr/>
          </p:nvSpPr>
          <p:spPr bwMode="auto">
            <a:xfrm>
              <a:off x="1929" y="3146"/>
              <a:ext cx="162" cy="67"/>
            </a:xfrm>
            <a:custGeom>
              <a:avLst/>
              <a:gdLst>
                <a:gd name="T0" fmla="*/ 108 w 162"/>
                <a:gd name="T1" fmla="*/ 2 h 67"/>
                <a:gd name="T2" fmla="*/ 95 w 162"/>
                <a:gd name="T3" fmla="*/ 0 h 67"/>
                <a:gd name="T4" fmla="*/ 84 w 162"/>
                <a:gd name="T5" fmla="*/ 0 h 67"/>
                <a:gd name="T6" fmla="*/ 74 w 162"/>
                <a:gd name="T7" fmla="*/ 1 h 67"/>
                <a:gd name="T8" fmla="*/ 65 w 162"/>
                <a:gd name="T9" fmla="*/ 2 h 67"/>
                <a:gd name="T10" fmla="*/ 58 w 162"/>
                <a:gd name="T11" fmla="*/ 4 h 67"/>
                <a:gd name="T12" fmla="*/ 53 w 162"/>
                <a:gd name="T13" fmla="*/ 6 h 67"/>
                <a:gd name="T14" fmla="*/ 49 w 162"/>
                <a:gd name="T15" fmla="*/ 8 h 67"/>
                <a:gd name="T16" fmla="*/ 49 w 162"/>
                <a:gd name="T17" fmla="*/ 8 h 67"/>
                <a:gd name="T18" fmla="*/ 0 w 162"/>
                <a:gd name="T19" fmla="*/ 41 h 67"/>
                <a:gd name="T20" fmla="*/ 0 w 162"/>
                <a:gd name="T21" fmla="*/ 45 h 67"/>
                <a:gd name="T22" fmla="*/ 1 w 162"/>
                <a:gd name="T23" fmla="*/ 45 h 67"/>
                <a:gd name="T24" fmla="*/ 3 w 162"/>
                <a:gd name="T25" fmla="*/ 44 h 67"/>
                <a:gd name="T26" fmla="*/ 8 w 162"/>
                <a:gd name="T27" fmla="*/ 42 h 67"/>
                <a:gd name="T28" fmla="*/ 15 w 162"/>
                <a:gd name="T29" fmla="*/ 40 h 67"/>
                <a:gd name="T30" fmla="*/ 23 w 162"/>
                <a:gd name="T31" fmla="*/ 39 h 67"/>
                <a:gd name="T32" fmla="*/ 31 w 162"/>
                <a:gd name="T33" fmla="*/ 39 h 67"/>
                <a:gd name="T34" fmla="*/ 40 w 162"/>
                <a:gd name="T35" fmla="*/ 39 h 67"/>
                <a:gd name="T36" fmla="*/ 52 w 162"/>
                <a:gd name="T37" fmla="*/ 41 h 67"/>
                <a:gd name="T38" fmla="*/ 66 w 162"/>
                <a:gd name="T39" fmla="*/ 45 h 67"/>
                <a:gd name="T40" fmla="*/ 77 w 162"/>
                <a:gd name="T41" fmla="*/ 48 h 67"/>
                <a:gd name="T42" fmla="*/ 86 w 162"/>
                <a:gd name="T43" fmla="*/ 52 h 67"/>
                <a:gd name="T44" fmla="*/ 93 w 162"/>
                <a:gd name="T45" fmla="*/ 55 h 67"/>
                <a:gd name="T46" fmla="*/ 99 w 162"/>
                <a:gd name="T47" fmla="*/ 57 h 67"/>
                <a:gd name="T48" fmla="*/ 103 w 162"/>
                <a:gd name="T49" fmla="*/ 59 h 67"/>
                <a:gd name="T50" fmla="*/ 108 w 162"/>
                <a:gd name="T51" fmla="*/ 60 h 67"/>
                <a:gd name="T52" fmla="*/ 113 w 162"/>
                <a:gd name="T53" fmla="*/ 62 h 67"/>
                <a:gd name="T54" fmla="*/ 134 w 162"/>
                <a:gd name="T55" fmla="*/ 66 h 67"/>
                <a:gd name="T56" fmla="*/ 148 w 162"/>
                <a:gd name="T57" fmla="*/ 63 h 67"/>
                <a:gd name="T58" fmla="*/ 157 w 162"/>
                <a:gd name="T59" fmla="*/ 58 h 67"/>
                <a:gd name="T60" fmla="*/ 161 w 162"/>
                <a:gd name="T61" fmla="*/ 51 h 67"/>
                <a:gd name="T62" fmla="*/ 161 w 162"/>
                <a:gd name="T63" fmla="*/ 41 h 67"/>
                <a:gd name="T64" fmla="*/ 159 w 162"/>
                <a:gd name="T65" fmla="*/ 33 h 67"/>
                <a:gd name="T66" fmla="*/ 157 w 162"/>
                <a:gd name="T67" fmla="*/ 26 h 67"/>
                <a:gd name="T68" fmla="*/ 154 w 162"/>
                <a:gd name="T69" fmla="*/ 23 h 67"/>
                <a:gd name="T70" fmla="*/ 153 w 162"/>
                <a:gd name="T71" fmla="*/ 22 h 67"/>
                <a:gd name="T72" fmla="*/ 150 w 162"/>
                <a:gd name="T73" fmla="*/ 20 h 67"/>
                <a:gd name="T74" fmla="*/ 146 w 162"/>
                <a:gd name="T75" fmla="*/ 17 h 67"/>
                <a:gd name="T76" fmla="*/ 143 w 162"/>
                <a:gd name="T77" fmla="*/ 14 h 67"/>
                <a:gd name="T78" fmla="*/ 136 w 162"/>
                <a:gd name="T79" fmla="*/ 11 h 67"/>
                <a:gd name="T80" fmla="*/ 129 w 162"/>
                <a:gd name="T81" fmla="*/ 8 h 67"/>
                <a:gd name="T82" fmla="*/ 120 w 162"/>
                <a:gd name="T83" fmla="*/ 5 h 67"/>
                <a:gd name="T84" fmla="*/ 108 w 162"/>
                <a:gd name="T85" fmla="*/ 2 h 6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62" h="67">
                  <a:moveTo>
                    <a:pt x="108" y="2"/>
                  </a:moveTo>
                  <a:lnTo>
                    <a:pt x="95" y="0"/>
                  </a:lnTo>
                  <a:lnTo>
                    <a:pt x="84" y="0"/>
                  </a:lnTo>
                  <a:lnTo>
                    <a:pt x="74" y="1"/>
                  </a:lnTo>
                  <a:lnTo>
                    <a:pt x="65" y="2"/>
                  </a:lnTo>
                  <a:lnTo>
                    <a:pt x="58" y="4"/>
                  </a:lnTo>
                  <a:lnTo>
                    <a:pt x="53" y="6"/>
                  </a:lnTo>
                  <a:lnTo>
                    <a:pt x="49" y="8"/>
                  </a:lnTo>
                  <a:lnTo>
                    <a:pt x="0" y="41"/>
                  </a:lnTo>
                  <a:lnTo>
                    <a:pt x="0" y="45"/>
                  </a:lnTo>
                  <a:lnTo>
                    <a:pt x="1" y="45"/>
                  </a:lnTo>
                  <a:lnTo>
                    <a:pt x="3" y="44"/>
                  </a:lnTo>
                  <a:lnTo>
                    <a:pt x="8" y="42"/>
                  </a:lnTo>
                  <a:lnTo>
                    <a:pt x="15" y="40"/>
                  </a:lnTo>
                  <a:lnTo>
                    <a:pt x="23" y="39"/>
                  </a:lnTo>
                  <a:lnTo>
                    <a:pt x="31" y="39"/>
                  </a:lnTo>
                  <a:lnTo>
                    <a:pt x="40" y="39"/>
                  </a:lnTo>
                  <a:lnTo>
                    <a:pt x="52" y="41"/>
                  </a:lnTo>
                  <a:lnTo>
                    <a:pt x="66" y="45"/>
                  </a:lnTo>
                  <a:lnTo>
                    <a:pt x="77" y="48"/>
                  </a:lnTo>
                  <a:lnTo>
                    <a:pt x="86" y="52"/>
                  </a:lnTo>
                  <a:lnTo>
                    <a:pt x="93" y="55"/>
                  </a:lnTo>
                  <a:lnTo>
                    <a:pt x="99" y="57"/>
                  </a:lnTo>
                  <a:lnTo>
                    <a:pt x="103" y="59"/>
                  </a:lnTo>
                  <a:lnTo>
                    <a:pt x="108" y="60"/>
                  </a:lnTo>
                  <a:lnTo>
                    <a:pt x="113" y="62"/>
                  </a:lnTo>
                  <a:lnTo>
                    <a:pt x="134" y="66"/>
                  </a:lnTo>
                  <a:lnTo>
                    <a:pt x="148" y="63"/>
                  </a:lnTo>
                  <a:lnTo>
                    <a:pt x="157" y="58"/>
                  </a:lnTo>
                  <a:lnTo>
                    <a:pt x="161" y="51"/>
                  </a:lnTo>
                  <a:lnTo>
                    <a:pt x="161" y="41"/>
                  </a:lnTo>
                  <a:lnTo>
                    <a:pt x="159" y="33"/>
                  </a:lnTo>
                  <a:lnTo>
                    <a:pt x="157" y="26"/>
                  </a:lnTo>
                  <a:lnTo>
                    <a:pt x="154" y="23"/>
                  </a:lnTo>
                  <a:lnTo>
                    <a:pt x="153" y="22"/>
                  </a:lnTo>
                  <a:lnTo>
                    <a:pt x="150" y="20"/>
                  </a:lnTo>
                  <a:lnTo>
                    <a:pt x="146" y="17"/>
                  </a:lnTo>
                  <a:lnTo>
                    <a:pt x="143" y="14"/>
                  </a:lnTo>
                  <a:lnTo>
                    <a:pt x="136" y="11"/>
                  </a:lnTo>
                  <a:lnTo>
                    <a:pt x="129" y="8"/>
                  </a:lnTo>
                  <a:lnTo>
                    <a:pt x="120" y="5"/>
                  </a:lnTo>
                  <a:lnTo>
                    <a:pt x="108" y="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48" name="Freeform 247"/>
            <p:cNvSpPr>
              <a:spLocks/>
            </p:cNvSpPr>
            <p:nvPr/>
          </p:nvSpPr>
          <p:spPr bwMode="auto">
            <a:xfrm>
              <a:off x="1722" y="3040"/>
              <a:ext cx="262" cy="150"/>
            </a:xfrm>
            <a:custGeom>
              <a:avLst/>
              <a:gdLst>
                <a:gd name="T0" fmla="*/ 230 w 262"/>
                <a:gd name="T1" fmla="*/ 142 h 150"/>
                <a:gd name="T2" fmla="*/ 213 w 262"/>
                <a:gd name="T3" fmla="*/ 136 h 150"/>
                <a:gd name="T4" fmla="*/ 193 w 262"/>
                <a:gd name="T5" fmla="*/ 124 h 150"/>
                <a:gd name="T6" fmla="*/ 183 w 262"/>
                <a:gd name="T7" fmla="*/ 112 h 150"/>
                <a:gd name="T8" fmla="*/ 196 w 262"/>
                <a:gd name="T9" fmla="*/ 100 h 150"/>
                <a:gd name="T10" fmla="*/ 222 w 262"/>
                <a:gd name="T11" fmla="*/ 95 h 150"/>
                <a:gd name="T12" fmla="*/ 248 w 262"/>
                <a:gd name="T13" fmla="*/ 90 h 150"/>
                <a:gd name="T14" fmla="*/ 261 w 262"/>
                <a:gd name="T15" fmla="*/ 80 h 150"/>
                <a:gd name="T16" fmla="*/ 250 w 262"/>
                <a:gd name="T17" fmla="*/ 62 h 150"/>
                <a:gd name="T18" fmla="*/ 231 w 262"/>
                <a:gd name="T19" fmla="*/ 48 h 150"/>
                <a:gd name="T20" fmla="*/ 208 w 262"/>
                <a:gd name="T21" fmla="*/ 39 h 150"/>
                <a:gd name="T22" fmla="*/ 185 w 262"/>
                <a:gd name="T23" fmla="*/ 35 h 150"/>
                <a:gd name="T24" fmla="*/ 155 w 262"/>
                <a:gd name="T25" fmla="*/ 35 h 150"/>
                <a:gd name="T26" fmla="*/ 120 w 262"/>
                <a:gd name="T27" fmla="*/ 37 h 150"/>
                <a:gd name="T28" fmla="*/ 94 w 262"/>
                <a:gd name="T29" fmla="*/ 37 h 150"/>
                <a:gd name="T30" fmla="*/ 67 w 262"/>
                <a:gd name="T31" fmla="*/ 30 h 150"/>
                <a:gd name="T32" fmla="*/ 36 w 262"/>
                <a:gd name="T33" fmla="*/ 15 h 150"/>
                <a:gd name="T34" fmla="*/ 17 w 262"/>
                <a:gd name="T35" fmla="*/ 5 h 150"/>
                <a:gd name="T36" fmla="*/ 8 w 262"/>
                <a:gd name="T37" fmla="*/ 1 h 150"/>
                <a:gd name="T38" fmla="*/ 7 w 262"/>
                <a:gd name="T39" fmla="*/ 0 h 150"/>
                <a:gd name="T40" fmla="*/ 0 w 262"/>
                <a:gd name="T41" fmla="*/ 4 h 150"/>
                <a:gd name="T42" fmla="*/ 57 w 262"/>
                <a:gd name="T43" fmla="*/ 32 h 150"/>
                <a:gd name="T44" fmla="*/ 78 w 262"/>
                <a:gd name="T45" fmla="*/ 39 h 150"/>
                <a:gd name="T46" fmla="*/ 99 w 262"/>
                <a:gd name="T47" fmla="*/ 43 h 150"/>
                <a:gd name="T48" fmla="*/ 120 w 262"/>
                <a:gd name="T49" fmla="*/ 43 h 150"/>
                <a:gd name="T50" fmla="*/ 136 w 262"/>
                <a:gd name="T51" fmla="*/ 41 h 150"/>
                <a:gd name="T52" fmla="*/ 143 w 262"/>
                <a:gd name="T53" fmla="*/ 40 h 150"/>
                <a:gd name="T54" fmla="*/ 151 w 262"/>
                <a:gd name="T55" fmla="*/ 40 h 150"/>
                <a:gd name="T56" fmla="*/ 161 w 262"/>
                <a:gd name="T57" fmla="*/ 39 h 150"/>
                <a:gd name="T58" fmla="*/ 174 w 262"/>
                <a:gd name="T59" fmla="*/ 39 h 150"/>
                <a:gd name="T60" fmla="*/ 193 w 262"/>
                <a:gd name="T61" fmla="*/ 41 h 150"/>
                <a:gd name="T62" fmla="*/ 216 w 262"/>
                <a:gd name="T63" fmla="*/ 48 h 150"/>
                <a:gd name="T64" fmla="*/ 238 w 262"/>
                <a:gd name="T65" fmla="*/ 59 h 150"/>
                <a:gd name="T66" fmla="*/ 248 w 262"/>
                <a:gd name="T67" fmla="*/ 73 h 150"/>
                <a:gd name="T68" fmla="*/ 250 w 262"/>
                <a:gd name="T69" fmla="*/ 79 h 150"/>
                <a:gd name="T70" fmla="*/ 246 w 262"/>
                <a:gd name="T71" fmla="*/ 82 h 150"/>
                <a:gd name="T72" fmla="*/ 238 w 262"/>
                <a:gd name="T73" fmla="*/ 86 h 150"/>
                <a:gd name="T74" fmla="*/ 221 w 262"/>
                <a:gd name="T75" fmla="*/ 89 h 150"/>
                <a:gd name="T76" fmla="*/ 210 w 262"/>
                <a:gd name="T77" fmla="*/ 91 h 150"/>
                <a:gd name="T78" fmla="*/ 197 w 262"/>
                <a:gd name="T79" fmla="*/ 93 h 150"/>
                <a:gd name="T80" fmla="*/ 185 w 262"/>
                <a:gd name="T81" fmla="*/ 96 h 150"/>
                <a:gd name="T82" fmla="*/ 178 w 262"/>
                <a:gd name="T83" fmla="*/ 101 h 150"/>
                <a:gd name="T84" fmla="*/ 174 w 262"/>
                <a:gd name="T85" fmla="*/ 105 h 150"/>
                <a:gd name="T86" fmla="*/ 173 w 262"/>
                <a:gd name="T87" fmla="*/ 109 h 150"/>
                <a:gd name="T88" fmla="*/ 173 w 262"/>
                <a:gd name="T89" fmla="*/ 113 h 150"/>
                <a:gd name="T90" fmla="*/ 174 w 262"/>
                <a:gd name="T91" fmla="*/ 116 h 150"/>
                <a:gd name="T92" fmla="*/ 184 w 262"/>
                <a:gd name="T93" fmla="*/ 128 h 150"/>
                <a:gd name="T94" fmla="*/ 202 w 262"/>
                <a:gd name="T95" fmla="*/ 138 h 150"/>
                <a:gd name="T96" fmla="*/ 218 w 262"/>
                <a:gd name="T97" fmla="*/ 145 h 150"/>
                <a:gd name="T98" fmla="*/ 227 w 262"/>
                <a:gd name="T99" fmla="*/ 149 h 15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62" h="150">
                  <a:moveTo>
                    <a:pt x="232" y="143"/>
                  </a:moveTo>
                  <a:lnTo>
                    <a:pt x="230" y="142"/>
                  </a:lnTo>
                  <a:lnTo>
                    <a:pt x="222" y="140"/>
                  </a:lnTo>
                  <a:lnTo>
                    <a:pt x="213" y="136"/>
                  </a:lnTo>
                  <a:lnTo>
                    <a:pt x="202" y="131"/>
                  </a:lnTo>
                  <a:lnTo>
                    <a:pt x="193" y="124"/>
                  </a:lnTo>
                  <a:lnTo>
                    <a:pt x="185" y="118"/>
                  </a:lnTo>
                  <a:lnTo>
                    <a:pt x="183" y="112"/>
                  </a:lnTo>
                  <a:lnTo>
                    <a:pt x="187" y="105"/>
                  </a:lnTo>
                  <a:lnTo>
                    <a:pt x="196" y="100"/>
                  </a:lnTo>
                  <a:lnTo>
                    <a:pt x="208" y="97"/>
                  </a:lnTo>
                  <a:lnTo>
                    <a:pt x="222" y="95"/>
                  </a:lnTo>
                  <a:lnTo>
                    <a:pt x="236" y="93"/>
                  </a:lnTo>
                  <a:lnTo>
                    <a:pt x="248" y="90"/>
                  </a:lnTo>
                  <a:lnTo>
                    <a:pt x="257" y="86"/>
                  </a:lnTo>
                  <a:lnTo>
                    <a:pt x="261" y="80"/>
                  </a:lnTo>
                  <a:lnTo>
                    <a:pt x="258" y="72"/>
                  </a:lnTo>
                  <a:lnTo>
                    <a:pt x="250" y="62"/>
                  </a:lnTo>
                  <a:lnTo>
                    <a:pt x="241" y="55"/>
                  </a:lnTo>
                  <a:lnTo>
                    <a:pt x="231" y="48"/>
                  </a:lnTo>
                  <a:lnTo>
                    <a:pt x="220" y="43"/>
                  </a:lnTo>
                  <a:lnTo>
                    <a:pt x="208" y="39"/>
                  </a:lnTo>
                  <a:lnTo>
                    <a:pt x="197" y="36"/>
                  </a:lnTo>
                  <a:lnTo>
                    <a:pt x="185" y="35"/>
                  </a:lnTo>
                  <a:lnTo>
                    <a:pt x="176" y="34"/>
                  </a:lnTo>
                  <a:lnTo>
                    <a:pt x="155" y="35"/>
                  </a:lnTo>
                  <a:lnTo>
                    <a:pt x="137" y="36"/>
                  </a:lnTo>
                  <a:lnTo>
                    <a:pt x="120" y="37"/>
                  </a:lnTo>
                  <a:lnTo>
                    <a:pt x="106" y="37"/>
                  </a:lnTo>
                  <a:lnTo>
                    <a:pt x="94" y="37"/>
                  </a:lnTo>
                  <a:lnTo>
                    <a:pt x="81" y="34"/>
                  </a:lnTo>
                  <a:lnTo>
                    <a:pt x="67" y="30"/>
                  </a:lnTo>
                  <a:lnTo>
                    <a:pt x="52" y="23"/>
                  </a:lnTo>
                  <a:lnTo>
                    <a:pt x="36" y="15"/>
                  </a:lnTo>
                  <a:lnTo>
                    <a:pt x="25" y="9"/>
                  </a:lnTo>
                  <a:lnTo>
                    <a:pt x="17" y="5"/>
                  </a:lnTo>
                  <a:lnTo>
                    <a:pt x="12" y="3"/>
                  </a:lnTo>
                  <a:lnTo>
                    <a:pt x="8" y="1"/>
                  </a:lnTo>
                  <a:lnTo>
                    <a:pt x="7" y="1"/>
                  </a:lnTo>
                  <a:lnTo>
                    <a:pt x="7" y="0"/>
                  </a:lnTo>
                  <a:lnTo>
                    <a:pt x="0" y="4"/>
                  </a:lnTo>
                  <a:lnTo>
                    <a:pt x="44" y="27"/>
                  </a:lnTo>
                  <a:lnTo>
                    <a:pt x="57" y="32"/>
                  </a:lnTo>
                  <a:lnTo>
                    <a:pt x="68" y="37"/>
                  </a:lnTo>
                  <a:lnTo>
                    <a:pt x="78" y="39"/>
                  </a:lnTo>
                  <a:lnTo>
                    <a:pt x="90" y="41"/>
                  </a:lnTo>
                  <a:lnTo>
                    <a:pt x="99" y="43"/>
                  </a:lnTo>
                  <a:lnTo>
                    <a:pt x="109" y="43"/>
                  </a:lnTo>
                  <a:lnTo>
                    <a:pt x="120" y="43"/>
                  </a:lnTo>
                  <a:lnTo>
                    <a:pt x="131" y="41"/>
                  </a:lnTo>
                  <a:lnTo>
                    <a:pt x="136" y="41"/>
                  </a:lnTo>
                  <a:lnTo>
                    <a:pt x="140" y="41"/>
                  </a:lnTo>
                  <a:lnTo>
                    <a:pt x="143" y="40"/>
                  </a:lnTo>
                  <a:lnTo>
                    <a:pt x="147" y="40"/>
                  </a:lnTo>
                  <a:lnTo>
                    <a:pt x="151" y="40"/>
                  </a:lnTo>
                  <a:lnTo>
                    <a:pt x="156" y="40"/>
                  </a:lnTo>
                  <a:lnTo>
                    <a:pt x="161" y="39"/>
                  </a:lnTo>
                  <a:lnTo>
                    <a:pt x="168" y="39"/>
                  </a:lnTo>
                  <a:lnTo>
                    <a:pt x="174" y="39"/>
                  </a:lnTo>
                  <a:lnTo>
                    <a:pt x="183" y="40"/>
                  </a:lnTo>
                  <a:lnTo>
                    <a:pt x="193" y="41"/>
                  </a:lnTo>
                  <a:lnTo>
                    <a:pt x="204" y="45"/>
                  </a:lnTo>
                  <a:lnTo>
                    <a:pt x="216" y="48"/>
                  </a:lnTo>
                  <a:lnTo>
                    <a:pt x="227" y="53"/>
                  </a:lnTo>
                  <a:lnTo>
                    <a:pt x="238" y="59"/>
                  </a:lnTo>
                  <a:lnTo>
                    <a:pt x="245" y="69"/>
                  </a:lnTo>
                  <a:lnTo>
                    <a:pt x="248" y="73"/>
                  </a:lnTo>
                  <a:lnTo>
                    <a:pt x="250" y="76"/>
                  </a:lnTo>
                  <a:lnTo>
                    <a:pt x="250" y="79"/>
                  </a:lnTo>
                  <a:lnTo>
                    <a:pt x="249" y="81"/>
                  </a:lnTo>
                  <a:lnTo>
                    <a:pt x="246" y="82"/>
                  </a:lnTo>
                  <a:lnTo>
                    <a:pt x="243" y="84"/>
                  </a:lnTo>
                  <a:lnTo>
                    <a:pt x="238" y="86"/>
                  </a:lnTo>
                  <a:lnTo>
                    <a:pt x="230" y="87"/>
                  </a:lnTo>
                  <a:lnTo>
                    <a:pt x="221" y="89"/>
                  </a:lnTo>
                  <a:lnTo>
                    <a:pt x="215" y="90"/>
                  </a:lnTo>
                  <a:lnTo>
                    <a:pt x="210" y="91"/>
                  </a:lnTo>
                  <a:lnTo>
                    <a:pt x="203" y="92"/>
                  </a:lnTo>
                  <a:lnTo>
                    <a:pt x="197" y="93"/>
                  </a:lnTo>
                  <a:lnTo>
                    <a:pt x="192" y="95"/>
                  </a:lnTo>
                  <a:lnTo>
                    <a:pt x="185" y="96"/>
                  </a:lnTo>
                  <a:lnTo>
                    <a:pt x="182" y="99"/>
                  </a:lnTo>
                  <a:lnTo>
                    <a:pt x="178" y="101"/>
                  </a:lnTo>
                  <a:lnTo>
                    <a:pt x="175" y="103"/>
                  </a:lnTo>
                  <a:lnTo>
                    <a:pt x="174" y="105"/>
                  </a:lnTo>
                  <a:lnTo>
                    <a:pt x="173" y="107"/>
                  </a:lnTo>
                  <a:lnTo>
                    <a:pt x="173" y="109"/>
                  </a:lnTo>
                  <a:lnTo>
                    <a:pt x="171" y="111"/>
                  </a:lnTo>
                  <a:lnTo>
                    <a:pt x="173" y="113"/>
                  </a:lnTo>
                  <a:lnTo>
                    <a:pt x="173" y="115"/>
                  </a:lnTo>
                  <a:lnTo>
                    <a:pt x="174" y="116"/>
                  </a:lnTo>
                  <a:lnTo>
                    <a:pt x="178" y="122"/>
                  </a:lnTo>
                  <a:lnTo>
                    <a:pt x="184" y="128"/>
                  </a:lnTo>
                  <a:lnTo>
                    <a:pt x="193" y="133"/>
                  </a:lnTo>
                  <a:lnTo>
                    <a:pt x="202" y="138"/>
                  </a:lnTo>
                  <a:lnTo>
                    <a:pt x="211" y="142"/>
                  </a:lnTo>
                  <a:lnTo>
                    <a:pt x="218" y="145"/>
                  </a:lnTo>
                  <a:lnTo>
                    <a:pt x="225" y="147"/>
                  </a:lnTo>
                  <a:lnTo>
                    <a:pt x="227" y="149"/>
                  </a:lnTo>
                  <a:lnTo>
                    <a:pt x="232" y="143"/>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49" name="Freeform 248"/>
            <p:cNvSpPr>
              <a:spLocks/>
            </p:cNvSpPr>
            <p:nvPr/>
          </p:nvSpPr>
          <p:spPr bwMode="auto">
            <a:xfrm>
              <a:off x="1722" y="3040"/>
              <a:ext cx="263" cy="149"/>
            </a:xfrm>
            <a:custGeom>
              <a:avLst/>
              <a:gdLst>
                <a:gd name="T0" fmla="*/ 230 w 263"/>
                <a:gd name="T1" fmla="*/ 141 h 149"/>
                <a:gd name="T2" fmla="*/ 213 w 263"/>
                <a:gd name="T3" fmla="*/ 134 h 149"/>
                <a:gd name="T4" fmla="*/ 193 w 263"/>
                <a:gd name="T5" fmla="*/ 124 h 149"/>
                <a:gd name="T6" fmla="*/ 183 w 263"/>
                <a:gd name="T7" fmla="*/ 110 h 149"/>
                <a:gd name="T8" fmla="*/ 197 w 263"/>
                <a:gd name="T9" fmla="*/ 100 h 149"/>
                <a:gd name="T10" fmla="*/ 222 w 263"/>
                <a:gd name="T11" fmla="*/ 93 h 149"/>
                <a:gd name="T12" fmla="*/ 249 w 263"/>
                <a:gd name="T13" fmla="*/ 89 h 149"/>
                <a:gd name="T14" fmla="*/ 262 w 263"/>
                <a:gd name="T15" fmla="*/ 80 h 149"/>
                <a:gd name="T16" fmla="*/ 251 w 263"/>
                <a:gd name="T17" fmla="*/ 62 h 149"/>
                <a:gd name="T18" fmla="*/ 231 w 263"/>
                <a:gd name="T19" fmla="*/ 47 h 149"/>
                <a:gd name="T20" fmla="*/ 208 w 263"/>
                <a:gd name="T21" fmla="*/ 38 h 149"/>
                <a:gd name="T22" fmla="*/ 186 w 263"/>
                <a:gd name="T23" fmla="*/ 34 h 149"/>
                <a:gd name="T24" fmla="*/ 155 w 263"/>
                <a:gd name="T25" fmla="*/ 35 h 149"/>
                <a:gd name="T26" fmla="*/ 122 w 263"/>
                <a:gd name="T27" fmla="*/ 37 h 149"/>
                <a:gd name="T28" fmla="*/ 94 w 263"/>
                <a:gd name="T29" fmla="*/ 36 h 149"/>
                <a:gd name="T30" fmla="*/ 67 w 263"/>
                <a:gd name="T31" fmla="*/ 29 h 149"/>
                <a:gd name="T32" fmla="*/ 36 w 263"/>
                <a:gd name="T33" fmla="*/ 14 h 149"/>
                <a:gd name="T34" fmla="*/ 17 w 263"/>
                <a:gd name="T35" fmla="*/ 5 h 149"/>
                <a:gd name="T36" fmla="*/ 10 w 263"/>
                <a:gd name="T37" fmla="*/ 1 h 149"/>
                <a:gd name="T38" fmla="*/ 7 w 263"/>
                <a:gd name="T39" fmla="*/ 0 h 149"/>
                <a:gd name="T40" fmla="*/ 0 w 263"/>
                <a:gd name="T41" fmla="*/ 4 h 149"/>
                <a:gd name="T42" fmla="*/ 57 w 263"/>
                <a:gd name="T43" fmla="*/ 32 h 149"/>
                <a:gd name="T44" fmla="*/ 80 w 263"/>
                <a:gd name="T45" fmla="*/ 39 h 149"/>
                <a:gd name="T46" fmla="*/ 100 w 263"/>
                <a:gd name="T47" fmla="*/ 41 h 149"/>
                <a:gd name="T48" fmla="*/ 120 w 263"/>
                <a:gd name="T49" fmla="*/ 41 h 149"/>
                <a:gd name="T50" fmla="*/ 136 w 263"/>
                <a:gd name="T51" fmla="*/ 41 h 149"/>
                <a:gd name="T52" fmla="*/ 143 w 263"/>
                <a:gd name="T53" fmla="*/ 40 h 149"/>
                <a:gd name="T54" fmla="*/ 151 w 263"/>
                <a:gd name="T55" fmla="*/ 39 h 149"/>
                <a:gd name="T56" fmla="*/ 161 w 263"/>
                <a:gd name="T57" fmla="*/ 39 h 149"/>
                <a:gd name="T58" fmla="*/ 175 w 263"/>
                <a:gd name="T59" fmla="*/ 39 h 149"/>
                <a:gd name="T60" fmla="*/ 194 w 263"/>
                <a:gd name="T61" fmla="*/ 41 h 149"/>
                <a:gd name="T62" fmla="*/ 217 w 263"/>
                <a:gd name="T63" fmla="*/ 47 h 149"/>
                <a:gd name="T64" fmla="*/ 237 w 263"/>
                <a:gd name="T65" fmla="*/ 59 h 149"/>
                <a:gd name="T66" fmla="*/ 249 w 263"/>
                <a:gd name="T67" fmla="*/ 72 h 149"/>
                <a:gd name="T68" fmla="*/ 250 w 263"/>
                <a:gd name="T69" fmla="*/ 78 h 149"/>
                <a:gd name="T70" fmla="*/ 248 w 263"/>
                <a:gd name="T71" fmla="*/ 82 h 149"/>
                <a:gd name="T72" fmla="*/ 237 w 263"/>
                <a:gd name="T73" fmla="*/ 85 h 149"/>
                <a:gd name="T74" fmla="*/ 222 w 263"/>
                <a:gd name="T75" fmla="*/ 87 h 149"/>
                <a:gd name="T76" fmla="*/ 209 w 263"/>
                <a:gd name="T77" fmla="*/ 89 h 149"/>
                <a:gd name="T78" fmla="*/ 197 w 263"/>
                <a:gd name="T79" fmla="*/ 92 h 149"/>
                <a:gd name="T80" fmla="*/ 186 w 263"/>
                <a:gd name="T81" fmla="*/ 95 h 149"/>
                <a:gd name="T82" fmla="*/ 178 w 263"/>
                <a:gd name="T83" fmla="*/ 101 h 149"/>
                <a:gd name="T84" fmla="*/ 174 w 263"/>
                <a:gd name="T85" fmla="*/ 104 h 149"/>
                <a:gd name="T86" fmla="*/ 172 w 263"/>
                <a:gd name="T87" fmla="*/ 108 h 149"/>
                <a:gd name="T88" fmla="*/ 172 w 263"/>
                <a:gd name="T89" fmla="*/ 111 h 149"/>
                <a:gd name="T90" fmla="*/ 174 w 263"/>
                <a:gd name="T91" fmla="*/ 115 h 149"/>
                <a:gd name="T92" fmla="*/ 185 w 263"/>
                <a:gd name="T93" fmla="*/ 127 h 149"/>
                <a:gd name="T94" fmla="*/ 202 w 263"/>
                <a:gd name="T95" fmla="*/ 137 h 149"/>
                <a:gd name="T96" fmla="*/ 218 w 263"/>
                <a:gd name="T97" fmla="*/ 143 h 149"/>
                <a:gd name="T98" fmla="*/ 228 w 263"/>
                <a:gd name="T99" fmla="*/ 148 h 14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63" h="149">
                  <a:moveTo>
                    <a:pt x="234" y="142"/>
                  </a:moveTo>
                  <a:lnTo>
                    <a:pt x="230" y="141"/>
                  </a:lnTo>
                  <a:lnTo>
                    <a:pt x="223" y="138"/>
                  </a:lnTo>
                  <a:lnTo>
                    <a:pt x="213" y="134"/>
                  </a:lnTo>
                  <a:lnTo>
                    <a:pt x="203" y="129"/>
                  </a:lnTo>
                  <a:lnTo>
                    <a:pt x="193" y="124"/>
                  </a:lnTo>
                  <a:lnTo>
                    <a:pt x="186" y="117"/>
                  </a:lnTo>
                  <a:lnTo>
                    <a:pt x="183" y="110"/>
                  </a:lnTo>
                  <a:lnTo>
                    <a:pt x="186" y="104"/>
                  </a:lnTo>
                  <a:lnTo>
                    <a:pt x="197" y="100"/>
                  </a:lnTo>
                  <a:lnTo>
                    <a:pt x="208" y="96"/>
                  </a:lnTo>
                  <a:lnTo>
                    <a:pt x="222" y="93"/>
                  </a:lnTo>
                  <a:lnTo>
                    <a:pt x="236" y="91"/>
                  </a:lnTo>
                  <a:lnTo>
                    <a:pt x="249" y="89"/>
                  </a:lnTo>
                  <a:lnTo>
                    <a:pt x="258" y="85"/>
                  </a:lnTo>
                  <a:lnTo>
                    <a:pt x="262" y="80"/>
                  </a:lnTo>
                  <a:lnTo>
                    <a:pt x="259" y="71"/>
                  </a:lnTo>
                  <a:lnTo>
                    <a:pt x="251" y="62"/>
                  </a:lnTo>
                  <a:lnTo>
                    <a:pt x="241" y="54"/>
                  </a:lnTo>
                  <a:lnTo>
                    <a:pt x="231" y="47"/>
                  </a:lnTo>
                  <a:lnTo>
                    <a:pt x="220" y="42"/>
                  </a:lnTo>
                  <a:lnTo>
                    <a:pt x="208" y="38"/>
                  </a:lnTo>
                  <a:lnTo>
                    <a:pt x="197" y="36"/>
                  </a:lnTo>
                  <a:lnTo>
                    <a:pt x="186" y="34"/>
                  </a:lnTo>
                  <a:lnTo>
                    <a:pt x="176" y="34"/>
                  </a:lnTo>
                  <a:lnTo>
                    <a:pt x="155" y="35"/>
                  </a:lnTo>
                  <a:lnTo>
                    <a:pt x="137" y="36"/>
                  </a:lnTo>
                  <a:lnTo>
                    <a:pt x="122" y="37"/>
                  </a:lnTo>
                  <a:lnTo>
                    <a:pt x="108" y="37"/>
                  </a:lnTo>
                  <a:lnTo>
                    <a:pt x="94" y="36"/>
                  </a:lnTo>
                  <a:lnTo>
                    <a:pt x="81" y="34"/>
                  </a:lnTo>
                  <a:lnTo>
                    <a:pt x="67" y="29"/>
                  </a:lnTo>
                  <a:lnTo>
                    <a:pt x="52" y="22"/>
                  </a:lnTo>
                  <a:lnTo>
                    <a:pt x="36" y="14"/>
                  </a:lnTo>
                  <a:lnTo>
                    <a:pt x="26" y="9"/>
                  </a:lnTo>
                  <a:lnTo>
                    <a:pt x="17" y="5"/>
                  </a:lnTo>
                  <a:lnTo>
                    <a:pt x="12" y="3"/>
                  </a:lnTo>
                  <a:lnTo>
                    <a:pt x="10" y="1"/>
                  </a:lnTo>
                  <a:lnTo>
                    <a:pt x="8" y="0"/>
                  </a:lnTo>
                  <a:lnTo>
                    <a:pt x="7" y="0"/>
                  </a:lnTo>
                  <a:lnTo>
                    <a:pt x="0" y="4"/>
                  </a:lnTo>
                  <a:lnTo>
                    <a:pt x="44" y="27"/>
                  </a:lnTo>
                  <a:lnTo>
                    <a:pt x="57" y="32"/>
                  </a:lnTo>
                  <a:lnTo>
                    <a:pt x="68" y="36"/>
                  </a:lnTo>
                  <a:lnTo>
                    <a:pt x="80" y="39"/>
                  </a:lnTo>
                  <a:lnTo>
                    <a:pt x="90" y="41"/>
                  </a:lnTo>
                  <a:lnTo>
                    <a:pt x="100" y="41"/>
                  </a:lnTo>
                  <a:lnTo>
                    <a:pt x="110" y="42"/>
                  </a:lnTo>
                  <a:lnTo>
                    <a:pt x="120" y="41"/>
                  </a:lnTo>
                  <a:lnTo>
                    <a:pt x="131" y="41"/>
                  </a:lnTo>
                  <a:lnTo>
                    <a:pt x="136" y="41"/>
                  </a:lnTo>
                  <a:lnTo>
                    <a:pt x="139" y="40"/>
                  </a:lnTo>
                  <a:lnTo>
                    <a:pt x="143" y="40"/>
                  </a:lnTo>
                  <a:lnTo>
                    <a:pt x="147" y="40"/>
                  </a:lnTo>
                  <a:lnTo>
                    <a:pt x="151" y="39"/>
                  </a:lnTo>
                  <a:lnTo>
                    <a:pt x="156" y="39"/>
                  </a:lnTo>
                  <a:lnTo>
                    <a:pt x="161" y="39"/>
                  </a:lnTo>
                  <a:lnTo>
                    <a:pt x="167" y="39"/>
                  </a:lnTo>
                  <a:lnTo>
                    <a:pt x="175" y="39"/>
                  </a:lnTo>
                  <a:lnTo>
                    <a:pt x="184" y="40"/>
                  </a:lnTo>
                  <a:lnTo>
                    <a:pt x="194" y="41"/>
                  </a:lnTo>
                  <a:lnTo>
                    <a:pt x="206" y="43"/>
                  </a:lnTo>
                  <a:lnTo>
                    <a:pt x="217" y="47"/>
                  </a:lnTo>
                  <a:lnTo>
                    <a:pt x="227" y="53"/>
                  </a:lnTo>
                  <a:lnTo>
                    <a:pt x="237" y="59"/>
                  </a:lnTo>
                  <a:lnTo>
                    <a:pt x="245" y="67"/>
                  </a:lnTo>
                  <a:lnTo>
                    <a:pt x="249" y="72"/>
                  </a:lnTo>
                  <a:lnTo>
                    <a:pt x="250" y="76"/>
                  </a:lnTo>
                  <a:lnTo>
                    <a:pt x="250" y="78"/>
                  </a:lnTo>
                  <a:lnTo>
                    <a:pt x="249" y="80"/>
                  </a:lnTo>
                  <a:lnTo>
                    <a:pt x="248" y="82"/>
                  </a:lnTo>
                  <a:lnTo>
                    <a:pt x="244" y="83"/>
                  </a:lnTo>
                  <a:lnTo>
                    <a:pt x="237" y="85"/>
                  </a:lnTo>
                  <a:lnTo>
                    <a:pt x="231" y="86"/>
                  </a:lnTo>
                  <a:lnTo>
                    <a:pt x="222" y="87"/>
                  </a:lnTo>
                  <a:lnTo>
                    <a:pt x="216" y="88"/>
                  </a:lnTo>
                  <a:lnTo>
                    <a:pt x="209" y="89"/>
                  </a:lnTo>
                  <a:lnTo>
                    <a:pt x="203" y="90"/>
                  </a:lnTo>
                  <a:lnTo>
                    <a:pt x="197" y="92"/>
                  </a:lnTo>
                  <a:lnTo>
                    <a:pt x="192" y="93"/>
                  </a:lnTo>
                  <a:lnTo>
                    <a:pt x="186" y="95"/>
                  </a:lnTo>
                  <a:lnTo>
                    <a:pt x="181" y="97"/>
                  </a:lnTo>
                  <a:lnTo>
                    <a:pt x="178" y="101"/>
                  </a:lnTo>
                  <a:lnTo>
                    <a:pt x="176" y="103"/>
                  </a:lnTo>
                  <a:lnTo>
                    <a:pt x="174" y="104"/>
                  </a:lnTo>
                  <a:lnTo>
                    <a:pt x="174" y="106"/>
                  </a:lnTo>
                  <a:lnTo>
                    <a:pt x="172" y="108"/>
                  </a:lnTo>
                  <a:lnTo>
                    <a:pt x="172" y="109"/>
                  </a:lnTo>
                  <a:lnTo>
                    <a:pt x="172" y="111"/>
                  </a:lnTo>
                  <a:lnTo>
                    <a:pt x="172" y="113"/>
                  </a:lnTo>
                  <a:lnTo>
                    <a:pt x="174" y="115"/>
                  </a:lnTo>
                  <a:lnTo>
                    <a:pt x="178" y="121"/>
                  </a:lnTo>
                  <a:lnTo>
                    <a:pt x="185" y="127"/>
                  </a:lnTo>
                  <a:lnTo>
                    <a:pt x="193" y="132"/>
                  </a:lnTo>
                  <a:lnTo>
                    <a:pt x="202" y="137"/>
                  </a:lnTo>
                  <a:lnTo>
                    <a:pt x="211" y="140"/>
                  </a:lnTo>
                  <a:lnTo>
                    <a:pt x="218" y="143"/>
                  </a:lnTo>
                  <a:lnTo>
                    <a:pt x="225" y="146"/>
                  </a:lnTo>
                  <a:lnTo>
                    <a:pt x="228" y="148"/>
                  </a:lnTo>
                  <a:lnTo>
                    <a:pt x="234" y="142"/>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50" name="Freeform 249"/>
            <p:cNvSpPr>
              <a:spLocks/>
            </p:cNvSpPr>
            <p:nvPr/>
          </p:nvSpPr>
          <p:spPr bwMode="auto">
            <a:xfrm>
              <a:off x="1928" y="3146"/>
              <a:ext cx="164" cy="65"/>
            </a:xfrm>
            <a:custGeom>
              <a:avLst/>
              <a:gdLst>
                <a:gd name="T0" fmla="*/ 109 w 164"/>
                <a:gd name="T1" fmla="*/ 2 h 65"/>
                <a:gd name="T2" fmla="*/ 96 w 164"/>
                <a:gd name="T3" fmla="*/ 0 h 65"/>
                <a:gd name="T4" fmla="*/ 85 w 164"/>
                <a:gd name="T5" fmla="*/ 0 h 65"/>
                <a:gd name="T6" fmla="*/ 75 w 164"/>
                <a:gd name="T7" fmla="*/ 1 h 65"/>
                <a:gd name="T8" fmla="*/ 66 w 164"/>
                <a:gd name="T9" fmla="*/ 2 h 65"/>
                <a:gd name="T10" fmla="*/ 59 w 164"/>
                <a:gd name="T11" fmla="*/ 4 h 65"/>
                <a:gd name="T12" fmla="*/ 54 w 164"/>
                <a:gd name="T13" fmla="*/ 6 h 65"/>
                <a:gd name="T14" fmla="*/ 50 w 164"/>
                <a:gd name="T15" fmla="*/ 8 h 65"/>
                <a:gd name="T16" fmla="*/ 49 w 164"/>
                <a:gd name="T17" fmla="*/ 8 h 65"/>
                <a:gd name="T18" fmla="*/ 0 w 164"/>
                <a:gd name="T19" fmla="*/ 41 h 65"/>
                <a:gd name="T20" fmla="*/ 0 w 164"/>
                <a:gd name="T21" fmla="*/ 45 h 65"/>
                <a:gd name="T22" fmla="*/ 1 w 164"/>
                <a:gd name="T23" fmla="*/ 44 h 65"/>
                <a:gd name="T24" fmla="*/ 5 w 164"/>
                <a:gd name="T25" fmla="*/ 43 h 65"/>
                <a:gd name="T26" fmla="*/ 8 w 164"/>
                <a:gd name="T27" fmla="*/ 42 h 65"/>
                <a:gd name="T28" fmla="*/ 15 w 164"/>
                <a:gd name="T29" fmla="*/ 40 h 65"/>
                <a:gd name="T30" fmla="*/ 22 w 164"/>
                <a:gd name="T31" fmla="*/ 39 h 65"/>
                <a:gd name="T32" fmla="*/ 31 w 164"/>
                <a:gd name="T33" fmla="*/ 38 h 65"/>
                <a:gd name="T34" fmla="*/ 42 w 164"/>
                <a:gd name="T35" fmla="*/ 38 h 65"/>
                <a:gd name="T36" fmla="*/ 52 w 164"/>
                <a:gd name="T37" fmla="*/ 40 h 65"/>
                <a:gd name="T38" fmla="*/ 67 w 164"/>
                <a:gd name="T39" fmla="*/ 44 h 65"/>
                <a:gd name="T40" fmla="*/ 78 w 164"/>
                <a:gd name="T41" fmla="*/ 48 h 65"/>
                <a:gd name="T42" fmla="*/ 87 w 164"/>
                <a:gd name="T43" fmla="*/ 51 h 65"/>
                <a:gd name="T44" fmla="*/ 94 w 164"/>
                <a:gd name="T45" fmla="*/ 53 h 65"/>
                <a:gd name="T46" fmla="*/ 100 w 164"/>
                <a:gd name="T47" fmla="*/ 55 h 65"/>
                <a:gd name="T48" fmla="*/ 104 w 164"/>
                <a:gd name="T49" fmla="*/ 57 h 65"/>
                <a:gd name="T50" fmla="*/ 109 w 164"/>
                <a:gd name="T51" fmla="*/ 59 h 65"/>
                <a:gd name="T52" fmla="*/ 114 w 164"/>
                <a:gd name="T53" fmla="*/ 60 h 65"/>
                <a:gd name="T54" fmla="*/ 136 w 164"/>
                <a:gd name="T55" fmla="*/ 64 h 65"/>
                <a:gd name="T56" fmla="*/ 150 w 164"/>
                <a:gd name="T57" fmla="*/ 62 h 65"/>
                <a:gd name="T58" fmla="*/ 159 w 164"/>
                <a:gd name="T59" fmla="*/ 56 h 65"/>
                <a:gd name="T60" fmla="*/ 163 w 164"/>
                <a:gd name="T61" fmla="*/ 49 h 65"/>
                <a:gd name="T62" fmla="*/ 163 w 164"/>
                <a:gd name="T63" fmla="*/ 41 h 65"/>
                <a:gd name="T64" fmla="*/ 161 w 164"/>
                <a:gd name="T65" fmla="*/ 33 h 65"/>
                <a:gd name="T66" fmla="*/ 159 w 164"/>
                <a:gd name="T67" fmla="*/ 25 h 65"/>
                <a:gd name="T68" fmla="*/ 156 w 164"/>
                <a:gd name="T69" fmla="*/ 22 h 65"/>
                <a:gd name="T70" fmla="*/ 154 w 164"/>
                <a:gd name="T71" fmla="*/ 21 h 65"/>
                <a:gd name="T72" fmla="*/ 152 w 164"/>
                <a:gd name="T73" fmla="*/ 19 h 65"/>
                <a:gd name="T74" fmla="*/ 148 w 164"/>
                <a:gd name="T75" fmla="*/ 17 h 65"/>
                <a:gd name="T76" fmla="*/ 143 w 164"/>
                <a:gd name="T77" fmla="*/ 14 h 65"/>
                <a:gd name="T78" fmla="*/ 137 w 164"/>
                <a:gd name="T79" fmla="*/ 11 h 65"/>
                <a:gd name="T80" fmla="*/ 129 w 164"/>
                <a:gd name="T81" fmla="*/ 8 h 65"/>
                <a:gd name="T82" fmla="*/ 120 w 164"/>
                <a:gd name="T83" fmla="*/ 5 h 65"/>
                <a:gd name="T84" fmla="*/ 109 w 164"/>
                <a:gd name="T85" fmla="*/ 2 h 6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64" h="65">
                  <a:moveTo>
                    <a:pt x="109" y="2"/>
                  </a:moveTo>
                  <a:lnTo>
                    <a:pt x="96" y="0"/>
                  </a:lnTo>
                  <a:lnTo>
                    <a:pt x="85" y="0"/>
                  </a:lnTo>
                  <a:lnTo>
                    <a:pt x="75" y="1"/>
                  </a:lnTo>
                  <a:lnTo>
                    <a:pt x="66" y="2"/>
                  </a:lnTo>
                  <a:lnTo>
                    <a:pt x="59" y="4"/>
                  </a:lnTo>
                  <a:lnTo>
                    <a:pt x="54" y="6"/>
                  </a:lnTo>
                  <a:lnTo>
                    <a:pt x="50" y="8"/>
                  </a:lnTo>
                  <a:lnTo>
                    <a:pt x="49" y="8"/>
                  </a:lnTo>
                  <a:lnTo>
                    <a:pt x="0" y="41"/>
                  </a:lnTo>
                  <a:lnTo>
                    <a:pt x="0" y="45"/>
                  </a:lnTo>
                  <a:lnTo>
                    <a:pt x="1" y="44"/>
                  </a:lnTo>
                  <a:lnTo>
                    <a:pt x="5" y="43"/>
                  </a:lnTo>
                  <a:lnTo>
                    <a:pt x="8" y="42"/>
                  </a:lnTo>
                  <a:lnTo>
                    <a:pt x="15" y="40"/>
                  </a:lnTo>
                  <a:lnTo>
                    <a:pt x="22" y="39"/>
                  </a:lnTo>
                  <a:lnTo>
                    <a:pt x="31" y="38"/>
                  </a:lnTo>
                  <a:lnTo>
                    <a:pt x="42" y="38"/>
                  </a:lnTo>
                  <a:lnTo>
                    <a:pt x="52" y="40"/>
                  </a:lnTo>
                  <a:lnTo>
                    <a:pt x="67" y="44"/>
                  </a:lnTo>
                  <a:lnTo>
                    <a:pt x="78" y="48"/>
                  </a:lnTo>
                  <a:lnTo>
                    <a:pt x="87" y="51"/>
                  </a:lnTo>
                  <a:lnTo>
                    <a:pt x="94" y="53"/>
                  </a:lnTo>
                  <a:lnTo>
                    <a:pt x="100" y="55"/>
                  </a:lnTo>
                  <a:lnTo>
                    <a:pt x="104" y="57"/>
                  </a:lnTo>
                  <a:lnTo>
                    <a:pt x="109" y="59"/>
                  </a:lnTo>
                  <a:lnTo>
                    <a:pt x="114" y="60"/>
                  </a:lnTo>
                  <a:lnTo>
                    <a:pt x="136" y="64"/>
                  </a:lnTo>
                  <a:lnTo>
                    <a:pt x="150" y="62"/>
                  </a:lnTo>
                  <a:lnTo>
                    <a:pt x="159" y="56"/>
                  </a:lnTo>
                  <a:lnTo>
                    <a:pt x="163" y="49"/>
                  </a:lnTo>
                  <a:lnTo>
                    <a:pt x="163" y="41"/>
                  </a:lnTo>
                  <a:lnTo>
                    <a:pt x="161" y="33"/>
                  </a:lnTo>
                  <a:lnTo>
                    <a:pt x="159" y="25"/>
                  </a:lnTo>
                  <a:lnTo>
                    <a:pt x="156" y="22"/>
                  </a:lnTo>
                  <a:lnTo>
                    <a:pt x="154" y="21"/>
                  </a:lnTo>
                  <a:lnTo>
                    <a:pt x="152" y="19"/>
                  </a:lnTo>
                  <a:lnTo>
                    <a:pt x="148" y="17"/>
                  </a:lnTo>
                  <a:lnTo>
                    <a:pt x="143" y="14"/>
                  </a:lnTo>
                  <a:lnTo>
                    <a:pt x="137" y="11"/>
                  </a:lnTo>
                  <a:lnTo>
                    <a:pt x="129" y="8"/>
                  </a:lnTo>
                  <a:lnTo>
                    <a:pt x="120" y="5"/>
                  </a:lnTo>
                  <a:lnTo>
                    <a:pt x="109" y="2"/>
                  </a:lnTo>
                </a:path>
              </a:pathLst>
            </a:custGeom>
            <a:solidFill>
              <a:srgbClr val="DDDDD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51" name="Freeform 250"/>
            <p:cNvSpPr>
              <a:spLocks/>
            </p:cNvSpPr>
            <p:nvPr/>
          </p:nvSpPr>
          <p:spPr bwMode="auto">
            <a:xfrm>
              <a:off x="1955" y="3146"/>
              <a:ext cx="51" cy="39"/>
            </a:xfrm>
            <a:custGeom>
              <a:avLst/>
              <a:gdLst>
                <a:gd name="T0" fmla="*/ 0 w 51"/>
                <a:gd name="T1" fmla="*/ 38 h 39"/>
                <a:gd name="T2" fmla="*/ 0 w 51"/>
                <a:gd name="T3" fmla="*/ 38 h 39"/>
                <a:gd name="T4" fmla="*/ 0 w 51"/>
                <a:gd name="T5" fmla="*/ 38 h 39"/>
                <a:gd name="T6" fmla="*/ 0 w 51"/>
                <a:gd name="T7" fmla="*/ 38 h 39"/>
                <a:gd name="T8" fmla="*/ 0 w 51"/>
                <a:gd name="T9" fmla="*/ 36 h 39"/>
                <a:gd name="T10" fmla="*/ 0 w 51"/>
                <a:gd name="T11" fmla="*/ 35 h 39"/>
                <a:gd name="T12" fmla="*/ 0 w 51"/>
                <a:gd name="T13" fmla="*/ 35 h 39"/>
                <a:gd name="T14" fmla="*/ 0 w 51"/>
                <a:gd name="T15" fmla="*/ 34 h 39"/>
                <a:gd name="T16" fmla="*/ 0 w 51"/>
                <a:gd name="T17" fmla="*/ 33 h 39"/>
                <a:gd name="T18" fmla="*/ 2 w 51"/>
                <a:gd name="T19" fmla="*/ 32 h 39"/>
                <a:gd name="T20" fmla="*/ 8 w 51"/>
                <a:gd name="T21" fmla="*/ 28 h 39"/>
                <a:gd name="T22" fmla="*/ 15 w 51"/>
                <a:gd name="T23" fmla="*/ 23 h 39"/>
                <a:gd name="T24" fmla="*/ 23 w 51"/>
                <a:gd name="T25" fmla="*/ 16 h 39"/>
                <a:gd name="T26" fmla="*/ 32 w 51"/>
                <a:gd name="T27" fmla="*/ 10 h 39"/>
                <a:gd name="T28" fmla="*/ 40 w 51"/>
                <a:gd name="T29" fmla="*/ 5 h 39"/>
                <a:gd name="T30" fmla="*/ 45 w 51"/>
                <a:gd name="T31" fmla="*/ 1 h 39"/>
                <a:gd name="T32" fmla="*/ 48 w 51"/>
                <a:gd name="T33" fmla="*/ 0 h 39"/>
                <a:gd name="T34" fmla="*/ 48 w 51"/>
                <a:gd name="T35" fmla="*/ 0 h 39"/>
                <a:gd name="T36" fmla="*/ 48 w 51"/>
                <a:gd name="T37" fmla="*/ 0 h 39"/>
                <a:gd name="T38" fmla="*/ 48 w 51"/>
                <a:gd name="T39" fmla="*/ 0 h 39"/>
                <a:gd name="T40" fmla="*/ 50 w 51"/>
                <a:gd name="T41" fmla="*/ 0 h 39"/>
                <a:gd name="T42" fmla="*/ 48 w 51"/>
                <a:gd name="T43" fmla="*/ 0 h 39"/>
                <a:gd name="T44" fmla="*/ 48 w 51"/>
                <a:gd name="T45" fmla="*/ 0 h 39"/>
                <a:gd name="T46" fmla="*/ 48 w 51"/>
                <a:gd name="T47" fmla="*/ 0 h 39"/>
                <a:gd name="T48" fmla="*/ 47 w 51"/>
                <a:gd name="T49" fmla="*/ 1 h 39"/>
                <a:gd name="T50" fmla="*/ 41 w 51"/>
                <a:gd name="T51" fmla="*/ 5 h 39"/>
                <a:gd name="T52" fmla="*/ 33 w 51"/>
                <a:gd name="T53" fmla="*/ 10 h 39"/>
                <a:gd name="T54" fmla="*/ 26 w 51"/>
                <a:gd name="T55" fmla="*/ 16 h 39"/>
                <a:gd name="T56" fmla="*/ 17 w 51"/>
                <a:gd name="T57" fmla="*/ 23 h 39"/>
                <a:gd name="T58" fmla="*/ 10 w 51"/>
                <a:gd name="T59" fmla="*/ 28 h 39"/>
                <a:gd name="T60" fmla="*/ 3 w 51"/>
                <a:gd name="T61" fmla="*/ 32 h 39"/>
                <a:gd name="T62" fmla="*/ 1 w 51"/>
                <a:gd name="T63" fmla="*/ 33 h 39"/>
                <a:gd name="T64" fmla="*/ 1 w 51"/>
                <a:gd name="T65" fmla="*/ 34 h 39"/>
                <a:gd name="T66" fmla="*/ 1 w 51"/>
                <a:gd name="T67" fmla="*/ 35 h 39"/>
                <a:gd name="T68" fmla="*/ 1 w 51"/>
                <a:gd name="T69" fmla="*/ 35 h 39"/>
                <a:gd name="T70" fmla="*/ 1 w 51"/>
                <a:gd name="T71" fmla="*/ 36 h 39"/>
                <a:gd name="T72" fmla="*/ 1 w 51"/>
                <a:gd name="T73" fmla="*/ 36 h 39"/>
                <a:gd name="T74" fmla="*/ 1 w 51"/>
                <a:gd name="T75" fmla="*/ 38 h 39"/>
                <a:gd name="T76" fmla="*/ 1 w 51"/>
                <a:gd name="T77" fmla="*/ 38 h 39"/>
                <a:gd name="T78" fmla="*/ 1 w 51"/>
                <a:gd name="T79" fmla="*/ 38 h 39"/>
                <a:gd name="T80" fmla="*/ 0 w 51"/>
                <a:gd name="T81" fmla="*/ 38 h 3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51" h="39">
                  <a:moveTo>
                    <a:pt x="0" y="38"/>
                  </a:moveTo>
                  <a:lnTo>
                    <a:pt x="0" y="38"/>
                  </a:lnTo>
                  <a:lnTo>
                    <a:pt x="0" y="36"/>
                  </a:lnTo>
                  <a:lnTo>
                    <a:pt x="0" y="35"/>
                  </a:lnTo>
                  <a:lnTo>
                    <a:pt x="0" y="34"/>
                  </a:lnTo>
                  <a:lnTo>
                    <a:pt x="0" y="33"/>
                  </a:lnTo>
                  <a:lnTo>
                    <a:pt x="2" y="32"/>
                  </a:lnTo>
                  <a:lnTo>
                    <a:pt x="8" y="28"/>
                  </a:lnTo>
                  <a:lnTo>
                    <a:pt x="15" y="23"/>
                  </a:lnTo>
                  <a:lnTo>
                    <a:pt x="23" y="16"/>
                  </a:lnTo>
                  <a:lnTo>
                    <a:pt x="32" y="10"/>
                  </a:lnTo>
                  <a:lnTo>
                    <a:pt x="40" y="5"/>
                  </a:lnTo>
                  <a:lnTo>
                    <a:pt x="45" y="1"/>
                  </a:lnTo>
                  <a:lnTo>
                    <a:pt x="48" y="0"/>
                  </a:lnTo>
                  <a:lnTo>
                    <a:pt x="50" y="0"/>
                  </a:lnTo>
                  <a:lnTo>
                    <a:pt x="48" y="0"/>
                  </a:lnTo>
                  <a:lnTo>
                    <a:pt x="47" y="1"/>
                  </a:lnTo>
                  <a:lnTo>
                    <a:pt x="41" y="5"/>
                  </a:lnTo>
                  <a:lnTo>
                    <a:pt x="33" y="10"/>
                  </a:lnTo>
                  <a:lnTo>
                    <a:pt x="26" y="16"/>
                  </a:lnTo>
                  <a:lnTo>
                    <a:pt x="17" y="23"/>
                  </a:lnTo>
                  <a:lnTo>
                    <a:pt x="10" y="28"/>
                  </a:lnTo>
                  <a:lnTo>
                    <a:pt x="3" y="32"/>
                  </a:lnTo>
                  <a:lnTo>
                    <a:pt x="1" y="33"/>
                  </a:lnTo>
                  <a:lnTo>
                    <a:pt x="1" y="34"/>
                  </a:lnTo>
                  <a:lnTo>
                    <a:pt x="1" y="35"/>
                  </a:lnTo>
                  <a:lnTo>
                    <a:pt x="1" y="36"/>
                  </a:lnTo>
                  <a:lnTo>
                    <a:pt x="1" y="38"/>
                  </a:lnTo>
                  <a:lnTo>
                    <a:pt x="0" y="38"/>
                  </a:lnTo>
                </a:path>
              </a:pathLst>
            </a:custGeom>
            <a:solidFill>
              <a:srgbClr val="7F7F7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52" name="Freeform 251"/>
            <p:cNvSpPr>
              <a:spLocks/>
            </p:cNvSpPr>
            <p:nvPr/>
          </p:nvSpPr>
          <p:spPr bwMode="auto">
            <a:xfrm>
              <a:off x="1960" y="3162"/>
              <a:ext cx="21" cy="18"/>
            </a:xfrm>
            <a:custGeom>
              <a:avLst/>
              <a:gdLst>
                <a:gd name="T0" fmla="*/ 1 w 21"/>
                <a:gd name="T1" fmla="*/ 12 h 18"/>
                <a:gd name="T2" fmla="*/ 1 w 21"/>
                <a:gd name="T3" fmla="*/ 12 h 18"/>
                <a:gd name="T4" fmla="*/ 2 w 21"/>
                <a:gd name="T5" fmla="*/ 12 h 18"/>
                <a:gd name="T6" fmla="*/ 5 w 21"/>
                <a:gd name="T7" fmla="*/ 8 h 18"/>
                <a:gd name="T8" fmla="*/ 7 w 21"/>
                <a:gd name="T9" fmla="*/ 8 h 18"/>
                <a:gd name="T10" fmla="*/ 10 w 21"/>
                <a:gd name="T11" fmla="*/ 4 h 18"/>
                <a:gd name="T12" fmla="*/ 12 w 21"/>
                <a:gd name="T13" fmla="*/ 0 h 18"/>
                <a:gd name="T14" fmla="*/ 15 w 21"/>
                <a:gd name="T15" fmla="*/ 0 h 18"/>
                <a:gd name="T16" fmla="*/ 16 w 21"/>
                <a:gd name="T17" fmla="*/ 0 h 18"/>
                <a:gd name="T18" fmla="*/ 17 w 21"/>
                <a:gd name="T19" fmla="*/ 0 h 18"/>
                <a:gd name="T20" fmla="*/ 18 w 21"/>
                <a:gd name="T21" fmla="*/ 0 h 18"/>
                <a:gd name="T22" fmla="*/ 20 w 21"/>
                <a:gd name="T23" fmla="*/ 0 h 18"/>
                <a:gd name="T24" fmla="*/ 20 w 21"/>
                <a:gd name="T25" fmla="*/ 0 h 18"/>
                <a:gd name="T26" fmla="*/ 20 w 21"/>
                <a:gd name="T27" fmla="*/ 0 h 18"/>
                <a:gd name="T28" fmla="*/ 20 w 21"/>
                <a:gd name="T29" fmla="*/ 0 h 18"/>
                <a:gd name="T30" fmla="*/ 20 w 21"/>
                <a:gd name="T31" fmla="*/ 0 h 18"/>
                <a:gd name="T32" fmla="*/ 20 w 21"/>
                <a:gd name="T33" fmla="*/ 0 h 18"/>
                <a:gd name="T34" fmla="*/ 18 w 21"/>
                <a:gd name="T35" fmla="*/ 4 h 18"/>
                <a:gd name="T36" fmla="*/ 18 w 21"/>
                <a:gd name="T37" fmla="*/ 4 h 18"/>
                <a:gd name="T38" fmla="*/ 18 w 21"/>
                <a:gd name="T39" fmla="*/ 4 h 18"/>
                <a:gd name="T40" fmla="*/ 18 w 21"/>
                <a:gd name="T41" fmla="*/ 4 h 18"/>
                <a:gd name="T42" fmla="*/ 17 w 21"/>
                <a:gd name="T43" fmla="*/ 4 h 18"/>
                <a:gd name="T44" fmla="*/ 16 w 21"/>
                <a:gd name="T45" fmla="*/ 4 h 18"/>
                <a:gd name="T46" fmla="*/ 15 w 21"/>
                <a:gd name="T47" fmla="*/ 4 h 18"/>
                <a:gd name="T48" fmla="*/ 13 w 21"/>
                <a:gd name="T49" fmla="*/ 4 h 18"/>
                <a:gd name="T50" fmla="*/ 12 w 21"/>
                <a:gd name="T51" fmla="*/ 4 h 18"/>
                <a:gd name="T52" fmla="*/ 10 w 21"/>
                <a:gd name="T53" fmla="*/ 8 h 18"/>
                <a:gd name="T54" fmla="*/ 7 w 21"/>
                <a:gd name="T55" fmla="*/ 8 h 18"/>
                <a:gd name="T56" fmla="*/ 5 w 21"/>
                <a:gd name="T57" fmla="*/ 12 h 18"/>
                <a:gd name="T58" fmla="*/ 3 w 21"/>
                <a:gd name="T59" fmla="*/ 12 h 18"/>
                <a:gd name="T60" fmla="*/ 1 w 21"/>
                <a:gd name="T61" fmla="*/ 17 h 18"/>
                <a:gd name="T62" fmla="*/ 0 w 21"/>
                <a:gd name="T63" fmla="*/ 17 h 18"/>
                <a:gd name="T64" fmla="*/ 0 w 21"/>
                <a:gd name="T65" fmla="*/ 17 h 18"/>
                <a:gd name="T66" fmla="*/ 1 w 21"/>
                <a:gd name="T67" fmla="*/ 12 h 1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1" h="18">
                  <a:moveTo>
                    <a:pt x="1" y="12"/>
                  </a:moveTo>
                  <a:lnTo>
                    <a:pt x="1" y="12"/>
                  </a:lnTo>
                  <a:lnTo>
                    <a:pt x="2" y="12"/>
                  </a:lnTo>
                  <a:lnTo>
                    <a:pt x="5" y="8"/>
                  </a:lnTo>
                  <a:lnTo>
                    <a:pt x="7" y="8"/>
                  </a:lnTo>
                  <a:lnTo>
                    <a:pt x="10" y="4"/>
                  </a:lnTo>
                  <a:lnTo>
                    <a:pt x="12" y="0"/>
                  </a:lnTo>
                  <a:lnTo>
                    <a:pt x="15" y="0"/>
                  </a:lnTo>
                  <a:lnTo>
                    <a:pt x="16" y="0"/>
                  </a:lnTo>
                  <a:lnTo>
                    <a:pt x="17" y="0"/>
                  </a:lnTo>
                  <a:lnTo>
                    <a:pt x="18" y="0"/>
                  </a:lnTo>
                  <a:lnTo>
                    <a:pt x="20" y="0"/>
                  </a:lnTo>
                  <a:lnTo>
                    <a:pt x="18" y="4"/>
                  </a:lnTo>
                  <a:lnTo>
                    <a:pt x="17" y="4"/>
                  </a:lnTo>
                  <a:lnTo>
                    <a:pt x="16" y="4"/>
                  </a:lnTo>
                  <a:lnTo>
                    <a:pt x="15" y="4"/>
                  </a:lnTo>
                  <a:lnTo>
                    <a:pt x="13" y="4"/>
                  </a:lnTo>
                  <a:lnTo>
                    <a:pt x="12" y="4"/>
                  </a:lnTo>
                  <a:lnTo>
                    <a:pt x="10" y="8"/>
                  </a:lnTo>
                  <a:lnTo>
                    <a:pt x="7" y="8"/>
                  </a:lnTo>
                  <a:lnTo>
                    <a:pt x="5" y="12"/>
                  </a:lnTo>
                  <a:lnTo>
                    <a:pt x="3" y="12"/>
                  </a:lnTo>
                  <a:lnTo>
                    <a:pt x="1" y="17"/>
                  </a:lnTo>
                  <a:lnTo>
                    <a:pt x="0" y="17"/>
                  </a:lnTo>
                  <a:lnTo>
                    <a:pt x="1" y="12"/>
                  </a:lnTo>
                </a:path>
              </a:pathLst>
            </a:custGeom>
            <a:solidFill>
              <a:srgbClr val="7F7F7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53" name="Freeform 252"/>
            <p:cNvSpPr>
              <a:spLocks/>
            </p:cNvSpPr>
            <p:nvPr/>
          </p:nvSpPr>
          <p:spPr bwMode="auto">
            <a:xfrm>
              <a:off x="1039" y="2943"/>
              <a:ext cx="718" cy="329"/>
            </a:xfrm>
            <a:custGeom>
              <a:avLst/>
              <a:gdLst>
                <a:gd name="T0" fmla="*/ 232 w 718"/>
                <a:gd name="T1" fmla="*/ 328 h 329"/>
                <a:gd name="T2" fmla="*/ 717 w 718"/>
                <a:gd name="T3" fmla="*/ 215 h 329"/>
                <a:gd name="T4" fmla="*/ 717 w 718"/>
                <a:gd name="T5" fmla="*/ 162 h 329"/>
                <a:gd name="T6" fmla="*/ 385 w 718"/>
                <a:gd name="T7" fmla="*/ 0 h 329"/>
                <a:gd name="T8" fmla="*/ 0 w 718"/>
                <a:gd name="T9" fmla="*/ 192 h 329"/>
                <a:gd name="T10" fmla="*/ 0 w 718"/>
                <a:gd name="T11" fmla="*/ 217 h 329"/>
                <a:gd name="T12" fmla="*/ 232 w 718"/>
                <a:gd name="T13" fmla="*/ 328 h 32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18" h="329">
                  <a:moveTo>
                    <a:pt x="232" y="328"/>
                  </a:moveTo>
                  <a:lnTo>
                    <a:pt x="717" y="215"/>
                  </a:lnTo>
                  <a:lnTo>
                    <a:pt x="717" y="162"/>
                  </a:lnTo>
                  <a:lnTo>
                    <a:pt x="385" y="0"/>
                  </a:lnTo>
                  <a:lnTo>
                    <a:pt x="0" y="192"/>
                  </a:lnTo>
                  <a:lnTo>
                    <a:pt x="0" y="217"/>
                  </a:lnTo>
                  <a:lnTo>
                    <a:pt x="232" y="328"/>
                  </a:lnTo>
                </a:path>
              </a:pathLst>
            </a:custGeom>
            <a:solidFill>
              <a:srgbClr val="86868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54" name="Freeform 253"/>
            <p:cNvSpPr>
              <a:spLocks/>
            </p:cNvSpPr>
            <p:nvPr/>
          </p:nvSpPr>
          <p:spPr bwMode="auto">
            <a:xfrm>
              <a:off x="1027" y="2885"/>
              <a:ext cx="737" cy="350"/>
            </a:xfrm>
            <a:custGeom>
              <a:avLst/>
              <a:gdLst>
                <a:gd name="T0" fmla="*/ 241 w 737"/>
                <a:gd name="T1" fmla="*/ 349 h 350"/>
                <a:gd name="T2" fmla="*/ 736 w 737"/>
                <a:gd name="T3" fmla="*/ 236 h 350"/>
                <a:gd name="T4" fmla="*/ 736 w 737"/>
                <a:gd name="T5" fmla="*/ 97 h 350"/>
                <a:gd name="T6" fmla="*/ 524 w 737"/>
                <a:gd name="T7" fmla="*/ 0 h 350"/>
                <a:gd name="T8" fmla="*/ 0 w 737"/>
                <a:gd name="T9" fmla="*/ 115 h 350"/>
                <a:gd name="T10" fmla="*/ 0 w 737"/>
                <a:gd name="T11" fmla="*/ 234 h 350"/>
                <a:gd name="T12" fmla="*/ 241 w 737"/>
                <a:gd name="T13" fmla="*/ 349 h 3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37" h="350">
                  <a:moveTo>
                    <a:pt x="241" y="349"/>
                  </a:moveTo>
                  <a:lnTo>
                    <a:pt x="736" y="236"/>
                  </a:lnTo>
                  <a:lnTo>
                    <a:pt x="736" y="97"/>
                  </a:lnTo>
                  <a:lnTo>
                    <a:pt x="524" y="0"/>
                  </a:lnTo>
                  <a:lnTo>
                    <a:pt x="0" y="115"/>
                  </a:lnTo>
                  <a:lnTo>
                    <a:pt x="0" y="234"/>
                  </a:lnTo>
                  <a:lnTo>
                    <a:pt x="241" y="349"/>
                  </a:lnTo>
                </a:path>
              </a:pathLst>
            </a:custGeom>
            <a:solidFill>
              <a:srgbClr val="DDDDD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55" name="Freeform 254"/>
            <p:cNvSpPr>
              <a:spLocks/>
            </p:cNvSpPr>
            <p:nvPr/>
          </p:nvSpPr>
          <p:spPr bwMode="auto">
            <a:xfrm>
              <a:off x="1035" y="3013"/>
              <a:ext cx="235" cy="212"/>
            </a:xfrm>
            <a:custGeom>
              <a:avLst/>
              <a:gdLst>
                <a:gd name="T0" fmla="*/ 0 w 235"/>
                <a:gd name="T1" fmla="*/ 102 h 212"/>
                <a:gd name="T2" fmla="*/ 0 w 235"/>
                <a:gd name="T3" fmla="*/ 0 h 212"/>
                <a:gd name="T4" fmla="*/ 227 w 235"/>
                <a:gd name="T5" fmla="*/ 94 h 212"/>
                <a:gd name="T6" fmla="*/ 234 w 235"/>
                <a:gd name="T7" fmla="*/ 211 h 212"/>
                <a:gd name="T8" fmla="*/ 0 w 235"/>
                <a:gd name="T9" fmla="*/ 102 h 2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5" h="212">
                  <a:moveTo>
                    <a:pt x="0" y="102"/>
                  </a:moveTo>
                  <a:lnTo>
                    <a:pt x="0" y="0"/>
                  </a:lnTo>
                  <a:lnTo>
                    <a:pt x="227" y="94"/>
                  </a:lnTo>
                  <a:lnTo>
                    <a:pt x="234" y="211"/>
                  </a:lnTo>
                  <a:lnTo>
                    <a:pt x="0" y="102"/>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56" name="Freeform 255"/>
            <p:cNvSpPr>
              <a:spLocks/>
            </p:cNvSpPr>
            <p:nvPr/>
          </p:nvSpPr>
          <p:spPr bwMode="auto">
            <a:xfrm>
              <a:off x="1292" y="3158"/>
              <a:ext cx="623" cy="199"/>
            </a:xfrm>
            <a:custGeom>
              <a:avLst/>
              <a:gdLst>
                <a:gd name="T0" fmla="*/ 111 w 623"/>
                <a:gd name="T1" fmla="*/ 198 h 199"/>
                <a:gd name="T2" fmla="*/ 622 w 623"/>
                <a:gd name="T3" fmla="*/ 83 h 199"/>
                <a:gd name="T4" fmla="*/ 446 w 623"/>
                <a:gd name="T5" fmla="*/ 0 h 199"/>
                <a:gd name="T6" fmla="*/ 0 w 623"/>
                <a:gd name="T7" fmla="*/ 92 h 199"/>
                <a:gd name="T8" fmla="*/ 111 w 623"/>
                <a:gd name="T9" fmla="*/ 198 h 1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3" h="199">
                  <a:moveTo>
                    <a:pt x="111" y="198"/>
                  </a:moveTo>
                  <a:lnTo>
                    <a:pt x="622" y="83"/>
                  </a:lnTo>
                  <a:lnTo>
                    <a:pt x="446" y="0"/>
                  </a:lnTo>
                  <a:lnTo>
                    <a:pt x="0" y="92"/>
                  </a:lnTo>
                  <a:lnTo>
                    <a:pt x="111" y="198"/>
                  </a:lnTo>
                </a:path>
              </a:pathLst>
            </a:custGeom>
            <a:solidFill>
              <a:srgbClr val="86868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57" name="Freeform 256"/>
            <p:cNvSpPr>
              <a:spLocks/>
            </p:cNvSpPr>
            <p:nvPr/>
          </p:nvSpPr>
          <p:spPr bwMode="auto">
            <a:xfrm>
              <a:off x="1297" y="3146"/>
              <a:ext cx="621" cy="200"/>
            </a:xfrm>
            <a:custGeom>
              <a:avLst/>
              <a:gdLst>
                <a:gd name="T0" fmla="*/ 110 w 621"/>
                <a:gd name="T1" fmla="*/ 199 h 200"/>
                <a:gd name="T2" fmla="*/ 620 w 621"/>
                <a:gd name="T3" fmla="*/ 83 h 200"/>
                <a:gd name="T4" fmla="*/ 444 w 621"/>
                <a:gd name="T5" fmla="*/ 0 h 200"/>
                <a:gd name="T6" fmla="*/ 0 w 621"/>
                <a:gd name="T7" fmla="*/ 96 h 200"/>
                <a:gd name="T8" fmla="*/ 110 w 621"/>
                <a:gd name="T9" fmla="*/ 199 h 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1" h="200">
                  <a:moveTo>
                    <a:pt x="110" y="199"/>
                  </a:moveTo>
                  <a:lnTo>
                    <a:pt x="620" y="83"/>
                  </a:lnTo>
                  <a:lnTo>
                    <a:pt x="444" y="0"/>
                  </a:lnTo>
                  <a:lnTo>
                    <a:pt x="0" y="96"/>
                  </a:lnTo>
                  <a:lnTo>
                    <a:pt x="110" y="199"/>
                  </a:lnTo>
                </a:path>
              </a:pathLst>
            </a:custGeom>
            <a:solidFill>
              <a:srgbClr val="DDDDD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58" name="Line 21"/>
            <p:cNvSpPr>
              <a:spLocks noChangeShapeType="1"/>
            </p:cNvSpPr>
            <p:nvPr/>
          </p:nvSpPr>
          <p:spPr bwMode="auto">
            <a:xfrm flipV="1">
              <a:off x="1312" y="3026"/>
              <a:ext cx="399" cy="91"/>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59" name="Freeform 258"/>
            <p:cNvSpPr>
              <a:spLocks/>
            </p:cNvSpPr>
            <p:nvPr/>
          </p:nvSpPr>
          <p:spPr bwMode="auto">
            <a:xfrm>
              <a:off x="1312" y="3026"/>
              <a:ext cx="400" cy="92"/>
            </a:xfrm>
            <a:custGeom>
              <a:avLst/>
              <a:gdLst>
                <a:gd name="T0" fmla="*/ 0 w 400"/>
                <a:gd name="T1" fmla="*/ 91 h 92"/>
                <a:gd name="T2" fmla="*/ 399 w 400"/>
                <a:gd name="T3" fmla="*/ 0 h 92"/>
                <a:gd name="T4" fmla="*/ 0 w 400"/>
                <a:gd name="T5" fmla="*/ 91 h 92"/>
                <a:gd name="T6" fmla="*/ 0 60000 65536"/>
                <a:gd name="T7" fmla="*/ 0 60000 65536"/>
                <a:gd name="T8" fmla="*/ 0 60000 65536"/>
              </a:gdLst>
              <a:ahLst/>
              <a:cxnLst>
                <a:cxn ang="T6">
                  <a:pos x="T0" y="T1"/>
                </a:cxn>
                <a:cxn ang="T7">
                  <a:pos x="T2" y="T3"/>
                </a:cxn>
                <a:cxn ang="T8">
                  <a:pos x="T4" y="T5"/>
                </a:cxn>
              </a:cxnLst>
              <a:rect l="0" t="0" r="r" b="b"/>
              <a:pathLst>
                <a:path w="400" h="92">
                  <a:moveTo>
                    <a:pt x="0" y="91"/>
                  </a:moveTo>
                  <a:lnTo>
                    <a:pt x="399" y="0"/>
                  </a:lnTo>
                  <a:lnTo>
                    <a:pt x="0" y="91"/>
                  </a:lnTo>
                </a:path>
              </a:pathLst>
            </a:custGeom>
            <a:noFill/>
            <a:ln w="12700" cap="rnd" cmpd="sng">
              <a:solidFill>
                <a:srgbClr val="B2B2B2"/>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60" name="Freeform 259"/>
            <p:cNvSpPr>
              <a:spLocks/>
            </p:cNvSpPr>
            <p:nvPr/>
          </p:nvSpPr>
          <p:spPr bwMode="auto">
            <a:xfrm>
              <a:off x="1335" y="3095"/>
              <a:ext cx="84" cy="27"/>
            </a:xfrm>
            <a:custGeom>
              <a:avLst/>
              <a:gdLst>
                <a:gd name="T0" fmla="*/ 0 w 84"/>
                <a:gd name="T1" fmla="*/ 17 h 27"/>
                <a:gd name="T2" fmla="*/ 81 w 84"/>
                <a:gd name="T3" fmla="*/ 0 h 27"/>
                <a:gd name="T4" fmla="*/ 83 w 84"/>
                <a:gd name="T5" fmla="*/ 8 h 27"/>
                <a:gd name="T6" fmla="*/ 1 w 84"/>
                <a:gd name="T7" fmla="*/ 26 h 27"/>
                <a:gd name="T8" fmla="*/ 0 w 84"/>
                <a:gd name="T9" fmla="*/ 17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 h="27">
                  <a:moveTo>
                    <a:pt x="0" y="17"/>
                  </a:moveTo>
                  <a:lnTo>
                    <a:pt x="81" y="0"/>
                  </a:lnTo>
                  <a:lnTo>
                    <a:pt x="83" y="8"/>
                  </a:lnTo>
                  <a:lnTo>
                    <a:pt x="1" y="26"/>
                  </a:lnTo>
                  <a:lnTo>
                    <a:pt x="0" y="17"/>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61" name="Freeform 260"/>
            <p:cNvSpPr>
              <a:spLocks/>
            </p:cNvSpPr>
            <p:nvPr/>
          </p:nvSpPr>
          <p:spPr bwMode="auto">
            <a:xfrm>
              <a:off x="1335" y="3095"/>
              <a:ext cx="84" cy="27"/>
            </a:xfrm>
            <a:custGeom>
              <a:avLst/>
              <a:gdLst>
                <a:gd name="T0" fmla="*/ 0 w 84"/>
                <a:gd name="T1" fmla="*/ 17 h 27"/>
                <a:gd name="T2" fmla="*/ 81 w 84"/>
                <a:gd name="T3" fmla="*/ 0 h 27"/>
                <a:gd name="T4" fmla="*/ 83 w 84"/>
                <a:gd name="T5" fmla="*/ 8 h 27"/>
                <a:gd name="T6" fmla="*/ 1 w 84"/>
                <a:gd name="T7" fmla="*/ 26 h 27"/>
                <a:gd name="T8" fmla="*/ 0 w 84"/>
                <a:gd name="T9" fmla="*/ 17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 h="27">
                  <a:moveTo>
                    <a:pt x="0" y="17"/>
                  </a:moveTo>
                  <a:lnTo>
                    <a:pt x="81" y="0"/>
                  </a:lnTo>
                  <a:lnTo>
                    <a:pt x="83" y="8"/>
                  </a:lnTo>
                  <a:lnTo>
                    <a:pt x="1" y="26"/>
                  </a:lnTo>
                  <a:lnTo>
                    <a:pt x="0" y="1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62" name="Freeform 261"/>
            <p:cNvSpPr>
              <a:spLocks/>
            </p:cNvSpPr>
            <p:nvPr/>
          </p:nvSpPr>
          <p:spPr bwMode="auto">
            <a:xfrm>
              <a:off x="1448" y="3069"/>
              <a:ext cx="87" cy="29"/>
            </a:xfrm>
            <a:custGeom>
              <a:avLst/>
              <a:gdLst>
                <a:gd name="T0" fmla="*/ 0 w 87"/>
                <a:gd name="T1" fmla="*/ 19 h 29"/>
                <a:gd name="T2" fmla="*/ 84 w 87"/>
                <a:gd name="T3" fmla="*/ 0 h 29"/>
                <a:gd name="T4" fmla="*/ 86 w 87"/>
                <a:gd name="T5" fmla="*/ 8 h 29"/>
                <a:gd name="T6" fmla="*/ 2 w 87"/>
                <a:gd name="T7" fmla="*/ 28 h 29"/>
                <a:gd name="T8" fmla="*/ 0 w 87"/>
                <a:gd name="T9" fmla="*/ 1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7" h="29">
                  <a:moveTo>
                    <a:pt x="0" y="19"/>
                  </a:moveTo>
                  <a:lnTo>
                    <a:pt x="84" y="0"/>
                  </a:lnTo>
                  <a:lnTo>
                    <a:pt x="86" y="8"/>
                  </a:lnTo>
                  <a:lnTo>
                    <a:pt x="2" y="28"/>
                  </a:lnTo>
                  <a:lnTo>
                    <a:pt x="0" y="19"/>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63" name="Freeform 262"/>
            <p:cNvSpPr>
              <a:spLocks/>
            </p:cNvSpPr>
            <p:nvPr/>
          </p:nvSpPr>
          <p:spPr bwMode="auto">
            <a:xfrm>
              <a:off x="1448" y="3069"/>
              <a:ext cx="87" cy="29"/>
            </a:xfrm>
            <a:custGeom>
              <a:avLst/>
              <a:gdLst>
                <a:gd name="T0" fmla="*/ 0 w 87"/>
                <a:gd name="T1" fmla="*/ 19 h 29"/>
                <a:gd name="T2" fmla="*/ 84 w 87"/>
                <a:gd name="T3" fmla="*/ 0 h 29"/>
                <a:gd name="T4" fmla="*/ 86 w 87"/>
                <a:gd name="T5" fmla="*/ 8 h 29"/>
                <a:gd name="T6" fmla="*/ 2 w 87"/>
                <a:gd name="T7" fmla="*/ 28 h 29"/>
                <a:gd name="T8" fmla="*/ 0 w 87"/>
                <a:gd name="T9" fmla="*/ 1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7" h="29">
                  <a:moveTo>
                    <a:pt x="0" y="19"/>
                  </a:moveTo>
                  <a:lnTo>
                    <a:pt x="84" y="0"/>
                  </a:lnTo>
                  <a:lnTo>
                    <a:pt x="86" y="8"/>
                  </a:lnTo>
                  <a:lnTo>
                    <a:pt x="2" y="28"/>
                  </a:lnTo>
                  <a:lnTo>
                    <a:pt x="0" y="19"/>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64" name="Freeform 263"/>
            <p:cNvSpPr>
              <a:spLocks/>
            </p:cNvSpPr>
            <p:nvPr/>
          </p:nvSpPr>
          <p:spPr bwMode="auto">
            <a:xfrm>
              <a:off x="1061" y="2606"/>
              <a:ext cx="680" cy="482"/>
            </a:xfrm>
            <a:custGeom>
              <a:avLst/>
              <a:gdLst>
                <a:gd name="T0" fmla="*/ 195 w 680"/>
                <a:gd name="T1" fmla="*/ 481 h 482"/>
                <a:gd name="T2" fmla="*/ 679 w 680"/>
                <a:gd name="T3" fmla="*/ 375 h 482"/>
                <a:gd name="T4" fmla="*/ 663 w 680"/>
                <a:gd name="T5" fmla="*/ 21 h 482"/>
                <a:gd name="T6" fmla="*/ 634 w 680"/>
                <a:gd name="T7" fmla="*/ 0 h 482"/>
                <a:gd name="T8" fmla="*/ 197 w 680"/>
                <a:gd name="T9" fmla="*/ 97 h 482"/>
                <a:gd name="T10" fmla="*/ 94 w 680"/>
                <a:gd name="T11" fmla="*/ 51 h 482"/>
                <a:gd name="T12" fmla="*/ 0 w 680"/>
                <a:gd name="T13" fmla="*/ 99 h 482"/>
                <a:gd name="T14" fmla="*/ 41 w 680"/>
                <a:gd name="T15" fmla="*/ 382 h 482"/>
                <a:gd name="T16" fmla="*/ 195 w 680"/>
                <a:gd name="T17" fmla="*/ 481 h 4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80" h="482">
                  <a:moveTo>
                    <a:pt x="195" y="481"/>
                  </a:moveTo>
                  <a:lnTo>
                    <a:pt x="679" y="375"/>
                  </a:lnTo>
                  <a:lnTo>
                    <a:pt x="663" y="21"/>
                  </a:lnTo>
                  <a:lnTo>
                    <a:pt x="634" y="0"/>
                  </a:lnTo>
                  <a:lnTo>
                    <a:pt x="197" y="97"/>
                  </a:lnTo>
                  <a:lnTo>
                    <a:pt x="94" y="51"/>
                  </a:lnTo>
                  <a:lnTo>
                    <a:pt x="0" y="99"/>
                  </a:lnTo>
                  <a:lnTo>
                    <a:pt x="41" y="382"/>
                  </a:lnTo>
                  <a:lnTo>
                    <a:pt x="195" y="48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65" name="Freeform 264"/>
            <p:cNvSpPr>
              <a:spLocks/>
            </p:cNvSpPr>
            <p:nvPr/>
          </p:nvSpPr>
          <p:spPr bwMode="auto">
            <a:xfrm>
              <a:off x="1051" y="2588"/>
              <a:ext cx="699" cy="488"/>
            </a:xfrm>
            <a:custGeom>
              <a:avLst/>
              <a:gdLst>
                <a:gd name="T0" fmla="*/ 119 w 699"/>
                <a:gd name="T1" fmla="*/ 435 h 488"/>
                <a:gd name="T2" fmla="*/ 217 w 699"/>
                <a:gd name="T3" fmla="*/ 487 h 488"/>
                <a:gd name="T4" fmla="*/ 698 w 699"/>
                <a:gd name="T5" fmla="*/ 375 h 488"/>
                <a:gd name="T6" fmla="*/ 682 w 699"/>
                <a:gd name="T7" fmla="*/ 21 h 488"/>
                <a:gd name="T8" fmla="*/ 653 w 699"/>
                <a:gd name="T9" fmla="*/ 0 h 488"/>
                <a:gd name="T10" fmla="*/ 215 w 699"/>
                <a:gd name="T11" fmla="*/ 96 h 488"/>
                <a:gd name="T12" fmla="*/ 112 w 699"/>
                <a:gd name="T13" fmla="*/ 52 h 488"/>
                <a:gd name="T14" fmla="*/ 14 w 699"/>
                <a:gd name="T15" fmla="*/ 85 h 488"/>
                <a:gd name="T16" fmla="*/ 0 w 699"/>
                <a:gd name="T17" fmla="*/ 96 h 488"/>
                <a:gd name="T18" fmla="*/ 0 w 699"/>
                <a:gd name="T19" fmla="*/ 338 h 488"/>
                <a:gd name="T20" fmla="*/ 119 w 699"/>
                <a:gd name="T21" fmla="*/ 435 h 48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9" h="488">
                  <a:moveTo>
                    <a:pt x="119" y="435"/>
                  </a:moveTo>
                  <a:lnTo>
                    <a:pt x="217" y="487"/>
                  </a:lnTo>
                  <a:lnTo>
                    <a:pt x="698" y="375"/>
                  </a:lnTo>
                  <a:lnTo>
                    <a:pt x="682" y="21"/>
                  </a:lnTo>
                  <a:lnTo>
                    <a:pt x="653" y="0"/>
                  </a:lnTo>
                  <a:lnTo>
                    <a:pt x="215" y="96"/>
                  </a:lnTo>
                  <a:lnTo>
                    <a:pt x="112" y="52"/>
                  </a:lnTo>
                  <a:lnTo>
                    <a:pt x="14" y="85"/>
                  </a:lnTo>
                  <a:lnTo>
                    <a:pt x="0" y="96"/>
                  </a:lnTo>
                  <a:lnTo>
                    <a:pt x="0" y="338"/>
                  </a:lnTo>
                  <a:lnTo>
                    <a:pt x="119" y="435"/>
                  </a:lnTo>
                </a:path>
              </a:pathLst>
            </a:custGeom>
            <a:solidFill>
              <a:srgbClr val="DDDDD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66" name="Freeform 265"/>
            <p:cNvSpPr>
              <a:spLocks/>
            </p:cNvSpPr>
            <p:nvPr/>
          </p:nvSpPr>
          <p:spPr bwMode="auto">
            <a:xfrm>
              <a:off x="1061" y="2656"/>
              <a:ext cx="91" cy="332"/>
            </a:xfrm>
            <a:custGeom>
              <a:avLst/>
              <a:gdLst>
                <a:gd name="T0" fmla="*/ 0 w 91"/>
                <a:gd name="T1" fmla="*/ 258 h 332"/>
                <a:gd name="T2" fmla="*/ 3 w 91"/>
                <a:gd name="T3" fmla="*/ 32 h 332"/>
                <a:gd name="T4" fmla="*/ 90 w 91"/>
                <a:gd name="T5" fmla="*/ 0 h 332"/>
                <a:gd name="T6" fmla="*/ 88 w 91"/>
                <a:gd name="T7" fmla="*/ 331 h 332"/>
                <a:gd name="T8" fmla="*/ 0 w 91"/>
                <a:gd name="T9" fmla="*/ 258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 h="332">
                  <a:moveTo>
                    <a:pt x="0" y="258"/>
                  </a:moveTo>
                  <a:lnTo>
                    <a:pt x="3" y="32"/>
                  </a:lnTo>
                  <a:lnTo>
                    <a:pt x="90" y="0"/>
                  </a:lnTo>
                  <a:lnTo>
                    <a:pt x="88" y="331"/>
                  </a:lnTo>
                  <a:lnTo>
                    <a:pt x="0" y="258"/>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67" name="Freeform 266"/>
            <p:cNvSpPr>
              <a:spLocks/>
            </p:cNvSpPr>
            <p:nvPr/>
          </p:nvSpPr>
          <p:spPr bwMode="auto">
            <a:xfrm>
              <a:off x="1177" y="2665"/>
              <a:ext cx="81" cy="386"/>
            </a:xfrm>
            <a:custGeom>
              <a:avLst/>
              <a:gdLst>
                <a:gd name="T0" fmla="*/ 0 w 81"/>
                <a:gd name="T1" fmla="*/ 346 h 386"/>
                <a:gd name="T2" fmla="*/ 80 w 81"/>
                <a:gd name="T3" fmla="*/ 385 h 386"/>
                <a:gd name="T4" fmla="*/ 80 w 81"/>
                <a:gd name="T5" fmla="*/ 34 h 386"/>
                <a:gd name="T6" fmla="*/ 5 w 81"/>
                <a:gd name="T7" fmla="*/ 0 h 386"/>
                <a:gd name="T8" fmla="*/ 0 w 81"/>
                <a:gd name="T9" fmla="*/ 346 h 3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 h="386">
                  <a:moveTo>
                    <a:pt x="0" y="346"/>
                  </a:moveTo>
                  <a:lnTo>
                    <a:pt x="80" y="385"/>
                  </a:lnTo>
                  <a:lnTo>
                    <a:pt x="80" y="34"/>
                  </a:lnTo>
                  <a:lnTo>
                    <a:pt x="5" y="0"/>
                  </a:lnTo>
                  <a:lnTo>
                    <a:pt x="0" y="34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68" name="Freeform 267"/>
            <p:cNvSpPr>
              <a:spLocks/>
            </p:cNvSpPr>
            <p:nvPr/>
          </p:nvSpPr>
          <p:spPr bwMode="auto">
            <a:xfrm>
              <a:off x="1339" y="2647"/>
              <a:ext cx="348" cy="364"/>
            </a:xfrm>
            <a:custGeom>
              <a:avLst/>
              <a:gdLst>
                <a:gd name="T0" fmla="*/ 347 w 348"/>
                <a:gd name="T1" fmla="*/ 285 h 364"/>
                <a:gd name="T2" fmla="*/ 0 w 348"/>
                <a:gd name="T3" fmla="*/ 363 h 364"/>
                <a:gd name="T4" fmla="*/ 1 w 348"/>
                <a:gd name="T5" fmla="*/ 78 h 364"/>
                <a:gd name="T6" fmla="*/ 336 w 348"/>
                <a:gd name="T7" fmla="*/ 0 h 364"/>
                <a:gd name="T8" fmla="*/ 347 w 348"/>
                <a:gd name="T9" fmla="*/ 285 h 3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364">
                  <a:moveTo>
                    <a:pt x="347" y="285"/>
                  </a:moveTo>
                  <a:lnTo>
                    <a:pt x="0" y="363"/>
                  </a:lnTo>
                  <a:lnTo>
                    <a:pt x="1" y="78"/>
                  </a:lnTo>
                  <a:lnTo>
                    <a:pt x="336" y="0"/>
                  </a:lnTo>
                  <a:lnTo>
                    <a:pt x="347" y="285"/>
                  </a:lnTo>
                </a:path>
              </a:pathLst>
            </a:custGeom>
            <a:solidFill>
              <a:srgbClr val="03289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69" name="Freeform 268"/>
            <p:cNvSpPr>
              <a:spLocks/>
            </p:cNvSpPr>
            <p:nvPr/>
          </p:nvSpPr>
          <p:spPr bwMode="auto">
            <a:xfrm>
              <a:off x="1163" y="2544"/>
              <a:ext cx="542" cy="141"/>
            </a:xfrm>
            <a:custGeom>
              <a:avLst/>
              <a:gdLst>
                <a:gd name="T0" fmla="*/ 439 w 542"/>
                <a:gd name="T1" fmla="*/ 0 h 141"/>
                <a:gd name="T2" fmla="*/ 541 w 542"/>
                <a:gd name="T3" fmla="*/ 43 h 141"/>
                <a:gd name="T4" fmla="*/ 103 w 542"/>
                <a:gd name="T5" fmla="*/ 140 h 141"/>
                <a:gd name="T6" fmla="*/ 0 w 542"/>
                <a:gd name="T7" fmla="*/ 97 h 141"/>
                <a:gd name="T8" fmla="*/ 439 w 542"/>
                <a:gd name="T9" fmla="*/ 0 h 1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2" h="141">
                  <a:moveTo>
                    <a:pt x="439" y="0"/>
                  </a:moveTo>
                  <a:lnTo>
                    <a:pt x="541" y="43"/>
                  </a:lnTo>
                  <a:lnTo>
                    <a:pt x="103" y="140"/>
                  </a:lnTo>
                  <a:lnTo>
                    <a:pt x="0" y="97"/>
                  </a:lnTo>
                  <a:lnTo>
                    <a:pt x="439" y="0"/>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grpSp>
      <p:sp>
        <p:nvSpPr>
          <p:cNvPr id="31" name="Oval 30"/>
          <p:cNvSpPr>
            <a:spLocks noChangeArrowheads="1"/>
          </p:cNvSpPr>
          <p:nvPr/>
        </p:nvSpPr>
        <p:spPr bwMode="blackWhite">
          <a:xfrm>
            <a:off x="3780321" y="4099787"/>
            <a:ext cx="1804987" cy="692150"/>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algn="ctr">
              <a:lnSpc>
                <a:spcPct val="95000"/>
              </a:lnSpc>
              <a:spcBef>
                <a:spcPct val="0"/>
              </a:spcBef>
              <a:buClrTx/>
              <a:buFontTx/>
              <a:buNone/>
            </a:pPr>
            <a:r>
              <a:rPr lang="en-US" altLang="en-US" sz="1800"/>
              <a:t>User</a:t>
            </a:r>
            <a:br>
              <a:rPr lang="en-US" altLang="en-US" sz="1800"/>
            </a:br>
            <a:r>
              <a:rPr lang="en-US" altLang="en-US" sz="1800"/>
              <a:t>process</a:t>
            </a:r>
          </a:p>
        </p:txBody>
      </p:sp>
      <p:sp>
        <p:nvSpPr>
          <p:cNvPr id="32" name="Oval 31"/>
          <p:cNvSpPr>
            <a:spLocks noChangeArrowheads="1"/>
          </p:cNvSpPr>
          <p:nvPr/>
        </p:nvSpPr>
        <p:spPr bwMode="blackWhite">
          <a:xfrm>
            <a:off x="5869471" y="3058387"/>
            <a:ext cx="1804987" cy="692150"/>
          </a:xfrm>
          <a:prstGeom prst="ellipse">
            <a:avLst/>
          </a:prstGeom>
          <a:solidFill>
            <a:srgbClr val="99CCFF"/>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algn="ctr">
              <a:lnSpc>
                <a:spcPct val="95000"/>
              </a:lnSpc>
              <a:spcBef>
                <a:spcPct val="0"/>
              </a:spcBef>
              <a:buClrTx/>
              <a:buFontTx/>
              <a:buNone/>
            </a:pPr>
            <a:r>
              <a:rPr lang="en-US" altLang="en-US" sz="1800"/>
              <a:t>Server</a:t>
            </a:r>
            <a:br>
              <a:rPr lang="en-US" altLang="en-US" sz="1800"/>
            </a:br>
            <a:r>
              <a:rPr lang="en-US" altLang="en-US" sz="1800"/>
              <a:t>process</a:t>
            </a:r>
          </a:p>
        </p:txBody>
      </p:sp>
      <p:sp>
        <p:nvSpPr>
          <p:cNvPr id="33" name="Freeform 32"/>
          <p:cNvSpPr>
            <a:spLocks/>
          </p:cNvSpPr>
          <p:nvPr/>
        </p:nvSpPr>
        <p:spPr bwMode="auto">
          <a:xfrm>
            <a:off x="5548796" y="3744187"/>
            <a:ext cx="1106487" cy="646112"/>
          </a:xfrm>
          <a:custGeom>
            <a:avLst/>
            <a:gdLst>
              <a:gd name="T0" fmla="*/ 0 w 713"/>
              <a:gd name="T1" fmla="*/ 644087 h 319"/>
              <a:gd name="T2" fmla="*/ 419006 w 713"/>
              <a:gd name="T3" fmla="*/ 439518 h 319"/>
              <a:gd name="T4" fmla="*/ 341413 w 713"/>
              <a:gd name="T5" fmla="*/ 222797 h 319"/>
              <a:gd name="T6" fmla="*/ 771282 w 713"/>
              <a:gd name="T7" fmla="*/ 407111 h 319"/>
              <a:gd name="T8" fmla="*/ 706103 w 713"/>
              <a:gd name="T9" fmla="*/ 218746 h 319"/>
              <a:gd name="T10" fmla="*/ 1104935 w 713"/>
              <a:gd name="T11" fmla="*/ 0 h 3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13" h="319">
                <a:moveTo>
                  <a:pt x="0" y="318"/>
                </a:moveTo>
                <a:lnTo>
                  <a:pt x="270" y="217"/>
                </a:lnTo>
                <a:lnTo>
                  <a:pt x="220" y="110"/>
                </a:lnTo>
                <a:lnTo>
                  <a:pt x="497" y="201"/>
                </a:lnTo>
                <a:lnTo>
                  <a:pt x="455" y="108"/>
                </a:lnTo>
                <a:lnTo>
                  <a:pt x="712" y="0"/>
                </a:lnTo>
              </a:path>
            </a:pathLst>
          </a:custGeom>
          <a:noFill/>
          <a:ln w="25400" cap="rnd" cmpd="sng">
            <a:solidFill>
              <a:schemeClr val="tx1"/>
            </a:solidFill>
            <a:prstDash val="solid"/>
            <a:round/>
            <a:headEnd type="stealth"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34" name="Rectangle 33"/>
          <p:cNvSpPr>
            <a:spLocks noChangeArrowheads="1"/>
          </p:cNvSpPr>
          <p:nvPr/>
        </p:nvSpPr>
        <p:spPr bwMode="auto">
          <a:xfrm>
            <a:off x="4362933" y="3386999"/>
            <a:ext cx="16271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algn="l">
              <a:spcBef>
                <a:spcPct val="50000"/>
              </a:spcBef>
              <a:buClrTx/>
              <a:buFontTx/>
              <a:buNone/>
            </a:pPr>
            <a:r>
              <a:rPr lang="en-US" altLang="en-US"/>
              <a:t>Connection established</a:t>
            </a:r>
          </a:p>
        </p:txBody>
      </p:sp>
      <p:grpSp>
        <p:nvGrpSpPr>
          <p:cNvPr id="35" name="Group 34"/>
          <p:cNvGrpSpPr>
            <a:grpSpLocks/>
          </p:cNvGrpSpPr>
          <p:nvPr/>
        </p:nvGrpSpPr>
        <p:grpSpPr bwMode="auto">
          <a:xfrm>
            <a:off x="7563333" y="4120425"/>
            <a:ext cx="2641600" cy="2009776"/>
            <a:chOff x="3456" y="1329"/>
            <a:chExt cx="1664" cy="1266"/>
          </a:xfrm>
        </p:grpSpPr>
        <p:sp>
          <p:nvSpPr>
            <p:cNvPr id="37" name="Rectangle 36"/>
            <p:cNvSpPr>
              <a:spLocks noChangeArrowheads="1"/>
            </p:cNvSpPr>
            <p:nvPr/>
          </p:nvSpPr>
          <p:spPr bwMode="blackWhite">
            <a:xfrm>
              <a:off x="3456" y="1334"/>
              <a:ext cx="1664" cy="1261"/>
            </a:xfrm>
            <a:prstGeom prst="rect">
              <a:avLst/>
            </a:prstGeom>
            <a:noFill/>
            <a:ln w="25400">
              <a:solidFill>
                <a:schemeClr val="tx1"/>
              </a:solidFill>
              <a:miter lim="800000"/>
              <a:headEnd/>
              <a:tailEnd/>
            </a:ln>
            <a:effectLst/>
            <a:extLst>
              <a:ext uri="{909E8E84-426E-40DD-AFC4-6F175D3DCCD1}">
                <a14:hiddenFill xmlns:a14="http://schemas.microsoft.com/office/drawing/2010/main">
                  <a:gradFill rotWithShape="0">
                    <a:gsLst>
                      <a:gs pos="0">
                        <a:schemeClr val="tx1">
                          <a:gamma/>
                          <a:shade val="89804"/>
                          <a:invGamma/>
                        </a:schemeClr>
                      </a:gs>
                      <a:gs pos="50000">
                        <a:schemeClr val="tx1"/>
                      </a:gs>
                      <a:gs pos="100000">
                        <a:schemeClr val="tx1">
                          <a:gamma/>
                          <a:shade val="89804"/>
                          <a:invGamma/>
                        </a:schemeClr>
                      </a:gs>
                    </a:gsLst>
                    <a:lin ang="27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algn="ctr" eaLnBrk="1" hangingPunct="1">
                <a:buClr>
                  <a:srgbClr val="000000"/>
                </a:buClr>
                <a:buFont typeface="Arial" panose="020B0604020202020204" pitchFamily="34" charset="0"/>
                <a:buNone/>
                <a:defRPr/>
              </a:pPr>
              <a:endParaRPr lang="en-US"/>
            </a:p>
          </p:txBody>
        </p:sp>
        <p:sp>
          <p:nvSpPr>
            <p:cNvPr id="38" name="Rectangle 37"/>
            <p:cNvSpPr>
              <a:spLocks noChangeArrowheads="1"/>
            </p:cNvSpPr>
            <p:nvPr/>
          </p:nvSpPr>
          <p:spPr bwMode="blackWhite">
            <a:xfrm>
              <a:off x="3596" y="1533"/>
              <a:ext cx="1386" cy="619"/>
            </a:xfrm>
            <a:prstGeom prst="rect">
              <a:avLst/>
            </a:prstGeom>
            <a:solidFill>
              <a:srgbClr val="FF66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39" name="Rectangle 38"/>
            <p:cNvSpPr>
              <a:spLocks noChangeArrowheads="1"/>
            </p:cNvSpPr>
            <p:nvPr/>
          </p:nvSpPr>
          <p:spPr bwMode="blackWhite">
            <a:xfrm>
              <a:off x="3629" y="1611"/>
              <a:ext cx="1305" cy="381"/>
            </a:xfrm>
            <a:prstGeom prst="rect">
              <a:avLst/>
            </a:prstGeom>
            <a:solidFill>
              <a:srgbClr val="CCCCCC"/>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40" name="Rectangle 39"/>
            <p:cNvSpPr>
              <a:spLocks noChangeArrowheads="1"/>
            </p:cNvSpPr>
            <p:nvPr/>
          </p:nvSpPr>
          <p:spPr bwMode="blackWhite">
            <a:xfrm>
              <a:off x="4467" y="1626"/>
              <a:ext cx="432" cy="346"/>
            </a:xfrm>
            <a:prstGeom prst="rect">
              <a:avLst/>
            </a:prstGeom>
            <a:solidFill>
              <a:srgbClr val="FFCC33"/>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41" name="Rectangle 40"/>
            <p:cNvSpPr>
              <a:spLocks noChangeArrowheads="1"/>
            </p:cNvSpPr>
            <p:nvPr/>
          </p:nvSpPr>
          <p:spPr bwMode="blackWhite">
            <a:xfrm>
              <a:off x="4502" y="1847"/>
              <a:ext cx="365" cy="107"/>
            </a:xfrm>
            <a:prstGeom prst="rect">
              <a:avLst/>
            </a:prstGeom>
            <a:solidFill>
              <a:srgbClr val="99CC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42" name="Rectangle 41"/>
            <p:cNvSpPr>
              <a:spLocks noChangeArrowheads="1"/>
            </p:cNvSpPr>
            <p:nvPr/>
          </p:nvSpPr>
          <p:spPr bwMode="blackWhite">
            <a:xfrm>
              <a:off x="4502" y="1698"/>
              <a:ext cx="365" cy="122"/>
            </a:xfrm>
            <a:prstGeom prst="rect">
              <a:avLst/>
            </a:prstGeom>
            <a:solidFill>
              <a:srgbClr val="99CC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43" name="Oval 42"/>
            <p:cNvSpPr>
              <a:spLocks noChangeArrowheads="1"/>
            </p:cNvSpPr>
            <p:nvPr/>
          </p:nvSpPr>
          <p:spPr bwMode="blackWhite">
            <a:xfrm>
              <a:off x="3942" y="2041"/>
              <a:ext cx="193" cy="8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44" name="Oval 43"/>
            <p:cNvSpPr>
              <a:spLocks noChangeArrowheads="1"/>
            </p:cNvSpPr>
            <p:nvPr/>
          </p:nvSpPr>
          <p:spPr bwMode="blackWhite">
            <a:xfrm>
              <a:off x="3715" y="2041"/>
              <a:ext cx="192" cy="8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45" name="Oval 44"/>
            <p:cNvSpPr>
              <a:spLocks noChangeArrowheads="1"/>
            </p:cNvSpPr>
            <p:nvPr/>
          </p:nvSpPr>
          <p:spPr bwMode="blackWhite">
            <a:xfrm>
              <a:off x="4396" y="2041"/>
              <a:ext cx="190" cy="8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46" name="Oval 45"/>
            <p:cNvSpPr>
              <a:spLocks noChangeArrowheads="1"/>
            </p:cNvSpPr>
            <p:nvPr/>
          </p:nvSpPr>
          <p:spPr bwMode="blackWhite">
            <a:xfrm>
              <a:off x="4164" y="2041"/>
              <a:ext cx="195" cy="8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47" name="Oval 46"/>
            <p:cNvSpPr>
              <a:spLocks noChangeArrowheads="1"/>
            </p:cNvSpPr>
            <p:nvPr/>
          </p:nvSpPr>
          <p:spPr bwMode="blackWhite">
            <a:xfrm>
              <a:off x="4625" y="2041"/>
              <a:ext cx="190" cy="87"/>
            </a:xfrm>
            <a:prstGeom prst="ellipse">
              <a:avLst/>
            </a:prstGeom>
            <a:solidFill>
              <a:srgbClr val="FFCC33"/>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1"/>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grpSp>
          <p:nvGrpSpPr>
            <p:cNvPr id="48" name="Group 47"/>
            <p:cNvGrpSpPr>
              <a:grpSpLocks/>
            </p:cNvGrpSpPr>
            <p:nvPr/>
          </p:nvGrpSpPr>
          <p:grpSpPr bwMode="auto">
            <a:xfrm>
              <a:off x="4790" y="1761"/>
              <a:ext cx="58" cy="53"/>
              <a:chOff x="4606" y="1539"/>
              <a:chExt cx="58" cy="53"/>
            </a:xfrm>
          </p:grpSpPr>
          <p:sp>
            <p:nvSpPr>
              <p:cNvPr id="233" name="Line 50"/>
              <p:cNvSpPr>
                <a:spLocks noChangeShapeType="1"/>
              </p:cNvSpPr>
              <p:nvPr/>
            </p:nvSpPr>
            <p:spPr bwMode="blackWhite">
              <a:xfrm flipH="1">
                <a:off x="4641" y="1551"/>
                <a:ext cx="16" cy="12"/>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34" name="Line 51"/>
              <p:cNvSpPr>
                <a:spLocks noChangeShapeType="1"/>
              </p:cNvSpPr>
              <p:nvPr/>
            </p:nvSpPr>
            <p:spPr bwMode="blackWhite">
              <a:xfrm flipH="1">
                <a:off x="4642" y="1550"/>
                <a:ext cx="16" cy="15"/>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35" name="Line 52"/>
              <p:cNvSpPr>
                <a:spLocks noChangeShapeType="1"/>
              </p:cNvSpPr>
              <p:nvPr/>
            </p:nvSpPr>
            <p:spPr bwMode="blackWhite">
              <a:xfrm flipH="1">
                <a:off x="4641" y="1558"/>
                <a:ext cx="15" cy="1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36" name="Freeform 235"/>
              <p:cNvSpPr>
                <a:spLocks/>
              </p:cNvSpPr>
              <p:nvPr/>
            </p:nvSpPr>
            <p:spPr bwMode="blackWhite">
              <a:xfrm>
                <a:off x="4606" y="1543"/>
                <a:ext cx="57" cy="42"/>
              </a:xfrm>
              <a:custGeom>
                <a:avLst/>
                <a:gdLst>
                  <a:gd name="T0" fmla="*/ 56 w 57"/>
                  <a:gd name="T1" fmla="*/ 4 h 42"/>
                  <a:gd name="T2" fmla="*/ 51 w 57"/>
                  <a:gd name="T3" fmla="*/ 41 h 42"/>
                  <a:gd name="T4" fmla="*/ 0 w 57"/>
                  <a:gd name="T5" fmla="*/ 37 h 42"/>
                  <a:gd name="T6" fmla="*/ 4 w 57"/>
                  <a:gd name="T7" fmla="*/ 0 h 42"/>
                  <a:gd name="T8" fmla="*/ 56 w 57"/>
                  <a:gd name="T9" fmla="*/ 4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 h="42">
                    <a:moveTo>
                      <a:pt x="56" y="4"/>
                    </a:moveTo>
                    <a:lnTo>
                      <a:pt x="51" y="41"/>
                    </a:lnTo>
                    <a:lnTo>
                      <a:pt x="0" y="37"/>
                    </a:lnTo>
                    <a:lnTo>
                      <a:pt x="4" y="0"/>
                    </a:lnTo>
                    <a:lnTo>
                      <a:pt x="56" y="4"/>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37" name="Freeform 236"/>
              <p:cNvSpPr>
                <a:spLocks/>
              </p:cNvSpPr>
              <p:nvPr/>
            </p:nvSpPr>
            <p:spPr bwMode="blackWhite">
              <a:xfrm>
                <a:off x="4607" y="1541"/>
                <a:ext cx="56" cy="43"/>
              </a:xfrm>
              <a:custGeom>
                <a:avLst/>
                <a:gdLst>
                  <a:gd name="T0" fmla="*/ 55 w 56"/>
                  <a:gd name="T1" fmla="*/ 4 h 43"/>
                  <a:gd name="T2" fmla="*/ 50 w 56"/>
                  <a:gd name="T3" fmla="*/ 42 h 43"/>
                  <a:gd name="T4" fmla="*/ 0 w 56"/>
                  <a:gd name="T5" fmla="*/ 38 h 43"/>
                  <a:gd name="T6" fmla="*/ 4 w 56"/>
                  <a:gd name="T7" fmla="*/ 0 h 43"/>
                  <a:gd name="T8" fmla="*/ 55 w 56"/>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43">
                    <a:moveTo>
                      <a:pt x="55" y="4"/>
                    </a:moveTo>
                    <a:lnTo>
                      <a:pt x="50" y="42"/>
                    </a:lnTo>
                    <a:lnTo>
                      <a:pt x="0" y="38"/>
                    </a:lnTo>
                    <a:lnTo>
                      <a:pt x="4" y="0"/>
                    </a:lnTo>
                    <a:lnTo>
                      <a:pt x="55" y="4"/>
                    </a:lnTo>
                  </a:path>
                </a:pathLst>
              </a:custGeom>
              <a:solidFill>
                <a:srgbClr val="989898"/>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38" name="Freeform 237"/>
              <p:cNvSpPr>
                <a:spLocks/>
              </p:cNvSpPr>
              <p:nvPr/>
            </p:nvSpPr>
            <p:spPr bwMode="blackWhite">
              <a:xfrm>
                <a:off x="4610" y="1539"/>
                <a:ext cx="54" cy="44"/>
              </a:xfrm>
              <a:custGeom>
                <a:avLst/>
                <a:gdLst>
                  <a:gd name="T0" fmla="*/ 53 w 54"/>
                  <a:gd name="T1" fmla="*/ 4 h 44"/>
                  <a:gd name="T2" fmla="*/ 49 w 54"/>
                  <a:gd name="T3" fmla="*/ 43 h 44"/>
                  <a:gd name="T4" fmla="*/ 0 w 54"/>
                  <a:gd name="T5" fmla="*/ 39 h 44"/>
                  <a:gd name="T6" fmla="*/ 4 w 54"/>
                  <a:gd name="T7" fmla="*/ 0 h 44"/>
                  <a:gd name="T8" fmla="*/ 53 w 54"/>
                  <a:gd name="T9" fmla="*/ 4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44">
                    <a:moveTo>
                      <a:pt x="53" y="4"/>
                    </a:moveTo>
                    <a:lnTo>
                      <a:pt x="49" y="43"/>
                    </a:lnTo>
                    <a:lnTo>
                      <a:pt x="0" y="39"/>
                    </a:lnTo>
                    <a:lnTo>
                      <a:pt x="4" y="0"/>
                    </a:lnTo>
                    <a:lnTo>
                      <a:pt x="53" y="4"/>
                    </a:lnTo>
                  </a:path>
                </a:pathLst>
              </a:custGeom>
              <a:solidFill>
                <a:srgbClr val="FFCC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39" name="Freeform 238"/>
              <p:cNvSpPr>
                <a:spLocks/>
              </p:cNvSpPr>
              <p:nvPr/>
            </p:nvSpPr>
            <p:spPr bwMode="blackWhite">
              <a:xfrm>
                <a:off x="4610" y="1539"/>
                <a:ext cx="54" cy="44"/>
              </a:xfrm>
              <a:custGeom>
                <a:avLst/>
                <a:gdLst>
                  <a:gd name="T0" fmla="*/ 53 w 54"/>
                  <a:gd name="T1" fmla="*/ 4 h 44"/>
                  <a:gd name="T2" fmla="*/ 49 w 54"/>
                  <a:gd name="T3" fmla="*/ 43 h 44"/>
                  <a:gd name="T4" fmla="*/ 0 w 54"/>
                  <a:gd name="T5" fmla="*/ 39 h 44"/>
                  <a:gd name="T6" fmla="*/ 4 w 54"/>
                  <a:gd name="T7" fmla="*/ 0 h 44"/>
                  <a:gd name="T8" fmla="*/ 53 w 54"/>
                  <a:gd name="T9" fmla="*/ 4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44">
                    <a:moveTo>
                      <a:pt x="53" y="4"/>
                    </a:moveTo>
                    <a:lnTo>
                      <a:pt x="49" y="43"/>
                    </a:lnTo>
                    <a:lnTo>
                      <a:pt x="0" y="39"/>
                    </a:lnTo>
                    <a:lnTo>
                      <a:pt x="4" y="0"/>
                    </a:lnTo>
                    <a:lnTo>
                      <a:pt x="53" y="4"/>
                    </a:lnTo>
                  </a:path>
                </a:pathLst>
              </a:custGeom>
              <a:noFill/>
              <a:ln w="12700" cap="rnd" cmpd="sng">
                <a:solidFill>
                  <a:srgbClr val="7F7F7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40" name="Freeform 239"/>
              <p:cNvSpPr>
                <a:spLocks/>
              </p:cNvSpPr>
              <p:nvPr/>
            </p:nvSpPr>
            <p:spPr bwMode="blackWhite">
              <a:xfrm>
                <a:off x="4617" y="1543"/>
                <a:ext cx="42" cy="19"/>
              </a:xfrm>
              <a:custGeom>
                <a:avLst/>
                <a:gdLst>
                  <a:gd name="T0" fmla="*/ 41 w 42"/>
                  <a:gd name="T1" fmla="*/ 11 h 19"/>
                  <a:gd name="T2" fmla="*/ 40 w 42"/>
                  <a:gd name="T3" fmla="*/ 18 h 19"/>
                  <a:gd name="T4" fmla="*/ 0 w 42"/>
                  <a:gd name="T5" fmla="*/ 7 h 19"/>
                  <a:gd name="T6" fmla="*/ 0 w 42"/>
                  <a:gd name="T7" fmla="*/ 0 h 19"/>
                  <a:gd name="T8" fmla="*/ 41 w 42"/>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 h="19">
                    <a:moveTo>
                      <a:pt x="41" y="11"/>
                    </a:moveTo>
                    <a:lnTo>
                      <a:pt x="40" y="18"/>
                    </a:lnTo>
                    <a:lnTo>
                      <a:pt x="0" y="7"/>
                    </a:lnTo>
                    <a:lnTo>
                      <a:pt x="0" y="0"/>
                    </a:lnTo>
                    <a:lnTo>
                      <a:pt x="41"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41" name="Freeform 240"/>
              <p:cNvSpPr>
                <a:spLocks/>
              </p:cNvSpPr>
              <p:nvPr/>
            </p:nvSpPr>
            <p:spPr bwMode="blackWhite">
              <a:xfrm>
                <a:off x="4615" y="1550"/>
                <a:ext cx="44" cy="19"/>
              </a:xfrm>
              <a:custGeom>
                <a:avLst/>
                <a:gdLst>
                  <a:gd name="T0" fmla="*/ 43 w 44"/>
                  <a:gd name="T1" fmla="*/ 11 h 19"/>
                  <a:gd name="T2" fmla="*/ 42 w 44"/>
                  <a:gd name="T3" fmla="*/ 18 h 19"/>
                  <a:gd name="T4" fmla="*/ 0 w 44"/>
                  <a:gd name="T5" fmla="*/ 6 h 19"/>
                  <a:gd name="T6" fmla="*/ 0 w 44"/>
                  <a:gd name="T7" fmla="*/ 0 h 19"/>
                  <a:gd name="T8" fmla="*/ 43 w 44"/>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19">
                    <a:moveTo>
                      <a:pt x="43" y="11"/>
                    </a:moveTo>
                    <a:lnTo>
                      <a:pt x="42" y="18"/>
                    </a:lnTo>
                    <a:lnTo>
                      <a:pt x="0" y="6"/>
                    </a:lnTo>
                    <a:lnTo>
                      <a:pt x="0" y="0"/>
                    </a:lnTo>
                    <a:lnTo>
                      <a:pt x="43"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42" name="Freeform 241"/>
              <p:cNvSpPr>
                <a:spLocks/>
              </p:cNvSpPr>
              <p:nvPr/>
            </p:nvSpPr>
            <p:spPr bwMode="blackWhite">
              <a:xfrm>
                <a:off x="4615" y="1558"/>
                <a:ext cx="43" cy="19"/>
              </a:xfrm>
              <a:custGeom>
                <a:avLst/>
                <a:gdLst>
                  <a:gd name="T0" fmla="*/ 42 w 43"/>
                  <a:gd name="T1" fmla="*/ 11 h 19"/>
                  <a:gd name="T2" fmla="*/ 41 w 43"/>
                  <a:gd name="T3" fmla="*/ 18 h 19"/>
                  <a:gd name="T4" fmla="*/ 0 w 43"/>
                  <a:gd name="T5" fmla="*/ 6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6"/>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43" name="Freeform 242"/>
              <p:cNvSpPr>
                <a:spLocks/>
              </p:cNvSpPr>
              <p:nvPr/>
            </p:nvSpPr>
            <p:spPr bwMode="blackWhite">
              <a:xfrm>
                <a:off x="4615" y="1565"/>
                <a:ext cx="43" cy="19"/>
              </a:xfrm>
              <a:custGeom>
                <a:avLst/>
                <a:gdLst>
                  <a:gd name="T0" fmla="*/ 42 w 43"/>
                  <a:gd name="T1" fmla="*/ 11 h 19"/>
                  <a:gd name="T2" fmla="*/ 41 w 43"/>
                  <a:gd name="T3" fmla="*/ 18 h 19"/>
                  <a:gd name="T4" fmla="*/ 0 w 43"/>
                  <a:gd name="T5" fmla="*/ 7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7"/>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44" name="Freeform 243"/>
              <p:cNvSpPr>
                <a:spLocks/>
              </p:cNvSpPr>
              <p:nvPr/>
            </p:nvSpPr>
            <p:spPr bwMode="blackWhite">
              <a:xfrm>
                <a:off x="4615" y="1573"/>
                <a:ext cx="43" cy="19"/>
              </a:xfrm>
              <a:custGeom>
                <a:avLst/>
                <a:gdLst>
                  <a:gd name="T0" fmla="*/ 42 w 43"/>
                  <a:gd name="T1" fmla="*/ 11 h 19"/>
                  <a:gd name="T2" fmla="*/ 41 w 43"/>
                  <a:gd name="T3" fmla="*/ 18 h 19"/>
                  <a:gd name="T4" fmla="*/ 0 w 43"/>
                  <a:gd name="T5" fmla="*/ 6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6"/>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grpSp>
        <p:sp>
          <p:nvSpPr>
            <p:cNvPr id="49" name="Line 62"/>
            <p:cNvSpPr>
              <a:spLocks noChangeShapeType="1"/>
            </p:cNvSpPr>
            <p:nvPr/>
          </p:nvSpPr>
          <p:spPr bwMode="blackWhite">
            <a:xfrm flipH="1">
              <a:off x="4737" y="1735"/>
              <a:ext cx="37" cy="2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grpSp>
          <p:nvGrpSpPr>
            <p:cNvPr id="50" name="Group 49"/>
            <p:cNvGrpSpPr>
              <a:grpSpLocks/>
            </p:cNvGrpSpPr>
            <p:nvPr/>
          </p:nvGrpSpPr>
          <p:grpSpPr bwMode="auto">
            <a:xfrm>
              <a:off x="4727" y="1720"/>
              <a:ext cx="59" cy="52"/>
              <a:chOff x="4543" y="1498"/>
              <a:chExt cx="59" cy="52"/>
            </a:xfrm>
          </p:grpSpPr>
          <p:sp>
            <p:nvSpPr>
              <p:cNvPr id="221" name="Line 64"/>
              <p:cNvSpPr>
                <a:spLocks noChangeShapeType="1"/>
              </p:cNvSpPr>
              <p:nvPr/>
            </p:nvSpPr>
            <p:spPr bwMode="blackWhite">
              <a:xfrm flipH="1">
                <a:off x="4581" y="1511"/>
                <a:ext cx="12" cy="12"/>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22" name="Line 65"/>
              <p:cNvSpPr>
                <a:spLocks noChangeShapeType="1"/>
              </p:cNvSpPr>
              <p:nvPr/>
            </p:nvSpPr>
            <p:spPr bwMode="blackWhite">
              <a:xfrm flipH="1">
                <a:off x="4581" y="1508"/>
                <a:ext cx="17" cy="16"/>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23" name="Line 66"/>
              <p:cNvSpPr>
                <a:spLocks noChangeShapeType="1"/>
              </p:cNvSpPr>
              <p:nvPr/>
            </p:nvSpPr>
            <p:spPr bwMode="blackWhite">
              <a:xfrm flipH="1">
                <a:off x="4581" y="1515"/>
                <a:ext cx="12" cy="12"/>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24" name="Freeform 223"/>
              <p:cNvSpPr>
                <a:spLocks/>
              </p:cNvSpPr>
              <p:nvPr/>
            </p:nvSpPr>
            <p:spPr bwMode="blackWhite">
              <a:xfrm>
                <a:off x="4543" y="1501"/>
                <a:ext cx="56" cy="44"/>
              </a:xfrm>
              <a:custGeom>
                <a:avLst/>
                <a:gdLst>
                  <a:gd name="T0" fmla="*/ 55 w 56"/>
                  <a:gd name="T1" fmla="*/ 4 h 44"/>
                  <a:gd name="T2" fmla="*/ 50 w 56"/>
                  <a:gd name="T3" fmla="*/ 43 h 44"/>
                  <a:gd name="T4" fmla="*/ 0 w 56"/>
                  <a:gd name="T5" fmla="*/ 39 h 44"/>
                  <a:gd name="T6" fmla="*/ 4 w 56"/>
                  <a:gd name="T7" fmla="*/ 0 h 44"/>
                  <a:gd name="T8" fmla="*/ 55 w 56"/>
                  <a:gd name="T9" fmla="*/ 4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44">
                    <a:moveTo>
                      <a:pt x="55" y="4"/>
                    </a:moveTo>
                    <a:lnTo>
                      <a:pt x="50" y="43"/>
                    </a:lnTo>
                    <a:lnTo>
                      <a:pt x="0" y="39"/>
                    </a:lnTo>
                    <a:lnTo>
                      <a:pt x="4" y="0"/>
                    </a:lnTo>
                    <a:lnTo>
                      <a:pt x="55" y="4"/>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25" name="Freeform 224"/>
              <p:cNvSpPr>
                <a:spLocks/>
              </p:cNvSpPr>
              <p:nvPr/>
            </p:nvSpPr>
            <p:spPr bwMode="blackWhite">
              <a:xfrm>
                <a:off x="4547" y="1500"/>
                <a:ext cx="55" cy="42"/>
              </a:xfrm>
              <a:custGeom>
                <a:avLst/>
                <a:gdLst>
                  <a:gd name="T0" fmla="*/ 54 w 55"/>
                  <a:gd name="T1" fmla="*/ 4 h 42"/>
                  <a:gd name="T2" fmla="*/ 49 w 55"/>
                  <a:gd name="T3" fmla="*/ 41 h 42"/>
                  <a:gd name="T4" fmla="*/ 0 w 55"/>
                  <a:gd name="T5" fmla="*/ 37 h 42"/>
                  <a:gd name="T6" fmla="*/ 4 w 55"/>
                  <a:gd name="T7" fmla="*/ 0 h 42"/>
                  <a:gd name="T8" fmla="*/ 54 w 55"/>
                  <a:gd name="T9" fmla="*/ 4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 h="42">
                    <a:moveTo>
                      <a:pt x="54" y="4"/>
                    </a:moveTo>
                    <a:lnTo>
                      <a:pt x="49" y="41"/>
                    </a:lnTo>
                    <a:lnTo>
                      <a:pt x="0" y="37"/>
                    </a:lnTo>
                    <a:lnTo>
                      <a:pt x="4" y="0"/>
                    </a:lnTo>
                    <a:lnTo>
                      <a:pt x="54" y="4"/>
                    </a:lnTo>
                  </a:path>
                </a:pathLst>
              </a:custGeom>
              <a:solidFill>
                <a:srgbClr val="989898"/>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26" name="Freeform 225"/>
              <p:cNvSpPr>
                <a:spLocks/>
              </p:cNvSpPr>
              <p:nvPr/>
            </p:nvSpPr>
            <p:spPr bwMode="blackWhite">
              <a:xfrm>
                <a:off x="4548" y="1498"/>
                <a:ext cx="54" cy="43"/>
              </a:xfrm>
              <a:custGeom>
                <a:avLst/>
                <a:gdLst>
                  <a:gd name="T0" fmla="*/ 53 w 54"/>
                  <a:gd name="T1" fmla="*/ 4 h 43"/>
                  <a:gd name="T2" fmla="*/ 49 w 54"/>
                  <a:gd name="T3" fmla="*/ 42 h 43"/>
                  <a:gd name="T4" fmla="*/ 0 w 54"/>
                  <a:gd name="T5" fmla="*/ 38 h 43"/>
                  <a:gd name="T6" fmla="*/ 4 w 54"/>
                  <a:gd name="T7" fmla="*/ 0 h 43"/>
                  <a:gd name="T8" fmla="*/ 53 w 54"/>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43">
                    <a:moveTo>
                      <a:pt x="53" y="4"/>
                    </a:moveTo>
                    <a:lnTo>
                      <a:pt x="49" y="42"/>
                    </a:lnTo>
                    <a:lnTo>
                      <a:pt x="0" y="38"/>
                    </a:lnTo>
                    <a:lnTo>
                      <a:pt x="4" y="0"/>
                    </a:lnTo>
                    <a:lnTo>
                      <a:pt x="53" y="4"/>
                    </a:lnTo>
                  </a:path>
                </a:pathLst>
              </a:custGeom>
              <a:solidFill>
                <a:srgbClr val="FFCC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27" name="Freeform 226"/>
              <p:cNvSpPr>
                <a:spLocks/>
              </p:cNvSpPr>
              <p:nvPr/>
            </p:nvSpPr>
            <p:spPr bwMode="blackWhite">
              <a:xfrm>
                <a:off x="4548" y="1498"/>
                <a:ext cx="54" cy="43"/>
              </a:xfrm>
              <a:custGeom>
                <a:avLst/>
                <a:gdLst>
                  <a:gd name="T0" fmla="*/ 53 w 54"/>
                  <a:gd name="T1" fmla="*/ 4 h 43"/>
                  <a:gd name="T2" fmla="*/ 49 w 54"/>
                  <a:gd name="T3" fmla="*/ 42 h 43"/>
                  <a:gd name="T4" fmla="*/ 0 w 54"/>
                  <a:gd name="T5" fmla="*/ 38 h 43"/>
                  <a:gd name="T6" fmla="*/ 4 w 54"/>
                  <a:gd name="T7" fmla="*/ 0 h 43"/>
                  <a:gd name="T8" fmla="*/ 53 w 54"/>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43">
                    <a:moveTo>
                      <a:pt x="53" y="4"/>
                    </a:moveTo>
                    <a:lnTo>
                      <a:pt x="49" y="42"/>
                    </a:lnTo>
                    <a:lnTo>
                      <a:pt x="0" y="38"/>
                    </a:lnTo>
                    <a:lnTo>
                      <a:pt x="4" y="0"/>
                    </a:lnTo>
                    <a:lnTo>
                      <a:pt x="53" y="4"/>
                    </a:lnTo>
                  </a:path>
                </a:pathLst>
              </a:custGeom>
              <a:noFill/>
              <a:ln w="12700" cap="rnd" cmpd="sng">
                <a:solidFill>
                  <a:srgbClr val="7F7F7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28" name="Freeform 227"/>
              <p:cNvSpPr>
                <a:spLocks/>
              </p:cNvSpPr>
              <p:nvPr/>
            </p:nvSpPr>
            <p:spPr bwMode="blackWhite">
              <a:xfrm>
                <a:off x="4555" y="1501"/>
                <a:ext cx="44" cy="19"/>
              </a:xfrm>
              <a:custGeom>
                <a:avLst/>
                <a:gdLst>
                  <a:gd name="T0" fmla="*/ 43 w 44"/>
                  <a:gd name="T1" fmla="*/ 11 h 19"/>
                  <a:gd name="T2" fmla="*/ 42 w 44"/>
                  <a:gd name="T3" fmla="*/ 18 h 19"/>
                  <a:gd name="T4" fmla="*/ 0 w 44"/>
                  <a:gd name="T5" fmla="*/ 7 h 19"/>
                  <a:gd name="T6" fmla="*/ 0 w 44"/>
                  <a:gd name="T7" fmla="*/ 0 h 19"/>
                  <a:gd name="T8" fmla="*/ 43 w 44"/>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19">
                    <a:moveTo>
                      <a:pt x="43" y="11"/>
                    </a:moveTo>
                    <a:lnTo>
                      <a:pt x="42" y="18"/>
                    </a:lnTo>
                    <a:lnTo>
                      <a:pt x="0" y="7"/>
                    </a:lnTo>
                    <a:lnTo>
                      <a:pt x="0" y="0"/>
                    </a:lnTo>
                    <a:lnTo>
                      <a:pt x="43"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29" name="Freeform 228"/>
              <p:cNvSpPr>
                <a:spLocks/>
              </p:cNvSpPr>
              <p:nvPr/>
            </p:nvSpPr>
            <p:spPr bwMode="blackWhite">
              <a:xfrm>
                <a:off x="4554" y="1508"/>
                <a:ext cx="43" cy="19"/>
              </a:xfrm>
              <a:custGeom>
                <a:avLst/>
                <a:gdLst>
                  <a:gd name="T0" fmla="*/ 42 w 43"/>
                  <a:gd name="T1" fmla="*/ 11 h 19"/>
                  <a:gd name="T2" fmla="*/ 41 w 43"/>
                  <a:gd name="T3" fmla="*/ 18 h 19"/>
                  <a:gd name="T4" fmla="*/ 0 w 43"/>
                  <a:gd name="T5" fmla="*/ 6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6"/>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30" name="Freeform 229"/>
              <p:cNvSpPr>
                <a:spLocks/>
              </p:cNvSpPr>
              <p:nvPr/>
            </p:nvSpPr>
            <p:spPr bwMode="blackWhite">
              <a:xfrm>
                <a:off x="4553" y="1515"/>
                <a:ext cx="43" cy="19"/>
              </a:xfrm>
              <a:custGeom>
                <a:avLst/>
                <a:gdLst>
                  <a:gd name="T0" fmla="*/ 42 w 43"/>
                  <a:gd name="T1" fmla="*/ 11 h 19"/>
                  <a:gd name="T2" fmla="*/ 41 w 43"/>
                  <a:gd name="T3" fmla="*/ 18 h 19"/>
                  <a:gd name="T4" fmla="*/ 0 w 43"/>
                  <a:gd name="T5" fmla="*/ 6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6"/>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31" name="Freeform 230"/>
              <p:cNvSpPr>
                <a:spLocks/>
              </p:cNvSpPr>
              <p:nvPr/>
            </p:nvSpPr>
            <p:spPr bwMode="blackWhite">
              <a:xfrm>
                <a:off x="4553" y="1523"/>
                <a:ext cx="43" cy="19"/>
              </a:xfrm>
              <a:custGeom>
                <a:avLst/>
                <a:gdLst>
                  <a:gd name="T0" fmla="*/ 42 w 43"/>
                  <a:gd name="T1" fmla="*/ 11 h 19"/>
                  <a:gd name="T2" fmla="*/ 41 w 43"/>
                  <a:gd name="T3" fmla="*/ 18 h 19"/>
                  <a:gd name="T4" fmla="*/ 0 w 43"/>
                  <a:gd name="T5" fmla="*/ 7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7"/>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32" name="Freeform 231"/>
              <p:cNvSpPr>
                <a:spLocks/>
              </p:cNvSpPr>
              <p:nvPr/>
            </p:nvSpPr>
            <p:spPr bwMode="blackWhite">
              <a:xfrm>
                <a:off x="4553" y="1531"/>
                <a:ext cx="41" cy="19"/>
              </a:xfrm>
              <a:custGeom>
                <a:avLst/>
                <a:gdLst>
                  <a:gd name="T0" fmla="*/ 40 w 41"/>
                  <a:gd name="T1" fmla="*/ 11 h 19"/>
                  <a:gd name="T2" fmla="*/ 39 w 41"/>
                  <a:gd name="T3" fmla="*/ 18 h 19"/>
                  <a:gd name="T4" fmla="*/ 0 w 41"/>
                  <a:gd name="T5" fmla="*/ 6 h 19"/>
                  <a:gd name="T6" fmla="*/ 0 w 41"/>
                  <a:gd name="T7" fmla="*/ 0 h 19"/>
                  <a:gd name="T8" fmla="*/ 40 w 41"/>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19">
                    <a:moveTo>
                      <a:pt x="40" y="11"/>
                    </a:moveTo>
                    <a:lnTo>
                      <a:pt x="39" y="18"/>
                    </a:lnTo>
                    <a:lnTo>
                      <a:pt x="0" y="6"/>
                    </a:lnTo>
                    <a:lnTo>
                      <a:pt x="0" y="0"/>
                    </a:lnTo>
                    <a:lnTo>
                      <a:pt x="40"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grpSp>
        <p:grpSp>
          <p:nvGrpSpPr>
            <p:cNvPr id="51" name="Group 50"/>
            <p:cNvGrpSpPr>
              <a:grpSpLocks/>
            </p:cNvGrpSpPr>
            <p:nvPr/>
          </p:nvGrpSpPr>
          <p:grpSpPr bwMode="auto">
            <a:xfrm>
              <a:off x="4720" y="1773"/>
              <a:ext cx="58" cy="52"/>
              <a:chOff x="4536" y="1551"/>
              <a:chExt cx="58" cy="52"/>
            </a:xfrm>
          </p:grpSpPr>
          <p:sp>
            <p:nvSpPr>
              <p:cNvPr id="209" name="Line 77"/>
              <p:cNvSpPr>
                <a:spLocks noChangeShapeType="1"/>
              </p:cNvSpPr>
              <p:nvPr/>
            </p:nvSpPr>
            <p:spPr bwMode="blackWhite">
              <a:xfrm flipH="1">
                <a:off x="4570" y="1565"/>
                <a:ext cx="17" cy="1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10" name="Line 78"/>
              <p:cNvSpPr>
                <a:spLocks noChangeShapeType="1"/>
              </p:cNvSpPr>
              <p:nvPr/>
            </p:nvSpPr>
            <p:spPr bwMode="blackWhite">
              <a:xfrm flipH="1">
                <a:off x="4573" y="1561"/>
                <a:ext cx="17" cy="16"/>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11" name="Line 79"/>
              <p:cNvSpPr>
                <a:spLocks noChangeShapeType="1"/>
              </p:cNvSpPr>
              <p:nvPr/>
            </p:nvSpPr>
            <p:spPr bwMode="blackWhite">
              <a:xfrm flipH="1">
                <a:off x="4570" y="1568"/>
                <a:ext cx="17" cy="13"/>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12" name="Freeform 211"/>
              <p:cNvSpPr>
                <a:spLocks/>
              </p:cNvSpPr>
              <p:nvPr/>
            </p:nvSpPr>
            <p:spPr bwMode="blackWhite">
              <a:xfrm>
                <a:off x="4536" y="1556"/>
                <a:ext cx="55" cy="43"/>
              </a:xfrm>
              <a:custGeom>
                <a:avLst/>
                <a:gdLst>
                  <a:gd name="T0" fmla="*/ 54 w 55"/>
                  <a:gd name="T1" fmla="*/ 4 h 43"/>
                  <a:gd name="T2" fmla="*/ 49 w 55"/>
                  <a:gd name="T3" fmla="*/ 42 h 43"/>
                  <a:gd name="T4" fmla="*/ 0 w 55"/>
                  <a:gd name="T5" fmla="*/ 38 h 43"/>
                  <a:gd name="T6" fmla="*/ 4 w 55"/>
                  <a:gd name="T7" fmla="*/ 0 h 43"/>
                  <a:gd name="T8" fmla="*/ 54 w 55"/>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 h="43">
                    <a:moveTo>
                      <a:pt x="54" y="4"/>
                    </a:moveTo>
                    <a:lnTo>
                      <a:pt x="49" y="42"/>
                    </a:lnTo>
                    <a:lnTo>
                      <a:pt x="0" y="38"/>
                    </a:lnTo>
                    <a:lnTo>
                      <a:pt x="4" y="0"/>
                    </a:lnTo>
                    <a:lnTo>
                      <a:pt x="54" y="4"/>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13" name="Freeform 212"/>
              <p:cNvSpPr>
                <a:spLocks/>
              </p:cNvSpPr>
              <p:nvPr/>
            </p:nvSpPr>
            <p:spPr bwMode="blackWhite">
              <a:xfrm>
                <a:off x="4537" y="1552"/>
                <a:ext cx="56" cy="43"/>
              </a:xfrm>
              <a:custGeom>
                <a:avLst/>
                <a:gdLst>
                  <a:gd name="T0" fmla="*/ 55 w 56"/>
                  <a:gd name="T1" fmla="*/ 4 h 43"/>
                  <a:gd name="T2" fmla="*/ 50 w 56"/>
                  <a:gd name="T3" fmla="*/ 42 h 43"/>
                  <a:gd name="T4" fmla="*/ 0 w 56"/>
                  <a:gd name="T5" fmla="*/ 38 h 43"/>
                  <a:gd name="T6" fmla="*/ 4 w 56"/>
                  <a:gd name="T7" fmla="*/ 0 h 43"/>
                  <a:gd name="T8" fmla="*/ 55 w 56"/>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43">
                    <a:moveTo>
                      <a:pt x="55" y="4"/>
                    </a:moveTo>
                    <a:lnTo>
                      <a:pt x="50" y="42"/>
                    </a:lnTo>
                    <a:lnTo>
                      <a:pt x="0" y="38"/>
                    </a:lnTo>
                    <a:lnTo>
                      <a:pt x="4" y="0"/>
                    </a:lnTo>
                    <a:lnTo>
                      <a:pt x="55" y="4"/>
                    </a:lnTo>
                  </a:path>
                </a:pathLst>
              </a:custGeom>
              <a:solidFill>
                <a:srgbClr val="989898"/>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14" name="Freeform 213"/>
              <p:cNvSpPr>
                <a:spLocks/>
              </p:cNvSpPr>
              <p:nvPr/>
            </p:nvSpPr>
            <p:spPr bwMode="blackWhite">
              <a:xfrm>
                <a:off x="4538" y="1551"/>
                <a:ext cx="56" cy="43"/>
              </a:xfrm>
              <a:custGeom>
                <a:avLst/>
                <a:gdLst>
                  <a:gd name="T0" fmla="*/ 55 w 56"/>
                  <a:gd name="T1" fmla="*/ 4 h 43"/>
                  <a:gd name="T2" fmla="*/ 51 w 56"/>
                  <a:gd name="T3" fmla="*/ 42 h 43"/>
                  <a:gd name="T4" fmla="*/ 0 w 56"/>
                  <a:gd name="T5" fmla="*/ 38 h 43"/>
                  <a:gd name="T6" fmla="*/ 4 w 56"/>
                  <a:gd name="T7" fmla="*/ 0 h 43"/>
                  <a:gd name="T8" fmla="*/ 55 w 56"/>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43">
                    <a:moveTo>
                      <a:pt x="55" y="4"/>
                    </a:moveTo>
                    <a:lnTo>
                      <a:pt x="51" y="42"/>
                    </a:lnTo>
                    <a:lnTo>
                      <a:pt x="0" y="38"/>
                    </a:lnTo>
                    <a:lnTo>
                      <a:pt x="4" y="0"/>
                    </a:lnTo>
                    <a:lnTo>
                      <a:pt x="55" y="4"/>
                    </a:lnTo>
                  </a:path>
                </a:pathLst>
              </a:custGeom>
              <a:solidFill>
                <a:srgbClr val="FFCC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15" name="Freeform 214"/>
              <p:cNvSpPr>
                <a:spLocks/>
              </p:cNvSpPr>
              <p:nvPr/>
            </p:nvSpPr>
            <p:spPr bwMode="blackWhite">
              <a:xfrm>
                <a:off x="4538" y="1551"/>
                <a:ext cx="56" cy="43"/>
              </a:xfrm>
              <a:custGeom>
                <a:avLst/>
                <a:gdLst>
                  <a:gd name="T0" fmla="*/ 55 w 56"/>
                  <a:gd name="T1" fmla="*/ 4 h 43"/>
                  <a:gd name="T2" fmla="*/ 51 w 56"/>
                  <a:gd name="T3" fmla="*/ 42 h 43"/>
                  <a:gd name="T4" fmla="*/ 0 w 56"/>
                  <a:gd name="T5" fmla="*/ 38 h 43"/>
                  <a:gd name="T6" fmla="*/ 4 w 56"/>
                  <a:gd name="T7" fmla="*/ 0 h 43"/>
                  <a:gd name="T8" fmla="*/ 55 w 56"/>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43">
                    <a:moveTo>
                      <a:pt x="55" y="4"/>
                    </a:moveTo>
                    <a:lnTo>
                      <a:pt x="51" y="42"/>
                    </a:lnTo>
                    <a:lnTo>
                      <a:pt x="0" y="38"/>
                    </a:lnTo>
                    <a:lnTo>
                      <a:pt x="4" y="0"/>
                    </a:lnTo>
                    <a:lnTo>
                      <a:pt x="55" y="4"/>
                    </a:lnTo>
                  </a:path>
                </a:pathLst>
              </a:custGeom>
              <a:noFill/>
              <a:ln w="12700" cap="rnd" cmpd="sng">
                <a:solidFill>
                  <a:srgbClr val="7F7F7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16" name="Freeform 215"/>
              <p:cNvSpPr>
                <a:spLocks/>
              </p:cNvSpPr>
              <p:nvPr/>
            </p:nvSpPr>
            <p:spPr bwMode="blackWhite">
              <a:xfrm>
                <a:off x="4548" y="1556"/>
                <a:ext cx="43" cy="19"/>
              </a:xfrm>
              <a:custGeom>
                <a:avLst/>
                <a:gdLst>
                  <a:gd name="T0" fmla="*/ 42 w 43"/>
                  <a:gd name="T1" fmla="*/ 11 h 19"/>
                  <a:gd name="T2" fmla="*/ 41 w 43"/>
                  <a:gd name="T3" fmla="*/ 18 h 19"/>
                  <a:gd name="T4" fmla="*/ 0 w 43"/>
                  <a:gd name="T5" fmla="*/ 7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7"/>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17" name="Freeform 216"/>
              <p:cNvSpPr>
                <a:spLocks/>
              </p:cNvSpPr>
              <p:nvPr/>
            </p:nvSpPr>
            <p:spPr bwMode="blackWhite">
              <a:xfrm>
                <a:off x="4547" y="1561"/>
                <a:ext cx="44" cy="20"/>
              </a:xfrm>
              <a:custGeom>
                <a:avLst/>
                <a:gdLst>
                  <a:gd name="T0" fmla="*/ 43 w 44"/>
                  <a:gd name="T1" fmla="*/ 12 h 20"/>
                  <a:gd name="T2" fmla="*/ 42 w 44"/>
                  <a:gd name="T3" fmla="*/ 19 h 20"/>
                  <a:gd name="T4" fmla="*/ 0 w 44"/>
                  <a:gd name="T5" fmla="*/ 7 h 20"/>
                  <a:gd name="T6" fmla="*/ 0 w 44"/>
                  <a:gd name="T7" fmla="*/ 0 h 20"/>
                  <a:gd name="T8" fmla="*/ 43 w 44"/>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20">
                    <a:moveTo>
                      <a:pt x="43" y="12"/>
                    </a:moveTo>
                    <a:lnTo>
                      <a:pt x="42" y="19"/>
                    </a:lnTo>
                    <a:lnTo>
                      <a:pt x="0" y="7"/>
                    </a:lnTo>
                    <a:lnTo>
                      <a:pt x="0" y="0"/>
                    </a:lnTo>
                    <a:lnTo>
                      <a:pt x="43" y="1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18" name="Freeform 217"/>
              <p:cNvSpPr>
                <a:spLocks/>
              </p:cNvSpPr>
              <p:nvPr/>
            </p:nvSpPr>
            <p:spPr bwMode="blackWhite">
              <a:xfrm>
                <a:off x="4547" y="1568"/>
                <a:ext cx="41" cy="19"/>
              </a:xfrm>
              <a:custGeom>
                <a:avLst/>
                <a:gdLst>
                  <a:gd name="T0" fmla="*/ 40 w 41"/>
                  <a:gd name="T1" fmla="*/ 11 h 19"/>
                  <a:gd name="T2" fmla="*/ 39 w 41"/>
                  <a:gd name="T3" fmla="*/ 18 h 19"/>
                  <a:gd name="T4" fmla="*/ 0 w 41"/>
                  <a:gd name="T5" fmla="*/ 6 h 19"/>
                  <a:gd name="T6" fmla="*/ 0 w 41"/>
                  <a:gd name="T7" fmla="*/ 0 h 19"/>
                  <a:gd name="T8" fmla="*/ 40 w 41"/>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19">
                    <a:moveTo>
                      <a:pt x="40" y="11"/>
                    </a:moveTo>
                    <a:lnTo>
                      <a:pt x="39" y="18"/>
                    </a:lnTo>
                    <a:lnTo>
                      <a:pt x="0" y="6"/>
                    </a:lnTo>
                    <a:lnTo>
                      <a:pt x="0" y="0"/>
                    </a:lnTo>
                    <a:lnTo>
                      <a:pt x="40"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19" name="Freeform 218"/>
              <p:cNvSpPr>
                <a:spLocks/>
              </p:cNvSpPr>
              <p:nvPr/>
            </p:nvSpPr>
            <p:spPr bwMode="blackWhite">
              <a:xfrm>
                <a:off x="4543" y="1575"/>
                <a:ext cx="45" cy="19"/>
              </a:xfrm>
              <a:custGeom>
                <a:avLst/>
                <a:gdLst>
                  <a:gd name="T0" fmla="*/ 44 w 45"/>
                  <a:gd name="T1" fmla="*/ 11 h 19"/>
                  <a:gd name="T2" fmla="*/ 43 w 45"/>
                  <a:gd name="T3" fmla="*/ 18 h 19"/>
                  <a:gd name="T4" fmla="*/ 0 w 45"/>
                  <a:gd name="T5" fmla="*/ 7 h 19"/>
                  <a:gd name="T6" fmla="*/ 0 w 45"/>
                  <a:gd name="T7" fmla="*/ 0 h 19"/>
                  <a:gd name="T8" fmla="*/ 44 w 45"/>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19">
                    <a:moveTo>
                      <a:pt x="44" y="11"/>
                    </a:moveTo>
                    <a:lnTo>
                      <a:pt x="43" y="18"/>
                    </a:lnTo>
                    <a:lnTo>
                      <a:pt x="0" y="7"/>
                    </a:lnTo>
                    <a:lnTo>
                      <a:pt x="0" y="0"/>
                    </a:lnTo>
                    <a:lnTo>
                      <a:pt x="44"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20" name="Freeform 219"/>
              <p:cNvSpPr>
                <a:spLocks/>
              </p:cNvSpPr>
              <p:nvPr/>
            </p:nvSpPr>
            <p:spPr bwMode="blackWhite">
              <a:xfrm>
                <a:off x="4543" y="1584"/>
                <a:ext cx="45" cy="19"/>
              </a:xfrm>
              <a:custGeom>
                <a:avLst/>
                <a:gdLst>
                  <a:gd name="T0" fmla="*/ 44 w 45"/>
                  <a:gd name="T1" fmla="*/ 11 h 19"/>
                  <a:gd name="T2" fmla="*/ 43 w 45"/>
                  <a:gd name="T3" fmla="*/ 18 h 19"/>
                  <a:gd name="T4" fmla="*/ 0 w 45"/>
                  <a:gd name="T5" fmla="*/ 6 h 19"/>
                  <a:gd name="T6" fmla="*/ 0 w 45"/>
                  <a:gd name="T7" fmla="*/ 0 h 19"/>
                  <a:gd name="T8" fmla="*/ 44 w 45"/>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19">
                    <a:moveTo>
                      <a:pt x="44" y="11"/>
                    </a:moveTo>
                    <a:lnTo>
                      <a:pt x="43" y="18"/>
                    </a:lnTo>
                    <a:lnTo>
                      <a:pt x="0" y="6"/>
                    </a:lnTo>
                    <a:lnTo>
                      <a:pt x="0" y="0"/>
                    </a:lnTo>
                    <a:lnTo>
                      <a:pt x="44"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grpSp>
        <p:grpSp>
          <p:nvGrpSpPr>
            <p:cNvPr id="52" name="Group 51"/>
            <p:cNvGrpSpPr>
              <a:grpSpLocks/>
            </p:cNvGrpSpPr>
            <p:nvPr/>
          </p:nvGrpSpPr>
          <p:grpSpPr bwMode="auto">
            <a:xfrm>
              <a:off x="4596" y="1771"/>
              <a:ext cx="57" cy="52"/>
              <a:chOff x="4412" y="1549"/>
              <a:chExt cx="57" cy="52"/>
            </a:xfrm>
          </p:grpSpPr>
          <p:sp>
            <p:nvSpPr>
              <p:cNvPr id="197" name="Line 90"/>
              <p:cNvSpPr>
                <a:spLocks noChangeShapeType="1"/>
              </p:cNvSpPr>
              <p:nvPr/>
            </p:nvSpPr>
            <p:spPr bwMode="blackWhite">
              <a:xfrm flipH="1">
                <a:off x="4447" y="1560"/>
                <a:ext cx="14" cy="13"/>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198" name="Line 91"/>
              <p:cNvSpPr>
                <a:spLocks noChangeShapeType="1"/>
              </p:cNvSpPr>
              <p:nvPr/>
            </p:nvSpPr>
            <p:spPr bwMode="blackWhite">
              <a:xfrm flipH="1">
                <a:off x="4447" y="1559"/>
                <a:ext cx="17" cy="15"/>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199" name="Line 92"/>
              <p:cNvSpPr>
                <a:spLocks noChangeShapeType="1"/>
              </p:cNvSpPr>
              <p:nvPr/>
            </p:nvSpPr>
            <p:spPr bwMode="blackWhite">
              <a:xfrm flipH="1">
                <a:off x="4447" y="1567"/>
                <a:ext cx="14" cy="12"/>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00" name="Freeform 199"/>
              <p:cNvSpPr>
                <a:spLocks/>
              </p:cNvSpPr>
              <p:nvPr/>
            </p:nvSpPr>
            <p:spPr bwMode="blackWhite">
              <a:xfrm>
                <a:off x="4412" y="1552"/>
                <a:ext cx="53" cy="43"/>
              </a:xfrm>
              <a:custGeom>
                <a:avLst/>
                <a:gdLst>
                  <a:gd name="T0" fmla="*/ 52 w 53"/>
                  <a:gd name="T1" fmla="*/ 4 h 43"/>
                  <a:gd name="T2" fmla="*/ 48 w 53"/>
                  <a:gd name="T3" fmla="*/ 42 h 43"/>
                  <a:gd name="T4" fmla="*/ 0 w 53"/>
                  <a:gd name="T5" fmla="*/ 38 h 43"/>
                  <a:gd name="T6" fmla="*/ 4 w 53"/>
                  <a:gd name="T7" fmla="*/ 0 h 43"/>
                  <a:gd name="T8" fmla="*/ 52 w 53"/>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43">
                    <a:moveTo>
                      <a:pt x="52" y="4"/>
                    </a:moveTo>
                    <a:lnTo>
                      <a:pt x="48" y="42"/>
                    </a:lnTo>
                    <a:lnTo>
                      <a:pt x="0" y="38"/>
                    </a:lnTo>
                    <a:lnTo>
                      <a:pt x="4" y="0"/>
                    </a:lnTo>
                    <a:lnTo>
                      <a:pt x="52" y="4"/>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01" name="Freeform 200"/>
              <p:cNvSpPr>
                <a:spLocks/>
              </p:cNvSpPr>
              <p:nvPr/>
            </p:nvSpPr>
            <p:spPr bwMode="blackWhite">
              <a:xfrm>
                <a:off x="4413" y="1551"/>
                <a:ext cx="55" cy="43"/>
              </a:xfrm>
              <a:custGeom>
                <a:avLst/>
                <a:gdLst>
                  <a:gd name="T0" fmla="*/ 54 w 55"/>
                  <a:gd name="T1" fmla="*/ 4 h 43"/>
                  <a:gd name="T2" fmla="*/ 49 w 55"/>
                  <a:gd name="T3" fmla="*/ 42 h 43"/>
                  <a:gd name="T4" fmla="*/ 0 w 55"/>
                  <a:gd name="T5" fmla="*/ 38 h 43"/>
                  <a:gd name="T6" fmla="*/ 4 w 55"/>
                  <a:gd name="T7" fmla="*/ 0 h 43"/>
                  <a:gd name="T8" fmla="*/ 54 w 55"/>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 h="43">
                    <a:moveTo>
                      <a:pt x="54" y="4"/>
                    </a:moveTo>
                    <a:lnTo>
                      <a:pt x="49" y="42"/>
                    </a:lnTo>
                    <a:lnTo>
                      <a:pt x="0" y="38"/>
                    </a:lnTo>
                    <a:lnTo>
                      <a:pt x="4" y="0"/>
                    </a:lnTo>
                    <a:lnTo>
                      <a:pt x="54" y="4"/>
                    </a:lnTo>
                  </a:path>
                </a:pathLst>
              </a:custGeom>
              <a:solidFill>
                <a:srgbClr val="989898"/>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02" name="Freeform 201"/>
              <p:cNvSpPr>
                <a:spLocks/>
              </p:cNvSpPr>
              <p:nvPr/>
            </p:nvSpPr>
            <p:spPr bwMode="blackWhite">
              <a:xfrm>
                <a:off x="4414" y="1549"/>
                <a:ext cx="55" cy="43"/>
              </a:xfrm>
              <a:custGeom>
                <a:avLst/>
                <a:gdLst>
                  <a:gd name="T0" fmla="*/ 54 w 55"/>
                  <a:gd name="T1" fmla="*/ 4 h 43"/>
                  <a:gd name="T2" fmla="*/ 50 w 55"/>
                  <a:gd name="T3" fmla="*/ 42 h 43"/>
                  <a:gd name="T4" fmla="*/ 0 w 55"/>
                  <a:gd name="T5" fmla="*/ 38 h 43"/>
                  <a:gd name="T6" fmla="*/ 4 w 55"/>
                  <a:gd name="T7" fmla="*/ 0 h 43"/>
                  <a:gd name="T8" fmla="*/ 54 w 55"/>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 h="43">
                    <a:moveTo>
                      <a:pt x="54" y="4"/>
                    </a:moveTo>
                    <a:lnTo>
                      <a:pt x="50" y="42"/>
                    </a:lnTo>
                    <a:lnTo>
                      <a:pt x="0" y="38"/>
                    </a:lnTo>
                    <a:lnTo>
                      <a:pt x="4" y="0"/>
                    </a:lnTo>
                    <a:lnTo>
                      <a:pt x="54" y="4"/>
                    </a:lnTo>
                  </a:path>
                </a:pathLst>
              </a:custGeom>
              <a:solidFill>
                <a:srgbClr val="FFCC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03" name="Freeform 202"/>
              <p:cNvSpPr>
                <a:spLocks/>
              </p:cNvSpPr>
              <p:nvPr/>
            </p:nvSpPr>
            <p:spPr bwMode="blackWhite">
              <a:xfrm>
                <a:off x="4414" y="1549"/>
                <a:ext cx="55" cy="43"/>
              </a:xfrm>
              <a:custGeom>
                <a:avLst/>
                <a:gdLst>
                  <a:gd name="T0" fmla="*/ 54 w 55"/>
                  <a:gd name="T1" fmla="*/ 4 h 43"/>
                  <a:gd name="T2" fmla="*/ 50 w 55"/>
                  <a:gd name="T3" fmla="*/ 42 h 43"/>
                  <a:gd name="T4" fmla="*/ 0 w 55"/>
                  <a:gd name="T5" fmla="*/ 38 h 43"/>
                  <a:gd name="T6" fmla="*/ 4 w 55"/>
                  <a:gd name="T7" fmla="*/ 0 h 43"/>
                  <a:gd name="T8" fmla="*/ 54 w 55"/>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 h="43">
                    <a:moveTo>
                      <a:pt x="54" y="4"/>
                    </a:moveTo>
                    <a:lnTo>
                      <a:pt x="50" y="42"/>
                    </a:lnTo>
                    <a:lnTo>
                      <a:pt x="0" y="38"/>
                    </a:lnTo>
                    <a:lnTo>
                      <a:pt x="4" y="0"/>
                    </a:lnTo>
                    <a:lnTo>
                      <a:pt x="54" y="4"/>
                    </a:lnTo>
                  </a:path>
                </a:pathLst>
              </a:custGeom>
              <a:noFill/>
              <a:ln w="12700" cap="rnd" cmpd="sng">
                <a:solidFill>
                  <a:srgbClr val="7F7F7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04" name="Freeform 203"/>
              <p:cNvSpPr>
                <a:spLocks/>
              </p:cNvSpPr>
              <p:nvPr/>
            </p:nvSpPr>
            <p:spPr bwMode="blackWhite">
              <a:xfrm>
                <a:off x="4423" y="1552"/>
                <a:ext cx="42" cy="20"/>
              </a:xfrm>
              <a:custGeom>
                <a:avLst/>
                <a:gdLst>
                  <a:gd name="T0" fmla="*/ 41 w 42"/>
                  <a:gd name="T1" fmla="*/ 12 h 20"/>
                  <a:gd name="T2" fmla="*/ 40 w 42"/>
                  <a:gd name="T3" fmla="*/ 19 h 20"/>
                  <a:gd name="T4" fmla="*/ 0 w 42"/>
                  <a:gd name="T5" fmla="*/ 7 h 20"/>
                  <a:gd name="T6" fmla="*/ 0 w 42"/>
                  <a:gd name="T7" fmla="*/ 0 h 20"/>
                  <a:gd name="T8" fmla="*/ 41 w 42"/>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 h="20">
                    <a:moveTo>
                      <a:pt x="41" y="12"/>
                    </a:moveTo>
                    <a:lnTo>
                      <a:pt x="40" y="19"/>
                    </a:lnTo>
                    <a:lnTo>
                      <a:pt x="0" y="7"/>
                    </a:lnTo>
                    <a:lnTo>
                      <a:pt x="0" y="0"/>
                    </a:lnTo>
                    <a:lnTo>
                      <a:pt x="41" y="1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05" name="Freeform 204"/>
              <p:cNvSpPr>
                <a:spLocks/>
              </p:cNvSpPr>
              <p:nvPr/>
            </p:nvSpPr>
            <p:spPr bwMode="blackWhite">
              <a:xfrm>
                <a:off x="4423" y="1559"/>
                <a:ext cx="42" cy="19"/>
              </a:xfrm>
              <a:custGeom>
                <a:avLst/>
                <a:gdLst>
                  <a:gd name="T0" fmla="*/ 41 w 42"/>
                  <a:gd name="T1" fmla="*/ 11 h 19"/>
                  <a:gd name="T2" fmla="*/ 40 w 42"/>
                  <a:gd name="T3" fmla="*/ 18 h 19"/>
                  <a:gd name="T4" fmla="*/ 0 w 42"/>
                  <a:gd name="T5" fmla="*/ 6 h 19"/>
                  <a:gd name="T6" fmla="*/ 0 w 42"/>
                  <a:gd name="T7" fmla="*/ 0 h 19"/>
                  <a:gd name="T8" fmla="*/ 41 w 42"/>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 h="19">
                    <a:moveTo>
                      <a:pt x="41" y="11"/>
                    </a:moveTo>
                    <a:lnTo>
                      <a:pt x="40" y="18"/>
                    </a:lnTo>
                    <a:lnTo>
                      <a:pt x="0" y="6"/>
                    </a:lnTo>
                    <a:lnTo>
                      <a:pt x="0" y="0"/>
                    </a:lnTo>
                    <a:lnTo>
                      <a:pt x="41"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06" name="Freeform 205"/>
              <p:cNvSpPr>
                <a:spLocks/>
              </p:cNvSpPr>
              <p:nvPr/>
            </p:nvSpPr>
            <p:spPr bwMode="blackWhite">
              <a:xfrm>
                <a:off x="4420" y="1567"/>
                <a:ext cx="43" cy="19"/>
              </a:xfrm>
              <a:custGeom>
                <a:avLst/>
                <a:gdLst>
                  <a:gd name="T0" fmla="*/ 42 w 43"/>
                  <a:gd name="T1" fmla="*/ 11 h 19"/>
                  <a:gd name="T2" fmla="*/ 41 w 43"/>
                  <a:gd name="T3" fmla="*/ 18 h 19"/>
                  <a:gd name="T4" fmla="*/ 0 w 43"/>
                  <a:gd name="T5" fmla="*/ 6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6"/>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07" name="Freeform 206"/>
              <p:cNvSpPr>
                <a:spLocks/>
              </p:cNvSpPr>
              <p:nvPr/>
            </p:nvSpPr>
            <p:spPr bwMode="blackWhite">
              <a:xfrm>
                <a:off x="4419" y="1573"/>
                <a:ext cx="44" cy="19"/>
              </a:xfrm>
              <a:custGeom>
                <a:avLst/>
                <a:gdLst>
                  <a:gd name="T0" fmla="*/ 43 w 44"/>
                  <a:gd name="T1" fmla="*/ 11 h 19"/>
                  <a:gd name="T2" fmla="*/ 42 w 44"/>
                  <a:gd name="T3" fmla="*/ 18 h 19"/>
                  <a:gd name="T4" fmla="*/ 0 w 44"/>
                  <a:gd name="T5" fmla="*/ 7 h 19"/>
                  <a:gd name="T6" fmla="*/ 0 w 44"/>
                  <a:gd name="T7" fmla="*/ 0 h 19"/>
                  <a:gd name="T8" fmla="*/ 43 w 44"/>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19">
                    <a:moveTo>
                      <a:pt x="43" y="11"/>
                    </a:moveTo>
                    <a:lnTo>
                      <a:pt x="42" y="18"/>
                    </a:lnTo>
                    <a:lnTo>
                      <a:pt x="0" y="7"/>
                    </a:lnTo>
                    <a:lnTo>
                      <a:pt x="0" y="0"/>
                    </a:lnTo>
                    <a:lnTo>
                      <a:pt x="43"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08" name="Freeform 207"/>
              <p:cNvSpPr>
                <a:spLocks/>
              </p:cNvSpPr>
              <p:nvPr/>
            </p:nvSpPr>
            <p:spPr bwMode="blackWhite">
              <a:xfrm>
                <a:off x="4418" y="1582"/>
                <a:ext cx="44" cy="19"/>
              </a:xfrm>
              <a:custGeom>
                <a:avLst/>
                <a:gdLst>
                  <a:gd name="T0" fmla="*/ 43 w 44"/>
                  <a:gd name="T1" fmla="*/ 11 h 19"/>
                  <a:gd name="T2" fmla="*/ 42 w 44"/>
                  <a:gd name="T3" fmla="*/ 18 h 19"/>
                  <a:gd name="T4" fmla="*/ 0 w 44"/>
                  <a:gd name="T5" fmla="*/ 6 h 19"/>
                  <a:gd name="T6" fmla="*/ 0 w 44"/>
                  <a:gd name="T7" fmla="*/ 0 h 19"/>
                  <a:gd name="T8" fmla="*/ 43 w 44"/>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19">
                    <a:moveTo>
                      <a:pt x="43" y="11"/>
                    </a:moveTo>
                    <a:lnTo>
                      <a:pt x="42" y="18"/>
                    </a:lnTo>
                    <a:lnTo>
                      <a:pt x="0" y="6"/>
                    </a:lnTo>
                    <a:lnTo>
                      <a:pt x="0" y="0"/>
                    </a:lnTo>
                    <a:lnTo>
                      <a:pt x="43"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grpSp>
        <p:grpSp>
          <p:nvGrpSpPr>
            <p:cNvPr id="53" name="Group 52"/>
            <p:cNvGrpSpPr>
              <a:grpSpLocks/>
            </p:cNvGrpSpPr>
            <p:nvPr/>
          </p:nvGrpSpPr>
          <p:grpSpPr bwMode="auto">
            <a:xfrm>
              <a:off x="4516" y="1742"/>
              <a:ext cx="60" cy="52"/>
              <a:chOff x="4332" y="1520"/>
              <a:chExt cx="60" cy="52"/>
            </a:xfrm>
          </p:grpSpPr>
          <p:sp>
            <p:nvSpPr>
              <p:cNvPr id="185" name="Line 103"/>
              <p:cNvSpPr>
                <a:spLocks noChangeShapeType="1"/>
              </p:cNvSpPr>
              <p:nvPr/>
            </p:nvSpPr>
            <p:spPr bwMode="blackWhite">
              <a:xfrm flipH="1">
                <a:off x="4371" y="1533"/>
                <a:ext cx="11" cy="11"/>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186" name="Line 104"/>
              <p:cNvSpPr>
                <a:spLocks noChangeShapeType="1"/>
              </p:cNvSpPr>
              <p:nvPr/>
            </p:nvSpPr>
            <p:spPr bwMode="blackWhite">
              <a:xfrm flipH="1">
                <a:off x="4373" y="1531"/>
                <a:ext cx="15" cy="15"/>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187" name="Line 105"/>
              <p:cNvSpPr>
                <a:spLocks noChangeShapeType="1"/>
              </p:cNvSpPr>
              <p:nvPr/>
            </p:nvSpPr>
            <p:spPr bwMode="blackWhite">
              <a:xfrm flipH="1">
                <a:off x="4371" y="1536"/>
                <a:ext cx="11" cy="13"/>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188" name="Freeform 187"/>
              <p:cNvSpPr>
                <a:spLocks/>
              </p:cNvSpPr>
              <p:nvPr/>
            </p:nvSpPr>
            <p:spPr bwMode="blackWhite">
              <a:xfrm>
                <a:off x="4332" y="1525"/>
                <a:ext cx="57" cy="43"/>
              </a:xfrm>
              <a:custGeom>
                <a:avLst/>
                <a:gdLst>
                  <a:gd name="T0" fmla="*/ 56 w 57"/>
                  <a:gd name="T1" fmla="*/ 4 h 43"/>
                  <a:gd name="T2" fmla="*/ 51 w 57"/>
                  <a:gd name="T3" fmla="*/ 42 h 43"/>
                  <a:gd name="T4" fmla="*/ 0 w 57"/>
                  <a:gd name="T5" fmla="*/ 38 h 43"/>
                  <a:gd name="T6" fmla="*/ 4 w 57"/>
                  <a:gd name="T7" fmla="*/ 0 h 43"/>
                  <a:gd name="T8" fmla="*/ 56 w 57"/>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 h="43">
                    <a:moveTo>
                      <a:pt x="56" y="4"/>
                    </a:moveTo>
                    <a:lnTo>
                      <a:pt x="51" y="42"/>
                    </a:lnTo>
                    <a:lnTo>
                      <a:pt x="0" y="38"/>
                    </a:lnTo>
                    <a:lnTo>
                      <a:pt x="4" y="0"/>
                    </a:lnTo>
                    <a:lnTo>
                      <a:pt x="56" y="4"/>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189" name="Freeform 188"/>
              <p:cNvSpPr>
                <a:spLocks/>
              </p:cNvSpPr>
              <p:nvPr/>
            </p:nvSpPr>
            <p:spPr bwMode="blackWhite">
              <a:xfrm>
                <a:off x="4337" y="1523"/>
                <a:ext cx="54" cy="43"/>
              </a:xfrm>
              <a:custGeom>
                <a:avLst/>
                <a:gdLst>
                  <a:gd name="T0" fmla="*/ 53 w 54"/>
                  <a:gd name="T1" fmla="*/ 4 h 43"/>
                  <a:gd name="T2" fmla="*/ 48 w 54"/>
                  <a:gd name="T3" fmla="*/ 42 h 43"/>
                  <a:gd name="T4" fmla="*/ 0 w 54"/>
                  <a:gd name="T5" fmla="*/ 38 h 43"/>
                  <a:gd name="T6" fmla="*/ 4 w 54"/>
                  <a:gd name="T7" fmla="*/ 0 h 43"/>
                  <a:gd name="T8" fmla="*/ 53 w 54"/>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43">
                    <a:moveTo>
                      <a:pt x="53" y="4"/>
                    </a:moveTo>
                    <a:lnTo>
                      <a:pt x="48" y="42"/>
                    </a:lnTo>
                    <a:lnTo>
                      <a:pt x="0" y="38"/>
                    </a:lnTo>
                    <a:lnTo>
                      <a:pt x="4" y="0"/>
                    </a:lnTo>
                    <a:lnTo>
                      <a:pt x="53" y="4"/>
                    </a:lnTo>
                  </a:path>
                </a:pathLst>
              </a:custGeom>
              <a:solidFill>
                <a:srgbClr val="989898"/>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190" name="Freeform 189"/>
              <p:cNvSpPr>
                <a:spLocks/>
              </p:cNvSpPr>
              <p:nvPr/>
            </p:nvSpPr>
            <p:spPr bwMode="blackWhite">
              <a:xfrm>
                <a:off x="4338" y="1520"/>
                <a:ext cx="54" cy="42"/>
              </a:xfrm>
              <a:custGeom>
                <a:avLst/>
                <a:gdLst>
                  <a:gd name="T0" fmla="*/ 53 w 54"/>
                  <a:gd name="T1" fmla="*/ 4 h 42"/>
                  <a:gd name="T2" fmla="*/ 49 w 54"/>
                  <a:gd name="T3" fmla="*/ 41 h 42"/>
                  <a:gd name="T4" fmla="*/ 0 w 54"/>
                  <a:gd name="T5" fmla="*/ 37 h 42"/>
                  <a:gd name="T6" fmla="*/ 4 w 54"/>
                  <a:gd name="T7" fmla="*/ 0 h 42"/>
                  <a:gd name="T8" fmla="*/ 53 w 54"/>
                  <a:gd name="T9" fmla="*/ 4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42">
                    <a:moveTo>
                      <a:pt x="53" y="4"/>
                    </a:moveTo>
                    <a:lnTo>
                      <a:pt x="49" y="41"/>
                    </a:lnTo>
                    <a:lnTo>
                      <a:pt x="0" y="37"/>
                    </a:lnTo>
                    <a:lnTo>
                      <a:pt x="4" y="0"/>
                    </a:lnTo>
                    <a:lnTo>
                      <a:pt x="53" y="4"/>
                    </a:lnTo>
                  </a:path>
                </a:pathLst>
              </a:custGeom>
              <a:solidFill>
                <a:srgbClr val="FFCC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191" name="Freeform 190"/>
              <p:cNvSpPr>
                <a:spLocks/>
              </p:cNvSpPr>
              <p:nvPr/>
            </p:nvSpPr>
            <p:spPr bwMode="blackWhite">
              <a:xfrm>
                <a:off x="4338" y="1520"/>
                <a:ext cx="54" cy="42"/>
              </a:xfrm>
              <a:custGeom>
                <a:avLst/>
                <a:gdLst>
                  <a:gd name="T0" fmla="*/ 53 w 54"/>
                  <a:gd name="T1" fmla="*/ 4 h 42"/>
                  <a:gd name="T2" fmla="*/ 49 w 54"/>
                  <a:gd name="T3" fmla="*/ 41 h 42"/>
                  <a:gd name="T4" fmla="*/ 0 w 54"/>
                  <a:gd name="T5" fmla="*/ 37 h 42"/>
                  <a:gd name="T6" fmla="*/ 4 w 54"/>
                  <a:gd name="T7" fmla="*/ 0 h 42"/>
                  <a:gd name="T8" fmla="*/ 53 w 54"/>
                  <a:gd name="T9" fmla="*/ 4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42">
                    <a:moveTo>
                      <a:pt x="53" y="4"/>
                    </a:moveTo>
                    <a:lnTo>
                      <a:pt x="49" y="41"/>
                    </a:lnTo>
                    <a:lnTo>
                      <a:pt x="0" y="37"/>
                    </a:lnTo>
                    <a:lnTo>
                      <a:pt x="4" y="0"/>
                    </a:lnTo>
                    <a:lnTo>
                      <a:pt x="53" y="4"/>
                    </a:lnTo>
                  </a:path>
                </a:pathLst>
              </a:custGeom>
              <a:noFill/>
              <a:ln w="12700" cap="rnd" cmpd="sng">
                <a:solidFill>
                  <a:srgbClr val="7F7F7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192" name="Freeform 191"/>
              <p:cNvSpPr>
                <a:spLocks/>
              </p:cNvSpPr>
              <p:nvPr/>
            </p:nvSpPr>
            <p:spPr bwMode="blackWhite">
              <a:xfrm>
                <a:off x="4344" y="1525"/>
                <a:ext cx="45" cy="19"/>
              </a:xfrm>
              <a:custGeom>
                <a:avLst/>
                <a:gdLst>
                  <a:gd name="T0" fmla="*/ 44 w 45"/>
                  <a:gd name="T1" fmla="*/ 11 h 19"/>
                  <a:gd name="T2" fmla="*/ 43 w 45"/>
                  <a:gd name="T3" fmla="*/ 18 h 19"/>
                  <a:gd name="T4" fmla="*/ 0 w 45"/>
                  <a:gd name="T5" fmla="*/ 7 h 19"/>
                  <a:gd name="T6" fmla="*/ 0 w 45"/>
                  <a:gd name="T7" fmla="*/ 0 h 19"/>
                  <a:gd name="T8" fmla="*/ 44 w 45"/>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19">
                    <a:moveTo>
                      <a:pt x="44" y="11"/>
                    </a:moveTo>
                    <a:lnTo>
                      <a:pt x="43" y="18"/>
                    </a:lnTo>
                    <a:lnTo>
                      <a:pt x="0" y="7"/>
                    </a:lnTo>
                    <a:lnTo>
                      <a:pt x="0" y="0"/>
                    </a:lnTo>
                    <a:lnTo>
                      <a:pt x="44"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193" name="Freeform 192"/>
              <p:cNvSpPr>
                <a:spLocks/>
              </p:cNvSpPr>
              <p:nvPr/>
            </p:nvSpPr>
            <p:spPr bwMode="blackWhite">
              <a:xfrm>
                <a:off x="4344" y="1531"/>
                <a:ext cx="43" cy="19"/>
              </a:xfrm>
              <a:custGeom>
                <a:avLst/>
                <a:gdLst>
                  <a:gd name="T0" fmla="*/ 42 w 43"/>
                  <a:gd name="T1" fmla="*/ 11 h 19"/>
                  <a:gd name="T2" fmla="*/ 41 w 43"/>
                  <a:gd name="T3" fmla="*/ 18 h 19"/>
                  <a:gd name="T4" fmla="*/ 0 w 43"/>
                  <a:gd name="T5" fmla="*/ 6 h 19"/>
                  <a:gd name="T6" fmla="*/ 0 w 43"/>
                  <a:gd name="T7" fmla="*/ 0 h 19"/>
                  <a:gd name="T8" fmla="*/ 42 w 43"/>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19">
                    <a:moveTo>
                      <a:pt x="42" y="11"/>
                    </a:moveTo>
                    <a:lnTo>
                      <a:pt x="41" y="18"/>
                    </a:lnTo>
                    <a:lnTo>
                      <a:pt x="0" y="6"/>
                    </a:lnTo>
                    <a:lnTo>
                      <a:pt x="0" y="0"/>
                    </a:lnTo>
                    <a:lnTo>
                      <a:pt x="42"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194" name="Freeform 193"/>
              <p:cNvSpPr>
                <a:spLocks/>
              </p:cNvSpPr>
              <p:nvPr/>
            </p:nvSpPr>
            <p:spPr bwMode="blackWhite">
              <a:xfrm>
                <a:off x="4342" y="1536"/>
                <a:ext cx="44" cy="20"/>
              </a:xfrm>
              <a:custGeom>
                <a:avLst/>
                <a:gdLst>
                  <a:gd name="T0" fmla="*/ 43 w 44"/>
                  <a:gd name="T1" fmla="*/ 12 h 20"/>
                  <a:gd name="T2" fmla="*/ 42 w 44"/>
                  <a:gd name="T3" fmla="*/ 19 h 20"/>
                  <a:gd name="T4" fmla="*/ 0 w 44"/>
                  <a:gd name="T5" fmla="*/ 7 h 20"/>
                  <a:gd name="T6" fmla="*/ 0 w 44"/>
                  <a:gd name="T7" fmla="*/ 0 h 20"/>
                  <a:gd name="T8" fmla="*/ 43 w 44"/>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20">
                    <a:moveTo>
                      <a:pt x="43" y="12"/>
                    </a:moveTo>
                    <a:lnTo>
                      <a:pt x="42" y="19"/>
                    </a:lnTo>
                    <a:lnTo>
                      <a:pt x="0" y="7"/>
                    </a:lnTo>
                    <a:lnTo>
                      <a:pt x="0" y="0"/>
                    </a:lnTo>
                    <a:lnTo>
                      <a:pt x="43" y="1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195" name="Freeform 194"/>
              <p:cNvSpPr>
                <a:spLocks/>
              </p:cNvSpPr>
              <p:nvPr/>
            </p:nvSpPr>
            <p:spPr bwMode="blackWhite">
              <a:xfrm>
                <a:off x="4342" y="1544"/>
                <a:ext cx="44" cy="20"/>
              </a:xfrm>
              <a:custGeom>
                <a:avLst/>
                <a:gdLst>
                  <a:gd name="T0" fmla="*/ 43 w 44"/>
                  <a:gd name="T1" fmla="*/ 12 h 20"/>
                  <a:gd name="T2" fmla="*/ 42 w 44"/>
                  <a:gd name="T3" fmla="*/ 19 h 20"/>
                  <a:gd name="T4" fmla="*/ 0 w 44"/>
                  <a:gd name="T5" fmla="*/ 7 h 20"/>
                  <a:gd name="T6" fmla="*/ 0 w 44"/>
                  <a:gd name="T7" fmla="*/ 0 h 20"/>
                  <a:gd name="T8" fmla="*/ 43 w 44"/>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20">
                    <a:moveTo>
                      <a:pt x="43" y="12"/>
                    </a:moveTo>
                    <a:lnTo>
                      <a:pt x="42" y="19"/>
                    </a:lnTo>
                    <a:lnTo>
                      <a:pt x="0" y="7"/>
                    </a:lnTo>
                    <a:lnTo>
                      <a:pt x="0" y="0"/>
                    </a:lnTo>
                    <a:lnTo>
                      <a:pt x="43" y="1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196" name="Freeform 195"/>
              <p:cNvSpPr>
                <a:spLocks/>
              </p:cNvSpPr>
              <p:nvPr/>
            </p:nvSpPr>
            <p:spPr bwMode="blackWhite">
              <a:xfrm>
                <a:off x="4342" y="1552"/>
                <a:ext cx="44" cy="20"/>
              </a:xfrm>
              <a:custGeom>
                <a:avLst/>
                <a:gdLst>
                  <a:gd name="T0" fmla="*/ 43 w 44"/>
                  <a:gd name="T1" fmla="*/ 11 h 20"/>
                  <a:gd name="T2" fmla="*/ 42 w 44"/>
                  <a:gd name="T3" fmla="*/ 19 h 20"/>
                  <a:gd name="T4" fmla="*/ 0 w 44"/>
                  <a:gd name="T5" fmla="*/ 7 h 20"/>
                  <a:gd name="T6" fmla="*/ 0 w 44"/>
                  <a:gd name="T7" fmla="*/ 0 h 20"/>
                  <a:gd name="T8" fmla="*/ 43 w 44"/>
                  <a:gd name="T9" fmla="*/ 11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20">
                    <a:moveTo>
                      <a:pt x="43" y="11"/>
                    </a:moveTo>
                    <a:lnTo>
                      <a:pt x="42" y="19"/>
                    </a:lnTo>
                    <a:lnTo>
                      <a:pt x="0" y="7"/>
                    </a:lnTo>
                    <a:lnTo>
                      <a:pt x="0" y="0"/>
                    </a:lnTo>
                    <a:lnTo>
                      <a:pt x="43"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grpSp>
        <p:grpSp>
          <p:nvGrpSpPr>
            <p:cNvPr id="54" name="Group 53"/>
            <p:cNvGrpSpPr>
              <a:grpSpLocks/>
            </p:cNvGrpSpPr>
            <p:nvPr/>
          </p:nvGrpSpPr>
          <p:grpSpPr bwMode="auto">
            <a:xfrm>
              <a:off x="4637" y="1708"/>
              <a:ext cx="59" cy="53"/>
              <a:chOff x="4453" y="1486"/>
              <a:chExt cx="59" cy="53"/>
            </a:xfrm>
          </p:grpSpPr>
          <p:sp>
            <p:nvSpPr>
              <p:cNvPr id="173" name="Line 116"/>
              <p:cNvSpPr>
                <a:spLocks noChangeShapeType="1"/>
              </p:cNvSpPr>
              <p:nvPr/>
            </p:nvSpPr>
            <p:spPr bwMode="blackWhite">
              <a:xfrm flipH="1">
                <a:off x="4488" y="1499"/>
                <a:ext cx="17" cy="11"/>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174" name="Line 117"/>
              <p:cNvSpPr>
                <a:spLocks noChangeShapeType="1"/>
              </p:cNvSpPr>
              <p:nvPr/>
            </p:nvSpPr>
            <p:spPr bwMode="blackWhite">
              <a:xfrm flipH="1">
                <a:off x="4489" y="1497"/>
                <a:ext cx="18" cy="14"/>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175" name="Line 118"/>
              <p:cNvSpPr>
                <a:spLocks noChangeShapeType="1"/>
              </p:cNvSpPr>
              <p:nvPr/>
            </p:nvSpPr>
            <p:spPr bwMode="blackWhite">
              <a:xfrm flipH="1">
                <a:off x="4488" y="1503"/>
                <a:ext cx="15" cy="14"/>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176" name="Freeform 175"/>
              <p:cNvSpPr>
                <a:spLocks/>
              </p:cNvSpPr>
              <p:nvPr/>
            </p:nvSpPr>
            <p:spPr bwMode="blackWhite">
              <a:xfrm>
                <a:off x="4453" y="1490"/>
                <a:ext cx="58" cy="44"/>
              </a:xfrm>
              <a:custGeom>
                <a:avLst/>
                <a:gdLst>
                  <a:gd name="T0" fmla="*/ 57 w 58"/>
                  <a:gd name="T1" fmla="*/ 4 h 44"/>
                  <a:gd name="T2" fmla="*/ 52 w 58"/>
                  <a:gd name="T3" fmla="*/ 43 h 44"/>
                  <a:gd name="T4" fmla="*/ 0 w 58"/>
                  <a:gd name="T5" fmla="*/ 39 h 44"/>
                  <a:gd name="T6" fmla="*/ 4 w 58"/>
                  <a:gd name="T7" fmla="*/ 0 h 44"/>
                  <a:gd name="T8" fmla="*/ 57 w 58"/>
                  <a:gd name="T9" fmla="*/ 4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 h="44">
                    <a:moveTo>
                      <a:pt x="57" y="4"/>
                    </a:moveTo>
                    <a:lnTo>
                      <a:pt x="52" y="43"/>
                    </a:lnTo>
                    <a:lnTo>
                      <a:pt x="0" y="39"/>
                    </a:lnTo>
                    <a:lnTo>
                      <a:pt x="4" y="0"/>
                    </a:lnTo>
                    <a:lnTo>
                      <a:pt x="57" y="4"/>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177" name="Freeform 176"/>
              <p:cNvSpPr>
                <a:spLocks/>
              </p:cNvSpPr>
              <p:nvPr/>
            </p:nvSpPr>
            <p:spPr bwMode="blackWhite">
              <a:xfrm>
                <a:off x="4455" y="1489"/>
                <a:ext cx="56" cy="43"/>
              </a:xfrm>
              <a:custGeom>
                <a:avLst/>
                <a:gdLst>
                  <a:gd name="T0" fmla="*/ 55 w 56"/>
                  <a:gd name="T1" fmla="*/ 4 h 43"/>
                  <a:gd name="T2" fmla="*/ 50 w 56"/>
                  <a:gd name="T3" fmla="*/ 42 h 43"/>
                  <a:gd name="T4" fmla="*/ 0 w 56"/>
                  <a:gd name="T5" fmla="*/ 38 h 43"/>
                  <a:gd name="T6" fmla="*/ 4 w 56"/>
                  <a:gd name="T7" fmla="*/ 0 h 43"/>
                  <a:gd name="T8" fmla="*/ 55 w 56"/>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43">
                    <a:moveTo>
                      <a:pt x="55" y="4"/>
                    </a:moveTo>
                    <a:lnTo>
                      <a:pt x="50" y="42"/>
                    </a:lnTo>
                    <a:lnTo>
                      <a:pt x="0" y="38"/>
                    </a:lnTo>
                    <a:lnTo>
                      <a:pt x="4" y="0"/>
                    </a:lnTo>
                    <a:lnTo>
                      <a:pt x="55" y="4"/>
                    </a:lnTo>
                  </a:path>
                </a:pathLst>
              </a:custGeom>
              <a:solidFill>
                <a:srgbClr val="989898"/>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178" name="Freeform 177"/>
              <p:cNvSpPr>
                <a:spLocks/>
              </p:cNvSpPr>
              <p:nvPr/>
            </p:nvSpPr>
            <p:spPr bwMode="blackWhite">
              <a:xfrm>
                <a:off x="4456" y="1486"/>
                <a:ext cx="56" cy="43"/>
              </a:xfrm>
              <a:custGeom>
                <a:avLst/>
                <a:gdLst>
                  <a:gd name="T0" fmla="*/ 55 w 56"/>
                  <a:gd name="T1" fmla="*/ 4 h 43"/>
                  <a:gd name="T2" fmla="*/ 51 w 56"/>
                  <a:gd name="T3" fmla="*/ 42 h 43"/>
                  <a:gd name="T4" fmla="*/ 0 w 56"/>
                  <a:gd name="T5" fmla="*/ 38 h 43"/>
                  <a:gd name="T6" fmla="*/ 4 w 56"/>
                  <a:gd name="T7" fmla="*/ 0 h 43"/>
                  <a:gd name="T8" fmla="*/ 55 w 56"/>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43">
                    <a:moveTo>
                      <a:pt x="55" y="4"/>
                    </a:moveTo>
                    <a:lnTo>
                      <a:pt x="51" y="42"/>
                    </a:lnTo>
                    <a:lnTo>
                      <a:pt x="0" y="38"/>
                    </a:lnTo>
                    <a:lnTo>
                      <a:pt x="4" y="0"/>
                    </a:lnTo>
                    <a:lnTo>
                      <a:pt x="55" y="4"/>
                    </a:lnTo>
                  </a:path>
                </a:pathLst>
              </a:custGeom>
              <a:solidFill>
                <a:srgbClr val="FFCC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179" name="Freeform 178"/>
              <p:cNvSpPr>
                <a:spLocks/>
              </p:cNvSpPr>
              <p:nvPr/>
            </p:nvSpPr>
            <p:spPr bwMode="blackWhite">
              <a:xfrm>
                <a:off x="4456" y="1486"/>
                <a:ext cx="56" cy="43"/>
              </a:xfrm>
              <a:custGeom>
                <a:avLst/>
                <a:gdLst>
                  <a:gd name="T0" fmla="*/ 55 w 56"/>
                  <a:gd name="T1" fmla="*/ 4 h 43"/>
                  <a:gd name="T2" fmla="*/ 51 w 56"/>
                  <a:gd name="T3" fmla="*/ 42 h 43"/>
                  <a:gd name="T4" fmla="*/ 0 w 56"/>
                  <a:gd name="T5" fmla="*/ 38 h 43"/>
                  <a:gd name="T6" fmla="*/ 4 w 56"/>
                  <a:gd name="T7" fmla="*/ 0 h 43"/>
                  <a:gd name="T8" fmla="*/ 55 w 56"/>
                  <a:gd name="T9" fmla="*/ 4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43">
                    <a:moveTo>
                      <a:pt x="55" y="4"/>
                    </a:moveTo>
                    <a:lnTo>
                      <a:pt x="51" y="42"/>
                    </a:lnTo>
                    <a:lnTo>
                      <a:pt x="0" y="38"/>
                    </a:lnTo>
                    <a:lnTo>
                      <a:pt x="4" y="0"/>
                    </a:lnTo>
                    <a:lnTo>
                      <a:pt x="55" y="4"/>
                    </a:lnTo>
                  </a:path>
                </a:pathLst>
              </a:custGeom>
              <a:noFill/>
              <a:ln w="12700" cap="rnd" cmpd="sng">
                <a:solidFill>
                  <a:srgbClr val="7F7F7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180" name="Freeform 179"/>
              <p:cNvSpPr>
                <a:spLocks/>
              </p:cNvSpPr>
              <p:nvPr/>
            </p:nvSpPr>
            <p:spPr bwMode="blackWhite">
              <a:xfrm>
                <a:off x="4464" y="1490"/>
                <a:ext cx="44" cy="19"/>
              </a:xfrm>
              <a:custGeom>
                <a:avLst/>
                <a:gdLst>
                  <a:gd name="T0" fmla="*/ 43 w 44"/>
                  <a:gd name="T1" fmla="*/ 11 h 19"/>
                  <a:gd name="T2" fmla="*/ 42 w 44"/>
                  <a:gd name="T3" fmla="*/ 18 h 19"/>
                  <a:gd name="T4" fmla="*/ 0 w 44"/>
                  <a:gd name="T5" fmla="*/ 7 h 19"/>
                  <a:gd name="T6" fmla="*/ 0 w 44"/>
                  <a:gd name="T7" fmla="*/ 0 h 19"/>
                  <a:gd name="T8" fmla="*/ 43 w 44"/>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19">
                    <a:moveTo>
                      <a:pt x="43" y="11"/>
                    </a:moveTo>
                    <a:lnTo>
                      <a:pt x="42" y="18"/>
                    </a:lnTo>
                    <a:lnTo>
                      <a:pt x="0" y="7"/>
                    </a:lnTo>
                    <a:lnTo>
                      <a:pt x="0" y="0"/>
                    </a:lnTo>
                    <a:lnTo>
                      <a:pt x="43"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181" name="Freeform 180"/>
              <p:cNvSpPr>
                <a:spLocks/>
              </p:cNvSpPr>
              <p:nvPr/>
            </p:nvSpPr>
            <p:spPr bwMode="blackWhite">
              <a:xfrm>
                <a:off x="4462" y="1497"/>
                <a:ext cx="45" cy="19"/>
              </a:xfrm>
              <a:custGeom>
                <a:avLst/>
                <a:gdLst>
                  <a:gd name="T0" fmla="*/ 44 w 45"/>
                  <a:gd name="T1" fmla="*/ 11 h 19"/>
                  <a:gd name="T2" fmla="*/ 43 w 45"/>
                  <a:gd name="T3" fmla="*/ 18 h 19"/>
                  <a:gd name="T4" fmla="*/ 0 w 45"/>
                  <a:gd name="T5" fmla="*/ 6 h 19"/>
                  <a:gd name="T6" fmla="*/ 0 w 45"/>
                  <a:gd name="T7" fmla="*/ 0 h 19"/>
                  <a:gd name="T8" fmla="*/ 44 w 45"/>
                  <a:gd name="T9" fmla="*/ 11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19">
                    <a:moveTo>
                      <a:pt x="44" y="11"/>
                    </a:moveTo>
                    <a:lnTo>
                      <a:pt x="43" y="18"/>
                    </a:lnTo>
                    <a:lnTo>
                      <a:pt x="0" y="6"/>
                    </a:lnTo>
                    <a:lnTo>
                      <a:pt x="0" y="0"/>
                    </a:lnTo>
                    <a:lnTo>
                      <a:pt x="44"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182" name="Freeform 181"/>
              <p:cNvSpPr>
                <a:spLocks/>
              </p:cNvSpPr>
              <p:nvPr/>
            </p:nvSpPr>
            <p:spPr bwMode="blackWhite">
              <a:xfrm>
                <a:off x="4461" y="1503"/>
                <a:ext cx="46" cy="20"/>
              </a:xfrm>
              <a:custGeom>
                <a:avLst/>
                <a:gdLst>
                  <a:gd name="T0" fmla="*/ 45 w 46"/>
                  <a:gd name="T1" fmla="*/ 12 h 20"/>
                  <a:gd name="T2" fmla="*/ 44 w 46"/>
                  <a:gd name="T3" fmla="*/ 19 h 20"/>
                  <a:gd name="T4" fmla="*/ 0 w 46"/>
                  <a:gd name="T5" fmla="*/ 7 h 20"/>
                  <a:gd name="T6" fmla="*/ 0 w 46"/>
                  <a:gd name="T7" fmla="*/ 0 h 20"/>
                  <a:gd name="T8" fmla="*/ 45 w 46"/>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 h="20">
                    <a:moveTo>
                      <a:pt x="45" y="12"/>
                    </a:moveTo>
                    <a:lnTo>
                      <a:pt x="44" y="19"/>
                    </a:lnTo>
                    <a:lnTo>
                      <a:pt x="0" y="7"/>
                    </a:lnTo>
                    <a:lnTo>
                      <a:pt x="0" y="0"/>
                    </a:lnTo>
                    <a:lnTo>
                      <a:pt x="45" y="1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183" name="Freeform 182"/>
              <p:cNvSpPr>
                <a:spLocks/>
              </p:cNvSpPr>
              <p:nvPr/>
            </p:nvSpPr>
            <p:spPr bwMode="blackWhite">
              <a:xfrm>
                <a:off x="4461" y="1511"/>
                <a:ext cx="46" cy="20"/>
              </a:xfrm>
              <a:custGeom>
                <a:avLst/>
                <a:gdLst>
                  <a:gd name="T0" fmla="*/ 45 w 46"/>
                  <a:gd name="T1" fmla="*/ 12 h 20"/>
                  <a:gd name="T2" fmla="*/ 44 w 46"/>
                  <a:gd name="T3" fmla="*/ 19 h 20"/>
                  <a:gd name="T4" fmla="*/ 0 w 46"/>
                  <a:gd name="T5" fmla="*/ 7 h 20"/>
                  <a:gd name="T6" fmla="*/ 0 w 46"/>
                  <a:gd name="T7" fmla="*/ 0 h 20"/>
                  <a:gd name="T8" fmla="*/ 45 w 46"/>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 h="20">
                    <a:moveTo>
                      <a:pt x="45" y="12"/>
                    </a:moveTo>
                    <a:lnTo>
                      <a:pt x="44" y="19"/>
                    </a:lnTo>
                    <a:lnTo>
                      <a:pt x="0" y="7"/>
                    </a:lnTo>
                    <a:lnTo>
                      <a:pt x="0" y="0"/>
                    </a:lnTo>
                    <a:lnTo>
                      <a:pt x="45" y="1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184" name="Freeform 183"/>
              <p:cNvSpPr>
                <a:spLocks/>
              </p:cNvSpPr>
              <p:nvPr/>
            </p:nvSpPr>
            <p:spPr bwMode="blackWhite">
              <a:xfrm>
                <a:off x="4461" y="1519"/>
                <a:ext cx="45" cy="20"/>
              </a:xfrm>
              <a:custGeom>
                <a:avLst/>
                <a:gdLst>
                  <a:gd name="T0" fmla="*/ 44 w 45"/>
                  <a:gd name="T1" fmla="*/ 11 h 20"/>
                  <a:gd name="T2" fmla="*/ 43 w 45"/>
                  <a:gd name="T3" fmla="*/ 19 h 20"/>
                  <a:gd name="T4" fmla="*/ 0 w 45"/>
                  <a:gd name="T5" fmla="*/ 7 h 20"/>
                  <a:gd name="T6" fmla="*/ 0 w 45"/>
                  <a:gd name="T7" fmla="*/ 0 h 20"/>
                  <a:gd name="T8" fmla="*/ 44 w 45"/>
                  <a:gd name="T9" fmla="*/ 11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20">
                    <a:moveTo>
                      <a:pt x="44" y="11"/>
                    </a:moveTo>
                    <a:lnTo>
                      <a:pt x="43" y="19"/>
                    </a:lnTo>
                    <a:lnTo>
                      <a:pt x="0" y="7"/>
                    </a:lnTo>
                    <a:lnTo>
                      <a:pt x="0" y="0"/>
                    </a:lnTo>
                    <a:lnTo>
                      <a:pt x="44" y="11"/>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grpSp>
        <p:sp>
          <p:nvSpPr>
            <p:cNvPr id="55" name="Rectangle 54"/>
            <p:cNvSpPr>
              <a:spLocks noChangeArrowheads="1"/>
            </p:cNvSpPr>
            <p:nvPr/>
          </p:nvSpPr>
          <p:spPr bwMode="blackWhite">
            <a:xfrm>
              <a:off x="4518" y="1861"/>
              <a:ext cx="63" cy="11"/>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56" name="Rectangle 55"/>
            <p:cNvSpPr>
              <a:spLocks noChangeArrowheads="1"/>
            </p:cNvSpPr>
            <p:nvPr/>
          </p:nvSpPr>
          <p:spPr bwMode="blackWhite">
            <a:xfrm>
              <a:off x="4518" y="1896"/>
              <a:ext cx="63" cy="10"/>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57" name="Rectangle 56"/>
            <p:cNvSpPr>
              <a:spLocks noChangeArrowheads="1"/>
            </p:cNvSpPr>
            <p:nvPr/>
          </p:nvSpPr>
          <p:spPr bwMode="blackWhite">
            <a:xfrm>
              <a:off x="4518" y="1934"/>
              <a:ext cx="63" cy="10"/>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58" name="Rectangle 57"/>
            <p:cNvSpPr>
              <a:spLocks noChangeArrowheads="1"/>
            </p:cNvSpPr>
            <p:nvPr/>
          </p:nvSpPr>
          <p:spPr bwMode="blackWhite">
            <a:xfrm>
              <a:off x="4644" y="1861"/>
              <a:ext cx="67" cy="11"/>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59" name="Rectangle 58"/>
            <p:cNvSpPr>
              <a:spLocks noChangeArrowheads="1"/>
            </p:cNvSpPr>
            <p:nvPr/>
          </p:nvSpPr>
          <p:spPr bwMode="blackWhite">
            <a:xfrm>
              <a:off x="4644" y="1896"/>
              <a:ext cx="67" cy="10"/>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60" name="Rectangle 59"/>
            <p:cNvSpPr>
              <a:spLocks noChangeArrowheads="1"/>
            </p:cNvSpPr>
            <p:nvPr/>
          </p:nvSpPr>
          <p:spPr bwMode="blackWhite">
            <a:xfrm>
              <a:off x="4644" y="1934"/>
              <a:ext cx="67" cy="10"/>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61" name="Rectangle 60"/>
            <p:cNvSpPr>
              <a:spLocks noChangeArrowheads="1"/>
            </p:cNvSpPr>
            <p:nvPr/>
          </p:nvSpPr>
          <p:spPr bwMode="blackWhite">
            <a:xfrm>
              <a:off x="4769" y="1861"/>
              <a:ext cx="80" cy="11"/>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62" name="Rectangle 61"/>
            <p:cNvSpPr>
              <a:spLocks noChangeArrowheads="1"/>
            </p:cNvSpPr>
            <p:nvPr/>
          </p:nvSpPr>
          <p:spPr bwMode="blackWhite">
            <a:xfrm>
              <a:off x="4769" y="1896"/>
              <a:ext cx="80" cy="10"/>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63" name="Rectangle 62"/>
            <p:cNvSpPr>
              <a:spLocks noChangeArrowheads="1"/>
            </p:cNvSpPr>
            <p:nvPr/>
          </p:nvSpPr>
          <p:spPr bwMode="blackWhite">
            <a:xfrm>
              <a:off x="4769" y="1934"/>
              <a:ext cx="80" cy="10"/>
            </a:xfrm>
            <a:prstGeom prst="rect">
              <a:avLst/>
            </a:prstGeom>
            <a:gradFill rotWithShape="0">
              <a:gsLst>
                <a:gs pos="0">
                  <a:srgbClr val="FFF200"/>
                </a:gs>
                <a:gs pos="45000">
                  <a:srgbClr val="FF7A00"/>
                </a:gs>
                <a:gs pos="70000">
                  <a:srgbClr val="FF0300"/>
                </a:gs>
                <a:gs pos="100000">
                  <a:srgbClr val="4D0808"/>
                </a:gs>
              </a:gsLst>
              <a:path path="rect">
                <a:fillToRect r="100000" b="100000"/>
              </a:path>
            </a:gra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64" name="Rectangle 63"/>
            <p:cNvSpPr>
              <a:spLocks noChangeArrowheads="1"/>
            </p:cNvSpPr>
            <p:nvPr/>
          </p:nvSpPr>
          <p:spPr bwMode="blackWhite">
            <a:xfrm>
              <a:off x="4059" y="1774"/>
              <a:ext cx="361" cy="195"/>
            </a:xfrm>
            <a:prstGeom prst="rect">
              <a:avLst/>
            </a:prstGeom>
            <a:solidFill>
              <a:srgbClr val="99CC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65" name="Rectangle 64"/>
            <p:cNvSpPr>
              <a:spLocks noChangeArrowheads="1"/>
            </p:cNvSpPr>
            <p:nvPr/>
          </p:nvSpPr>
          <p:spPr bwMode="blackWhite">
            <a:xfrm>
              <a:off x="4092" y="1937"/>
              <a:ext cx="299" cy="10"/>
            </a:xfrm>
            <a:prstGeom prst="rect">
              <a:avLst/>
            </a:prstGeom>
            <a:gradFill rotWithShape="0">
              <a:gsLst>
                <a:gs pos="0">
                  <a:srgbClr val="000000"/>
                </a:gs>
                <a:gs pos="20000">
                  <a:srgbClr val="0A128C"/>
                </a:gs>
                <a:gs pos="35001">
                  <a:srgbClr val="181CC7"/>
                </a:gs>
                <a:gs pos="44000">
                  <a:srgbClr val="7005D4"/>
                </a:gs>
                <a:gs pos="50000">
                  <a:srgbClr val="8C3D91"/>
                </a:gs>
                <a:gs pos="56000">
                  <a:srgbClr val="7005D4"/>
                </a:gs>
                <a:gs pos="64999">
                  <a:srgbClr val="181CC7"/>
                </a:gs>
                <a:gs pos="80000">
                  <a:srgbClr val="0A128C"/>
                </a:gs>
                <a:gs pos="100000">
                  <a:srgbClr val="000000"/>
                </a:gs>
              </a:gsLst>
              <a:lin ang="0" scaled="1"/>
            </a:gra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66" name="Rectangle 65"/>
            <p:cNvSpPr>
              <a:spLocks noChangeArrowheads="1"/>
            </p:cNvSpPr>
            <p:nvPr/>
          </p:nvSpPr>
          <p:spPr bwMode="blackWhite">
            <a:xfrm>
              <a:off x="4092" y="1892"/>
              <a:ext cx="299" cy="10"/>
            </a:xfrm>
            <a:prstGeom prst="rect">
              <a:avLst/>
            </a:prstGeom>
            <a:gradFill rotWithShape="0">
              <a:gsLst>
                <a:gs pos="0">
                  <a:srgbClr val="000000"/>
                </a:gs>
                <a:gs pos="20000">
                  <a:srgbClr val="0A128C"/>
                </a:gs>
                <a:gs pos="35001">
                  <a:srgbClr val="181CC7"/>
                </a:gs>
                <a:gs pos="44000">
                  <a:srgbClr val="7005D4"/>
                </a:gs>
                <a:gs pos="50000">
                  <a:srgbClr val="8C3D91"/>
                </a:gs>
                <a:gs pos="56000">
                  <a:srgbClr val="7005D4"/>
                </a:gs>
                <a:gs pos="64999">
                  <a:srgbClr val="181CC7"/>
                </a:gs>
                <a:gs pos="80000">
                  <a:srgbClr val="0A128C"/>
                </a:gs>
                <a:gs pos="100000">
                  <a:srgbClr val="000000"/>
                </a:gs>
              </a:gsLst>
              <a:lin ang="0" scaled="1"/>
            </a:gra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67" name="Rectangle 66"/>
            <p:cNvSpPr>
              <a:spLocks noChangeArrowheads="1"/>
            </p:cNvSpPr>
            <p:nvPr/>
          </p:nvSpPr>
          <p:spPr bwMode="blackWhite">
            <a:xfrm>
              <a:off x="4092" y="1798"/>
              <a:ext cx="299" cy="10"/>
            </a:xfrm>
            <a:prstGeom prst="rect">
              <a:avLst/>
            </a:prstGeom>
            <a:gradFill rotWithShape="0">
              <a:gsLst>
                <a:gs pos="0">
                  <a:srgbClr val="000000"/>
                </a:gs>
                <a:gs pos="20000">
                  <a:srgbClr val="0A128C"/>
                </a:gs>
                <a:gs pos="35001">
                  <a:srgbClr val="181CC7"/>
                </a:gs>
                <a:gs pos="44000">
                  <a:srgbClr val="7005D4"/>
                </a:gs>
                <a:gs pos="50000">
                  <a:srgbClr val="8C3D91"/>
                </a:gs>
                <a:gs pos="56000">
                  <a:srgbClr val="7005D4"/>
                </a:gs>
                <a:gs pos="64999">
                  <a:srgbClr val="181CC7"/>
                </a:gs>
                <a:gs pos="80000">
                  <a:srgbClr val="0A128C"/>
                </a:gs>
                <a:gs pos="100000">
                  <a:srgbClr val="000000"/>
                </a:gs>
              </a:gsLst>
              <a:lin ang="0" scaled="1"/>
            </a:gra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grpSp>
          <p:nvGrpSpPr>
            <p:cNvPr id="68" name="Group 67"/>
            <p:cNvGrpSpPr>
              <a:grpSpLocks/>
            </p:cNvGrpSpPr>
            <p:nvPr/>
          </p:nvGrpSpPr>
          <p:grpSpPr bwMode="auto">
            <a:xfrm>
              <a:off x="3673" y="1777"/>
              <a:ext cx="333" cy="196"/>
              <a:chOff x="3489" y="1555"/>
              <a:chExt cx="333" cy="196"/>
            </a:xfrm>
          </p:grpSpPr>
          <p:grpSp>
            <p:nvGrpSpPr>
              <p:cNvPr id="83" name="Group 82"/>
              <p:cNvGrpSpPr>
                <a:grpSpLocks/>
              </p:cNvGrpSpPr>
              <p:nvPr/>
            </p:nvGrpSpPr>
            <p:grpSpPr bwMode="auto">
              <a:xfrm>
                <a:off x="3490" y="1555"/>
                <a:ext cx="332" cy="196"/>
                <a:chOff x="3490" y="1555"/>
                <a:chExt cx="332" cy="196"/>
              </a:xfrm>
            </p:grpSpPr>
            <p:sp>
              <p:nvSpPr>
                <p:cNvPr id="85" name="Rectangle 84"/>
                <p:cNvSpPr>
                  <a:spLocks noChangeArrowheads="1"/>
                </p:cNvSpPr>
                <p:nvPr/>
              </p:nvSpPr>
              <p:spPr bwMode="blackWhite">
                <a:xfrm>
                  <a:off x="3490" y="1610"/>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86" name="Rectangle 85"/>
                <p:cNvSpPr>
                  <a:spLocks noChangeArrowheads="1"/>
                </p:cNvSpPr>
                <p:nvPr/>
              </p:nvSpPr>
              <p:spPr bwMode="blackWhite">
                <a:xfrm>
                  <a:off x="3576" y="1610"/>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87" name="Rectangle 86"/>
                <p:cNvSpPr>
                  <a:spLocks noChangeArrowheads="1"/>
                </p:cNvSpPr>
                <p:nvPr/>
              </p:nvSpPr>
              <p:spPr bwMode="blackWhite">
                <a:xfrm>
                  <a:off x="3660" y="1610"/>
                  <a:ext cx="34"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88" name="Rectangle 87"/>
                <p:cNvSpPr>
                  <a:spLocks noChangeArrowheads="1"/>
                </p:cNvSpPr>
                <p:nvPr/>
              </p:nvSpPr>
              <p:spPr bwMode="blackWhite">
                <a:xfrm>
                  <a:off x="3745" y="1610"/>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89" name="Rectangle 88"/>
                <p:cNvSpPr>
                  <a:spLocks noChangeArrowheads="1"/>
                </p:cNvSpPr>
                <p:nvPr/>
              </p:nvSpPr>
              <p:spPr bwMode="blackWhite">
                <a:xfrm>
                  <a:off x="3532" y="1610"/>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90" name="Rectangle 89"/>
                <p:cNvSpPr>
                  <a:spLocks noChangeArrowheads="1"/>
                </p:cNvSpPr>
                <p:nvPr/>
              </p:nvSpPr>
              <p:spPr bwMode="blackWhite">
                <a:xfrm>
                  <a:off x="3619" y="1610"/>
                  <a:ext cx="33"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91" name="Rectangle 90"/>
                <p:cNvSpPr>
                  <a:spLocks noChangeArrowheads="1"/>
                </p:cNvSpPr>
                <p:nvPr/>
              </p:nvSpPr>
              <p:spPr bwMode="blackWhite">
                <a:xfrm>
                  <a:off x="3701" y="1610"/>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92" name="Rectangle 91"/>
                <p:cNvSpPr>
                  <a:spLocks noChangeArrowheads="1"/>
                </p:cNvSpPr>
                <p:nvPr/>
              </p:nvSpPr>
              <p:spPr bwMode="blackWhite">
                <a:xfrm>
                  <a:off x="3490" y="1555"/>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93" name="Rectangle 92"/>
                <p:cNvSpPr>
                  <a:spLocks noChangeArrowheads="1"/>
                </p:cNvSpPr>
                <p:nvPr/>
              </p:nvSpPr>
              <p:spPr bwMode="blackWhite">
                <a:xfrm>
                  <a:off x="3576" y="1555"/>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94" name="Rectangle 93"/>
                <p:cNvSpPr>
                  <a:spLocks noChangeArrowheads="1"/>
                </p:cNvSpPr>
                <p:nvPr/>
              </p:nvSpPr>
              <p:spPr bwMode="blackWhite">
                <a:xfrm>
                  <a:off x="3659" y="1555"/>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95" name="Rectangle 94"/>
                <p:cNvSpPr>
                  <a:spLocks noChangeArrowheads="1"/>
                </p:cNvSpPr>
                <p:nvPr/>
              </p:nvSpPr>
              <p:spPr bwMode="blackWhite">
                <a:xfrm>
                  <a:off x="3745" y="1555"/>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96" name="Rectangle 95"/>
                <p:cNvSpPr>
                  <a:spLocks noChangeArrowheads="1"/>
                </p:cNvSpPr>
                <p:nvPr/>
              </p:nvSpPr>
              <p:spPr bwMode="blackWhite">
                <a:xfrm>
                  <a:off x="3532" y="1555"/>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97" name="Rectangle 96"/>
                <p:cNvSpPr>
                  <a:spLocks noChangeArrowheads="1"/>
                </p:cNvSpPr>
                <p:nvPr/>
              </p:nvSpPr>
              <p:spPr bwMode="blackWhite">
                <a:xfrm>
                  <a:off x="3617" y="1555"/>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98" name="Rectangle 97"/>
                <p:cNvSpPr>
                  <a:spLocks noChangeArrowheads="1"/>
                </p:cNvSpPr>
                <p:nvPr/>
              </p:nvSpPr>
              <p:spPr bwMode="blackWhite">
                <a:xfrm>
                  <a:off x="3701" y="1555"/>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99" name="Rectangle 98"/>
                <p:cNvSpPr>
                  <a:spLocks noChangeArrowheads="1"/>
                </p:cNvSpPr>
                <p:nvPr/>
              </p:nvSpPr>
              <p:spPr bwMode="blackWhite">
                <a:xfrm>
                  <a:off x="3785" y="1555"/>
                  <a:ext cx="37"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00" name="Rectangle 99"/>
                <p:cNvSpPr>
                  <a:spLocks noChangeArrowheads="1"/>
                </p:cNvSpPr>
                <p:nvPr/>
              </p:nvSpPr>
              <p:spPr bwMode="blackWhite">
                <a:xfrm>
                  <a:off x="3490" y="1572"/>
                  <a:ext cx="36"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01" name="Rectangle 100"/>
                <p:cNvSpPr>
                  <a:spLocks noChangeArrowheads="1"/>
                </p:cNvSpPr>
                <p:nvPr/>
              </p:nvSpPr>
              <p:spPr bwMode="blackWhite">
                <a:xfrm>
                  <a:off x="3576" y="1572"/>
                  <a:ext cx="36"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02" name="Rectangle 101"/>
                <p:cNvSpPr>
                  <a:spLocks noChangeArrowheads="1"/>
                </p:cNvSpPr>
                <p:nvPr/>
              </p:nvSpPr>
              <p:spPr bwMode="blackWhite">
                <a:xfrm>
                  <a:off x="3660" y="1572"/>
                  <a:ext cx="34"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03" name="Rectangle 102"/>
                <p:cNvSpPr>
                  <a:spLocks noChangeArrowheads="1"/>
                </p:cNvSpPr>
                <p:nvPr/>
              </p:nvSpPr>
              <p:spPr bwMode="blackWhite">
                <a:xfrm>
                  <a:off x="3745" y="1572"/>
                  <a:ext cx="32"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04" name="Rectangle 103"/>
                <p:cNvSpPr>
                  <a:spLocks noChangeArrowheads="1"/>
                </p:cNvSpPr>
                <p:nvPr/>
              </p:nvSpPr>
              <p:spPr bwMode="blackWhite">
                <a:xfrm>
                  <a:off x="3532" y="1572"/>
                  <a:ext cx="36"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05" name="Rectangle 104"/>
                <p:cNvSpPr>
                  <a:spLocks noChangeArrowheads="1"/>
                </p:cNvSpPr>
                <p:nvPr/>
              </p:nvSpPr>
              <p:spPr bwMode="blackWhite">
                <a:xfrm>
                  <a:off x="3617" y="1572"/>
                  <a:ext cx="35"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06" name="Rectangle 105"/>
                <p:cNvSpPr>
                  <a:spLocks noChangeArrowheads="1"/>
                </p:cNvSpPr>
                <p:nvPr/>
              </p:nvSpPr>
              <p:spPr bwMode="blackWhite">
                <a:xfrm>
                  <a:off x="3701" y="1572"/>
                  <a:ext cx="36"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07" name="Rectangle 106"/>
                <p:cNvSpPr>
                  <a:spLocks noChangeArrowheads="1"/>
                </p:cNvSpPr>
                <p:nvPr/>
              </p:nvSpPr>
              <p:spPr bwMode="blackWhite">
                <a:xfrm>
                  <a:off x="3785" y="1572"/>
                  <a:ext cx="37"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08" name="Rectangle 107"/>
                <p:cNvSpPr>
                  <a:spLocks noChangeArrowheads="1"/>
                </p:cNvSpPr>
                <p:nvPr/>
              </p:nvSpPr>
              <p:spPr bwMode="blackWhite">
                <a:xfrm>
                  <a:off x="3490" y="1592"/>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09" name="Rectangle 108"/>
                <p:cNvSpPr>
                  <a:spLocks noChangeArrowheads="1"/>
                </p:cNvSpPr>
                <p:nvPr/>
              </p:nvSpPr>
              <p:spPr bwMode="blackWhite">
                <a:xfrm>
                  <a:off x="3576" y="1592"/>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10" name="Rectangle 109"/>
                <p:cNvSpPr>
                  <a:spLocks noChangeArrowheads="1"/>
                </p:cNvSpPr>
                <p:nvPr/>
              </p:nvSpPr>
              <p:spPr bwMode="blackWhite">
                <a:xfrm>
                  <a:off x="3660" y="1592"/>
                  <a:ext cx="34"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11" name="Rectangle 110"/>
                <p:cNvSpPr>
                  <a:spLocks noChangeArrowheads="1"/>
                </p:cNvSpPr>
                <p:nvPr/>
              </p:nvSpPr>
              <p:spPr bwMode="blackWhite">
                <a:xfrm>
                  <a:off x="3745" y="1592"/>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12" name="Rectangle 111"/>
                <p:cNvSpPr>
                  <a:spLocks noChangeArrowheads="1"/>
                </p:cNvSpPr>
                <p:nvPr/>
              </p:nvSpPr>
              <p:spPr bwMode="blackWhite">
                <a:xfrm>
                  <a:off x="3532" y="1592"/>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13" name="Rectangle 112"/>
                <p:cNvSpPr>
                  <a:spLocks noChangeArrowheads="1"/>
                </p:cNvSpPr>
                <p:nvPr/>
              </p:nvSpPr>
              <p:spPr bwMode="blackWhite">
                <a:xfrm>
                  <a:off x="3617" y="1592"/>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14" name="Rectangle 113"/>
                <p:cNvSpPr>
                  <a:spLocks noChangeArrowheads="1"/>
                </p:cNvSpPr>
                <p:nvPr/>
              </p:nvSpPr>
              <p:spPr bwMode="blackWhite">
                <a:xfrm>
                  <a:off x="3701" y="1592"/>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15" name="Rectangle 114"/>
                <p:cNvSpPr>
                  <a:spLocks noChangeArrowheads="1"/>
                </p:cNvSpPr>
                <p:nvPr/>
              </p:nvSpPr>
              <p:spPr bwMode="blackWhite">
                <a:xfrm>
                  <a:off x="3785" y="1592"/>
                  <a:ext cx="37"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16" name="Rectangle 115"/>
                <p:cNvSpPr>
                  <a:spLocks noChangeArrowheads="1"/>
                </p:cNvSpPr>
                <p:nvPr/>
              </p:nvSpPr>
              <p:spPr bwMode="blackWhite">
                <a:xfrm>
                  <a:off x="3785" y="1610"/>
                  <a:ext cx="37"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17" name="Rectangle 116"/>
                <p:cNvSpPr>
                  <a:spLocks noChangeArrowheads="1"/>
                </p:cNvSpPr>
                <p:nvPr/>
              </p:nvSpPr>
              <p:spPr bwMode="blackWhite">
                <a:xfrm>
                  <a:off x="3490" y="1627"/>
                  <a:ext cx="36"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18" name="Rectangle 117"/>
                <p:cNvSpPr>
                  <a:spLocks noChangeArrowheads="1"/>
                </p:cNvSpPr>
                <p:nvPr/>
              </p:nvSpPr>
              <p:spPr bwMode="blackWhite">
                <a:xfrm>
                  <a:off x="3576" y="1627"/>
                  <a:ext cx="36"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19" name="Rectangle 118"/>
                <p:cNvSpPr>
                  <a:spLocks noChangeArrowheads="1"/>
                </p:cNvSpPr>
                <p:nvPr/>
              </p:nvSpPr>
              <p:spPr bwMode="blackWhite">
                <a:xfrm>
                  <a:off x="3660" y="1627"/>
                  <a:ext cx="34"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20" name="Rectangle 119"/>
                <p:cNvSpPr>
                  <a:spLocks noChangeArrowheads="1"/>
                </p:cNvSpPr>
                <p:nvPr/>
              </p:nvSpPr>
              <p:spPr bwMode="blackWhite">
                <a:xfrm>
                  <a:off x="3745" y="1627"/>
                  <a:ext cx="35"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21" name="Rectangle 120"/>
                <p:cNvSpPr>
                  <a:spLocks noChangeArrowheads="1"/>
                </p:cNvSpPr>
                <p:nvPr/>
              </p:nvSpPr>
              <p:spPr bwMode="blackWhite">
                <a:xfrm>
                  <a:off x="3532" y="1627"/>
                  <a:ext cx="33"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22" name="Rectangle 121"/>
                <p:cNvSpPr>
                  <a:spLocks noChangeArrowheads="1"/>
                </p:cNvSpPr>
                <p:nvPr/>
              </p:nvSpPr>
              <p:spPr bwMode="blackWhite">
                <a:xfrm>
                  <a:off x="3617" y="1627"/>
                  <a:ext cx="35"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23" name="Rectangle 122"/>
                <p:cNvSpPr>
                  <a:spLocks noChangeArrowheads="1"/>
                </p:cNvSpPr>
                <p:nvPr/>
              </p:nvSpPr>
              <p:spPr bwMode="blackWhite">
                <a:xfrm>
                  <a:off x="3701" y="1627"/>
                  <a:ext cx="36"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24" name="Rectangle 123"/>
                <p:cNvSpPr>
                  <a:spLocks noChangeArrowheads="1"/>
                </p:cNvSpPr>
                <p:nvPr/>
              </p:nvSpPr>
              <p:spPr bwMode="blackWhite">
                <a:xfrm>
                  <a:off x="3785" y="1627"/>
                  <a:ext cx="37"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25" name="Rectangle 124"/>
                <p:cNvSpPr>
                  <a:spLocks noChangeArrowheads="1"/>
                </p:cNvSpPr>
                <p:nvPr/>
              </p:nvSpPr>
              <p:spPr bwMode="blackWhite">
                <a:xfrm>
                  <a:off x="3490" y="1646"/>
                  <a:ext cx="36"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26" name="Rectangle 125"/>
                <p:cNvSpPr>
                  <a:spLocks noChangeArrowheads="1"/>
                </p:cNvSpPr>
                <p:nvPr/>
              </p:nvSpPr>
              <p:spPr bwMode="blackWhite">
                <a:xfrm>
                  <a:off x="3576" y="1646"/>
                  <a:ext cx="35"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27" name="Rectangle 126"/>
                <p:cNvSpPr>
                  <a:spLocks noChangeArrowheads="1"/>
                </p:cNvSpPr>
                <p:nvPr/>
              </p:nvSpPr>
              <p:spPr bwMode="blackWhite">
                <a:xfrm>
                  <a:off x="3660" y="1646"/>
                  <a:ext cx="34"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28" name="Rectangle 127"/>
                <p:cNvSpPr>
                  <a:spLocks noChangeArrowheads="1"/>
                </p:cNvSpPr>
                <p:nvPr/>
              </p:nvSpPr>
              <p:spPr bwMode="blackWhite">
                <a:xfrm>
                  <a:off x="3745" y="1646"/>
                  <a:ext cx="35"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29" name="Rectangle 128"/>
                <p:cNvSpPr>
                  <a:spLocks noChangeArrowheads="1"/>
                </p:cNvSpPr>
                <p:nvPr/>
              </p:nvSpPr>
              <p:spPr bwMode="blackWhite">
                <a:xfrm>
                  <a:off x="3532" y="1646"/>
                  <a:ext cx="36"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30" name="Rectangle 129"/>
                <p:cNvSpPr>
                  <a:spLocks noChangeArrowheads="1"/>
                </p:cNvSpPr>
                <p:nvPr/>
              </p:nvSpPr>
              <p:spPr bwMode="blackWhite">
                <a:xfrm>
                  <a:off x="3619" y="1646"/>
                  <a:ext cx="33"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31" name="Rectangle 130"/>
                <p:cNvSpPr>
                  <a:spLocks noChangeArrowheads="1"/>
                </p:cNvSpPr>
                <p:nvPr/>
              </p:nvSpPr>
              <p:spPr bwMode="blackWhite">
                <a:xfrm>
                  <a:off x="3701" y="1646"/>
                  <a:ext cx="36"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32" name="Rectangle 131"/>
                <p:cNvSpPr>
                  <a:spLocks noChangeArrowheads="1"/>
                </p:cNvSpPr>
                <p:nvPr/>
              </p:nvSpPr>
              <p:spPr bwMode="blackWhite">
                <a:xfrm>
                  <a:off x="3785" y="1646"/>
                  <a:ext cx="37"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33" name="Rectangle 132"/>
                <p:cNvSpPr>
                  <a:spLocks noChangeArrowheads="1"/>
                </p:cNvSpPr>
                <p:nvPr/>
              </p:nvSpPr>
              <p:spPr bwMode="blackWhite">
                <a:xfrm>
                  <a:off x="3490" y="1666"/>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34" name="Rectangle 133"/>
                <p:cNvSpPr>
                  <a:spLocks noChangeArrowheads="1"/>
                </p:cNvSpPr>
                <p:nvPr/>
              </p:nvSpPr>
              <p:spPr bwMode="blackWhite">
                <a:xfrm>
                  <a:off x="3576" y="1666"/>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35" name="Rectangle 134"/>
                <p:cNvSpPr>
                  <a:spLocks noChangeArrowheads="1"/>
                </p:cNvSpPr>
                <p:nvPr/>
              </p:nvSpPr>
              <p:spPr bwMode="blackWhite">
                <a:xfrm>
                  <a:off x="3660" y="1666"/>
                  <a:ext cx="34"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36" name="Rectangle 135"/>
                <p:cNvSpPr>
                  <a:spLocks noChangeArrowheads="1"/>
                </p:cNvSpPr>
                <p:nvPr/>
              </p:nvSpPr>
              <p:spPr bwMode="blackWhite">
                <a:xfrm>
                  <a:off x="3745" y="1666"/>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37" name="Rectangle 136"/>
                <p:cNvSpPr>
                  <a:spLocks noChangeArrowheads="1"/>
                </p:cNvSpPr>
                <p:nvPr/>
              </p:nvSpPr>
              <p:spPr bwMode="blackWhite">
                <a:xfrm>
                  <a:off x="3532" y="1666"/>
                  <a:ext cx="33"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38" name="Rectangle 137"/>
                <p:cNvSpPr>
                  <a:spLocks noChangeArrowheads="1"/>
                </p:cNvSpPr>
                <p:nvPr/>
              </p:nvSpPr>
              <p:spPr bwMode="blackWhite">
                <a:xfrm>
                  <a:off x="3617" y="1666"/>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39" name="Rectangle 138"/>
                <p:cNvSpPr>
                  <a:spLocks noChangeArrowheads="1"/>
                </p:cNvSpPr>
                <p:nvPr/>
              </p:nvSpPr>
              <p:spPr bwMode="blackWhite">
                <a:xfrm>
                  <a:off x="3701" y="1666"/>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40" name="Rectangle 139"/>
                <p:cNvSpPr>
                  <a:spLocks noChangeArrowheads="1"/>
                </p:cNvSpPr>
                <p:nvPr/>
              </p:nvSpPr>
              <p:spPr bwMode="blackWhite">
                <a:xfrm>
                  <a:off x="3785" y="1666"/>
                  <a:ext cx="37"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41" name="Rectangle 140"/>
                <p:cNvSpPr>
                  <a:spLocks noChangeArrowheads="1"/>
                </p:cNvSpPr>
                <p:nvPr/>
              </p:nvSpPr>
              <p:spPr bwMode="blackWhite">
                <a:xfrm>
                  <a:off x="3490" y="1684"/>
                  <a:ext cx="34"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42" name="Rectangle 141"/>
                <p:cNvSpPr>
                  <a:spLocks noChangeArrowheads="1"/>
                </p:cNvSpPr>
                <p:nvPr/>
              </p:nvSpPr>
              <p:spPr bwMode="blackWhite">
                <a:xfrm>
                  <a:off x="3576" y="1684"/>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43" name="Rectangle 142"/>
                <p:cNvSpPr>
                  <a:spLocks noChangeArrowheads="1"/>
                </p:cNvSpPr>
                <p:nvPr/>
              </p:nvSpPr>
              <p:spPr bwMode="blackWhite">
                <a:xfrm>
                  <a:off x="3659" y="1684"/>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44" name="Rectangle 143"/>
                <p:cNvSpPr>
                  <a:spLocks noChangeArrowheads="1"/>
                </p:cNvSpPr>
                <p:nvPr/>
              </p:nvSpPr>
              <p:spPr bwMode="blackWhite">
                <a:xfrm>
                  <a:off x="3745" y="1684"/>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45" name="Rectangle 144"/>
                <p:cNvSpPr>
                  <a:spLocks noChangeArrowheads="1"/>
                </p:cNvSpPr>
                <p:nvPr/>
              </p:nvSpPr>
              <p:spPr bwMode="blackWhite">
                <a:xfrm>
                  <a:off x="3532" y="1684"/>
                  <a:ext cx="33"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46" name="Rectangle 145"/>
                <p:cNvSpPr>
                  <a:spLocks noChangeArrowheads="1"/>
                </p:cNvSpPr>
                <p:nvPr/>
              </p:nvSpPr>
              <p:spPr bwMode="blackWhite">
                <a:xfrm>
                  <a:off x="3617" y="1684"/>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47" name="Rectangle 146"/>
                <p:cNvSpPr>
                  <a:spLocks noChangeArrowheads="1"/>
                </p:cNvSpPr>
                <p:nvPr/>
              </p:nvSpPr>
              <p:spPr bwMode="blackWhite">
                <a:xfrm>
                  <a:off x="3701" y="1684"/>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48" name="Rectangle 147"/>
                <p:cNvSpPr>
                  <a:spLocks noChangeArrowheads="1"/>
                </p:cNvSpPr>
                <p:nvPr/>
              </p:nvSpPr>
              <p:spPr bwMode="blackWhite">
                <a:xfrm>
                  <a:off x="3785" y="1684"/>
                  <a:ext cx="37"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49" name="Rectangle 148"/>
                <p:cNvSpPr>
                  <a:spLocks noChangeArrowheads="1"/>
                </p:cNvSpPr>
                <p:nvPr/>
              </p:nvSpPr>
              <p:spPr bwMode="blackWhite">
                <a:xfrm>
                  <a:off x="3490" y="1702"/>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50" name="Rectangle 149"/>
                <p:cNvSpPr>
                  <a:spLocks noChangeArrowheads="1"/>
                </p:cNvSpPr>
                <p:nvPr/>
              </p:nvSpPr>
              <p:spPr bwMode="blackWhite">
                <a:xfrm>
                  <a:off x="3576" y="1702"/>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51" name="Rectangle 150"/>
                <p:cNvSpPr>
                  <a:spLocks noChangeArrowheads="1"/>
                </p:cNvSpPr>
                <p:nvPr/>
              </p:nvSpPr>
              <p:spPr bwMode="blackWhite">
                <a:xfrm>
                  <a:off x="3660" y="1702"/>
                  <a:ext cx="34"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52" name="Rectangle 151"/>
                <p:cNvSpPr>
                  <a:spLocks noChangeArrowheads="1"/>
                </p:cNvSpPr>
                <p:nvPr/>
              </p:nvSpPr>
              <p:spPr bwMode="blackWhite">
                <a:xfrm>
                  <a:off x="3745" y="1702"/>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53" name="Rectangle 152"/>
                <p:cNvSpPr>
                  <a:spLocks noChangeArrowheads="1"/>
                </p:cNvSpPr>
                <p:nvPr/>
              </p:nvSpPr>
              <p:spPr bwMode="blackWhite">
                <a:xfrm>
                  <a:off x="3532" y="1702"/>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54" name="Rectangle 153"/>
                <p:cNvSpPr>
                  <a:spLocks noChangeArrowheads="1"/>
                </p:cNvSpPr>
                <p:nvPr/>
              </p:nvSpPr>
              <p:spPr bwMode="blackWhite">
                <a:xfrm>
                  <a:off x="3617" y="1702"/>
                  <a:ext cx="35"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55" name="Rectangle 154"/>
                <p:cNvSpPr>
                  <a:spLocks noChangeArrowheads="1"/>
                </p:cNvSpPr>
                <p:nvPr/>
              </p:nvSpPr>
              <p:spPr bwMode="blackWhite">
                <a:xfrm>
                  <a:off x="3701" y="1702"/>
                  <a:ext cx="36"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56" name="Rectangle 155"/>
                <p:cNvSpPr>
                  <a:spLocks noChangeArrowheads="1"/>
                </p:cNvSpPr>
                <p:nvPr/>
              </p:nvSpPr>
              <p:spPr bwMode="blackWhite">
                <a:xfrm>
                  <a:off x="3785" y="1702"/>
                  <a:ext cx="37" cy="10"/>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57" name="Rectangle 156"/>
                <p:cNvSpPr>
                  <a:spLocks noChangeArrowheads="1"/>
                </p:cNvSpPr>
                <p:nvPr/>
              </p:nvSpPr>
              <p:spPr bwMode="blackWhite">
                <a:xfrm>
                  <a:off x="3490" y="1720"/>
                  <a:ext cx="36"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58" name="Rectangle 157"/>
                <p:cNvSpPr>
                  <a:spLocks noChangeArrowheads="1"/>
                </p:cNvSpPr>
                <p:nvPr/>
              </p:nvSpPr>
              <p:spPr bwMode="blackWhite">
                <a:xfrm>
                  <a:off x="3576" y="1720"/>
                  <a:ext cx="35"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59" name="Rectangle 158"/>
                <p:cNvSpPr>
                  <a:spLocks noChangeArrowheads="1"/>
                </p:cNvSpPr>
                <p:nvPr/>
              </p:nvSpPr>
              <p:spPr bwMode="blackWhite">
                <a:xfrm>
                  <a:off x="3660" y="1720"/>
                  <a:ext cx="34"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60" name="Rectangle 159"/>
                <p:cNvSpPr>
                  <a:spLocks noChangeArrowheads="1"/>
                </p:cNvSpPr>
                <p:nvPr/>
              </p:nvSpPr>
              <p:spPr bwMode="blackWhite">
                <a:xfrm>
                  <a:off x="3745" y="1720"/>
                  <a:ext cx="35"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61" name="Rectangle 160"/>
                <p:cNvSpPr>
                  <a:spLocks noChangeArrowheads="1"/>
                </p:cNvSpPr>
                <p:nvPr/>
              </p:nvSpPr>
              <p:spPr bwMode="blackWhite">
                <a:xfrm>
                  <a:off x="3532" y="1720"/>
                  <a:ext cx="36"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62" name="Rectangle 161"/>
                <p:cNvSpPr>
                  <a:spLocks noChangeArrowheads="1"/>
                </p:cNvSpPr>
                <p:nvPr/>
              </p:nvSpPr>
              <p:spPr bwMode="blackWhite">
                <a:xfrm>
                  <a:off x="3617" y="1720"/>
                  <a:ext cx="35"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3365FB"/>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63" name="Rectangle 162"/>
                <p:cNvSpPr>
                  <a:spLocks noChangeArrowheads="1"/>
                </p:cNvSpPr>
                <p:nvPr/>
              </p:nvSpPr>
              <p:spPr bwMode="blackWhite">
                <a:xfrm>
                  <a:off x="3701" y="1720"/>
                  <a:ext cx="36"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64" name="Rectangle 163"/>
                <p:cNvSpPr>
                  <a:spLocks noChangeArrowheads="1"/>
                </p:cNvSpPr>
                <p:nvPr/>
              </p:nvSpPr>
              <p:spPr bwMode="blackWhite">
                <a:xfrm>
                  <a:off x="3785" y="1720"/>
                  <a:ext cx="37" cy="12"/>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65" name="Rectangle 164"/>
                <p:cNvSpPr>
                  <a:spLocks noChangeArrowheads="1"/>
                </p:cNvSpPr>
                <p:nvPr/>
              </p:nvSpPr>
              <p:spPr bwMode="blackWhite">
                <a:xfrm>
                  <a:off x="3491" y="1740"/>
                  <a:ext cx="33" cy="11"/>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66" name="Rectangle 165"/>
                <p:cNvSpPr>
                  <a:spLocks noChangeArrowheads="1"/>
                </p:cNvSpPr>
                <p:nvPr/>
              </p:nvSpPr>
              <p:spPr bwMode="blackWhite">
                <a:xfrm>
                  <a:off x="3576" y="1740"/>
                  <a:ext cx="36" cy="11"/>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67" name="Rectangle 166"/>
                <p:cNvSpPr>
                  <a:spLocks noChangeArrowheads="1"/>
                </p:cNvSpPr>
                <p:nvPr/>
              </p:nvSpPr>
              <p:spPr bwMode="blackWhite">
                <a:xfrm>
                  <a:off x="3660" y="1740"/>
                  <a:ext cx="34" cy="11"/>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68" name="Rectangle 167"/>
                <p:cNvSpPr>
                  <a:spLocks noChangeArrowheads="1"/>
                </p:cNvSpPr>
                <p:nvPr/>
              </p:nvSpPr>
              <p:spPr bwMode="blackWhite">
                <a:xfrm>
                  <a:off x="3745" y="1740"/>
                  <a:ext cx="35" cy="11"/>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69" name="Rectangle 168"/>
                <p:cNvSpPr>
                  <a:spLocks noChangeArrowheads="1"/>
                </p:cNvSpPr>
                <p:nvPr/>
              </p:nvSpPr>
              <p:spPr bwMode="blackWhite">
                <a:xfrm>
                  <a:off x="3532" y="1740"/>
                  <a:ext cx="33" cy="11"/>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70" name="Rectangle 169"/>
                <p:cNvSpPr>
                  <a:spLocks noChangeArrowheads="1"/>
                </p:cNvSpPr>
                <p:nvPr/>
              </p:nvSpPr>
              <p:spPr bwMode="blackWhite">
                <a:xfrm>
                  <a:off x="3617" y="1740"/>
                  <a:ext cx="35" cy="11"/>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71" name="Rectangle 170"/>
                <p:cNvSpPr>
                  <a:spLocks noChangeArrowheads="1"/>
                </p:cNvSpPr>
                <p:nvPr/>
              </p:nvSpPr>
              <p:spPr bwMode="blackWhite">
                <a:xfrm>
                  <a:off x="3701" y="1740"/>
                  <a:ext cx="36" cy="11"/>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172" name="Rectangle 171"/>
                <p:cNvSpPr>
                  <a:spLocks noChangeArrowheads="1"/>
                </p:cNvSpPr>
                <p:nvPr/>
              </p:nvSpPr>
              <p:spPr bwMode="blackWhite">
                <a:xfrm>
                  <a:off x="3785" y="1740"/>
                  <a:ext cx="37" cy="11"/>
                </a:xfrm>
                <a:prstGeom prst="rect">
                  <a:avLst/>
                </a:prstGeom>
                <a:noFill/>
                <a:ln w="12700">
                  <a:solidFill>
                    <a:schemeClr val="bg2"/>
                  </a:solidFill>
                  <a:miter lim="800000"/>
                  <a:headEnd/>
                  <a:tailEnd/>
                </a:ln>
                <a:effectLst/>
                <a:extLst>
                  <a:ext uri="{909E8E84-426E-40DD-AFC4-6F175D3DCCD1}">
                    <a14:hiddenFill xmlns:a14="http://schemas.microsoft.com/office/drawing/2010/main">
                      <a:solidFill>
                        <a:srgbClr val="00B7A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grpSp>
          <p:sp>
            <p:nvSpPr>
              <p:cNvPr id="84" name="Rectangle 83"/>
              <p:cNvSpPr>
                <a:spLocks noChangeArrowheads="1"/>
              </p:cNvSpPr>
              <p:nvPr/>
            </p:nvSpPr>
            <p:spPr bwMode="blackWhite">
              <a:xfrm>
                <a:off x="3489" y="1556"/>
                <a:ext cx="329" cy="191"/>
              </a:xfrm>
              <a:prstGeom prst="rect">
                <a:avLst/>
              </a:prstGeom>
              <a:noFill/>
              <a:ln w="254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grpSp>
        <p:sp>
          <p:nvSpPr>
            <p:cNvPr id="69" name="Rectangle 68"/>
            <p:cNvSpPr>
              <a:spLocks noChangeArrowheads="1"/>
            </p:cNvSpPr>
            <p:nvPr/>
          </p:nvSpPr>
          <p:spPr bwMode="blackWhite">
            <a:xfrm>
              <a:off x="4092" y="1847"/>
              <a:ext cx="299" cy="10"/>
            </a:xfrm>
            <a:prstGeom prst="rect">
              <a:avLst/>
            </a:prstGeom>
            <a:gradFill rotWithShape="0">
              <a:gsLst>
                <a:gs pos="0">
                  <a:srgbClr val="000000"/>
                </a:gs>
                <a:gs pos="20000">
                  <a:srgbClr val="0A128C"/>
                </a:gs>
                <a:gs pos="35001">
                  <a:srgbClr val="181CC7"/>
                </a:gs>
                <a:gs pos="44000">
                  <a:srgbClr val="7005D4"/>
                </a:gs>
                <a:gs pos="50000">
                  <a:srgbClr val="8C3D91"/>
                </a:gs>
                <a:gs pos="56000">
                  <a:srgbClr val="7005D4"/>
                </a:gs>
                <a:gs pos="64999">
                  <a:srgbClr val="181CC7"/>
                </a:gs>
                <a:gs pos="80000">
                  <a:srgbClr val="0A128C"/>
                </a:gs>
                <a:gs pos="100000">
                  <a:srgbClr val="000000"/>
                </a:gs>
              </a:gsLst>
              <a:lin ang="0" scaled="1"/>
            </a:gra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70" name="Rectangle 69"/>
            <p:cNvSpPr>
              <a:spLocks noChangeArrowheads="1"/>
            </p:cNvSpPr>
            <p:nvPr/>
          </p:nvSpPr>
          <p:spPr bwMode="blackWhite">
            <a:xfrm>
              <a:off x="3762" y="1329"/>
              <a:ext cx="10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a:spcBef>
                  <a:spcPct val="50000"/>
                </a:spcBef>
                <a:buClrTx/>
                <a:buFontTx/>
                <a:buNone/>
              </a:pPr>
              <a:r>
                <a:rPr lang="en-US" altLang="en-US" sz="1800"/>
                <a:t>Oracle server</a:t>
              </a:r>
            </a:p>
          </p:txBody>
        </p:sp>
        <p:grpSp>
          <p:nvGrpSpPr>
            <p:cNvPr id="71" name="Group 70"/>
            <p:cNvGrpSpPr>
              <a:grpSpLocks/>
            </p:cNvGrpSpPr>
            <p:nvPr/>
          </p:nvGrpSpPr>
          <p:grpSpPr bwMode="auto">
            <a:xfrm>
              <a:off x="3552" y="2215"/>
              <a:ext cx="432" cy="335"/>
              <a:chOff x="288" y="2982"/>
              <a:chExt cx="532" cy="412"/>
            </a:xfrm>
          </p:grpSpPr>
          <p:sp>
            <p:nvSpPr>
              <p:cNvPr id="80" name="Rectangle 79"/>
              <p:cNvSpPr>
                <a:spLocks noChangeArrowheads="1"/>
              </p:cNvSpPr>
              <p:nvPr/>
            </p:nvSpPr>
            <p:spPr bwMode="gray">
              <a:xfrm>
                <a:off x="288" y="3066"/>
                <a:ext cx="532" cy="246"/>
              </a:xfrm>
              <a:prstGeom prst="rect">
                <a:avLst/>
              </a:prstGeom>
              <a:solidFill>
                <a:srgbClr val="9999FF"/>
              </a:solidFill>
              <a:ln w="3175">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81" name="Oval 80"/>
              <p:cNvSpPr>
                <a:spLocks noChangeArrowheads="1"/>
              </p:cNvSpPr>
              <p:nvPr/>
            </p:nvSpPr>
            <p:spPr bwMode="gray">
              <a:xfrm>
                <a:off x="288" y="2982"/>
                <a:ext cx="532" cy="158"/>
              </a:xfrm>
              <a:prstGeom prst="ellipse">
                <a:avLst/>
              </a:prstGeom>
              <a:solidFill>
                <a:srgbClr val="CCCC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82" name="Oval 81"/>
              <p:cNvSpPr>
                <a:spLocks noChangeArrowheads="1"/>
              </p:cNvSpPr>
              <p:nvPr/>
            </p:nvSpPr>
            <p:spPr bwMode="gray">
              <a:xfrm>
                <a:off x="288" y="3236"/>
                <a:ext cx="532" cy="158"/>
              </a:xfrm>
              <a:prstGeom prst="ellipse">
                <a:avLst/>
              </a:prstGeom>
              <a:solidFill>
                <a:srgbClr val="9999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grpSp>
        <p:grpSp>
          <p:nvGrpSpPr>
            <p:cNvPr id="72" name="Group 71"/>
            <p:cNvGrpSpPr>
              <a:grpSpLocks/>
            </p:cNvGrpSpPr>
            <p:nvPr/>
          </p:nvGrpSpPr>
          <p:grpSpPr bwMode="auto">
            <a:xfrm>
              <a:off x="4080" y="2215"/>
              <a:ext cx="432" cy="335"/>
              <a:chOff x="288" y="2982"/>
              <a:chExt cx="532" cy="412"/>
            </a:xfrm>
          </p:grpSpPr>
          <p:sp>
            <p:nvSpPr>
              <p:cNvPr id="77" name="Rectangle 76"/>
              <p:cNvSpPr>
                <a:spLocks noChangeArrowheads="1"/>
              </p:cNvSpPr>
              <p:nvPr/>
            </p:nvSpPr>
            <p:spPr bwMode="gray">
              <a:xfrm>
                <a:off x="288" y="3066"/>
                <a:ext cx="532" cy="246"/>
              </a:xfrm>
              <a:prstGeom prst="rect">
                <a:avLst/>
              </a:prstGeom>
              <a:solidFill>
                <a:srgbClr val="9999FF"/>
              </a:solidFill>
              <a:ln w="3175">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78" name="Oval 77"/>
              <p:cNvSpPr>
                <a:spLocks noChangeArrowheads="1"/>
              </p:cNvSpPr>
              <p:nvPr/>
            </p:nvSpPr>
            <p:spPr bwMode="gray">
              <a:xfrm>
                <a:off x="288" y="2982"/>
                <a:ext cx="532" cy="158"/>
              </a:xfrm>
              <a:prstGeom prst="ellipse">
                <a:avLst/>
              </a:prstGeom>
              <a:solidFill>
                <a:srgbClr val="CCCC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79" name="Oval 78"/>
              <p:cNvSpPr>
                <a:spLocks noChangeArrowheads="1"/>
              </p:cNvSpPr>
              <p:nvPr/>
            </p:nvSpPr>
            <p:spPr bwMode="gray">
              <a:xfrm>
                <a:off x="288" y="3236"/>
                <a:ext cx="532" cy="158"/>
              </a:xfrm>
              <a:prstGeom prst="ellipse">
                <a:avLst/>
              </a:prstGeom>
              <a:solidFill>
                <a:srgbClr val="9999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grpSp>
        <p:grpSp>
          <p:nvGrpSpPr>
            <p:cNvPr id="73" name="Group 72"/>
            <p:cNvGrpSpPr>
              <a:grpSpLocks/>
            </p:cNvGrpSpPr>
            <p:nvPr/>
          </p:nvGrpSpPr>
          <p:grpSpPr bwMode="auto">
            <a:xfrm>
              <a:off x="4608" y="2215"/>
              <a:ext cx="432" cy="335"/>
              <a:chOff x="288" y="2982"/>
              <a:chExt cx="532" cy="412"/>
            </a:xfrm>
          </p:grpSpPr>
          <p:sp>
            <p:nvSpPr>
              <p:cNvPr id="74" name="Rectangle 73"/>
              <p:cNvSpPr>
                <a:spLocks noChangeArrowheads="1"/>
              </p:cNvSpPr>
              <p:nvPr/>
            </p:nvSpPr>
            <p:spPr bwMode="gray">
              <a:xfrm>
                <a:off x="288" y="3066"/>
                <a:ext cx="532" cy="246"/>
              </a:xfrm>
              <a:prstGeom prst="rect">
                <a:avLst/>
              </a:prstGeom>
              <a:solidFill>
                <a:srgbClr val="9999FF"/>
              </a:solidFill>
              <a:ln w="3175">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75" name="Oval 74"/>
              <p:cNvSpPr>
                <a:spLocks noChangeArrowheads="1"/>
              </p:cNvSpPr>
              <p:nvPr/>
            </p:nvSpPr>
            <p:spPr bwMode="gray">
              <a:xfrm>
                <a:off x="288" y="2982"/>
                <a:ext cx="532" cy="158"/>
              </a:xfrm>
              <a:prstGeom prst="ellipse">
                <a:avLst/>
              </a:prstGeom>
              <a:solidFill>
                <a:srgbClr val="CCCC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sp>
            <p:nvSpPr>
              <p:cNvPr id="76" name="Oval 75"/>
              <p:cNvSpPr>
                <a:spLocks noChangeArrowheads="1"/>
              </p:cNvSpPr>
              <p:nvPr/>
            </p:nvSpPr>
            <p:spPr bwMode="gray">
              <a:xfrm>
                <a:off x="288" y="3236"/>
                <a:ext cx="532" cy="158"/>
              </a:xfrm>
              <a:prstGeom prst="ellipse">
                <a:avLst/>
              </a:prstGeom>
              <a:solidFill>
                <a:srgbClr val="9999FF"/>
              </a:solidFill>
              <a:ln w="3175">
                <a:solidFill>
                  <a:srgbClr val="99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pPr eaLnBrk="1" hangingPunct="1"/>
                <a:endParaRPr lang="vi-VN"/>
              </a:p>
            </p:txBody>
          </p:sp>
        </p:grpSp>
      </p:grpSp>
      <p:sp>
        <p:nvSpPr>
          <p:cNvPr id="36" name="Freeform 35"/>
          <p:cNvSpPr>
            <a:spLocks/>
          </p:cNvSpPr>
          <p:nvPr/>
        </p:nvSpPr>
        <p:spPr bwMode="auto">
          <a:xfrm>
            <a:off x="7715733" y="3386999"/>
            <a:ext cx="1066800" cy="381000"/>
          </a:xfrm>
          <a:custGeom>
            <a:avLst/>
            <a:gdLst>
              <a:gd name="T0" fmla="*/ 0 w 672"/>
              <a:gd name="T1" fmla="*/ 0 h 240"/>
              <a:gd name="T2" fmla="*/ 1066800 w 672"/>
              <a:gd name="T3" fmla="*/ 0 h 240"/>
              <a:gd name="T4" fmla="*/ 1066800 w 672"/>
              <a:gd name="T5" fmla="*/ 381000 h 240"/>
              <a:gd name="T6" fmla="*/ 0 60000 65536"/>
              <a:gd name="T7" fmla="*/ 0 60000 65536"/>
              <a:gd name="T8" fmla="*/ 0 60000 65536"/>
            </a:gdLst>
            <a:ahLst/>
            <a:cxnLst>
              <a:cxn ang="T6">
                <a:pos x="T0" y="T1"/>
              </a:cxn>
              <a:cxn ang="T7">
                <a:pos x="T2" y="T3"/>
              </a:cxn>
              <a:cxn ang="T8">
                <a:pos x="T4" y="T5"/>
              </a:cxn>
            </a:cxnLst>
            <a:rect l="0" t="0" r="r" b="b"/>
            <a:pathLst>
              <a:path w="672" h="240">
                <a:moveTo>
                  <a:pt x="0" y="0"/>
                </a:moveTo>
                <a:lnTo>
                  <a:pt x="672" y="0"/>
                </a:lnTo>
                <a:lnTo>
                  <a:pt x="672" y="240"/>
                </a:lnTo>
              </a:path>
            </a:pathLst>
          </a:custGeom>
          <a:noFill/>
          <a:ln w="28575" cap="flat" cmpd="sng">
            <a:solidFill>
              <a:schemeClr val="tx1"/>
            </a:solidFill>
            <a:prstDash val="solid"/>
            <a:round/>
            <a:headEnd type="stealth"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a:lstStyle>
          <a:p>
            <a:endParaRPr lang="vi-VN"/>
          </a:p>
        </p:txBody>
      </p:sp>
      <p:sp>
        <p:nvSpPr>
          <p:cNvPr id="270" name="Rounded Rectangular Callout 269"/>
          <p:cNvSpPr/>
          <p:nvPr/>
        </p:nvSpPr>
        <p:spPr>
          <a:xfrm>
            <a:off x="1035289" y="1844448"/>
            <a:ext cx="2597395" cy="2275977"/>
          </a:xfrm>
          <a:prstGeom prst="wedgeRoundRectCallout">
            <a:avLst>
              <a:gd name="adj1" fmla="val 59606"/>
              <a:gd name="adj2" fmla="val 52808"/>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Được tạo ra khi các công cụ hoặc ứng dung tạo kết nối đến Oracle Server như SQL*Plus, SQL Deverloper, PL/SQL Deverloper, Oracle Form, Report ...</a:t>
            </a:r>
            <a:endParaRPr lang="vi-VN"/>
          </a:p>
        </p:txBody>
      </p:sp>
      <p:sp>
        <p:nvSpPr>
          <p:cNvPr id="271" name="Rounded Rectangular Callout 270"/>
          <p:cNvSpPr/>
          <p:nvPr/>
        </p:nvSpPr>
        <p:spPr>
          <a:xfrm>
            <a:off x="4286610" y="1269730"/>
            <a:ext cx="2368673" cy="1692703"/>
          </a:xfrm>
          <a:prstGeom prst="wedgeRoundRectCallout">
            <a:avLst>
              <a:gd name="adj1" fmla="val 23800"/>
              <a:gd name="adj2" fmla="val 62986"/>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Được tạo ra trên máy tính đang chạy Oracle Server khi một user process đăng nhập vào Oracle Server</a:t>
            </a:r>
            <a:endParaRPr lang="vi-VN"/>
          </a:p>
        </p:txBody>
      </p:sp>
      <p:sp>
        <p:nvSpPr>
          <p:cNvPr id="272" name="Rounded Rectangular Callout 271"/>
          <p:cNvSpPr/>
          <p:nvPr/>
        </p:nvSpPr>
        <p:spPr>
          <a:xfrm>
            <a:off x="7936396" y="1353565"/>
            <a:ext cx="2368673" cy="1692703"/>
          </a:xfrm>
          <a:prstGeom prst="wedgeRoundRectCallout">
            <a:avLst>
              <a:gd name="adj1" fmla="val -70752"/>
              <a:gd name="adj2" fmla="val 53591"/>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User process làm việc với Oracle instance thông qua Server process</a:t>
            </a:r>
            <a:endParaRPr lang="vi-VN"/>
          </a:p>
        </p:txBody>
      </p:sp>
    </p:spTree>
    <p:extLst>
      <p:ext uri="{BB962C8B-B14F-4D97-AF65-F5344CB8AC3E}">
        <p14:creationId xmlns:p14="http://schemas.microsoft.com/office/powerpoint/2010/main" val="35544978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a:t>Phiên làm việc (Session)</a:t>
            </a:r>
            <a:endParaRPr lang="vi-VN"/>
          </a:p>
        </p:txBody>
      </p:sp>
      <p:sp>
        <p:nvSpPr>
          <p:cNvPr id="4" name="Rectangle 3"/>
          <p:cNvSpPr/>
          <p:nvPr/>
        </p:nvSpPr>
        <p:spPr>
          <a:xfrm>
            <a:off x="297496" y="728870"/>
            <a:ext cx="11583128" cy="1938992"/>
          </a:xfrm>
          <a:prstGeom prst="rect">
            <a:avLst/>
          </a:prstGeom>
        </p:spPr>
        <p:txBody>
          <a:bodyPr wrap="square">
            <a:spAutoFit/>
          </a:bodyPr>
          <a:lstStyle/>
          <a:p>
            <a:pPr algn="just">
              <a:buClr>
                <a:srgbClr val="FF0000"/>
              </a:buClr>
              <a:buFont typeface="Arial" panose="020B0604020202020204" pitchFamily="34" charset="0"/>
              <a:buChar char="•"/>
            </a:pPr>
            <a:r>
              <a:rPr lang="vi-VN" sz="2400">
                <a:solidFill>
                  <a:srgbClr val="000000"/>
                </a:solidFill>
                <a:latin typeface="Times New Roman" panose="02020603050405020304" pitchFamily="18" charset="0"/>
                <a:cs typeface="Times New Roman" panose="02020603050405020304" pitchFamily="18" charset="0"/>
              </a:rPr>
              <a:t> Session là một kết nối riêng của một user đến một Oracle server. Session được bắt đầu khi một user xác thực thành công đến một Oracle server, và kết thúc khi user đăng xuất </a:t>
            </a:r>
            <a:r>
              <a:rPr lang="en-US" sz="2400">
                <a:solidFill>
                  <a:srgbClr val="000000"/>
                </a:solidFill>
                <a:latin typeface="Times New Roman" panose="02020603050405020304" pitchFamily="18" charset="0"/>
                <a:cs typeface="Times New Roman" panose="02020603050405020304" pitchFamily="18" charset="0"/>
              </a:rPr>
              <a:t>hoặc bị kết thúc đột ngột.</a:t>
            </a:r>
          </a:p>
          <a:p>
            <a:pPr algn="just">
              <a:buClr>
                <a:srgbClr val="FF0000"/>
              </a:buClr>
              <a:buFont typeface="Arial" panose="020B0604020202020204" pitchFamily="34" charset="0"/>
              <a:buChar char="•"/>
            </a:pPr>
            <a:r>
              <a:rPr lang="en-US" sz="2400" b="0" i="0">
                <a:solidFill>
                  <a:srgbClr val="000000"/>
                </a:solidFill>
                <a:effectLst/>
                <a:latin typeface="Times New Roman" panose="02020603050405020304" pitchFamily="18" charset="0"/>
                <a:cs typeface="Times New Roman" panose="02020603050405020304" pitchFamily="18" charset="0"/>
              </a:rPr>
              <a:t> Từ một máy client (database user), có thể có nhiều kết nối đến Oracle server khi người dùng sử dụng nhiều công cụ hoặc ứng dụng khác nhau đăng nhập vào Oracle server.</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2546" y="2757762"/>
            <a:ext cx="5753433" cy="3472897"/>
          </a:xfrm>
          <a:prstGeom prst="rect">
            <a:avLst/>
          </a:prstGeom>
        </p:spPr>
      </p:pic>
      <p:sp>
        <p:nvSpPr>
          <p:cNvPr id="6" name="Rectangle 5"/>
          <p:cNvSpPr/>
          <p:nvPr/>
        </p:nvSpPr>
        <p:spPr>
          <a:xfrm>
            <a:off x="4237445" y="6230659"/>
            <a:ext cx="3903633" cy="369332"/>
          </a:xfrm>
          <a:prstGeom prst="rect">
            <a:avLst/>
          </a:prstGeom>
        </p:spPr>
        <p:txBody>
          <a:bodyPr wrap="none">
            <a:spAutoFit/>
          </a:bodyPr>
          <a:lstStyle/>
          <a:p>
            <a:r>
              <a:rPr lang="en-US" b="1" i="1">
                <a:solidFill>
                  <a:srgbClr val="222222"/>
                </a:solidFill>
                <a:latin typeface="Helvetica Neue"/>
              </a:rPr>
              <a:t>One Session for Each Connection</a:t>
            </a:r>
            <a:endParaRPr lang="vi-VN"/>
          </a:p>
        </p:txBody>
      </p:sp>
    </p:spTree>
    <p:extLst>
      <p:ext uri="{BB962C8B-B14F-4D97-AF65-F5344CB8AC3E}">
        <p14:creationId xmlns:p14="http://schemas.microsoft.com/office/powerpoint/2010/main" val="1456741828"/>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1. Client – Server</a:t>
            </a:r>
          </a:p>
        </p:txBody>
      </p:sp>
      <p:sp>
        <p:nvSpPr>
          <p:cNvPr id="3" name="Rectangle 2"/>
          <p:cNvSpPr/>
          <p:nvPr/>
        </p:nvSpPr>
        <p:spPr>
          <a:xfrm>
            <a:off x="395934" y="876498"/>
            <a:ext cx="11025809" cy="1569660"/>
          </a:xfrm>
          <a:prstGeom prst="rect">
            <a:avLst/>
          </a:prstGeom>
        </p:spPr>
        <p:txBody>
          <a:bodyPr wrap="square">
            <a:spAutoFit/>
          </a:bodyPr>
          <a:lstStyle/>
          <a:p>
            <a:pPr algn="just">
              <a:buClr>
                <a:srgbClr val="FF0000"/>
              </a:buClr>
            </a:pPr>
            <a:r>
              <a:rPr lang="vi-VN" sz="2400">
                <a:solidFill>
                  <a:srgbClr val="000000"/>
                </a:solidFill>
                <a:latin typeface="Times New Roman" panose="02020603050405020304" pitchFamily="18" charset="0"/>
                <a:cs typeface="Times New Roman" panose="02020603050405020304" pitchFamily="18" charset="0"/>
              </a:rPr>
              <a:t>Chương trình trực quan trên máy tính của bạn và kết nối tới một database </a:t>
            </a:r>
            <a:r>
              <a:rPr lang="vi-VN" sz="2400" b="1">
                <a:solidFill>
                  <a:srgbClr val="000000"/>
                </a:solidFill>
                <a:latin typeface="Times New Roman" panose="02020603050405020304" pitchFamily="18" charset="0"/>
                <a:cs typeface="Times New Roman" panose="02020603050405020304" pitchFamily="18" charset="0"/>
              </a:rPr>
              <a:t>Oracle </a:t>
            </a:r>
            <a:r>
              <a:rPr lang="vi-VN" sz="2400">
                <a:solidFill>
                  <a:srgbClr val="000000"/>
                </a:solidFill>
                <a:latin typeface="Times New Roman" panose="02020603050405020304" pitchFamily="18" charset="0"/>
                <a:cs typeface="Times New Roman" panose="02020603050405020304" pitchFamily="18" charset="0"/>
              </a:rPr>
              <a:t>nằm trên một máy tính khác, bạn cần phải cài đặt </a:t>
            </a:r>
            <a:r>
              <a:rPr lang="vi-VN" sz="2400" b="1" i="1">
                <a:solidFill>
                  <a:srgbClr val="000000"/>
                </a:solidFill>
                <a:latin typeface="Times New Roman" panose="02020603050405020304" pitchFamily="18" charset="0"/>
                <a:cs typeface="Times New Roman" panose="02020603050405020304" pitchFamily="18" charset="0"/>
              </a:rPr>
              <a:t>Oracle Client</a:t>
            </a:r>
            <a:r>
              <a:rPr lang="vi-VN" sz="2400">
                <a:solidFill>
                  <a:srgbClr val="000000"/>
                </a:solidFill>
                <a:latin typeface="Times New Roman" panose="02020603050405020304" pitchFamily="18" charset="0"/>
                <a:cs typeface="Times New Roman" panose="02020603050405020304" pitchFamily="18" charset="0"/>
              </a:rPr>
              <a:t> hoặc cài luôn một </a:t>
            </a:r>
            <a:r>
              <a:rPr lang="vi-VN" sz="2400" b="1" i="1">
                <a:solidFill>
                  <a:srgbClr val="000000"/>
                </a:solidFill>
                <a:latin typeface="Times New Roman" panose="02020603050405020304" pitchFamily="18" charset="0"/>
                <a:cs typeface="Times New Roman" panose="02020603050405020304" pitchFamily="18" charset="0"/>
              </a:rPr>
              <a:t>Oracle Database</a:t>
            </a:r>
            <a:r>
              <a:rPr lang="vi-VN" sz="2400">
                <a:solidFill>
                  <a:srgbClr val="000000"/>
                </a:solidFill>
                <a:latin typeface="Times New Roman" panose="02020603050405020304" pitchFamily="18" charset="0"/>
                <a:cs typeface="Times New Roman" panose="02020603050405020304" pitchFamily="18" charset="0"/>
              </a:rPr>
              <a:t> trên máy tính của mình. Chú ý: </a:t>
            </a:r>
            <a:r>
              <a:rPr lang="vi-VN" sz="2400" b="1">
                <a:solidFill>
                  <a:srgbClr val="000000"/>
                </a:solidFill>
                <a:latin typeface="Times New Roman" panose="02020603050405020304" pitchFamily="18" charset="0"/>
                <a:cs typeface="Times New Roman" panose="02020603050405020304" pitchFamily="18" charset="0"/>
              </a:rPr>
              <a:t>Oracle Database</a:t>
            </a:r>
            <a:r>
              <a:rPr lang="vi-VN" sz="2400">
                <a:solidFill>
                  <a:srgbClr val="000000"/>
                </a:solidFill>
                <a:latin typeface="Times New Roman" panose="02020603050405020304" pitchFamily="18" charset="0"/>
                <a:cs typeface="Times New Roman" panose="02020603050405020304" pitchFamily="18" charset="0"/>
              </a:rPr>
              <a:t> đóng vai trò vừa là server vừa là </a:t>
            </a:r>
            <a:r>
              <a:rPr lang="vi-VN" sz="2400" b="1">
                <a:solidFill>
                  <a:srgbClr val="000000"/>
                </a:solidFill>
                <a:latin typeface="Times New Roman" panose="02020603050405020304" pitchFamily="18" charset="0"/>
                <a:cs typeface="Times New Roman" panose="02020603050405020304" pitchFamily="18" charset="0"/>
              </a:rPr>
              <a:t>Oracle Client</a:t>
            </a:r>
            <a:r>
              <a:rPr lang="vi-VN" sz="2400">
                <a:solidFill>
                  <a:srgbClr val="000000"/>
                </a:solidFill>
                <a:latin typeface="Times New Roman" panose="02020603050405020304" pitchFamily="18" charset="0"/>
                <a:cs typeface="Times New Roman" panose="02020603050405020304" pitchFamily="18" charset="0"/>
              </a:rPr>
              <a:t>.</a:t>
            </a:r>
            <a:endParaRPr lang="vi-VN" sz="2400" b="0" i="0">
              <a:solidFill>
                <a:srgbClr val="000000"/>
              </a:solidFill>
              <a:effectLst/>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8587" y="2593787"/>
            <a:ext cx="8380952" cy="3666666"/>
          </a:xfrm>
          <a:prstGeom prst="rect">
            <a:avLst/>
          </a:prstGeom>
        </p:spPr>
      </p:pic>
    </p:spTree>
    <p:extLst>
      <p:ext uri="{BB962C8B-B14F-4D97-AF65-F5344CB8AC3E}">
        <p14:creationId xmlns:p14="http://schemas.microsoft.com/office/powerpoint/2010/main" val="2307174474"/>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2. Host – Based</a:t>
            </a:r>
            <a:endParaRPr lang="vi-VN">
              <a:latin typeface="Times New Roman" panose="02020603050405020304" pitchFamily="18" charset="0"/>
              <a:cs typeface="Times New Roman" panose="02020603050405020304" pitchFamily="18" charset="0"/>
            </a:endParaRPr>
          </a:p>
        </p:txBody>
      </p:sp>
      <p:sp>
        <p:nvSpPr>
          <p:cNvPr id="3" name="Rectangle 2"/>
          <p:cNvSpPr/>
          <p:nvPr/>
        </p:nvSpPr>
        <p:spPr>
          <a:xfrm>
            <a:off x="173360" y="1030753"/>
            <a:ext cx="11025809" cy="1200329"/>
          </a:xfrm>
          <a:prstGeom prst="rect">
            <a:avLst/>
          </a:prstGeom>
        </p:spPr>
        <p:txBody>
          <a:bodyPr wrap="square">
            <a:spAutoFit/>
          </a:bodyPr>
          <a:lstStyle/>
          <a:p>
            <a:pPr algn="just">
              <a:buClr>
                <a:srgbClr val="FF0000"/>
              </a:buClr>
            </a:pPr>
            <a:r>
              <a:rPr lang="vi-VN" sz="2400">
                <a:latin typeface="Times New Roman" panose="02020603050405020304" pitchFamily="18" charset="0"/>
                <a:cs typeface="Times New Roman" panose="02020603050405020304" pitchFamily="18" charset="0"/>
              </a:rPr>
              <a:t>Chương trình trực quan nằm trên máy tính của bạn và kết nối tới database </a:t>
            </a:r>
            <a:r>
              <a:rPr lang="vi-VN" sz="2400" b="1">
                <a:latin typeface="Times New Roman" panose="02020603050405020304" pitchFamily="18" charset="0"/>
                <a:cs typeface="Times New Roman" panose="02020603050405020304" pitchFamily="18" charset="0"/>
              </a:rPr>
              <a:t>Oracle </a:t>
            </a:r>
            <a:r>
              <a:rPr lang="vi-VN" sz="2400">
                <a:latin typeface="Times New Roman" panose="02020603050405020304" pitchFamily="18" charset="0"/>
                <a:cs typeface="Times New Roman" panose="02020603050405020304" pitchFamily="18" charset="0"/>
              </a:rPr>
              <a:t>nằm cùng máy tính, lúc đó Database này vừa đóng vai trò là một </a:t>
            </a:r>
            <a:r>
              <a:rPr lang="vi-VN" sz="2400" b="1">
                <a:latin typeface="Times New Roman" panose="02020603050405020304" pitchFamily="18" charset="0"/>
                <a:cs typeface="Times New Roman" panose="02020603050405020304" pitchFamily="18" charset="0"/>
              </a:rPr>
              <a:t>Oracle Server </a:t>
            </a:r>
            <a:r>
              <a:rPr lang="vi-VN" sz="2400">
                <a:latin typeface="Times New Roman" panose="02020603050405020304" pitchFamily="18" charset="0"/>
                <a:cs typeface="Times New Roman" panose="02020603050405020304" pitchFamily="18" charset="0"/>
              </a:rPr>
              <a:t>vừa là </a:t>
            </a:r>
            <a:r>
              <a:rPr lang="vi-VN" sz="2400" b="1">
                <a:latin typeface="Times New Roman" panose="02020603050405020304" pitchFamily="18" charset="0"/>
                <a:cs typeface="Times New Roman" panose="02020603050405020304" pitchFamily="18" charset="0"/>
              </a:rPr>
              <a:t>Oracle Client</a:t>
            </a:r>
            <a:r>
              <a:rPr lang="vi-VN" sz="2400">
                <a:latin typeface="Times New Roman" panose="02020603050405020304" pitchFamily="18" charset="0"/>
                <a:cs typeface="Times New Roman" panose="02020603050405020304" pitchFamily="18" charset="0"/>
              </a:rPr>
              <a:t>. Bạn không cần cài thêm gì khác.</a:t>
            </a:r>
            <a:endParaRPr lang="vi-VN" sz="2400" b="0" i="0">
              <a:solidFill>
                <a:srgbClr val="000000"/>
              </a:solidFill>
              <a:effectLst/>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3000" y="2532965"/>
            <a:ext cx="5572125" cy="3667125"/>
          </a:xfrm>
          <a:prstGeom prst="rect">
            <a:avLst/>
          </a:prstGeom>
        </p:spPr>
      </p:pic>
    </p:spTree>
    <p:extLst>
      <p:ext uri="{BB962C8B-B14F-4D97-AF65-F5344CB8AC3E}">
        <p14:creationId xmlns:p14="http://schemas.microsoft.com/office/powerpoint/2010/main" val="4136345768"/>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3. Client – Application server – Server (mô hình 3 lớp)</a:t>
            </a:r>
          </a:p>
        </p:txBody>
      </p:sp>
      <p:sp>
        <p:nvSpPr>
          <p:cNvPr id="3" name="Rectangle 2"/>
          <p:cNvSpPr/>
          <p:nvPr/>
        </p:nvSpPr>
        <p:spPr>
          <a:xfrm>
            <a:off x="291546" y="1086727"/>
            <a:ext cx="11025809" cy="1200329"/>
          </a:xfrm>
          <a:prstGeom prst="rect">
            <a:avLst/>
          </a:prstGeom>
        </p:spPr>
        <p:txBody>
          <a:bodyPr wrap="square">
            <a:spAutoFit/>
          </a:bodyPr>
          <a:lstStyle/>
          <a:p>
            <a:pPr algn="just">
              <a:buClr>
                <a:srgbClr val="FF0000"/>
              </a:buClr>
            </a:pPr>
            <a:r>
              <a:rPr lang="vi-VN" sz="2400">
                <a:latin typeface="Times New Roman" panose="02020603050405020304" pitchFamily="18" charset="0"/>
                <a:cs typeface="Times New Roman" panose="02020603050405020304" pitchFamily="18" charset="0"/>
              </a:rPr>
              <a:t>User có thể truy cập vào cơ sở dữ liệu từ máy tính cá nhân của họ (Client) thông qua một ứng dụng máy chủ (application server), nơi sử dụng cho những yêu cầu chạy chương trình.</a:t>
            </a:r>
            <a:endParaRPr lang="vi-VN" sz="2400" b="0" i="0">
              <a:solidFill>
                <a:srgbClr val="000000"/>
              </a:solidFill>
              <a:effectLst/>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1013" y="2287056"/>
            <a:ext cx="6896100" cy="3556000"/>
          </a:xfrm>
          <a:prstGeom prst="rect">
            <a:avLst/>
          </a:prstGeom>
        </p:spPr>
      </p:pic>
    </p:spTree>
    <p:extLst>
      <p:ext uri="{BB962C8B-B14F-4D97-AF65-F5344CB8AC3E}">
        <p14:creationId xmlns:p14="http://schemas.microsoft.com/office/powerpoint/2010/main" val="1219490708"/>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Câu hỏi</a:t>
            </a:r>
            <a:endParaRPr lang="vi-VN"/>
          </a:p>
        </p:txBody>
      </p:sp>
      <p:sp>
        <p:nvSpPr>
          <p:cNvPr id="3" name="Rectangle 2"/>
          <p:cNvSpPr/>
          <p:nvPr/>
        </p:nvSpPr>
        <p:spPr>
          <a:xfrm>
            <a:off x="319132" y="728870"/>
            <a:ext cx="11539862" cy="6109365"/>
          </a:xfrm>
          <a:prstGeom prst="rect">
            <a:avLst/>
          </a:prstGeom>
        </p:spPr>
        <p:txBody>
          <a:bodyPr wrap="square">
            <a:spAutoFit/>
          </a:bodyPr>
          <a:lstStyle/>
          <a:p>
            <a:pPr marL="400050" lvl="2" indent="-171450"/>
            <a:r>
              <a:rPr lang="en-US" altLang="en-US" sz="2300" b="1">
                <a:latin typeface="Times New Roman" panose="02020603050405020304" pitchFamily="18" charset="0"/>
                <a:cs typeface="Times New Roman" panose="02020603050405020304" pitchFamily="18" charset="0"/>
              </a:rPr>
              <a:t>1</a:t>
            </a:r>
            <a:r>
              <a:rPr lang="en-US" altLang="en-US" sz="2300">
                <a:latin typeface="Times New Roman" panose="02020603050405020304" pitchFamily="18" charset="0"/>
                <a:cs typeface="Times New Roman" panose="02020603050405020304" pitchFamily="18" charset="0"/>
              </a:rPr>
              <a:t>	. Which one of the following statements is true?</a:t>
            </a:r>
          </a:p>
          <a:p>
            <a:pPr marL="685800" lvl="3" indent="-171450"/>
            <a:r>
              <a:rPr lang="en-US" altLang="en-US" sz="2300" b="1">
                <a:latin typeface="Times New Roman" panose="02020603050405020304" pitchFamily="18" charset="0"/>
                <a:cs typeface="Times New Roman" panose="02020603050405020304" pitchFamily="18" charset="0"/>
              </a:rPr>
              <a:t>a</a:t>
            </a:r>
            <a:r>
              <a:rPr lang="en-US" altLang="en-US" sz="2300">
                <a:latin typeface="Times New Roman" panose="02020603050405020304" pitchFamily="18" charset="0"/>
                <a:cs typeface="Times New Roman" panose="02020603050405020304" pitchFamily="18" charset="0"/>
              </a:rPr>
              <a:t>	An Oracle server is a collection of data consisting of three file types.</a:t>
            </a:r>
          </a:p>
          <a:p>
            <a:pPr marL="685800" lvl="3" indent="-171450"/>
            <a:r>
              <a:rPr lang="en-US" altLang="en-US" sz="2300" b="1">
                <a:latin typeface="Times New Roman" panose="02020603050405020304" pitchFamily="18" charset="0"/>
                <a:cs typeface="Times New Roman" panose="02020603050405020304" pitchFamily="18" charset="0"/>
              </a:rPr>
              <a:t>b</a:t>
            </a:r>
            <a:r>
              <a:rPr lang="en-US" altLang="en-US" sz="2300">
                <a:latin typeface="Times New Roman" panose="02020603050405020304" pitchFamily="18" charset="0"/>
                <a:cs typeface="Times New Roman" panose="02020603050405020304" pitchFamily="18" charset="0"/>
              </a:rPr>
              <a:t>	A user establishes a connection with the database by starting an Oracle instance.</a:t>
            </a:r>
          </a:p>
          <a:p>
            <a:pPr marL="685800" lvl="3" indent="-171450"/>
            <a:r>
              <a:rPr lang="en-US" altLang="en-US" sz="2300" b="1">
                <a:latin typeface="Times New Roman" panose="02020603050405020304" pitchFamily="18" charset="0"/>
                <a:cs typeface="Times New Roman" panose="02020603050405020304" pitchFamily="18" charset="0"/>
              </a:rPr>
              <a:t>c	</a:t>
            </a:r>
            <a:r>
              <a:rPr lang="en-US" altLang="en-US" sz="2300">
                <a:latin typeface="Times New Roman" panose="02020603050405020304" pitchFamily="18" charset="0"/>
                <a:cs typeface="Times New Roman" panose="02020603050405020304" pitchFamily="18" charset="0"/>
              </a:rPr>
              <a:t>A connection is a communication pathway between the Oracle server and the Oracle instance.</a:t>
            </a:r>
          </a:p>
          <a:p>
            <a:pPr marL="685800" lvl="3" indent="-171450"/>
            <a:r>
              <a:rPr lang="en-US" altLang="en-US" sz="2300" b="1">
                <a:latin typeface="Times New Roman" panose="02020603050405020304" pitchFamily="18" charset="0"/>
                <a:cs typeface="Times New Roman" panose="02020603050405020304" pitchFamily="18" charset="0"/>
              </a:rPr>
              <a:t>d</a:t>
            </a:r>
            <a:r>
              <a:rPr lang="en-US" altLang="en-US" sz="2300">
                <a:latin typeface="Times New Roman" panose="02020603050405020304" pitchFamily="18" charset="0"/>
                <a:cs typeface="Times New Roman" panose="02020603050405020304" pitchFamily="18" charset="0"/>
              </a:rPr>
              <a:t>	A session starts when a user is validated by the Oracle server.</a:t>
            </a:r>
          </a:p>
          <a:p>
            <a:pPr marL="400050" lvl="2" indent="-171450"/>
            <a:r>
              <a:rPr lang="en-US" altLang="en-US" sz="2300" b="1">
                <a:latin typeface="Times New Roman" panose="02020603050405020304" pitchFamily="18" charset="0"/>
                <a:cs typeface="Times New Roman" panose="02020603050405020304" pitchFamily="18" charset="0"/>
              </a:rPr>
              <a:t>2. </a:t>
            </a:r>
            <a:r>
              <a:rPr lang="en-US" altLang="en-US" sz="2300">
                <a:latin typeface="Times New Roman" panose="02020603050405020304" pitchFamily="18" charset="0"/>
                <a:cs typeface="Times New Roman" panose="02020603050405020304" pitchFamily="18" charset="0"/>
              </a:rPr>
              <a:t>Which one of the following memory areas is not part of the SGA?</a:t>
            </a:r>
          </a:p>
          <a:p>
            <a:pPr marL="685800" lvl="3" indent="-171450"/>
            <a:r>
              <a:rPr lang="en-US" altLang="en-US" sz="2300" b="1">
                <a:latin typeface="Times New Roman" panose="02020603050405020304" pitchFamily="18" charset="0"/>
                <a:cs typeface="Times New Roman" panose="02020603050405020304" pitchFamily="18" charset="0"/>
              </a:rPr>
              <a:t>a</a:t>
            </a:r>
            <a:r>
              <a:rPr lang="en-US" altLang="en-US" sz="2300">
                <a:latin typeface="Times New Roman" panose="02020603050405020304" pitchFamily="18" charset="0"/>
                <a:cs typeface="Times New Roman" panose="02020603050405020304" pitchFamily="18" charset="0"/>
              </a:rPr>
              <a:t>	Database Buffer Cache</a:t>
            </a:r>
          </a:p>
          <a:p>
            <a:pPr marL="685800" lvl="3" indent="-171450"/>
            <a:r>
              <a:rPr lang="en-US" altLang="en-US" sz="2300" b="1">
                <a:latin typeface="Times New Roman" panose="02020603050405020304" pitchFamily="18" charset="0"/>
                <a:cs typeface="Times New Roman" panose="02020603050405020304" pitchFamily="18" charset="0"/>
              </a:rPr>
              <a:t>b</a:t>
            </a:r>
            <a:r>
              <a:rPr lang="en-US" altLang="en-US" sz="2300">
                <a:latin typeface="Times New Roman" panose="02020603050405020304" pitchFamily="18" charset="0"/>
                <a:cs typeface="Times New Roman" panose="02020603050405020304" pitchFamily="18" charset="0"/>
              </a:rPr>
              <a:t>	PGA</a:t>
            </a:r>
          </a:p>
          <a:p>
            <a:pPr marL="685800" lvl="3" indent="-171450"/>
            <a:r>
              <a:rPr lang="en-US" altLang="en-US" sz="2300" b="1">
                <a:latin typeface="Times New Roman" panose="02020603050405020304" pitchFamily="18" charset="0"/>
                <a:cs typeface="Times New Roman" panose="02020603050405020304" pitchFamily="18" charset="0"/>
              </a:rPr>
              <a:t>c</a:t>
            </a:r>
            <a:r>
              <a:rPr lang="en-US" altLang="en-US" sz="2300">
                <a:latin typeface="Times New Roman" panose="02020603050405020304" pitchFamily="18" charset="0"/>
                <a:cs typeface="Times New Roman" panose="02020603050405020304" pitchFamily="18" charset="0"/>
              </a:rPr>
              <a:t>	Redo Log Buffer</a:t>
            </a:r>
          </a:p>
          <a:p>
            <a:pPr marL="685800" lvl="3" indent="-171450"/>
            <a:r>
              <a:rPr lang="en-US" altLang="en-US" sz="2300" b="1">
                <a:latin typeface="Times New Roman" panose="02020603050405020304" pitchFamily="18" charset="0"/>
                <a:cs typeface="Times New Roman" panose="02020603050405020304" pitchFamily="18" charset="0"/>
              </a:rPr>
              <a:t>d</a:t>
            </a:r>
            <a:r>
              <a:rPr lang="en-US" altLang="en-US" sz="2300">
                <a:latin typeface="Times New Roman" panose="02020603050405020304" pitchFamily="18" charset="0"/>
                <a:cs typeface="Times New Roman" panose="02020603050405020304" pitchFamily="18" charset="0"/>
              </a:rPr>
              <a:t>	Shared Pool</a:t>
            </a:r>
          </a:p>
          <a:p>
            <a:pPr marL="400050" lvl="2" indent="-171450"/>
            <a:r>
              <a:rPr lang="en-US" altLang="en-US" sz="2300" b="1">
                <a:latin typeface="Times New Roman" panose="02020603050405020304" pitchFamily="18" charset="0"/>
                <a:cs typeface="Times New Roman" panose="02020603050405020304" pitchFamily="18" charset="0"/>
              </a:rPr>
              <a:t>3</a:t>
            </a:r>
            <a:r>
              <a:rPr lang="en-US" altLang="en-US" sz="2300">
                <a:latin typeface="Times New Roman" panose="02020603050405020304" pitchFamily="18" charset="0"/>
                <a:cs typeface="Times New Roman" panose="02020603050405020304" pitchFamily="18" charset="0"/>
              </a:rPr>
              <a:t>. Which three of the following statements are true about the Shared Pool?</a:t>
            </a:r>
          </a:p>
          <a:p>
            <a:pPr marL="685800" lvl="3" indent="-171450"/>
            <a:r>
              <a:rPr lang="en-US" altLang="en-US" sz="2300" b="1">
                <a:latin typeface="Times New Roman" panose="02020603050405020304" pitchFamily="18" charset="0"/>
                <a:cs typeface="Times New Roman" panose="02020603050405020304" pitchFamily="18" charset="0"/>
              </a:rPr>
              <a:t>a</a:t>
            </a:r>
            <a:r>
              <a:rPr lang="en-US" altLang="en-US" sz="2300">
                <a:latin typeface="Times New Roman" panose="02020603050405020304" pitchFamily="18" charset="0"/>
                <a:cs typeface="Times New Roman" panose="02020603050405020304" pitchFamily="18" charset="0"/>
              </a:rPr>
              <a:t>	The Shared Pool consists of the Library Cache, Data Dictionary Cache, Shared SQL area, Java Pool, and Large Pool.</a:t>
            </a:r>
          </a:p>
          <a:p>
            <a:pPr marL="685800" lvl="3" indent="-171450"/>
            <a:r>
              <a:rPr lang="en-US" altLang="en-US" sz="2300" b="1">
                <a:latin typeface="Times New Roman" panose="02020603050405020304" pitchFamily="18" charset="0"/>
                <a:cs typeface="Times New Roman" panose="02020603050405020304" pitchFamily="18" charset="0"/>
              </a:rPr>
              <a:t>b</a:t>
            </a:r>
            <a:r>
              <a:rPr lang="en-US" altLang="en-US" sz="2300">
                <a:latin typeface="Times New Roman" panose="02020603050405020304" pitchFamily="18" charset="0"/>
                <a:cs typeface="Times New Roman" panose="02020603050405020304" pitchFamily="18" charset="0"/>
              </a:rPr>
              <a:t>	The Shared Pool is used to store the most recently executed SQL statements.</a:t>
            </a:r>
          </a:p>
          <a:p>
            <a:pPr marL="685800" lvl="3" indent="-171450"/>
            <a:r>
              <a:rPr lang="en-US" altLang="en-US" sz="2300" b="1">
                <a:latin typeface="Times New Roman" panose="02020603050405020304" pitchFamily="18" charset="0"/>
                <a:cs typeface="Times New Roman" panose="02020603050405020304" pitchFamily="18" charset="0"/>
              </a:rPr>
              <a:t>c</a:t>
            </a:r>
            <a:r>
              <a:rPr lang="en-US" altLang="en-US" sz="2300">
                <a:latin typeface="Times New Roman" panose="02020603050405020304" pitchFamily="18" charset="0"/>
                <a:cs typeface="Times New Roman" panose="02020603050405020304" pitchFamily="18" charset="0"/>
              </a:rPr>
              <a:t>	The Shared Pool is used for an object that can be shared globally.</a:t>
            </a:r>
          </a:p>
          <a:p>
            <a:pPr marL="685800" lvl="3" indent="-171450"/>
            <a:r>
              <a:rPr lang="en-US" altLang="en-US" sz="2300" b="1">
                <a:latin typeface="Times New Roman" panose="02020603050405020304" pitchFamily="18" charset="0"/>
                <a:cs typeface="Times New Roman" panose="02020603050405020304" pitchFamily="18" charset="0"/>
              </a:rPr>
              <a:t>d</a:t>
            </a:r>
            <a:r>
              <a:rPr lang="en-US" altLang="en-US" sz="2300">
                <a:latin typeface="Times New Roman" panose="02020603050405020304" pitchFamily="18" charset="0"/>
                <a:cs typeface="Times New Roman" panose="02020603050405020304" pitchFamily="18" charset="0"/>
              </a:rPr>
              <a:t>	The Library Cache consists of the Shared SQL and Shared PL/SQL areas.</a:t>
            </a:r>
          </a:p>
        </p:txBody>
      </p:sp>
    </p:spTree>
    <p:extLst>
      <p:ext uri="{BB962C8B-B14F-4D97-AF65-F5344CB8AC3E}">
        <p14:creationId xmlns:p14="http://schemas.microsoft.com/office/powerpoint/2010/main" val="23024449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Câu hỏi</a:t>
            </a:r>
            <a:endParaRPr lang="vi-VN"/>
          </a:p>
        </p:txBody>
      </p:sp>
      <p:sp>
        <p:nvSpPr>
          <p:cNvPr id="3" name="Rectangle 2"/>
          <p:cNvSpPr/>
          <p:nvPr/>
        </p:nvSpPr>
        <p:spPr>
          <a:xfrm>
            <a:off x="173360" y="939886"/>
            <a:ext cx="11657428" cy="4970591"/>
          </a:xfrm>
          <a:prstGeom prst="rect">
            <a:avLst/>
          </a:prstGeom>
        </p:spPr>
        <p:txBody>
          <a:bodyPr wrap="square">
            <a:spAutoFit/>
          </a:bodyPr>
          <a:lstStyle/>
          <a:p>
            <a:pPr marL="400050" lvl="2" indent="-171450" algn="just"/>
            <a:r>
              <a:rPr lang="en-US" altLang="en-US" sz="2300" b="1">
                <a:latin typeface="Times New Roman" panose="02020603050405020304" pitchFamily="18" charset="0"/>
                <a:cs typeface="Times New Roman" panose="02020603050405020304" pitchFamily="18" charset="0"/>
              </a:rPr>
              <a:t>4</a:t>
            </a:r>
            <a:r>
              <a:rPr lang="en-US" altLang="en-US" sz="2300">
                <a:latin typeface="Times New Roman" panose="02020603050405020304" pitchFamily="18" charset="0"/>
                <a:cs typeface="Times New Roman" panose="02020603050405020304" pitchFamily="18" charset="0"/>
              </a:rPr>
              <a:t>	. Which one of the following memory areas is used to cache the data dictionary information?</a:t>
            </a:r>
          </a:p>
          <a:p>
            <a:pPr marL="685800" lvl="3" indent="-171450" algn="just"/>
            <a:r>
              <a:rPr lang="en-US" altLang="en-US" sz="2300" b="1">
                <a:latin typeface="Times New Roman" panose="02020603050405020304" pitchFamily="18" charset="0"/>
                <a:cs typeface="Times New Roman" panose="02020603050405020304" pitchFamily="18" charset="0"/>
              </a:rPr>
              <a:t>a</a:t>
            </a:r>
            <a:r>
              <a:rPr lang="en-US" altLang="en-US" sz="2300">
                <a:latin typeface="Times New Roman" panose="02020603050405020304" pitchFamily="18" charset="0"/>
                <a:cs typeface="Times New Roman" panose="02020603050405020304" pitchFamily="18" charset="0"/>
              </a:rPr>
              <a:t>	Database Buffer Cache</a:t>
            </a:r>
          </a:p>
          <a:p>
            <a:pPr marL="685800" lvl="3" indent="-171450" algn="just"/>
            <a:r>
              <a:rPr lang="en-US" altLang="en-US" sz="2300" b="1">
                <a:latin typeface="Times New Roman" panose="02020603050405020304" pitchFamily="18" charset="0"/>
                <a:cs typeface="Times New Roman" panose="02020603050405020304" pitchFamily="18" charset="0"/>
              </a:rPr>
              <a:t>b</a:t>
            </a:r>
            <a:r>
              <a:rPr lang="en-US" altLang="en-US" sz="2300">
                <a:latin typeface="Times New Roman" panose="02020603050405020304" pitchFamily="18" charset="0"/>
                <a:cs typeface="Times New Roman" panose="02020603050405020304" pitchFamily="18" charset="0"/>
              </a:rPr>
              <a:t>	PGA</a:t>
            </a:r>
          </a:p>
          <a:p>
            <a:pPr marL="685800" lvl="3" indent="-171450" algn="just"/>
            <a:r>
              <a:rPr lang="en-US" altLang="en-US" sz="2300" b="1">
                <a:latin typeface="Times New Roman" panose="02020603050405020304" pitchFamily="18" charset="0"/>
                <a:cs typeface="Times New Roman" panose="02020603050405020304" pitchFamily="18" charset="0"/>
              </a:rPr>
              <a:t>c</a:t>
            </a:r>
            <a:r>
              <a:rPr lang="en-US" altLang="en-US" sz="2300">
                <a:latin typeface="Times New Roman" panose="02020603050405020304" pitchFamily="18" charset="0"/>
                <a:cs typeface="Times New Roman" panose="02020603050405020304" pitchFamily="18" charset="0"/>
              </a:rPr>
              <a:t>	Redo Log Buffer </a:t>
            </a:r>
          </a:p>
          <a:p>
            <a:pPr marL="685800" lvl="3" indent="-171450" algn="just"/>
            <a:r>
              <a:rPr lang="en-US" altLang="en-US" sz="2300" b="1">
                <a:latin typeface="Times New Roman" panose="02020603050405020304" pitchFamily="18" charset="0"/>
                <a:cs typeface="Times New Roman" panose="02020603050405020304" pitchFamily="18" charset="0"/>
              </a:rPr>
              <a:t>d</a:t>
            </a:r>
            <a:r>
              <a:rPr lang="en-US" altLang="en-US" sz="2300">
                <a:latin typeface="Times New Roman" panose="02020603050405020304" pitchFamily="18" charset="0"/>
                <a:cs typeface="Times New Roman" panose="02020603050405020304" pitchFamily="18" charset="0"/>
              </a:rPr>
              <a:t>	Shared Pool</a:t>
            </a:r>
          </a:p>
          <a:p>
            <a:pPr marL="400050" lvl="2" indent="-171450" algn="just"/>
            <a:endParaRPr lang="en-US" altLang="en-US" b="1">
              <a:latin typeface="Arial" panose="020B0604020202020204" pitchFamily="34" charset="0"/>
            </a:endParaRPr>
          </a:p>
          <a:p>
            <a:pPr marL="400050" lvl="2" indent="-171450" algn="just"/>
            <a:r>
              <a:rPr lang="en-US" altLang="en-US" sz="2300" b="1">
                <a:latin typeface="Times New Roman" panose="02020603050405020304" pitchFamily="18" charset="0"/>
                <a:cs typeface="Times New Roman" panose="02020603050405020304" pitchFamily="18" charset="0"/>
              </a:rPr>
              <a:t>5. </a:t>
            </a:r>
            <a:r>
              <a:rPr lang="en-US" altLang="en-US" sz="2300">
                <a:latin typeface="Times New Roman" panose="02020603050405020304" pitchFamily="18" charset="0"/>
                <a:cs typeface="Times New Roman" panose="02020603050405020304" pitchFamily="18" charset="0"/>
              </a:rPr>
              <a:t>The primary purpose of the Redo Log Buffer is to record all changes to the database data blocks.</a:t>
            </a:r>
          </a:p>
          <a:p>
            <a:pPr marL="685800" lvl="3" indent="-171450" algn="just"/>
            <a:r>
              <a:rPr lang="en-US" altLang="en-US" sz="2300">
                <a:latin typeface="Times New Roman" panose="02020603050405020304" pitchFamily="18" charset="0"/>
                <a:cs typeface="Times New Roman" panose="02020603050405020304" pitchFamily="18" charset="0"/>
              </a:rPr>
              <a:t>a	True</a:t>
            </a:r>
          </a:p>
          <a:p>
            <a:pPr marL="685800" lvl="3" indent="-171450" algn="just"/>
            <a:r>
              <a:rPr lang="en-US" altLang="en-US" sz="2300">
                <a:latin typeface="Times New Roman" panose="02020603050405020304" pitchFamily="18" charset="0"/>
                <a:cs typeface="Times New Roman" panose="02020603050405020304" pitchFamily="18" charset="0"/>
              </a:rPr>
              <a:t>b	False</a:t>
            </a:r>
          </a:p>
          <a:p>
            <a:pPr marL="400050" lvl="2" indent="-171450" algn="just"/>
            <a:r>
              <a:rPr lang="en-US" altLang="en-US" sz="2300" b="1">
                <a:latin typeface="Times New Roman" panose="02020603050405020304" pitchFamily="18" charset="0"/>
                <a:cs typeface="Times New Roman" panose="02020603050405020304" pitchFamily="18" charset="0"/>
              </a:rPr>
              <a:t>6.</a:t>
            </a:r>
            <a:r>
              <a:rPr lang="en-US" altLang="en-US" sz="2300">
                <a:latin typeface="Times New Roman" panose="02020603050405020304" pitchFamily="18" charset="0"/>
                <a:cs typeface="Times New Roman" panose="02020603050405020304" pitchFamily="18" charset="0"/>
              </a:rPr>
              <a:t> The PGA is a memory region that contains data and control information for multiple server processes or multiple background processes.</a:t>
            </a:r>
          </a:p>
          <a:p>
            <a:pPr marL="685800" lvl="3" indent="-171450" algn="just"/>
            <a:r>
              <a:rPr lang="en-US" altLang="en-US" sz="2300">
                <a:latin typeface="Times New Roman" panose="02020603050405020304" pitchFamily="18" charset="0"/>
                <a:cs typeface="Times New Roman" panose="02020603050405020304" pitchFamily="18" charset="0"/>
              </a:rPr>
              <a:t>a	True</a:t>
            </a:r>
          </a:p>
          <a:p>
            <a:pPr marL="685800" lvl="3" indent="-171450" algn="just"/>
            <a:r>
              <a:rPr lang="en-US" altLang="en-US" sz="2300">
                <a:latin typeface="Times New Roman" panose="02020603050405020304" pitchFamily="18" charset="0"/>
                <a:cs typeface="Times New Roman" panose="02020603050405020304" pitchFamily="18" charset="0"/>
              </a:rPr>
              <a:t>b	False</a:t>
            </a:r>
          </a:p>
        </p:txBody>
      </p:sp>
    </p:spTree>
    <p:extLst>
      <p:ext uri="{BB962C8B-B14F-4D97-AF65-F5344CB8AC3E}">
        <p14:creationId xmlns:p14="http://schemas.microsoft.com/office/powerpoint/2010/main" val="30531332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Câu hỏi</a:t>
            </a:r>
            <a:endParaRPr lang="vi-VN"/>
          </a:p>
        </p:txBody>
      </p:sp>
      <p:sp>
        <p:nvSpPr>
          <p:cNvPr id="3" name="Rectangle 2"/>
          <p:cNvSpPr/>
          <p:nvPr/>
        </p:nvSpPr>
        <p:spPr>
          <a:xfrm>
            <a:off x="173360" y="939886"/>
            <a:ext cx="11657428" cy="3631763"/>
          </a:xfrm>
          <a:prstGeom prst="rect">
            <a:avLst/>
          </a:prstGeom>
        </p:spPr>
        <p:txBody>
          <a:bodyPr wrap="square">
            <a:spAutoFit/>
          </a:bodyPr>
          <a:lstStyle/>
          <a:p>
            <a:pPr marL="400050" lvl="2" indent="-171450" algn="just"/>
            <a:r>
              <a:rPr lang="en-US" altLang="en-US" sz="2300" b="1">
                <a:latin typeface="Times New Roman" panose="02020603050405020304" pitchFamily="18" charset="0"/>
                <a:cs typeface="Times New Roman" panose="02020603050405020304" pitchFamily="18" charset="0"/>
              </a:rPr>
              <a:t>7.</a:t>
            </a:r>
            <a:r>
              <a:rPr lang="en-US" altLang="en-US" sz="2300">
                <a:latin typeface="Times New Roman" panose="02020603050405020304" pitchFamily="18" charset="0"/>
                <a:cs typeface="Times New Roman" panose="02020603050405020304" pitchFamily="18" charset="0"/>
              </a:rPr>
              <a:t> Which of the following becomes available when an Oracle instance is started?</a:t>
            </a:r>
          </a:p>
          <a:p>
            <a:pPr marL="685800" lvl="3" indent="-171450" algn="just"/>
            <a:r>
              <a:rPr lang="en-US" altLang="en-US" sz="2300">
                <a:latin typeface="Times New Roman" panose="02020603050405020304" pitchFamily="18" charset="0"/>
                <a:cs typeface="Times New Roman" panose="02020603050405020304" pitchFamily="18" charset="0"/>
              </a:rPr>
              <a:t>a	User process</a:t>
            </a:r>
          </a:p>
          <a:p>
            <a:pPr marL="685800" lvl="3" indent="-171450" algn="just"/>
            <a:r>
              <a:rPr lang="en-US" altLang="en-US" sz="2300">
                <a:latin typeface="Times New Roman" panose="02020603050405020304" pitchFamily="18" charset="0"/>
                <a:cs typeface="Times New Roman" panose="02020603050405020304" pitchFamily="18" charset="0"/>
              </a:rPr>
              <a:t>b	Server process</a:t>
            </a:r>
          </a:p>
          <a:p>
            <a:pPr marL="685800" lvl="3" indent="-171450" algn="just"/>
            <a:r>
              <a:rPr lang="en-US" altLang="en-US" sz="2300">
                <a:latin typeface="Times New Roman" panose="02020603050405020304" pitchFamily="18" charset="0"/>
                <a:cs typeface="Times New Roman" panose="02020603050405020304" pitchFamily="18" charset="0"/>
              </a:rPr>
              <a:t>c	Background processes</a:t>
            </a:r>
          </a:p>
          <a:p>
            <a:pPr marL="400050" lvl="2" indent="-171450" algn="just"/>
            <a:r>
              <a:rPr lang="en-US" altLang="en-US" sz="2300" b="1">
                <a:latin typeface="Times New Roman" panose="02020603050405020304" pitchFamily="18" charset="0"/>
                <a:cs typeface="Times New Roman" panose="02020603050405020304" pitchFamily="18" charset="0"/>
              </a:rPr>
              <a:t>8.</a:t>
            </a:r>
            <a:r>
              <a:rPr lang="en-US" altLang="en-US" sz="2300">
                <a:latin typeface="Times New Roman" panose="02020603050405020304" pitchFamily="18" charset="0"/>
                <a:cs typeface="Times New Roman" panose="02020603050405020304" pitchFamily="18" charset="0"/>
              </a:rPr>
              <a:t> Identify five mandatory background processes.</a:t>
            </a:r>
          </a:p>
          <a:p>
            <a:pPr lvl="1" algn="just"/>
            <a:r>
              <a:rPr lang="en-US" altLang="en-US" sz="2300">
                <a:latin typeface="Times New Roman" panose="02020603050405020304" pitchFamily="18" charset="0"/>
                <a:cs typeface="Times New Roman" panose="02020603050405020304" pitchFamily="18" charset="0"/>
              </a:rPr>
              <a:t>	________________________________________</a:t>
            </a:r>
          </a:p>
          <a:p>
            <a:pPr lvl="1" algn="just"/>
            <a:r>
              <a:rPr lang="en-US" altLang="en-US" sz="2300">
                <a:latin typeface="Times New Roman" panose="02020603050405020304" pitchFamily="18" charset="0"/>
                <a:cs typeface="Times New Roman" panose="02020603050405020304" pitchFamily="18" charset="0"/>
              </a:rPr>
              <a:t>	________________________________________</a:t>
            </a:r>
          </a:p>
          <a:p>
            <a:pPr lvl="1" algn="just"/>
            <a:r>
              <a:rPr lang="en-US" altLang="en-US" sz="2300">
                <a:latin typeface="Times New Roman" panose="02020603050405020304" pitchFamily="18" charset="0"/>
                <a:cs typeface="Times New Roman" panose="02020603050405020304" pitchFamily="18" charset="0"/>
              </a:rPr>
              <a:t>	________________________________________</a:t>
            </a:r>
          </a:p>
          <a:p>
            <a:pPr lvl="1" algn="just"/>
            <a:r>
              <a:rPr lang="en-US" altLang="en-US" sz="2300">
                <a:latin typeface="Times New Roman" panose="02020603050405020304" pitchFamily="18" charset="0"/>
                <a:cs typeface="Times New Roman" panose="02020603050405020304" pitchFamily="18" charset="0"/>
              </a:rPr>
              <a:t>	________________________________________</a:t>
            </a:r>
          </a:p>
          <a:p>
            <a:pPr lvl="1" algn="just"/>
            <a:r>
              <a:rPr lang="en-US" altLang="en-US" sz="2300">
                <a:latin typeface="Times New Roman" panose="02020603050405020304" pitchFamily="18" charset="0"/>
                <a:cs typeface="Times New Roman" panose="02020603050405020304" pitchFamily="18" charset="0"/>
              </a:rPr>
              <a:t>	________________________________________</a:t>
            </a:r>
          </a:p>
        </p:txBody>
      </p:sp>
    </p:spTree>
    <p:extLst>
      <p:ext uri="{BB962C8B-B14F-4D97-AF65-F5344CB8AC3E}">
        <p14:creationId xmlns:p14="http://schemas.microsoft.com/office/powerpoint/2010/main" val="29332313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Thực hành</a:t>
            </a:r>
          </a:p>
        </p:txBody>
      </p:sp>
      <p:sp>
        <p:nvSpPr>
          <p:cNvPr id="3" name="Rectangle 2"/>
          <p:cNvSpPr/>
          <p:nvPr/>
        </p:nvSpPr>
        <p:spPr>
          <a:xfrm>
            <a:off x="433387" y="1048435"/>
            <a:ext cx="9553575" cy="2092881"/>
          </a:xfrm>
          <a:prstGeom prst="rect">
            <a:avLst/>
          </a:prstGeom>
        </p:spPr>
        <p:txBody>
          <a:bodyPr wrap="square">
            <a:spAutoFit/>
          </a:bodyPr>
          <a:lstStyle/>
          <a:p>
            <a:pPr marL="342900" indent="-342900" fontAlgn="base">
              <a:buAutoNum type="arabicPeriod"/>
            </a:pPr>
            <a:r>
              <a:rPr lang="en-US">
                <a:solidFill>
                  <a:srgbClr val="777777"/>
                </a:solidFill>
                <a:latin typeface="Droid Sans"/>
              </a:rPr>
              <a:t>Dùng SQL Plus, show kích thước SGA (Shared Global Area):</a:t>
            </a:r>
          </a:p>
          <a:p>
            <a:pPr fontAlgn="base"/>
            <a:r>
              <a:rPr lang="en-US" altLang="en-US" sz="2800">
                <a:solidFill>
                  <a:srgbClr val="0000FF"/>
                </a:solidFill>
                <a:latin typeface="inherit"/>
                <a:cs typeface="Courier New" panose="02070309020205020404" pitchFamily="49" charset="0"/>
              </a:rPr>
              <a:t>SQL</a:t>
            </a:r>
            <a:r>
              <a:rPr lang="en-US" altLang="en-US" sz="2800">
                <a:solidFill>
                  <a:srgbClr val="808080"/>
                </a:solidFill>
                <a:latin typeface="inherit"/>
                <a:cs typeface="Courier New" panose="02070309020205020404" pitchFamily="49" charset="0"/>
              </a:rPr>
              <a:t>&gt; </a:t>
            </a:r>
            <a:r>
              <a:rPr lang="en-US" altLang="en-US" sz="2800">
                <a:solidFill>
                  <a:srgbClr val="777777"/>
                </a:solidFill>
                <a:latin typeface="Courier New" panose="02070309020205020404" pitchFamily="49" charset="0"/>
                <a:cs typeface="Courier New" panose="02070309020205020404" pitchFamily="49" charset="0"/>
              </a:rPr>
              <a:t>show sga</a:t>
            </a:r>
            <a:r>
              <a:rPr lang="en-US" altLang="en-US" sz="2800"/>
              <a:t> </a:t>
            </a:r>
          </a:p>
          <a:p>
            <a:pPr fontAlgn="base"/>
            <a:r>
              <a:rPr lang="en-US" altLang="en-US" sz="2800">
                <a:latin typeface="Arial" panose="020B0604020202020204" pitchFamily="34" charset="0"/>
              </a:rPr>
              <a:t>2. Hiển thị kích thước của shared_pool, database_buffer, redo_buffer trong file tham số.</a:t>
            </a:r>
          </a:p>
          <a:p>
            <a:pPr fontAlgn="base"/>
            <a:r>
              <a:rPr lang="en-US" altLang="en-US" sz="2800">
                <a:latin typeface="Arial" panose="020B0604020202020204" pitchFamily="34" charset="0"/>
              </a:rPr>
              <a:t>Thay đổi kích thước của shared_pool thành 32M</a:t>
            </a:r>
            <a:endParaRPr lang="en-US" altLang="en-US" sz="1400">
              <a:latin typeface="Arial" panose="020B0604020202020204" pitchFamily="34" charset="0"/>
            </a:endParaRPr>
          </a:p>
        </p:txBody>
      </p:sp>
      <p:sp>
        <p:nvSpPr>
          <p:cNvPr id="5" name="Rectangle 2"/>
          <p:cNvSpPr>
            <a:spLocks noChangeArrowheads="1"/>
          </p:cNvSpPr>
          <p:nvPr/>
        </p:nvSpPr>
        <p:spPr bwMode="auto">
          <a:xfrm>
            <a:off x="0" y="-440"/>
            <a:ext cx="65" cy="458081"/>
          </a:xfrm>
          <a:prstGeom prst="rect">
            <a:avLst/>
          </a:prstGeom>
          <a:solidFill>
            <a:srgbClr val="F0F0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78456222"/>
      </p:ext>
    </p:extLst>
  </p:cSld>
  <p:clrMapOvr>
    <a:masterClrMapping/>
  </p:clrMapOvr>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lcome to PowerPoint.potx" id="{43699C43-EC89-4A55-9A99-3FD944590577}" vid="{3C36ED3A-1C33-4ECB-8650-37D568EF45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C3DEC53A-9DF1-4780-BE92-17E971B7A9E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Welcome to PowerPoint</Template>
  <TotalTime>2893</TotalTime>
  <Words>3052</Words>
  <Application>Microsoft Office PowerPoint</Application>
  <PresentationFormat>Widescreen</PresentationFormat>
  <Paragraphs>422</Paragraphs>
  <Slides>37</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37</vt:i4>
      </vt:variant>
    </vt:vector>
  </HeadingPairs>
  <TitlesOfParts>
    <vt:vector size="46" baseType="lpstr">
      <vt:lpstr>Arial</vt:lpstr>
      <vt:lpstr>Calibri</vt:lpstr>
      <vt:lpstr>Courier New</vt:lpstr>
      <vt:lpstr>Droid Sans</vt:lpstr>
      <vt:lpstr>Helvetica Neue</vt:lpstr>
      <vt:lpstr>inherit</vt:lpstr>
      <vt:lpstr>Times New Roman</vt:lpstr>
      <vt:lpstr>Wingdings</vt:lpstr>
      <vt:lpstr>WelcomeDoc</vt:lpstr>
      <vt:lpstr>CÁC THÀNH PHẦN CẤU TRÚC CỦA ORACLE</vt:lpstr>
      <vt:lpstr>1. Mục đích</vt:lpstr>
      <vt:lpstr>2. Nội dung bài học</vt:lpstr>
      <vt:lpstr>I. MÔ HÌNH CẤU TRÚC ORACLE SERVER</vt:lpstr>
      <vt:lpstr>II. CÁC THÀNH PHẦN CHÍNH CỦA ORACLE SERVER</vt:lpstr>
      <vt:lpstr>1. Oracle instance</vt:lpstr>
      <vt:lpstr>2. Oracle Database</vt:lpstr>
      <vt:lpstr>2. Oracle Database </vt:lpstr>
      <vt:lpstr>Data files</vt:lpstr>
      <vt:lpstr>Control files</vt:lpstr>
      <vt:lpstr>Online redo log files</vt:lpstr>
      <vt:lpstr>2. Oracle Database</vt:lpstr>
      <vt:lpstr>III. CẤU TRÚC BỘ NHỚ</vt:lpstr>
      <vt:lpstr>1. System Global Area - SGA</vt:lpstr>
      <vt:lpstr>PowerPoint Presentation</vt:lpstr>
      <vt:lpstr>PowerPoint Presentation</vt:lpstr>
      <vt:lpstr>PowerPoint Presentation</vt:lpstr>
      <vt:lpstr>PowerPoint Presentation</vt:lpstr>
      <vt:lpstr>IV. PHÂN LOẠI PROCESS</vt:lpstr>
      <vt:lpstr>PowerPoint Presentation</vt:lpstr>
      <vt:lpstr>PowerPoint Presentation</vt:lpstr>
      <vt:lpstr>PowerPoint Presentation</vt:lpstr>
      <vt:lpstr>3.1. Database Writer (DBWn)</vt:lpstr>
      <vt:lpstr>3.2. Log Writer (LGWR)</vt:lpstr>
      <vt:lpstr>PowerPoint Presentation</vt:lpstr>
      <vt:lpstr>PowerPoint Presentation</vt:lpstr>
      <vt:lpstr>3.5. Checkpoint (CKPT)</vt:lpstr>
      <vt:lpstr>3.6. Archiver (ARCn)</vt:lpstr>
      <vt:lpstr>V. CÁC MÔ HÌNH KẾT NỐI ĐẾN ORACLE SERVER</vt:lpstr>
      <vt:lpstr>Phiên làm việc (Session)</vt:lpstr>
      <vt:lpstr>1. Client – Server</vt:lpstr>
      <vt:lpstr>2. Host – Based</vt:lpstr>
      <vt:lpstr>3. Client – Application server – Server (mô hình 3 lớp)</vt:lpstr>
      <vt:lpstr>Câu hỏi</vt:lpstr>
      <vt:lpstr>Câu hỏi</vt:lpstr>
      <vt:lpstr>Câu hỏi</vt:lpstr>
      <vt:lpstr>Thực hành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GIẢNG ORACLE</dc:title>
  <dc:creator>Hung Nguyen Viet</dc:creator>
  <cp:keywords/>
  <cp:lastModifiedBy>Phạm Đình Phong</cp:lastModifiedBy>
  <cp:revision>171</cp:revision>
  <dcterms:created xsi:type="dcterms:W3CDTF">2014-12-14T08:16:33Z</dcterms:created>
  <dcterms:modified xsi:type="dcterms:W3CDTF">2024-04-26T01:24:30Z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TC029239449991</vt:lpwstr>
  </property>
</Properties>
</file>